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1. Загуглить противника</a:t>
            </a:r>
          </a:p>
          <a:p>
            <a:r>
              <a:t>ТАЙМИНГ: 00:00–01:30</a:t>
            </a:r>
          </a:p>
          <a:p/>
          <a:p>
            <a:r>
              <a:t>[На экране учебное обращение. Подпись: «Учебная ситуация, март 2023».]</a:t>
            </a:r>
          </a:p>
          <a:p/>
          <a:p>
            <a:r>
              <a:t>Представьте: март две тысячи двадцать третьего года. Вы помогаете разбирать обращения сотрудников. Приходит сообщение: «Обновился телефонный клиент, защита дала предупреждение. Но программа официальная, подписана и раньше нормально работала. Через десять минут звонок. Можно продолжать?»</a:t>
            </a:r>
          </a:p>
          <a:p/>
          <a:p>
            <a:r>
              <a:t>Я [Имя спикера], представляю [Компания]. Сегодня это будет наше небольшое дело. Сотрудник придуман. Мы пока не видели его компьютер, не проверили файлы и не прочитали журналы событий — историю действий, которую записывают системы. У нас есть только сообщение и вопрос.</a:t>
            </a:r>
          </a:p>
          <a:p/>
          <a:p>
            <a:r>
              <a:t>За этой ситуацией стоит реальный инцидент с приложением для звонков 3CX. Но опубликованная история ещё не отвечает за конкретный компьютер нашего сотрудника.</a:t>
            </a:r>
          </a:p>
          <a:p/>
          <a:p>
            <a:r>
              <a:t>Давайте попробуем ответить ему обоснованно. Будем открывать сведения по одному: сначала поймём, что ищем, затем обратимся к внешним источникам и выберем проверку внутри компании.</a:t>
            </a:r>
          </a:p>
          <a:p/>
          <a:p>
            <a:r>
              <a:t>Для этого не нужно уметь разбирать машинный код. Достаточно различать: что знаем, что предполагаем и что ещё проверяем. В конце вернёмся к этому же сообщению. Критерий успеха простой: сможем ли мы объяснить, на чём основан наш следующий шаг?</a:t>
            </a:r>
          </a:p>
          <a:p/>
          <a:p>
            <a:r>
              <a:t>Каждый внешний источник будет отвечать на свой вопрос. После ответа мы снова посмотрим на исходное событие.</a:t>
            </a:r>
          </a:p>
          <a:p/>
          <a:p>
            <a:r>
              <a:t>**Редакторское основание — не произносится:** начало и сотрудник — учебные. Реальный исторический контекст: [Sophos](https://www.sophos.com/en-gb/blog/3cx-dll-sideloading-attack), [предупреждение 3CX](https://www.3cx.com/blog/news/desktopapp-security-alert/).</a:t>
            </a:r>
          </a:p>
          <a:p/>
          <a:p>
            <a:r>
              <a:t>ИСТОЧНИКИ И РЕДАКТОРСКИЕ ОСНОВАНИЯ:</a:t>
            </a:r>
          </a:p>
          <a:p>
            <a:r>
              <a:t>3CX · DesktopApp Security Alert, 30.03.2023</a:t>
            </a:r>
          </a:p>
          <a:p>
            <a:r>
              <a:t>https://www.3cx.com/blog/news/desktopapp-security-alert/</a:t>
            </a:r>
          </a:p>
          <a:p/>
          <a:p>
            <a:r>
              <a:t>Sophos · разбор 3CX, 2023</a:t>
            </a:r>
          </a:p>
          <a:p>
            <a:r>
              <a:t>https://www.sophos.com/en-gb/blog/3cx-dll-sideloading-attack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2. TI помогает выбрать следующий шаг</a:t>
            </a:r>
          </a:p>
          <a:p>
            <a:r>
              <a:t>ТАЙМИНГ: 01:30–04:00</a:t>
            </a:r>
          </a:p>
          <a:p/>
          <a:p>
            <a:r>
              <a:t>Threat Intelligence, или TI, — сведения об угрозах и их анализ, которые помогают принимать решения по защите. Мы используем знания о чужих атаках, чтобы понять свою ситуацию и выбрать действие.</a:t>
            </a:r>
          </a:p>
          <a:p/>
          <a:p>
            <a:r>
              <a:t>Вернёмся к сообщению. Можно сразу спросить интернет: «3CX — вирус?» Ответов будет много. Но такой вопрос смешивает название компании, разные продукты, версии и годы. Для проверки нужны более точные вопросы: что вызвало предупреждение? Какая версия установлена? Какой файл проверять? Что о нём известно исследователям?</a:t>
            </a:r>
          </a:p>
          <a:p/>
          <a:p>
            <a:r>
              <a:t>В этом и начинается аналитическая работа. Сначала формулируем, какого знания нам не хватает. Затем выбираем источник, читаем ответ и оцениваем, подходит ли он к нашему событию. Новое сведение может изменить гипотезу или подсказать, какие данные запросить у коллег.</a:t>
            </a:r>
          </a:p>
          <a:p/>
          <a:p>
            <a:r>
              <a:t>Различим несколько действий. Поиск репутации отвечает, что об объекте сообщали другие. Обогащение добавляет сведения: даты, связанные объекты, описанное поведение, ссылки на исследования. Анализ TI помогает понять смысл этих сведений для нашей задачи. Расследование устанавливает, что произошло на конкретных устройствах и к каким последствиям привело.</a:t>
            </a:r>
          </a:p>
          <a:p/>
          <a:p>
            <a:r>
              <a:t>Эти действия связаны, но результат одного не заменяет результат другого. Комментарий о вредоносном файле ещё не доказывает, что сотрудник его запускал. А сообщение о знакомом продукте ещё не объясняет, что именно сработало в защите.</a:t>
            </a:r>
          </a:p>
          <a:p/>
          <a:p>
            <a:r>
              <a:t>Поэтому после каждого внешнего поиска я предлагаю задавать один вопрос: что теперь можем проверить точнее? Если сервис добавил двадцать полей, но следующий шаг остался непонятен, нам нужно вернуться к исходному вопросу.</a:t>
            </a:r>
          </a:p>
          <a:p/>
          <a:p>
            <a:r>
              <a:t>Сегодня мы пройдём этот путь вместе. Внешние сервисы станут инструментами, которыми мы подкрепляем мысль: сверяем объект, ищем основания, замечаем пробелы. Готовый вывод о компьютере потребует его собственных данных.</a:t>
            </a:r>
          </a:p>
          <a:p/>
          <a:p>
            <a:r>
              <a:t>Такой подход полезен даже при небольшом опыте. Вам не обязательно сразу узнавать название атакующей группы. Можно начать с конкретного пробела: мы не понимаем причину предупреждения. Источник может подсказать, какой компонент заслуживает проверки и какие действия ожидаются при его использовании. Тогда следующий вопрос становится уже и точнее. Именно это изменение вопроса мы будем отслеживать.</a:t>
            </a:r>
          </a:p>
          <a:p/>
          <a:p>
            <a:r>
              <a:t>**Редакторское основание — не произносится:** определение и маршрут — учебный синтез. Полезность контекста для следующего действия обсуждается в [слайдах Алексея Вишнякова, PHDays 2025](https://pt-phdays.storage.yandexcloud.net/Aleksej_Vishnyakov_Oshibki_ispolzovaniya_threat_intelligence_v_SOC_012edd864a.pdf). Связь внешних находок с внутренними вопросами показана в [докладе Александра Ненахова](https://forumsoc.ru/upload/iblock/485/vw01piz8qd0037k4zsusyelev6851jc4.pdf).</a:t>
            </a:r>
          </a:p>
          <a:p/>
          <a:p>
            <a:r>
              <a:t>ИСТОЧНИКИ И РЕДАКТОРСКИЕ ОСНОВАНИЯ:</a:t>
            </a:r>
          </a:p>
          <a:p>
            <a:r>
              <a:t>А. Вишняков · Ошибки TI в SOC, PHDays 2025</a:t>
            </a:r>
          </a:p>
          <a:p>
            <a:r>
              <a:t>https://pt-phdays.storage.yandexcloud.net/Aleksej_Vishnyakov_Oshibki_ispolzovaniya_threat_intelligence_v_SOC_012edd864a.pdf</a:t>
            </a:r>
          </a:p>
          <a:p/>
          <a:p>
            <a:r>
              <a:t>А. Ненахов · Как киберразведка помогает SOC, 2023</a:t>
            </a:r>
          </a:p>
          <a:p>
            <a:r>
              <a:t>https://forumsoc.ru/upload/iblock/485/vw01piz8qd0037k4zsusyelev6851jc4.pdf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3. Объект ещё нужно объяснить</a:t>
            </a:r>
          </a:p>
          <a:p>
            <a:r>
              <a:t>ТАЙМИНГ: 04:00–06:30</a:t>
            </a:r>
          </a:p>
          <a:p/>
          <a:p>
            <a:r>
              <a:t>Прежде чем открыть сервис, нужно выделить объект. В событиях встречаются IP — сетевой адрес; домен — имя ресурса; URL — полная ссылка с конкретным путём. У файла можно вычислить хеш: отпечаток его содержимого. Это разные объекты, и вопросы к ним тоже различаются.</a:t>
            </a:r>
          </a:p>
          <a:p/>
          <a:p>
            <a:r>
              <a:t>Вопрос к вам: в журнале появился незнакомый IP-адрес. Этого достаточно, чтобы подозревать атаку?</a:t>
            </a:r>
          </a:p>
          <a:p/>
          <a:p>
            <a:r>
              <a:t>[Дать залу 5–8 секунд.]</a:t>
            </a:r>
          </a:p>
          <a:p/>
          <a:p>
            <a:r>
              <a:t>Сам по себе адрес сообщает, куда было обращение. Для подозрения на атаку нужно основание. Например, исследователь связал этот адрес с определённой вредоносной активностью в указанный период. Тогда у нас появляется проверяемая связь, источник которой нужно сохранить.</a:t>
            </a:r>
          </a:p>
          <a:p/>
          <a:p>
            <a:r>
              <a:t>Индикатор компрометации, или IoC, — признак, который с понятным основанием помогает подозревать атаку или компрометацию. Важно различать объект, который мы увидели, и смысл, который ему приписали. Адрес мог быть общим для разных клиентов, а через время его мог использовать другой владелец.</a:t>
            </a:r>
          </a:p>
          <a:p/>
          <a:p>
            <a:r>
              <a:t>Теперь к нашей программе. На компьютере может оказаться библиотека с обычным именем ffmpeg.dll. Библиотека — файл с готовыми функциями, которые использует приложение. Такое имя встречается и у нормальных компонентов. Поэтому вопрос «вредоносен ли ffmpeg.dll?» недостаточно точный.</a:t>
            </a:r>
          </a:p>
          <a:p/>
          <a:p>
            <a:r>
              <a:t>Нам пригодится SHA-256 — хеш, вычисленный по содержимому файла. В практической проверке он помогает сопоставить точные байты с опубликованным образцом независимо от имени. Строку целиком копируют и сравнивают; читать шестьдесят четыре символа вслух не нужно.</a:t>
            </a:r>
          </a:p>
          <a:p/>
          <a:p>
            <a:r>
              <a:t>Но хеш сам по себе не описывает намерения программы. Основание появляется, когда исследование объясняет роль этого конкретного содержимого. Вместе сохраняем объект, источник, время и описанную активность. Так из найденной строки получается улика, с которой можно продолжать работу.</a:t>
            </a:r>
          </a:p>
          <a:p/>
          <a:p>
            <a:r>
              <a:t>Например, домен обозначает ресурс целиком, а URL уточняет путь к отдельному объекту. Обычный файловый хостинг может хранить материалы самых разных пользователей. Поэтому упоминание всей площадки и точной ссылки даёт разную точность проверки. Выбираем тот уровень объекта, для которого у источника действительно есть основание.</a:t>
            </a:r>
          </a:p>
          <a:p/>
          <a:p>
            <a:r>
              <a:t>**Редакторское основание — не произносится:** [NIST: Indicator of Compromise](https://csrc.nist.gov/glossary/term/indicator_of_compromise), [Microsoft: Get-FileHash](https://learn.microsoft.com/en-us/powershell/module/microsoft.powershell.utility/get-filehash). Роль точного варианта ffmpeg.dll будет раскрыта на слайде 6 по списку Sophos.</a:t>
            </a:r>
          </a:p>
          <a:p/>
          <a:p>
            <a:r>
              <a:t>ИСТОЧНИКИ И РЕДАКТОРСКИЕ ОСНОВАНИЯ:</a:t>
            </a:r>
          </a:p>
          <a:p>
            <a:r>
              <a:t>NIST · Indicator of Compromise</a:t>
            </a:r>
          </a:p>
          <a:p>
            <a:r>
              <a:t>https://csrc.nist.gov/glossary/term/indicator_of_compromise</a:t>
            </a:r>
          </a:p>
          <a:p/>
          <a:p>
            <a:r>
              <a:t>Microsoft · Get-FileHash</a:t>
            </a:r>
          </a:p>
          <a:p>
            <a:r>
              <a:t>https://learn.microsoft.com/en-us/powershell/module/microsoft.powershell.utility/get-filehash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4. Совпадение — начало проверки</a:t>
            </a:r>
          </a:p>
          <a:p>
            <a:r>
              <a:t>ТАЙМИНГ: 06:30–10:00</a:t>
            </a:r>
          </a:p>
          <a:p/>
          <a:p>
            <a:r>
              <a:t>Теперь поправим распространённую формулировку: будто один индикатор ничего не даёт. Точный хеш известного вредоносного компонента может дать сильное основание для проверки. Вопрос в том, какое именно утверждение мы этим основанием подтверждаем.</a:t>
            </a:r>
          </a:p>
          <a:p/>
          <a:p>
            <a:r>
              <a:t>Возьмём будущую улику нашего дела: исследователь опубликовал хеш изменённой библиотеки из атаки на 3CX. Это внешнее знание о конкретном файле. Следующий вопрос: находился ли такой файл на устройстве сотрудника? Ещё следующий: исполнялся ли его код? Затем — какие действия и последствия мы наблюдали?</a:t>
            </a:r>
          </a:p>
          <a:p/>
          <a:p>
            <a:r>
              <a:t>Эти ступени нельзя перескочить одним результатом сервиса. Внешний отчёт объясняет, почему мы обратили внимание на объект. Собственная история устройства показывает, что происходило у нас. Для каждого вывода нужен соответствующий источник.</a:t>
            </a:r>
          </a:p>
          <a:p/>
          <a:p>
            <a:r>
              <a:t>Поэтому обогащение начинается с вопроса. Какой тип файла исследовали? Что в нём изменено? Когда он был обнаружен? Какую роль играл в атаке? С какими действиями его связывают? Мы выбираем те сведения, которые помогут проверить исходное сообщение сотрудника.</a:t>
            </a:r>
          </a:p>
          <a:p/>
          <a:p>
            <a:r>
              <a:t>Например, запись о поведении библиотеки может подсказать, какие сетевые действия искать. Дата исследования поможет понять, что было известно в момент предупреждения. Сведения о затронутых версиях помогут выбрать устройства для первичной проверки. Это разные способы применить внешний контекст.</a:t>
            </a:r>
          </a:p>
          <a:p/>
          <a:p>
            <a:r>
              <a:t>С IP важен ещё и период. Сегодня адрес может иметь другую роль и другого пользователя. Жалобы на него за последнее время не восстанавливают автоматически историю две тысячи двадцать третьего года. Совпадение адреса имеет смысл только вместе с основанием и временем.</a:t>
            </a:r>
          </a:p>
          <a:p/>
          <a:p>
            <a:r>
              <a:t>Отдельно проверяем качество самого основания. Откуда исследователь получил сведения? Пишет ли он о наблюдавшемся действии или о предположении? Есть ли первичный отчёт? Не попал ли в список обычный ресурс, упомянутый для сравнения? Ошибка может возникнуть ещё до того, как индикатор окажется в нашем сервисе.</a:t>
            </a:r>
          </a:p>
          <a:p/>
          <a:p>
            <a:r>
              <a:t>Удобно сразу записать одно предложение: «Этот источник связывает этот объект с таким действием в такой период». Если предложение не получается закончить, мы обнаружили пробел. Возможно, перед нами только название, оценка репутации или пересказ без основания. Это не делает найденное бесполезным, но меняет следующий шаг: сначала проверяем само утверждение, затем применяем его к своей ситуации.</a:t>
            </a:r>
          </a:p>
          <a:p/>
          <a:p>
            <a:r>
              <a:t>Один источник также может не видеть часть происходящего. Поэтому отсутствие записи или обнаружения не доказывает безопасность. А большое число обнаружений не превращается в математическую вероятность вредоносности. Нам важны содержание результатов и возможность проверить их смысл.</a:t>
            </a:r>
          </a:p>
          <a:p/>
          <a:p>
            <a:r>
              <a:t>В нашем деле пока такая картина. Знаем: сотрудник сообщил о предупреждении. Предполагаем: установленный комплект мог быть затронут атакой. Проверяем: точную версию, компонент и доступные события. Сейчас посмотрим, какие внешние инструменты помогут уточнить эту проверку.</a:t>
            </a:r>
          </a:p>
          <a:p/>
          <a:p>
            <a:r>
              <a:t>**Редакторское основание — не произносится:** три уровня собственных подтверждений — учебная модель. Проблемы контекста и ошибочных IoC разобраны в [слайдах Николая Арефьева](https://forumsoc.ru/upload/iblock/007/zrrjrpwyt50186gn7sg3ij6sts223qvl.pdf). Смысл категорий результатов: [VT Analysis object](https://docs.virustotal.com/reference/analyses-object).</a:t>
            </a:r>
          </a:p>
          <a:p/>
          <a:p>
            <a:r>
              <a:t>ИСТОЧНИКИ И РЕДАКТОРСКИЕ ОСНОВАНИЯ:</a:t>
            </a:r>
          </a:p>
          <a:p>
            <a:r>
              <a:t>SophosLabs · опубликованный SHA-256</a:t>
            </a:r>
          </a:p>
          <a:p>
            <a:r>
              <a:t>https://raw.githubusercontent.com/sophoslabs/IoCs/master/3CX%20IoCs%202023-03.csv</a:t>
            </a:r>
          </a:p>
          <a:p/>
          <a:p>
            <a:r>
              <a:t>Microsoft · Authenticode</a:t>
            </a:r>
          </a:p>
          <a:p>
            <a:r>
              <a:t>https://learn.microsoft.com/en-us/windows-hardware/drivers/install/authenticode</a:t>
            </a:r>
          </a:p>
          <a:p/>
          <a:p>
            <a:r>
              <a:t>Н. Арефьев · Открытые источники TI, SOC Forum 2023</a:t>
            </a:r>
          </a:p>
          <a:p>
            <a:r>
              <a:t>https://forumsoc.ru/upload/iblock/007/zrrjrpwyt50186gn7sg3ij6sts223qvl.pdf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5. Сначала вопрос. Затем сервис.</a:t>
            </a:r>
          </a:p>
          <a:p>
            <a:r>
              <a:t>ТАЙМИНГ: 10:00–14:30</a:t>
            </a:r>
          </a:p>
          <a:p/>
          <a:p>
            <a:r>
              <a:t>Начнём с VirusTotal. Для нашей истории основной объект — точный файл, поэтому ищем готовый отчёт по его полному хешу. Сервис собирает результаты разных средств проверки и дополнительные сведения об объекте.</a:t>
            </a:r>
          </a:p>
          <a:p/>
          <a:p>
            <a:r>
              <a:t>Первый полезный приём: начать с идентичности и времени. Тот ли полный хеш мы открыли? Когда объект анализировали? Сегодняшняя карточка может отличаться от той, что была доступна в начале атаки. Сохраняем дату результата вместе с его содержанием.</a:t>
            </a:r>
          </a:p>
          <a:p/>
          <a:p>
            <a:r>
              <a:t>Дальше читаем категории. Malicious означает, что средство считает объект вредоносным. Undetected означает отсутствие обнаружения или выраженного мнения. Harmless — отдельную оценку невредоносности. Ошибка и таймаут показывают, что полноценный результат не получен. Число в верхней части карточки не объясняет эти различия.</a:t>
            </a:r>
          </a:p>
          <a:p/>
          <a:p>
            <a:r>
              <a:t>Затем смотрим сведения, которые отвечают на наш вопрос: тип файла, описание поведения, данные о подписи, связи с другими объектами. Доступность полей зависит от отчёта и доступа к сервису. Связь в карточке — повод выяснить её природу. Она сама по себе не доказывает, что связанные объекты выполняли одну роль или принадлежали одному оператору.</a:t>
            </a:r>
          </a:p>
          <a:p/>
          <a:p>
            <a:r>
              <a:t>Второй приём — заглянуть в Community, если раздел доступен. Комментарий может подсказать название исследования, ссылку на первичный отчёт или объяснение роли объекта. Это полезная зацепка для самостоятельного поиска.</a:t>
            </a:r>
          </a:p>
          <a:p/>
          <a:p>
            <a:r>
              <a:t>Работу продолжаем по ссылке: проверяем автора, дату, полный объект и то, что действительно утверждается в исследовании. Голоса и комментарии сообщества не заменяют основания. В нашем разборе первоисточник уже известен — список Sophos. Community рассматриваем как возможный дополнительный путь к исследованию; наличие полезного комментария для этого хеша ещё нужно проверить.</a:t>
            </a:r>
          </a:p>
          <a:p/>
          <a:p>
            <a:r>
              <a:t>Теперь AbuseIPDB. Он отвечает на более узкий вопрос об IP: что сообщали о наблюдавшейся активности другие пользователи? Это не сервис проверки файлового хеша. Для адреса читаем период, время последних сообщений, категории активности и сведения о репортерах, если они доступны.</a:t>
            </a:r>
          </a:p>
          <a:p/>
          <a:p>
            <a:r>
              <a:t>Это третий приём: выяснить, за что и когда сообщили об адресе. Даже высокая оценка сервиса не объясняет, обращалась ли к нему наша программа и что происходило после соединения. Отсутствие сообщений также не подтверждает безопасность. Проверка CHECK смотрит последние дни, максимум год, и не восстанавливает жалобы января две тысячи двадцать третьего года. В истории 3CX этот источник будет вспомогательным: главным остаётся вопрос о конкретном компоненте и его действиях.</a:t>
            </a:r>
          </a:p>
          <a:p/>
          <a:p>
            <a:r>
              <a:t>Есть полезная проверка собственного чтения карточки. Попробуйте одним предложением пересказать, что узнали, сохранив источник и время. Если получается только «там красное» или «там много жалоб», содержание ещё потерялось. Нужно уточнить, какое средство или какой пользователь что именно сообщил. Когда сведения противоречат друг другу, сохраняем это противоречие и ищем объяснение. Мы не обязаны немедленно свести разные наблюдения к одному цвету. Иногда честный результат обогащения — указать, какого первичного сведения не хватает для решения.</a:t>
            </a:r>
          </a:p>
          <a:p/>
          <a:p>
            <a:r>
              <a:t>Перед внешним запросом нужно понять, какие сведения мы передаём. Поиск готового отчёта по хешу и загрузка самого файла различаются. При загрузке сервис получает байты. Поиск тоже нельзя автоматически считать приватным: документация VirusTotal предупреждает о переданных или запрошенных индикаторах в данных сообщества.</a:t>
            </a:r>
          </a:p>
          <a:p/>
          <a:p>
            <a:r>
              <a:t>Для нашего показа достаточно опубликованного хеша. В реальной работе чувствительные файлы и ссылки проверяют по правилам компании и условиям сервиса. Теперь применим три привычки: сверить объект и дату, прочитать содержание, найти первоисточник. Посмотрим, что они дадут в деле 3CX.</a:t>
            </a:r>
          </a:p>
          <a:p/>
          <a:p>
            <a:r>
              <a:t>**Редакторское основание — не произносится:** [VT Searching](https://docs.virustotal.com/docs/searching), [File object](https://docs.virustotal.com/reference/files), [Analysis object](https://docs.virustotal.com/reference/analyses-object), [AbuseIPDB CHECK](https://docs.abuseipdb.com/#check-endpoint), [AbuseIPDB FAQ](https://www.abuseipdb.com/faq.html). Community рассматривается как направление поиска и проверки источника. Актуальные показатели карточек и комментарии для данного хеша здесь не получены.</a:t>
            </a:r>
          </a:p>
          <a:p/>
          <a:p>
            <a:r>
              <a:t>ИСТОЧНИКИ И РЕДАКТОРСКИЕ ОСНОВАНИЯ:</a:t>
            </a:r>
          </a:p>
          <a:p>
            <a:r>
              <a:t>VirusTotal · File object</a:t>
            </a:r>
          </a:p>
          <a:p>
            <a:r>
              <a:t>https://docs.virustotal.com/reference/files</a:t>
            </a:r>
          </a:p>
          <a:p/>
          <a:p>
            <a:r>
              <a:t>VirusTotal · Analysis object</a:t>
            </a:r>
          </a:p>
          <a:p>
            <a:r>
              <a:t>https://docs.virustotal.com/reference/analyses-object</a:t>
            </a:r>
          </a:p>
          <a:p/>
          <a:p>
            <a:r>
              <a:t>VirusTotal · Community / Comments</a:t>
            </a:r>
          </a:p>
          <a:p>
            <a:r>
              <a:t>https://docs.virustotal.com/docs/comments</a:t>
            </a:r>
          </a:p>
          <a:p/>
          <a:p>
            <a:r>
              <a:t>VirusTotal · Results reports</a:t>
            </a:r>
          </a:p>
          <a:p>
            <a:r>
              <a:t>https://docs.virustotal.com/docs/results-reports</a:t>
            </a:r>
          </a:p>
          <a:p/>
          <a:p>
            <a:r>
              <a:t>VirusTotal · Searching</a:t>
            </a:r>
          </a:p>
          <a:p>
            <a:r>
              <a:t>https://docs.virustotal.com/docs/searching</a:t>
            </a:r>
          </a:p>
          <a:p/>
          <a:p>
            <a:r>
              <a:t>AbuseIPDB · CHECK</a:t>
            </a:r>
          </a:p>
          <a:p>
            <a:r>
              <a:t>https://docs.abuseipdb.com/#check-endpoint</a:t>
            </a:r>
          </a:p>
          <a:p/>
          <a:p>
            <a:r>
              <a:t>AbuseIPDB · FAQ</a:t>
            </a:r>
          </a:p>
          <a:p>
            <a:r>
              <a:t>https://www.abuseipdb.com/faq.html</a:t>
            </a:r>
          </a:p>
          <a:p/>
          <a:p>
            <a:r>
              <a:t>ДЕМО: только публичный объект; готовый отчёт отличается от Upload/Reanalyze. Поиск сам по себе не обещает приватность. Текущая Community выбранного хеша не получена. AbuseIPDB CHECK — последние1–365дней, не архив2023. Полный запасной сценарий — в сопроводительных материалах.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6. Одна иконка. Несколько компонентов.</a:t>
            </a:r>
          </a:p>
          <a:p>
            <a:r>
              <a:t>ТАЙМИНГ: 14:30–19:00</a:t>
            </a:r>
          </a:p>
          <a:p/>
          <a:p>
            <a:r>
              <a:t>Вернёмся к обновлению. В марте две тысячи двадцать третьего года исследователи обнаружили, что настольное приложение 3CX доставляло вредоносный код. Позднее расследование установило компрометацию среды сборки у поставщика. Это атака на цепочку поставки: вмешательство произошло раньше, чем пользователь получил программу привычным способом.</a:t>
            </a:r>
          </a:p>
          <a:p/>
          <a:p>
            <a:r>
              <a:t>Двадцать девятого марта появились публичные исследования, тридцатого марта поставщик опубликовал предупреждение о затронутых версиях. Мы рассматриваем историю с доступом к последующим материалам. Это важно: подробности позднего расследования не были автоматически известны человеку в момент первого предупреждения. Дата публикации и дата наблюдаемого события отвечают на разные вопросы.</a:t>
            </a:r>
          </a:p>
          <a:p/>
          <a:p>
            <a:r>
              <a:t>В изученном Windows-комплекте основной файл 3CXDesktopApp.exe был чистым. Рядом находилась изменённая ffmpeg.dll и библиотека d3dcompiler_47.dll с добавленной нагрузкой. Одна иконка приложения скрывала несколько компонентов. Проверка только основного файла не охватывала весь комплект.</a:t>
            </a:r>
          </a:p>
          <a:p/>
          <a:p>
            <a:r>
              <a:t>Изменённая библиотека продолжала выполнять обычные функции. Поэтому сотрудник мог видеть знакомое поведение программы и считать его признаком безопасности. Наш внешний источник раскрывает то, чего не видно по одному окну: внутри комплекта есть дополнительный код. Именно здесь обогащение меняет вопрос с общего названия продукта на точное содержимое компонента.</a:t>
            </a:r>
          </a:p>
          <a:p/>
          <a:p>
            <a:r>
              <a:t>Вопрос к вам: если компонент подписан поставщиком, можем ли мы на этом закончить проверку его безопасности?</a:t>
            </a:r>
          </a:p>
          <a:p/>
          <a:p>
            <a:r>
              <a:t>[Дать залу 5–8 секунд.]</a:t>
            </a:r>
          </a:p>
          <a:p/>
          <a:p>
            <a:r>
              <a:t>В списке Sophos есть изменённый вариант ffmpeg.dll, подписанный 3CX. Подпись помогает определить подписавшего и проверить целостность подписанного содержимого. Она не оценивает намерения кода. А привычное окно и работающие звонки ещё не объясняют дополнительные действия компонента.</a:t>
            </a:r>
          </a:p>
          <a:p/>
          <a:p>
            <a:r>
              <a:t>[Демонстрация 1:30 включена в блок. Основной готовый вариант — историческая карточка Sophos и схема чтения отчёта без текущих результатов. Живой поиск по публичному хешу возможен при доступности сервиса; файл не скачивать, не загружать, новый анализ не запускать.]</a:t>
            </a:r>
          </a:p>
          <a:p/>
          <a:p>
            <a:r>
              <a:t>Вот подготовленная карточка по опубликованному списку Sophos. Здесь имя, платформа, полный SHA-256 и роль файла. Это историческое основание из исследования. Длинный хеш копируем целиком.</a:t>
            </a:r>
          </a:p>
          <a:p/>
          <a:p>
            <a:r>
              <a:t>В доступной готовой карточке VirusTotal сверяем этот хеш, затем дату и содержание результатов. Если живой отчёт недоступен, используем схему полей: значений, которых не получили, на ней нет. В Community искали бы ссылку на исследование и проверили её первоисточник. Готовый результат нашего шага — точный объект и основание для внутренней проверки.</a:t>
            </a:r>
          </a:p>
          <a:p/>
          <a:p>
            <a:r>
              <a:t>[Закончить демонстрацию и вернуться к карточкам дела.]</a:t>
            </a:r>
          </a:p>
          <a:p/>
          <a:p>
            <a:r>
              <a:t>У кампании был и сетевой этап: специальные файлы иконок на GitHub содержали сведения для получения адреса следующего шага. В исследовании важен конкретный путь, а не вся площадка GitHub. Для одного опубликованного домена есть историческая связь с IP на январь две тысячи двадцать третьего года. Она не устанавливает адрес нашего учебного события в марте.</a:t>
            </a:r>
          </a:p>
          <a:p/>
          <a:p>
            <a:r>
              <a:t>Поэтому сегодняшняя репутация IP не завершает это дело. Мы прочитали внешний источник о компоненте и его роли. Теперь нужно выяснить, что находилось и что происходило на устройстве сотрудника.</a:t>
            </a:r>
          </a:p>
          <a:p/>
          <a:p>
            <a:r>
              <a:t>**Редакторское основание — не произносится:** [Sophos](https://www.sophos.com/en-gb/blog/3cx-dll-sideloading-attack), [первичный CSV Sophos](https://raw.githubusercontent.com/sophoslabs/IoCs/master/3CX%20IoCs%202023-03.csv), [Unit 42](https://unit42.paloaltonetworks.com/3cxdesktopapp-supply-chain-attack/), [Mandiant](https://cloud.google.com/blog/topics/threat-intelligence/3cx-software-supply-chain-compromise). Демонстрационный SHA-256: `c485674ee63ec8d4e8fde9800788175a8b02d3f9416d0e763360fff7f8eb4e02`. Вспомогательная историческая связь: `msedgepackageinfo[.]com` → `185.38.151[.]11`, 09.01.2023, таблица 3 Mandiant. Она не доказывает тот же IP в марте или обращение выбранной DLL к этому адресу.</a:t>
            </a:r>
          </a:p>
          <a:p/>
          <a:p>
            <a:r>
              <a:t>ИСТОЧНИКИ И РЕДАКТОРСКИЕ ОСНОВАНИЯ:</a:t>
            </a:r>
          </a:p>
          <a:p>
            <a:r>
              <a:t>Sophos · разбор 3CX, 2023</a:t>
            </a:r>
          </a:p>
          <a:p>
            <a:r>
              <a:t>https://www.sophos.com/en-gb/blog/3cx-dll-sideloading-attack</a:t>
            </a:r>
          </a:p>
          <a:p/>
          <a:p>
            <a:r>
              <a:t>SophosLabs · опубликованный SHA-256</a:t>
            </a:r>
          </a:p>
          <a:p>
            <a:r>
              <a:t>https://raw.githubusercontent.com/sophoslabs/IoCs/master/3CX%20IoCs%202023-03.csv</a:t>
            </a:r>
          </a:p>
          <a:p/>
          <a:p>
            <a:r>
              <a:t>3CX · DesktopApp Security Alert, 30.03.2023</a:t>
            </a:r>
          </a:p>
          <a:p>
            <a:r>
              <a:t>https://www.3cx.com/blog/news/desktopapp-security-alert/</a:t>
            </a:r>
          </a:p>
          <a:p/>
          <a:p>
            <a:r>
              <a:t>ПУБЛИЧНЫЙ SHA-256:</a:t>
            </a:r>
          </a:p>
          <a:p>
            <a:r>
              <a:t>c485674ee63ec8d4e8fde9800788175a8b02d3f9416d0e763360fff7f8eb4e02</a:t>
            </a:r>
          </a:p>
          <a:p>
            <a:r>
              <a:t>ОПЦИОНАЛЬНЫЙ ГОТОВЫЙ ОТЧЁТ:</a:t>
            </a:r>
          </a:p>
          <a:p>
            <a:r>
              <a:t>https://www.virustotal.com/gui/file/c485674ee63ec8d4e8fde9800788175a8b02d3f9416d0e763360fff7f8eb4e02/detection</a:t>
            </a:r>
          </a:p>
          <a:p/>
          <a:p>
            <a:r>
              <a:t>Кадры основаны на опубликованных материалах2023. Текущие детекты/даты анализа/комментарии не заявляются. Учебное устройство не исследовано.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7. Теперь — к своим устройствам</a:t>
            </a:r>
          </a:p>
          <a:p>
            <a:r>
              <a:t>ТАЙМИНГ: 19:00–23:30</a:t>
            </a:r>
          </a:p>
          <a:p/>
          <a:p>
            <a:r>
              <a:t>Разделим внутреннюю проверку на три уровня: присутствовал файл, исполнялся код, наблюдались действия. На каждом уровне нужны свои данные. Каждый следующий вывод подтверждаем отдельно; наши внутренние результаты пока не получены.</a:t>
            </a:r>
          </a:p>
          <a:p/>
          <a:p>
            <a:r>
              <a:t>Ещё один вопрос: предположим, сегодня нужного файла на устройстве нет. Доказали ли мы, что он никогда не запускался?</a:t>
            </a:r>
          </a:p>
          <a:p/>
          <a:p>
            <a:r>
              <a:t>[Дать залу 5–8 секунд.]</a:t>
            </a:r>
          </a:p>
          <a:p/>
          <a:p>
            <a:r>
              <a:t>Нет. Файл могли удалить или заменить обновлением. Текущее состояние отличается от истории. Поэтому сначала выясняем, какие данные организация собирает, какие устройства покрывает и сколько хранит события. Отсутствующий журнал отличается от журнала, в котором проверили нужный период и не нашли действие.</a:t>
            </a:r>
          </a:p>
          <a:p/>
          <a:p>
            <a:r>
              <a:t>На первом уровне уточняем версию, состав установки и точные хеши. На втором — запуски программы и загрузку библиотек, если источник её записывает. На третьем — сетевые обращения и дальнейшие доступные следы. Наличие библиотеки ещё не означает, что вся цепочка успешно исполнилась.</a:t>
            </a:r>
          </a:p>
          <a:p/>
          <a:p>
            <a:r>
              <a:t>Средства защиты устройства могут сохранять события запуска и часть действий. Сетевая история помогает проверить направления обращений. В общей системе поиска событий сопоставляем устройство, время и, когда возможно, процесс — конкретный экземпляр работающей программы. События рядом по времени не обязательно принадлежат одной программе.</a:t>
            </a:r>
          </a:p>
          <a:p/>
          <a:p>
            <a:r>
              <a:t>В команде вы можете встретить названия EDR и SIEM. Первое относится к средствам обнаружения и реагирования на устройствах, второе — к системам сбора и анализа событий безопасности. Название продукта ещё не говорит, какие данные у нас сохранились. Уточняем доступные типы событий и нужные поля у ответственных за сбор. Например, запись о сетевом направлении может быть без привязки к процессу. Тогда это ограничение нужно сохранить, а не достроить связь в своём воображении.</a:t>
            </a:r>
          </a:p>
          <a:p/>
          <a:p>
            <a:r>
              <a:t>Дополнительный код также может работать внутри уже запущенного процесса. Поэтому обязательное появление незнакомой дочерней программы не должно быть нашим единственным условием поиска. Состав проверки выбираем по поведению из исследования и по реально доступным данным.</a:t>
            </a:r>
          </a:p>
          <a:p/>
          <a:p>
            <a:r>
              <a:t>Сначала логичен поиск известных признаков: где был точный хеш, затронутый комплект или опубликованное сетевое направление? Это поиск по известным индикаторам. Затем можно поставить более широкую гипотезу о поведении. Такая проактивная проверка предположения в своей инфраструктуре относится к threat hunting.</a:t>
            </a:r>
          </a:p>
          <a:p/>
          <a:p>
            <a:r>
              <a:t>Наша учебная гипотеза: после обновления телефонного клиента могли появляться изменённые компоненты и новые или неожиданные для него сетевые назначения, в том числе без отдельного предупреждения защиты. Поиск точного хеша и проверка этого поведения — разные задачи.</a:t>
            </a:r>
          </a:p>
          <a:p/>
          <a:p>
            <a:r>
              <a:t>Для исторического упражнения выбираем архив с первого марта по тридцатое апреля две тысячи двадцать третьего года. Это наше окно проверки, не заявленная длительность атаки. Первый запрос: на каких устройствах запускался клиент и какие направления с этими запусками связаны, если источник умеет связывать сеть с процессом?</a:t>
            </a:r>
          </a:p>
          <a:p/>
          <a:p>
            <a:r>
              <a:t>По кандидатам уточняем файлы и версии, сравниваем обращения с обычной работой и согласованными изменениями. Новый сервер может быть нормальным следствием обновления. Найденный кандидат требует разбора. Если прямой связи сети с процессом нет, сопоставляем источники отдельно и отмечаем ограничение.</a:t>
            </a:r>
          </a:p>
          <a:p/>
          <a:p>
            <a:r>
              <a:t>При сравнении полезно спросить владельца приложения о разрешённых изменениях и посмотреть устройства с подтверждённой обычной установкой. Так редкость перестаёт быть единственным основанием подозрения.</a:t>
            </a:r>
          </a:p>
          <a:p/>
          <a:p>
            <a:r>
              <a:t>Сохраняем короткую запись: факт и источник, гипотеза, что проверили, какой период и охват, следующий шаг. Если архив не сохранился, это тоже часть ответа. Современные события не восстанавливают автоматически историю две тысячи двадцать третьего года. Так внешнее знание превращается в конкретную работу и объясняет предел будущего вывода.</a:t>
            </a:r>
          </a:p>
          <a:p/>
          <a:p>
            <a:r>
              <a:t>**Редакторское основание — не произносится:** план проверок и гипотеза — учебный синтез; собственные результаты не получены. Библиотеки и сетевое поведение опираются на Sophos и Unit 42. Различие поиска IoC и более широкой гипотезы поддержано процессной логикой [слайдов Сергея Солдатова, OFFZONE 2023](https://2023.offzone.moscow/upload/iblock/presentations/iyaihekczdcnkpgbx9p15m844jlgo1tf.pdf). Окно 01.03–30.04.2023 задано для упражнения.</a:t>
            </a:r>
          </a:p>
          <a:p/>
          <a:p>
            <a:r>
              <a:t>ИСТОЧНИКИ И РЕДАКТОРСКИЕ ОСНОВАНИЯ:</a:t>
            </a:r>
          </a:p>
          <a:p>
            <a:r>
              <a:t>Sophos · разбор 3CX, 2023</a:t>
            </a:r>
          </a:p>
          <a:p>
            <a:r>
              <a:t>https://www.sophos.com/en-gb/blog/3cx-dll-sideloading-attack</a:t>
            </a:r>
          </a:p>
          <a:p/>
          <a:p>
            <a:r>
              <a:t>А. Ненахов · Как киберразведка помогает SOC, 2023</a:t>
            </a:r>
          </a:p>
          <a:p>
            <a:r>
              <a:t>https://forumsoc.ru/upload/iblock/485/vw01piz8qd0037k4zsusyelev6851jc4.pdf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8. Что ответим сотруднику?</a:t>
            </a:r>
          </a:p>
          <a:p>
            <a:r>
              <a:t>ТАЙМИНГ: 23:30–25:00</a:t>
            </a:r>
          </a:p>
          <a:p/>
          <a:p>
            <a:r>
              <a:t>Вернёмся к сообщению: «Программа официальная, подписана, раньше работала. Можно продолжать?» Теперь мы понимаем, какие сведения нужны для ответа.</a:t>
            </a:r>
          </a:p>
          <a:p/>
          <a:p>
            <a:r>
              <a:t>Уточняем причину предупреждения и точный компонент. Вычисляем его хеш, читаем внешний источник с датой и основанием. Затем проверяем версию, присутствие, запуск и доступные действия на устройстве. Решение о реагировании принимаем по подтверждённым обстоятельствам и процессу команды.</a:t>
            </a:r>
          </a:p>
          <a:p/>
          <a:p>
            <a:r>
              <a:t>В реальной истории 3CX основной файл мог быть чистым, изменённая библиотека — подписанной, а окно приложения — привычным. Это помогло нам увидеть, почему нужно уточнять объект каждой проверки.</a:t>
            </a:r>
          </a:p>
          <a:p/>
          <a:p>
            <a:r>
              <a:t>В учебном деле собственных результатов пока нет. Но следующий шаг стал понятен: проверить конкретный комплект и историю устройства. Мы можем объяснить, откуда взялась эта задача и какие данные позволят продолжить.</a:t>
            </a:r>
          </a:p>
          <a:p/>
          <a:p>
            <a:r>
              <a:t>Эту последовательность можно повторить с другим IP, доменом или файлом. Инструмент выбирается под вопрос, а вывод остаётся связанным с проверенными основаниями и конкретной ситуацией.</a:t>
            </a:r>
          </a:p>
          <a:p/>
          <a:p>
            <a:r>
              <a:t>Оставлю вам короткую привычку: перед поиском сформулировать вопрос, после поиска назвать, что он изменил. Сохранить источник, время, ограничение и следующую проверку. Так вы самостоятельно собираете сведения, подкрепляете ими мысль и постепенно строите обоснованный ответ. Спасибо. Теперь можно обсудить ваши вопросы.</a:t>
            </a:r>
          </a:p>
          <a:p/>
          <a:p>
            <a:r>
              <a:t>**Редакторское основание — не произносится:** финал возвращает к учебному обращению. Исторические детали подтверждены Sophos и CSV; завершённое внутреннее расследование не заявляется.</a:t>
            </a:r>
          </a:p>
          <a:p/>
          <a:p>
            <a:r>
              <a:t>ИСТОЧНИКИ И РЕДАКТОРСКИЕ ОСНОВАНИЯ:</a:t>
            </a:r>
          </a:p>
          <a:p>
            <a:r>
              <a:t>А. Вишняков · Ошибки TI в SOC, PHDays 2025</a:t>
            </a:r>
          </a:p>
          <a:p>
            <a:r>
              <a:t>https://pt-phdays.storage.yandexcloud.net/Aleksej_Vishnyakov_Oshibki_ispolzovaniya_threat_intelligence_v_SOC_012edd864a.pdf</a:t>
            </a:r>
          </a:p>
          <a:p/>
          <a:p>
            <a:r>
              <a:t>А. Ненахов · Как киберразведка помогает SOC, 2023</a:t>
            </a:r>
          </a:p>
          <a:p>
            <a:r>
              <a:t>https://forumsoc.ru/upload/iblock/485/vw01piz8qd0037k4zsusyelev6851jc4.pdf</a:t>
            </a:r>
          </a:p>
          <a:p/>
          <a:p>
            <a:r>
              <a:t>Проверка документации:21 октября2026. Подготовленные кадры с аналитическими схемами не являются скриншотами текущих карточек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t-phdays.storage.yandexcloud.net/Aleksej_Vishnyakov_Oshibki_ispolzovaniya_threat_intelligence_v_SOC_012edd864a.pdf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src.nist.gov/glossary/term/indicator_of_compromise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w.githubusercontent.com/sophoslabs/IoCs/master/3CX%20IoCs%202023-03.csv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virustotal.com/reference/files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virustotal.com/gui/file/c485674ee63ec8d4e8fde9800788175a8b02d3f9416d0e763360fff7f8eb4e02/detection" TargetMode="External"/><Relationship Id="rId3" Type="http://schemas.openxmlformats.org/officeDocument/2006/relationships/hyperlink" Target="https://www.sophos.com/en-gb/blog/3cx-dll-sideloading-attack" TargetMode="Externa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ophos.com/en-gb/blog/3cx-dll-sideloading-attack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7D5CA"/>
                </a:solidFill>
                <a:latin typeface="DejaVu Sans"/>
              </a:rPr>
              <a:t>THREAT INTELLIGENCE ДЛЯ НАЧИНАЮЩИХ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365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C4CD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C4CD"/>
                </a:solidFill>
                <a:latin typeface="DejaVu Sans"/>
              </a:rPr>
              <a:t>01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6537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4F3EE"/>
                </a:solidFill>
                <a:latin typeface="DejaVu Sans"/>
              </a:rPr>
              <a:t>Загуглить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4F3EE"/>
                </a:solidFill>
                <a:latin typeface="DejaVu Sans"/>
              </a:rPr>
              <a:t>противника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346704"/>
            <a:ext cx="59436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F3EE"/>
                </a:solidFill>
                <a:latin typeface="DejaVu Sans"/>
              </a:rPr>
              <a:t>Как думать с помощью TI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F3EE"/>
                </a:solidFill>
                <a:latin typeface="DejaVu Sans"/>
              </a:rPr>
              <a:t>на примере 3CX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919472"/>
            <a:ext cx="5715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0C4CD"/>
                </a:solidFill>
                <a:latin typeface="DejaVu Sans"/>
              </a:rPr>
              <a:t>Компания  /  Имя спикера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25880"/>
            <a:ext cx="4261104" cy="4187952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3651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2088" y="1600200"/>
            <a:ext cx="2999232" cy="310896"/>
          </a:xfrm>
          <a:prstGeom prst="roundRect">
            <a:avLst>
              <a:gd name="adj" fmla="val 20000"/>
            </a:avLst>
          </a:prstGeom>
          <a:solidFill>
            <a:srgbClr val="223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3527" y="1668780"/>
            <a:ext cx="28163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7D5CA"/>
                </a:solidFill>
                <a:latin typeface="DejaVu Sans"/>
              </a:rPr>
              <a:t>УЧЕБНАЯ СИТУАЦИЯ · МАРТ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231136"/>
            <a:ext cx="3703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4F3EE"/>
                </a:solidFill>
                <a:latin typeface="DejaVu Sans"/>
              </a:rPr>
              <a:t>После обновления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4F3EE"/>
                </a:solidFill>
                <a:latin typeface="DejaVu Sans"/>
              </a:rPr>
              <a:t>защита предупредила.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4F3EE"/>
                </a:solidFill>
                <a:latin typeface="DejaVu San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4F3EE"/>
                </a:solidFill>
                <a:latin typeface="DejaVu Sans"/>
              </a:rPr>
              <a:t>Программа подписана.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4F3EE"/>
                </a:solidFill>
                <a:latin typeface="DejaVu Sans"/>
              </a:rPr>
              <a:t>Можно продолжать?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0375" y="4681728"/>
            <a:ext cx="3685033" cy="0"/>
          </a:xfrm>
          <a:prstGeom prst="line">
            <a:avLst/>
          </a:prstGeom>
          <a:ln w="12700">
            <a:solidFill>
              <a:srgbClr val="4B68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80375" y="49194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7D5CA"/>
                </a:solidFill>
                <a:latin typeface="DejaVu Sans"/>
              </a:rPr>
              <a:t>Откроем улики по одной.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01 / ЗАЧЕМ НУЖЕН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TI помогает выбрать следующий шаг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2D38"/>
                </a:solidFill>
                <a:latin typeface="DejaVu Sans"/>
              </a:rPr>
              <a:t>Сведения об угрозах помогают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72D38"/>
                </a:solidFill>
                <a:latin typeface="DejaVu Sans"/>
              </a:rPr>
              <a:t>принимать решения по защите.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145536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33649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ВНЕШНИЕ СВЕДЕНИЯ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822191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Что известно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исследователям?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3088" y="3813048"/>
            <a:ext cx="146304" cy="219456"/>
          </a:xfrm>
          <a:prstGeom prst="chevron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9976" y="3145536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3649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ОЦЕНКА ОСНОВАНИЙ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822191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Что применимо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к нашему событию?</a:t>
            </a:r>
          </a:p>
        </p:txBody>
      </p:sp>
      <p:sp>
        <p:nvSpPr>
          <p:cNvPr id="15" name="Chevron 14"/>
          <p:cNvSpPr/>
          <p:nvPr/>
        </p:nvSpPr>
        <p:spPr>
          <a:xfrm>
            <a:off x="7900416" y="3813048"/>
            <a:ext cx="146304" cy="219456"/>
          </a:xfrm>
          <a:prstGeom prst="chevron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3145536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33649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СВОИ 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822191"/>
            <a:ext cx="30632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Чем это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2D38"/>
                </a:solidFill>
                <a:latin typeface="DejaVu Sans"/>
              </a:rPr>
              <a:t>подтвердить у нас?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102352"/>
            <a:ext cx="10963656" cy="594360"/>
          </a:xfrm>
          <a:prstGeom prst="rect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5257800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DejaVu Sans"/>
              </a:rPr>
              <a:t>Сведения → оценка → следующая проверка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А. Вишняков · Ошибки TI в SOC, PHDays 2025 · А. Ненахов · Как киберразведка помогает SOC, 2023 · ссылки в заметках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02 / ЧТО ТАКОЕ IoC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Объект ещё нужно объяснить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920240"/>
            <a:ext cx="25146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D7A"/>
                </a:solidFill>
                <a:latin typeface="DejaVu Sans Mono"/>
              </a:rPr>
              <a:t>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973"/>
                </a:solidFill>
                <a:latin typeface="DejaVu Sans"/>
              </a:rPr>
              <a:t>Сетевой адрес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920240"/>
            <a:ext cx="25146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214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D7A"/>
                </a:solidFill>
                <a:latin typeface="DejaVu Sans Mono"/>
              </a:rPr>
              <a:t>ДОМЕН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7432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973"/>
                </a:solidFill>
                <a:latin typeface="DejaVu Sans"/>
              </a:rPr>
              <a:t>Имя ресурса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20240"/>
            <a:ext cx="25146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1214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D7A"/>
                </a:solidFill>
                <a:latin typeface="DejaVu Sans Mono"/>
              </a:rPr>
              <a:t>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7432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973"/>
                </a:solidFill>
                <a:latin typeface="DejaVu Sans"/>
              </a:rPr>
              <a:t>Ссылка с путём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920240"/>
            <a:ext cx="25146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1214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7D7A"/>
                </a:solidFill>
                <a:latin typeface="DejaVu Sans Mono"/>
              </a:rPr>
              <a:t>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2743200"/>
            <a:ext cx="2221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26973"/>
                </a:solidFill>
                <a:latin typeface="DejaVu Sans"/>
              </a:rPr>
              <a:t>Отпечаток файла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675887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2D38"/>
                </a:solidFill>
                <a:latin typeface="DejaVu Sans"/>
              </a:rPr>
              <a:t>IoC — признак с основанием подозревать атаку.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4517136"/>
            <a:ext cx="10890504" cy="0"/>
          </a:xfrm>
          <a:prstGeom prst="line">
            <a:avLst/>
          </a:prstGeom>
          <a:ln w="1270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78231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26973"/>
                </a:solidFill>
                <a:latin typeface="DejaVu Sans"/>
              </a:rPr>
              <a:t>Адрес в журнале: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26973"/>
                </a:solidFill>
                <a:latin typeface="DejaVu Sans"/>
              </a:rPr>
              <a:t>наблюдаемый объект</a:t>
            </a:r>
          </a:p>
        </p:txBody>
      </p:sp>
      <p:sp>
        <p:nvSpPr>
          <p:cNvPr id="22" name="Chevron 21"/>
          <p:cNvSpPr/>
          <p:nvPr/>
        </p:nvSpPr>
        <p:spPr>
          <a:xfrm>
            <a:off x="5239512" y="5001768"/>
            <a:ext cx="228600" cy="265176"/>
          </a:xfrm>
          <a:prstGeom prst="chevron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856" y="4782312"/>
            <a:ext cx="5806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D7A"/>
                </a:solidFill>
                <a:latin typeface="DejaVu Sans"/>
              </a:rPr>
              <a:t>Роль + источник + время: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D7A"/>
                </a:solidFill>
                <a:latin typeface="DejaVu Sans"/>
              </a:rPr>
              <a:t>основание для проверки</a:t>
            </a:r>
          </a:p>
        </p:txBody>
      </p:sp>
      <p:sp>
        <p:nvSpPr>
          <p:cNvPr id="24" name="TextBox 23">
            <a:hlinkClick r:id="rId2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NIST · Indicator of Compromise · Microsoft · Get-FileHash · ссылки в заметках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03 / ЧЕГО НЕ ХВАТАЕТ ДЛЯ ВЫВОДА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Совпадение — начало проверки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084831"/>
            <a:ext cx="2514600" cy="2414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9514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D7A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0720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D38"/>
                </a:solidFill>
                <a:latin typeface="DejaVu Sans"/>
              </a:rPr>
              <a:t>ТОТ ЛИ ОБЪЕКТ?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00984"/>
            <a:ext cx="21579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Имя или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точные байты?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84831"/>
            <a:ext cx="2514600" cy="2414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9514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D7A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0720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D38"/>
                </a:solidFill>
                <a:latin typeface="DejaVu Sans"/>
              </a:rPr>
              <a:t>КАКАЯ РОЛЬ?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00984"/>
            <a:ext cx="21579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Роль объекта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в исследовании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084831"/>
            <a:ext cx="2514600" cy="2414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29514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D7A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80720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D38"/>
                </a:solidFill>
                <a:latin typeface="DejaVu Sans"/>
              </a:rPr>
              <a:t>НА КАКУЮ ДАТУ?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300984"/>
            <a:ext cx="21579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Когда видели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эту активность?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2084831"/>
            <a:ext cx="2514600" cy="2414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229514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D7A"/>
                </a:solidFill>
                <a:latin typeface="DejaVu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80720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D38"/>
                </a:solidFill>
                <a:latin typeface="DejaVu Sans"/>
              </a:rPr>
              <a:t>ЧТО БЫЛО У НАС?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300984"/>
            <a:ext cx="21579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Наличие?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Запуск?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973"/>
                </a:solidFill>
                <a:latin typeface="DejaVu Sans"/>
              </a:rPr>
              <a:t>Обращение?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4864608"/>
            <a:ext cx="10963656" cy="896112"/>
          </a:xfrm>
          <a:prstGeom prst="roundRect">
            <a:avLst>
              <a:gd name="adj" fmla="val 6000"/>
            </a:avLst>
          </a:prstGeom>
          <a:solidFill>
            <a:srgbClr val="F4E4D2"/>
          </a:solidFill>
          <a:ln w="10160">
            <a:solidFill>
              <a:srgbClr val="F4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029200"/>
            <a:ext cx="104973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D38"/>
                </a:solidFill>
                <a:latin typeface="DejaVu Sans"/>
              </a:rPr>
              <a:t>Точный хеш может подтвердить известное содержимое.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D38"/>
                </a:solidFill>
                <a:latin typeface="DejaVu Sans"/>
              </a:rPr>
              <a:t>Использование этого файла на устройстве проверяем отдельно.</a:t>
            </a:r>
          </a:p>
        </p:txBody>
      </p:sp>
      <p:sp>
        <p:nvSpPr>
          <p:cNvPr id="25" name="TextBox 24">
            <a:hlinkClick r:id="rId2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SophosLabs · опубликованный SHA-256 · Microsoft · Authenticode · ссылки в заметках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04 / КАК ПОДКРЕПИТЬ СВОЮ МЫСЛЬ ДАННЫМИ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Сначала вопрос. Затем сервис.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05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874519"/>
            <a:ext cx="5367528" cy="3136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93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7D7A"/>
                </a:solidFill>
                <a:latin typeface="DejaVu Sans"/>
              </a:rPr>
              <a:t>VirusTotal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6090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973"/>
                </a:solidFill>
                <a:latin typeface="DejaVu Sans"/>
              </a:rPr>
              <a:t>Что известно об этом объекте?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367528" cy="3136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093976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7D7A"/>
                </a:solidFill>
                <a:latin typeface="DejaVu Sans"/>
              </a:rPr>
              <a:t>AbuseIPDB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66090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973"/>
                </a:solidFill>
                <a:latin typeface="DejaVu Sans"/>
              </a:rPr>
              <a:t>Что сообщали об этом IP?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336499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28269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Точный объект и даты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" y="386791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785615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Содержание результатов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437083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885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Community → первоисточник</a:t>
            </a:r>
          </a:p>
        </p:txBody>
      </p:sp>
      <p:sp>
        <p:nvSpPr>
          <p:cNvPr id="19" name="Oval 18"/>
          <p:cNvSpPr/>
          <p:nvPr/>
        </p:nvSpPr>
        <p:spPr>
          <a:xfrm>
            <a:off x="6455664" y="336499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28269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Период и время жалобы</a:t>
            </a:r>
          </a:p>
        </p:txBody>
      </p:sp>
      <p:sp>
        <p:nvSpPr>
          <p:cNvPr id="21" name="Oval 20"/>
          <p:cNvSpPr/>
          <p:nvPr/>
        </p:nvSpPr>
        <p:spPr>
          <a:xfrm>
            <a:off x="6455664" y="386791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785615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Какая активность описана</a:t>
            </a:r>
          </a:p>
        </p:txBody>
      </p:sp>
      <p:sp>
        <p:nvSpPr>
          <p:cNvPr id="23" name="Oval 22"/>
          <p:cNvSpPr/>
          <p:nvPr/>
        </p:nvSpPr>
        <p:spPr>
          <a:xfrm>
            <a:off x="6455664" y="4370831"/>
            <a:ext cx="100584" cy="100584"/>
          </a:xfrm>
          <a:prstGeom prst="ellipse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42885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2D38"/>
                </a:solidFill>
                <a:latin typeface="DejaVu Sans"/>
              </a:rPr>
              <a:t>Сколько разных репортеров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340096"/>
            <a:ext cx="1085392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72D38"/>
                </a:solidFill>
                <a:latin typeface="DejaVu Sans"/>
              </a:rPr>
              <a:t>Community даёт зацепку. Проверяем её по источнику.</a:t>
            </a:r>
          </a:p>
        </p:txBody>
      </p:sp>
      <p:sp>
        <p:nvSpPr>
          <p:cNvPr id="26" name="TextBox 25">
            <a:hlinkClick r:id="rId2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Официальные документы VT / AbuseIPDB · Числа не равны вероятности · Полные ссылки в заметках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05 / ДЕЛО ОБ ОБНОВЛЕНИИ 3CX · WINDOWS,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Одна иконка. Несколько компонентов.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06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938528"/>
            <a:ext cx="251460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2148840"/>
            <a:ext cx="2743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73405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D38"/>
                </a:solidFill>
                <a:latin typeface="DejaVu Sans Mono"/>
              </a:rPr>
              <a:t>3CXDesktopApp.exe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23697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Чистый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основной файл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38528"/>
            <a:ext cx="2514600" cy="1993392"/>
          </a:xfrm>
          <a:prstGeom prst="roundRect">
            <a:avLst>
              <a:gd name="adj" fmla="val 6000"/>
            </a:avLst>
          </a:prstGeom>
          <a:solidFill>
            <a:srgbClr val="F4E4D2"/>
          </a:solidFill>
          <a:ln w="10160">
            <a:solidFill>
              <a:srgbClr val="F4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148840"/>
            <a:ext cx="274320" cy="365760"/>
          </a:xfrm>
          <a:prstGeom prst="rect">
            <a:avLst/>
          </a:prstGeom>
          <a:solidFill>
            <a:srgbClr val="F4E4D2"/>
          </a:solidFill>
          <a:ln w="10160">
            <a:solidFill>
              <a:srgbClr val="B85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73405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D38"/>
                </a:solidFill>
                <a:latin typeface="DejaVu Sans Mono"/>
              </a:rPr>
              <a:t>ffmpeg.dll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3697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Изменённый код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с подписью 3CX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38528"/>
            <a:ext cx="251460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2" y="2148840"/>
            <a:ext cx="274320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73405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D38"/>
                </a:solidFill>
                <a:latin typeface="DejaVu Sans Mono"/>
              </a:rPr>
              <a:t>d3dcompiler_47.dll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236976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Добавленная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скрытая нагрузка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938528"/>
            <a:ext cx="2432304" cy="1993392"/>
          </a:xfrm>
          <a:prstGeom prst="roundRect">
            <a:avLst>
              <a:gd name="adj" fmla="val 6000"/>
            </a:avLst>
          </a:prstGeom>
          <a:solidFill>
            <a:srgbClr val="DDEDEA"/>
          </a:solidFill>
          <a:ln w="10160">
            <a:solidFill>
              <a:srgbClr val="DDE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157984"/>
            <a:ext cx="2020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СЛЕДУЮЩИЙ ВОПРОС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697480"/>
            <a:ext cx="20208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7A"/>
                </a:solidFill>
                <a:latin typeface="DejaVu Sans"/>
              </a:rPr>
              <a:t>Где этот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7A"/>
                </a:solidFill>
                <a:latin typeface="DejaVu Sans"/>
              </a:rPr>
              <a:t>компонент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7A"/>
                </a:solidFill>
                <a:latin typeface="DejaVu Sans"/>
              </a:rPr>
              <a:t>был у нас?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37083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ОПУБЛИКОВАННЫЙ SHA-256 КОНКРЕТНОГО ffmpeg.dll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4791456"/>
            <a:ext cx="10963656" cy="576072"/>
          </a:xfrm>
          <a:prstGeom prst="roundRect">
            <a:avLst>
              <a:gd name="adj" fmla="val 6000"/>
            </a:avLst>
          </a:prstGeom>
          <a:solidFill>
            <a:srgbClr val="142B35"/>
          </a:solidFill>
          <a:ln w="10160">
            <a:solidFill>
              <a:srgbClr val="14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r:id="rId2"/>
          </p:cNvPr>
          <p:cNvSpPr txBox="1"/>
          <p:nvPr/>
        </p:nvSpPr>
        <p:spPr>
          <a:xfrm>
            <a:off x="804672" y="4974336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4F3EE"/>
                </a:solidFill>
                <a:latin typeface="DejaVu Sans Mono"/>
              </a:rPr>
              <a:t>c485674ee63ec8d4e8fde9800788175a8b02d3f9416d0e763360fff7f8eb4e02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522976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26973"/>
                </a:solidFill>
                <a:latin typeface="DejaVu Sans"/>
              </a:rPr>
              <a:t>Исторические сведения Sophos. Наше учебное устройство ещё не проверено.</a:t>
            </a:r>
          </a:p>
        </p:txBody>
      </p:sp>
      <p:sp>
        <p:nvSpPr>
          <p:cNvPr id="26" name="TextBox 25">
            <a:hlinkClick r:id="rId3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Sophos · разбор 3CX, 2023 · SophosLabs · опубликованный SHA-256 · ссылки в заметках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D7A"/>
                </a:solidFill>
                <a:latin typeface="DejaVu Sans"/>
              </a:rPr>
              <a:t>06 / ОТ ОБОГАЩЕНИЯ — К ПРОВЕРКЕ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2D38"/>
                </a:solidFill>
                <a:latin typeface="DejaVu Sans"/>
              </a:rPr>
              <a:t>Теперь — к своим устройствам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CDD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26973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26973"/>
                </a:solidFill>
                <a:latin typeface="DejaVu Sans"/>
              </a:rPr>
              <a:t>07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975104"/>
            <a:ext cx="3429000" cy="1472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49424"/>
            <a:ext cx="30449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D7A"/>
                </a:solidFill>
                <a:latin typeface="DejaVu Sans"/>
              </a:rPr>
              <a:t>ПРИСУТСТВОВАЛ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43784"/>
            <a:ext cx="30449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973"/>
                </a:solidFill>
                <a:latin typeface="DejaVu Sans"/>
              </a:rPr>
              <a:t>Версия · путь · хеш</a:t>
            </a:r>
          </a:p>
        </p:txBody>
      </p:sp>
      <p:sp>
        <p:nvSpPr>
          <p:cNvPr id="10" name="Chevron 9"/>
          <p:cNvSpPr/>
          <p:nvPr/>
        </p:nvSpPr>
        <p:spPr>
          <a:xfrm>
            <a:off x="4133088" y="2651760"/>
            <a:ext cx="146304" cy="219456"/>
          </a:xfrm>
          <a:prstGeom prst="chevron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975104"/>
            <a:ext cx="3429000" cy="1472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49424"/>
            <a:ext cx="30449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D7A"/>
                </a:solidFill>
                <a:latin typeface="DejaVu Sans"/>
              </a:rPr>
              <a:t>ИСПОЛНЯЛСЯ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43784"/>
            <a:ext cx="30449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973"/>
                </a:solidFill>
                <a:latin typeface="DejaVu Sans"/>
              </a:rPr>
              <a:t>Запуск · загрузка DLL</a:t>
            </a:r>
          </a:p>
        </p:txBody>
      </p:sp>
      <p:sp>
        <p:nvSpPr>
          <p:cNvPr id="14" name="Chevron 13"/>
          <p:cNvSpPr/>
          <p:nvPr/>
        </p:nvSpPr>
        <p:spPr>
          <a:xfrm>
            <a:off x="7900416" y="2651760"/>
            <a:ext cx="146304" cy="219456"/>
          </a:xfrm>
          <a:prstGeom prst="chevron">
            <a:avLst/>
          </a:prstGeom>
          <a:solidFill>
            <a:srgbClr val="00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47304" y="1975104"/>
            <a:ext cx="3429000" cy="1472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249424"/>
            <a:ext cx="30449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D7A"/>
                </a:solidFill>
                <a:latin typeface="DejaVu Sans"/>
              </a:rPr>
              <a:t>ОБРАЩАЛСЯ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843784"/>
            <a:ext cx="304495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26973"/>
                </a:solidFill>
                <a:latin typeface="DejaVu Sans"/>
              </a:rPr>
              <a:t>Направление · процесс · время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822191"/>
            <a:ext cx="3794760" cy="1581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DD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5993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ПОИСК ИЗВЕСТНОГО IoC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72000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D38"/>
                </a:solidFill>
                <a:latin typeface="DejaVu Sans"/>
              </a:rPr>
              <a:t>Где встречался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2D38"/>
                </a:solidFill>
                <a:latin typeface="DejaVu Sans"/>
              </a:rPr>
              <a:t>этот точный хеш?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26864" y="3822191"/>
            <a:ext cx="6949440" cy="1581912"/>
          </a:xfrm>
          <a:prstGeom prst="roundRect">
            <a:avLst>
              <a:gd name="adj" fmla="val 6000"/>
            </a:avLst>
          </a:prstGeom>
          <a:solidFill>
            <a:srgbClr val="DDEDEA"/>
          </a:solidFill>
          <a:ln w="10160">
            <a:solidFill>
              <a:srgbClr val="DDE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4059936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7D7A"/>
                </a:solidFill>
                <a:latin typeface="DejaVu Sans"/>
              </a:rPr>
              <a:t>HUNTING-ГИПОТЕЗА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4572000"/>
            <a:ext cx="6391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D7A"/>
                </a:solidFill>
                <a:latin typeface="DejaVu Sans"/>
              </a:rPr>
              <a:t>Что изменилось в поведении клиента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7D7A"/>
                </a:solidFill>
                <a:latin typeface="DejaVu Sans"/>
              </a:rPr>
              <a:t>после обновления?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9612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26973"/>
                </a:solidFill>
                <a:latin typeface="DejaVu Sans"/>
              </a:rPr>
              <a:t>Архивное упражнение: март–апрель 2023, при наличии данных. Кандидат требует проверки.</a:t>
            </a:r>
          </a:p>
        </p:txBody>
      </p:sp>
      <p:sp>
        <p:nvSpPr>
          <p:cNvPr id="25" name="TextBox 24">
            <a:hlinkClick r:id="rId2"/>
          </p:cNvPr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26973"/>
                </a:solidFill>
                <a:latin typeface="DejaVu Sans"/>
              </a:rPr>
              <a:t>Sophos · разбор 3CX, 2023 · А. Ненахов · Как киберразведка помогает SOC, 2023 · ссылки в заметках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7D5CA"/>
                </a:solidFill>
                <a:latin typeface="DejaVu Sans"/>
              </a:rPr>
              <a:t>07 / ВОЗВРАЩАЕМСЯ К ИСХОДНОМУ СОБЫТИЮ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4F3EE"/>
                </a:solidFill>
                <a:latin typeface="DejaVu Sans"/>
              </a:rPr>
              <a:t>Что ответим сотруднику?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318504"/>
            <a:ext cx="11045952" cy="0"/>
          </a:xfrm>
          <a:prstGeom prst="line">
            <a:avLst/>
          </a:prstGeom>
          <a:ln w="10160">
            <a:solidFill>
              <a:srgbClr val="365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C4CD"/>
                </a:solidFill>
                <a:latin typeface="DejaVu Sans"/>
              </a:rPr>
              <a:t>ЗАГУГЛИТЬ ПРОТИВНИКА  /  ДУМАТЬ С ПОМОЩЬЮ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64373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C4CD"/>
                </a:solidFill>
                <a:latin typeface="DejaVu Sans"/>
              </a:rPr>
              <a:t>08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5779008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3EE"/>
                </a:solidFill>
                <a:latin typeface="DejaVu Sans"/>
              </a:rPr>
              <a:t>«Программа подписана.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F3EE"/>
                </a:solidFill>
                <a:latin typeface="DejaVu Sans"/>
              </a:rPr>
              <a:t>Можно продолжать?»</a:t>
            </a:r>
          </a:p>
        </p:txBody>
      </p:sp>
      <p:sp>
        <p:nvSpPr>
          <p:cNvPr id="8" name="Oval 7"/>
          <p:cNvSpPr/>
          <p:nvPr/>
        </p:nvSpPr>
        <p:spPr>
          <a:xfrm>
            <a:off x="6793992" y="2029968"/>
            <a:ext cx="109728" cy="109728"/>
          </a:xfrm>
          <a:prstGeom prst="ellipse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901952"/>
            <a:ext cx="435254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4F3EE"/>
                </a:solidFill>
                <a:latin typeface="DejaVu Sans"/>
              </a:rPr>
              <a:t>Уточним предупреждение и компонент.</a:t>
            </a:r>
          </a:p>
        </p:txBody>
      </p:sp>
      <p:sp>
        <p:nvSpPr>
          <p:cNvPr id="10" name="Oval 9"/>
          <p:cNvSpPr/>
          <p:nvPr/>
        </p:nvSpPr>
        <p:spPr>
          <a:xfrm>
            <a:off x="6793992" y="2825496"/>
            <a:ext cx="109728" cy="109728"/>
          </a:xfrm>
          <a:prstGeom prst="ellipse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697480"/>
            <a:ext cx="435254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4F3EE"/>
                </a:solidFill>
                <a:latin typeface="DejaVu Sans"/>
              </a:rPr>
              <a:t>Сверим источник, роль и время.</a:t>
            </a:r>
          </a:p>
        </p:txBody>
      </p:sp>
      <p:sp>
        <p:nvSpPr>
          <p:cNvPr id="12" name="Oval 11"/>
          <p:cNvSpPr/>
          <p:nvPr/>
        </p:nvSpPr>
        <p:spPr>
          <a:xfrm>
            <a:off x="6793992" y="3621024"/>
            <a:ext cx="109728" cy="109728"/>
          </a:xfrm>
          <a:prstGeom prst="ellipse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3493008"/>
            <a:ext cx="4352544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4F3EE"/>
                </a:solidFill>
                <a:latin typeface="DejaVu Sans"/>
              </a:rPr>
              <a:t>Проверим историю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07992"/>
            <a:ext cx="1947672" cy="594360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223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66344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7D5CA"/>
                </a:solidFill>
                <a:latin typeface="DejaVu Sans"/>
              </a:rPr>
              <a:t>Объект</a:t>
            </a:r>
          </a:p>
        </p:txBody>
      </p:sp>
      <p:sp>
        <p:nvSpPr>
          <p:cNvPr id="16" name="Chevron 15"/>
          <p:cNvSpPr/>
          <p:nvPr/>
        </p:nvSpPr>
        <p:spPr>
          <a:xfrm>
            <a:off x="2670048" y="4690872"/>
            <a:ext cx="118872" cy="192024"/>
          </a:xfrm>
          <a:prstGeom prst="chevron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4507992"/>
            <a:ext cx="1947672" cy="594360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223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6936" y="466344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7D5CA"/>
                </a:solidFill>
                <a:latin typeface="DejaVu Sans"/>
              </a:rPr>
              <a:t>Вопрос</a:t>
            </a:r>
          </a:p>
        </p:txBody>
      </p:sp>
      <p:sp>
        <p:nvSpPr>
          <p:cNvPr id="19" name="Chevron 18"/>
          <p:cNvSpPr/>
          <p:nvPr/>
        </p:nvSpPr>
        <p:spPr>
          <a:xfrm>
            <a:off x="4892040" y="4690872"/>
            <a:ext cx="118872" cy="192024"/>
          </a:xfrm>
          <a:prstGeom prst="chevron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4064" y="4507992"/>
            <a:ext cx="1947672" cy="594360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223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66344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7D5CA"/>
                </a:solidFill>
                <a:latin typeface="DejaVu Sans"/>
              </a:rPr>
              <a:t>Источник</a:t>
            </a:r>
          </a:p>
        </p:txBody>
      </p:sp>
      <p:sp>
        <p:nvSpPr>
          <p:cNvPr id="22" name="Chevron 21"/>
          <p:cNvSpPr/>
          <p:nvPr/>
        </p:nvSpPr>
        <p:spPr>
          <a:xfrm>
            <a:off x="7114032" y="4690872"/>
            <a:ext cx="118872" cy="192024"/>
          </a:xfrm>
          <a:prstGeom prst="chevron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6056" y="4507992"/>
            <a:ext cx="1947672" cy="594360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223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466344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7D5CA"/>
                </a:solidFill>
                <a:latin typeface="DejaVu Sans"/>
              </a:rPr>
              <a:t>Проверка</a:t>
            </a:r>
          </a:p>
        </p:txBody>
      </p:sp>
      <p:sp>
        <p:nvSpPr>
          <p:cNvPr id="25" name="Chevron 24"/>
          <p:cNvSpPr/>
          <p:nvPr/>
        </p:nvSpPr>
        <p:spPr>
          <a:xfrm>
            <a:off x="9336024" y="4690872"/>
            <a:ext cx="118872" cy="192024"/>
          </a:xfrm>
          <a:prstGeom prst="chevron">
            <a:avLst/>
          </a:prstGeom>
          <a:solidFill>
            <a:srgbClr val="87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28048" y="4507992"/>
            <a:ext cx="1947672" cy="594360"/>
          </a:xfrm>
          <a:prstGeom prst="roundRect">
            <a:avLst>
              <a:gd name="adj" fmla="val 6000"/>
            </a:avLst>
          </a:prstGeom>
          <a:solidFill>
            <a:srgbClr val="223D48"/>
          </a:solidFill>
          <a:ln w="10160">
            <a:solidFill>
              <a:srgbClr val="223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4663440"/>
            <a:ext cx="1837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7D5CA"/>
                </a:solidFill>
                <a:latin typeface="DejaVu Sans"/>
              </a:rPr>
              <a:t>Действие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504688"/>
            <a:ext cx="10835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4F3EE"/>
                </a:solidFill>
                <a:latin typeface="DejaVu Sans"/>
              </a:rPr>
              <a:t>Спасибо.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Загуглить противника: думать с помощью TI</dc:title>
  <dc:subject>3CX · 8 слайдов · 25 минут · полная речь в заметках</dc:subject>
  <dc:creator>Компания / Имя спикера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