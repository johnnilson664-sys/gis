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СЛАЙД 1 · 00:00–01:50</a:t>
            </a:r>
          </a:p>
          <a:p/>
          <a:p>
            <a:r>
              <a:t>Представьте обычный рабочий день. Сотрудник сообщает: «Мне пришло письмо со счётом за подписку. Я сам позвонил по номеру из приложенного PDF. По просьбе собеседника запустил программу удалённой поддержки. Теперь переживаю». В материалах этого учебного события есть ещё внешний сетевой адрес. Вот и всё, что мы пока знаем. Мы не знаем, кто говорил с сотрудником, что делал удалённый оператор и передавались ли какие-то файлы.</a:t>
            </a:r>
          </a:p>
          <a:p/>
          <a:p>
            <a:r>
              <a:t>Сегодня мы попробуем пройти путь от такого сообщения до обоснованного следующего действия. Threat Intelligence — сведения об угрозах, которые мы оцениваем и используем для решений по защите. Возможно, перед нами мошенничество. Возможно, сотрудник неправильно понял вполне обычную поддержку. Именно эту неопределённость и нужно уменьшить.</a:t>
            </a:r>
          </a:p>
          <a:p/>
          <a:p>
            <a:r>
              <a:t>Первый вопрос к залу: кто бы начал с поиска этого внешнего адреса в интернете? Поднимите руку. Это разумный первый шаг. А теперь мысленно добавьте к нему второй: что именно результат поиска сможет доказать?</a:t>
            </a:r>
          </a:p>
          <a:p/>
          <a:p>
            <a:r>
              <a:t>За следующие двадцать пять минут мы разберём два доступных сервиса, научимся читать их ответы и сформулируем проверяемую гипотезу для поиска похожих событий. Главный результат сегодняшней встречи — привычка превращать найденную информацию в вопросы, на которые можно ответить данными. Давайте начнём с нашего адреса.</a:t>
            </a:r>
          </a:p>
          <a:p/>
          <a:p>
            <a:r>
              <a:t>ПЕРЕХОД: Что именно мы сейчас собираемся искать?</a:t>
            </a:r>
          </a:p>
          <a:p/>
          <a:p>
            <a:r>
              <a:t>ПРОВЕРКА ДОКУМЕНТАЦИИ: 14 октября 2026 года. Текущие оценки конкретных IP/доменов не представлены.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СЛАЙД 2 · 01:50–03:30</a:t>
            </a:r>
          </a:p>
          <a:p/>
          <a:p>
            <a:r>
              <a:t>Внешний адрес — это наблюдаемый объект. Его можно записать, сравнить, поискать. Так же можно поступить с доменом, ссылкой из письма или именем программы. В Threat Intelligence для таких объектов часто используют слово observable. Здесь достаточно запомнить: это то, что мы увидели, а значение ещё предстоит выяснить.</a:t>
            </a:r>
          </a:p>
          <a:p/>
          <a:p>
            <a:r>
              <a:t>Индикатор компрометации, или IoC, — признак, дающий основание подозревать нежелательное действие. Например, адрес, который исследователи связали с приёмом украденных данных в определённый период. Сам адрес остаётся наблюдаемым объектом; основание и условия делают его полезным индикатором. Но совпадение с ним ещё не доказывает компрометацию нашего компьютера. Программа удалённой поддержки тоже может помогать сотруднику, а может давать постороннему доступ.</a:t>
            </a:r>
          </a:p>
          <a:p/>
          <a:p>
            <a:r>
              <a:t>Для сегодняшней истории полезны три группы артефактов. Сетевые: адреса, домены, ссылки. Файловые: сам файл, его имя и хеш, то есть отпечаток содержимого. Контекстные: письмо, телефон, идентификатор сеанса поддержки. Эти группы дополняют друг друга. Иногда телефон и текст письма объясняют больше, чем десяток сетевых адресов.</a:t>
            </a:r>
          </a:p>
          <a:p/>
          <a:p>
            <a:r>
              <a:t>Поэтому сначала мы сохраняем исходное сообщение сотрудника и время события, а уже потом обогащаем отдельные объекты. Иначе легко получить много интересных сведений о совершенно другой истории. Наш следующий шаг — посмотреть, что известно об адресе, и аккуратно ограничить значение найденного ответа.</a:t>
            </a:r>
          </a:p>
          <a:p/>
          <a:p>
            <a:r>
              <a:t>ПЕРЕХОД: Чем внешний поиск поможет работе аналитика?</a:t>
            </a:r>
          </a:p>
          <a:p/>
          <a:p>
            <a:r>
              <a:t>ПРОВЕРКА ДОКУМЕНТАЦИИ: 14 октября 2026 года. Текущие оценки конкретных IP/доменов не представлены.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СЛАЙД 3 · 03:30–05:15</a:t>
            </a:r>
          </a:p>
          <a:p/>
          <a:p>
            <a:r>
              <a:t>Прежде чем открыть сервисы, договоримся о словах. Проверка репутации отвечает на узкий вопрос: что другие участники сообщали об этом объекте? Обогащение добавляет сведения: провайдер, даты наблюдений, тип файла, связанные объекты. Пока это ещё не объяснение нашего события.</a:t>
            </a:r>
          </a:p>
          <a:p/>
          <a:p>
            <a:r>
              <a:t>Анализ Threat Intelligence начинается, когда мы связываем сведения с вопросом и оцениваем основания для вывода. Например: известен ли способ обмана, в котором после письма про подписку человек сам запускает удалённую поддержку? Насколько найденное описание похоже на наши обстоятельства? Какие альтернативы остаются?</a:t>
            </a:r>
          </a:p>
          <a:p/>
          <a:p>
            <a:r>
              <a:t>Расследование инцидента отвечает уже про конкретный компьютер и конкретного сотрудника: был ли доступ, какие действия выполнялись, что затронуто. Центр мониторинга безопасности обычно называют SOC. Это команда, которая наблюдает события и разбирает подозрительные сигналы. Внешний отчёт помогает её работе, а конкретные действия нужно подтвердить собственными данными.</a:t>
            </a:r>
          </a:p>
          <a:p/>
          <a:p>
            <a:r>
              <a:t>Наконец, поиск угроз, или hunting, проверяет, встречалось ли похожее поведение ещё где-то. Мы задаём гипотезу и ищем её следы в доступной истории событий, даже если отдельного предупреждения о них не было.</a:t>
            </a:r>
          </a:p>
          <a:p/>
          <a:p>
            <a:r>
              <a:t>Все пять действий нужны. Ошибка возникает, когда между ними исчезают границы: «Адресу пожаловались, значит мы расследовали инцидент». Нет, мы получили одну подсказку. Теперь нужно понять её происхождение, время и отношение к нашему вопросу. Именно так будем читать первый сервис.</a:t>
            </a:r>
          </a:p>
          <a:p/>
          <a:p>
            <a:r>
              <a:t>ПЕРЕХОД: Перед поисковой строкой запишем вопрос.</a:t>
            </a:r>
          </a:p>
          <a:p/>
          <a:p>
            <a:r>
              <a:t>ПРОВЕРКА ДОКУМЕНТАЦИИ: 14 октября 2026 года. Текущие оценки конкретных IP/доменов не представлены.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СЛАЙД 4 · 05:15–06:35</a:t>
            </a:r>
          </a:p>
          <a:p/>
          <a:p>
            <a:r>
              <a:t>Вернёмся к учебному обращению. У нас есть внешний адрес, но нам нужно выяснить несколько разных вещей. Замечали ли с него нежелательную активность? Какая программа обращалась к нему? Кто разрешил эту программу запустить? На последний вопрос внешний сервис вообще не сможет ответить.</a:t>
            </a:r>
          </a:p>
          <a:p/>
          <a:p>
            <a:r>
              <a:t>Выберем объект под каждый вопрос. Для истории IP подойдёт AbuseIPDB. Для конкретного файла нужен его хеш, лучше SHA-256: отпечаток именно этих байтов. По нему можно искать готовый отчёт VirusTotal. Имя файла такой точности не даёт: его легко изменить.</a:t>
            </a:r>
          </a:p>
          <a:p/>
          <a:p>
            <a:r>
              <a:t>Если в письме была ссылка, различаем полный URL и домен. URL включает конкретный путь и иногда параметры. Отчёт о домене не описывает автоматически каждую его страницу. Сохраняем исходную ссылку внутри расследования, а перед внешним запросом отдельно проверяем, что допустимо раскрыть.</a:t>
            </a:r>
          </a:p>
          <a:p/>
          <a:p>
            <a:r>
              <a:t>Запишем вопрос до открытия вкладки: «Что известно об этом объекте и как это поможет проверить событие?» Так мы получим понятную задачу для каждого источника. Начнём с истории сообщений об IP.</a:t>
            </a:r>
          </a:p>
          <a:p/>
          <a:p>
            <a:r>
              <a:t>ПЕРЕХОД: Начнём с истории адреса.</a:t>
            </a:r>
          </a:p>
          <a:p/>
          <a:p>
            <a:r>
              <a:t>ИСТОЧНИКИ:</a:t>
            </a:r>
          </a:p>
          <a:p>
            <a:r>
              <a:t>AbuseIPDB · CHECK</a:t>
            </a:r>
          </a:p>
          <a:p>
            <a:r>
              <a:t>https://docs.abuseipdb.com/#check-endpoint</a:t>
            </a:r>
          </a:p>
          <a:p>
            <a:r>
              <a:t>VirusTotal · File object</a:t>
            </a:r>
          </a:p>
          <a:p>
            <a:r>
              <a:t>https://docs.virustotal.com/reference/files</a:t>
            </a:r>
          </a:p>
          <a:p>
            <a:r>
              <a:t>VirusTotal · Domain object</a:t>
            </a:r>
          </a:p>
          <a:p>
            <a:r>
              <a:t>https://docs.virustotal.com/reference/domains-object</a:t>
            </a:r>
          </a:p>
          <a:p>
            <a:r>
              <a:t>VirusTotal · URL object</a:t>
            </a:r>
          </a:p>
          <a:p>
            <a:r>
              <a:t>https://docs.virustotal.com/reference/url-object</a:t>
            </a:r>
          </a:p>
          <a:p/>
          <a:p>
            <a:r>
              <a:t>ПРОВЕРКА ДОКУМЕНТАЦИИ: 14 октября 2026 года. Текущие оценки конкретных IP/доменов не представлены.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СЛАЙД 5 · 06:35–08:40</a:t>
            </a:r>
          </a:p>
          <a:p/>
          <a:p>
            <a:r>
              <a:t>AbuseIPDB собирает сообщения о нежелательной активности с сетевых адресов. Читаем даты, период, источники и категории. Сколько пользователей сообщало об адресе? Есть ли содержательные комментарии? Речь о переборе паролей, нежелательной почте или сканировании?</a:t>
            </a:r>
          </a:p>
          <a:p/>
          <a:p>
            <a:r>
              <a:t>Количество сообщений не равно количеству атак. Повторы могут поступать от одного участника, а разные пользователи не обязательно представляют независимые организации. В программном интерфейсе сервиса — API — количество сообщений относится к выбранному окну. В интерфейсе записываем тот период, который действительно показан.</a:t>
            </a:r>
          </a:p>
          <a:p/>
          <a:p>
            <a:r>
              <a:t>Если жалобы касаются сканирования, они помогают понять историю адреса. Они ещё не подтверждают, что именно с него управляли компьютером сотрудника. Отсутствие жалоб означает отсутствие видимых сообщений в этом периоде. Новая или мало наблюдаемая активность могла не попасть в базу.</a:t>
            </a:r>
          </a:p>
          <a:p/>
          <a:p>
            <a:r>
              <a:t>Оценка уверенности сервиса учитывает сообщения и их возраст. Её нельзя превращать в вероятность нашего инцидента. Даже максимум шкалы не доказывает, что любое соединение с адресом является атакой.</a:t>
            </a:r>
          </a:p>
          <a:p/>
          <a:p>
            <a:r>
              <a:t>Время особенно важно. Система DNS сопоставляет имя домена с адресом сервера. Сегодняшний ответ может отличаться от ответа в момент события. Сам IP мог перейти другому арендатору; на общем хостинге размещаются разные сайты.</a:t>
            </a:r>
          </a:p>
          <a:p/>
          <a:p>
            <a:r>
              <a:t>Поэтому историческую связь проверяем по собственным записям или сведениям с понятным временем наблюдения. Название провайдера и страна помогают описать объект, но не определяют намерения пользователя. Проверяем эти детали там, где они меняют вывод.</a:t>
            </a:r>
          </a:p>
          <a:p/>
          <a:p>
            <a:r>
              <a:t>Полезная заметка: «За такой-то период есть сообщения таких-то типов; отношение к нашему событию ещё проверяется». Теперь перейдём от истории адреса к сведениям о других объектах.</a:t>
            </a:r>
          </a:p>
          <a:p/>
          <a:p>
            <a:r>
              <a:t>ПЕРЕХОД: Теперь проверим другой объект и другой тип свидетельства.</a:t>
            </a:r>
          </a:p>
          <a:p/>
          <a:p>
            <a:r>
              <a:t>ИСТОЧНИКИ:</a:t>
            </a:r>
          </a:p>
          <a:p>
            <a:r>
              <a:t>AbuseIPDB · CHECK</a:t>
            </a:r>
          </a:p>
          <a:p>
            <a:r>
              <a:t>https://docs.abuseipdb.com/#check-endpoint</a:t>
            </a:r>
          </a:p>
          <a:p>
            <a:r>
              <a:t>AbuseIPDB · FAQ</a:t>
            </a:r>
          </a:p>
          <a:p>
            <a:r>
              <a:t>https://www.abuseipdb.com/faq.html</a:t>
            </a:r>
          </a:p>
          <a:p/>
          <a:p>
            <a:r>
              <a:t>ПРОВЕРКА ДОКУМЕНТАЦИИ: 14 октября 2026 года. Текущие оценки конкретных IP/доменов не представлены.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СЛАЙД 6 · 08:40–10:45</a:t>
            </a:r>
          </a:p>
          <a:p/>
          <a:p>
            <a:r>
              <a:t>В VirusTotal важно выбрать нужный тип объекта. Для IP и домена смотрим сведения и связи сетевого объекта. Для URL — отчёт о конкретной ссылке. Для файла ищем хеш и читаем файловый отчёт. Вердикты сервисов проверки ссылок об IP или домене не означают, что антивирус проверил файл. Затем обязательно смотрим дату анализа.</a:t>
            </a:r>
          </a:p>
          <a:p/>
          <a:p>
            <a:r>
              <a:t>Второй вопрос к залу: если все показанные движки оставили файл без обнаружения, готовы ли вы разрешить ему удалённо управлять рабочим компьютером? Подумайте несколько секунд. Отчёт полезен, но разрешение зависит ещё от происхождения файла, запроса сотрудника и правил компании.</a:t>
            </a:r>
          </a:p>
          <a:p/>
          <a:p>
            <a:r>
              <a:t>Число обнаружений не является вероятностью атаки. Один результат может быть ложным срабатыванием. Много результатов заслуживают внимания, но их названия и причины тоже нужно читать. Отметка undetected означает, что конкретное средство не дало обнаружения или не выразило мнение при этой проверке. Harmless — отдельное мнение о невредоносности. Таймаут означает, что результат не получен. Ни отсутствие детектов, ни ошибка анализа не гарантируют безопасность.</a:t>
            </a:r>
          </a:p>
          <a:p/>
          <a:p>
            <a:r>
              <a:t>Посмотрите дальше: какой тип файла указан, кто его подписал, какие действия наблюдались при анализе, есть ли связанные домены, адреса и другие файлы. Поведение может объяснить, что программа умеет делать. Связи могут подсказать следующий объект для проверки.</a:t>
            </a:r>
          </a:p>
          <a:p/>
          <a:p>
            <a:r>
              <a:t>При этом отчёт о возможностях программы не отвечает, кто запустил её у нашего сотрудника и кто был по другую сторону сеанса. Перед использованием этих сведений обсудим, какие данные допустимо передавать внешнему сервису.</a:t>
            </a:r>
          </a:p>
          <a:p/>
          <a:p>
            <a:r>
              <a:t>ПЕРЕХОД: Прежде чем вводить значение, проверим, что раскрывает запрос.</a:t>
            </a:r>
          </a:p>
          <a:p/>
          <a:p>
            <a:r>
              <a:t>ИСТОЧНИКИ:</a:t>
            </a:r>
          </a:p>
          <a:p>
            <a:r>
              <a:t>VirusTotal · Analysis object</a:t>
            </a:r>
          </a:p>
          <a:p>
            <a:r>
              <a:t>https://docs.virustotal.com/reference/analyses-object</a:t>
            </a:r>
          </a:p>
          <a:p>
            <a:r>
              <a:t>VirusTotal · IP object</a:t>
            </a:r>
          </a:p>
          <a:p>
            <a:r>
              <a:t>https://docs.virustotal.com/reference/ip-object</a:t>
            </a:r>
          </a:p>
          <a:p>
            <a:r>
              <a:t>VirusTotal · Domain object</a:t>
            </a:r>
          </a:p>
          <a:p>
            <a:r>
              <a:t>https://docs.virustotal.com/reference/domains-object</a:t>
            </a:r>
          </a:p>
          <a:p>
            <a:r>
              <a:t>VirusTotal · File object</a:t>
            </a:r>
          </a:p>
          <a:p>
            <a:r>
              <a:t>https://docs.virustotal.com/reference/files</a:t>
            </a:r>
          </a:p>
          <a:p>
            <a:r>
              <a:t>VirusTotal · URL object</a:t>
            </a:r>
          </a:p>
          <a:p>
            <a:r>
              <a:t>https://docs.virustotal.com/reference/url-object</a:t>
            </a:r>
          </a:p>
          <a:p/>
          <a:p>
            <a:r>
              <a:t>ПРОВЕРКА ДОКУМЕНТАЦИИ: 14 октября 2026 года. Текущие оценки конкретных IP/доменов не представлены.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СЛАЙД 7 · 10:45–12:15</a:t>
            </a:r>
          </a:p>
          <a:p/>
          <a:p>
            <a:r>
              <a:t>Очень соблазнительно скопировать в поиск всё, что есть в сообщении сотрудника. Но ссылка может содержать персональный идентификатор или токен доступа. В файле могут быть клиентские данные. Даже внутреннее имя ресурса иногда раскрывает лишнее. Поэтому сначала действуют правила компании и условия используемого сервиса.</a:t>
            </a:r>
          </a:p>
          <a:p/>
          <a:p>
            <a:r>
              <a:t>Документация VirusTotal прямо предупреждает об анализе и включении в общий набор данных сообщества индикаторов, переданных или запрошенных через веб-интерфейс либо API. Поэтому поиск существующего отчёта не нужно считать гарантией конфиденциальности.</a:t>
            </a:r>
          </a:p>
          <a:p/>
          <a:p>
            <a:r>
              <a:t>Поиск по хешу и загрузка самого файла — разные действия. В первом случае мы ищем известный отпечаток, во втором передаём содержимое. Но это различие не отменяет необходимости оценить, какие сведения раскрывает наш запрос и разрешён ли такой способ работы.</a:t>
            </a:r>
          </a:p>
          <a:p/>
          <a:p>
            <a:r>
              <a:t>Для публичной демонстрации возьмём уже опубликованный объект. В реальном расследовании конфиденциальные файлы и ссылки остаются в разрешённом контуре. Если внешний запрос не допускается, используем внутренние средства или согласованный процесс анализа.</a:t>
            </a:r>
          </a:p>
          <a:p/>
          <a:p>
            <a:r>
              <a:t>Перед запросом остановитесь на секунду: публичен ли объект, нет ли в нём секрета и допускают ли правила компании такой способ проверки?</a:t>
            </a:r>
          </a:p>
          <a:p/>
          <a:p>
            <a:r>
              <a:t>ПЕРЕХОД: Для разбора возьмём уже опубликованный исторический объект.</a:t>
            </a:r>
          </a:p>
          <a:p/>
          <a:p>
            <a:r>
              <a:t>ИСТОЧНИКИ:</a:t>
            </a:r>
          </a:p>
          <a:p>
            <a:r>
              <a:t>VirusTotal · Searching</a:t>
            </a:r>
          </a:p>
          <a:p>
            <a:r>
              <a:t>https://docs.virustotal.com/docs/searching</a:t>
            </a:r>
          </a:p>
          <a:p>
            <a:r>
              <a:t>VirusTotal · Upload / disclosure</a:t>
            </a:r>
          </a:p>
          <a:p>
            <a:r>
              <a:t>https://docs.virustotal.com/reference/files-scan</a:t>
            </a:r>
          </a:p>
          <a:p/>
          <a:p>
            <a:r>
              <a:t>ПРОВЕРКА ДОКУМЕНТАЦИИ: 14 октября 2026 года. Текущие оценки конкретных IP/доменов не представлены.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СЛАЙД 8 · 12:15–13:55</a:t>
            </a:r>
          </a:p>
          <a:p/>
          <a:p>
            <a:r>
              <a:t>Для разбора у нас есть опубликованный исторический объект из исследования Sygnia. Это готовый пример чтения источника, без открытия живых карточек и без текущих оценок.</a:t>
            </a:r>
          </a:p>
          <a:p/>
          <a:p>
            <a:r>
              <a:t>На экране домен maaays[.]xyz и IP 192[.]236[.]194[.]2. В таблице Sygnia две тысячи двадцать второго года эта пара обозначена как сервер для выноса данных. Мы читаем утверждение публикации с указанным источником и годом. Это отдельный исторический объект, который не относится к внешнему адресу учебного компьютера.</a:t>
            </a:r>
          </a:p>
          <a:p/>
          <a:p>
            <a:r>
              <a:t>Теперь зададим по одному вопросу двум сервисам. Для AbuseIPDB: что сообщали об активности с этого IP и в какой период? Нам нужны даты, категории и происхождение сообщений. Для VirusTotal: что известно именно о домене и какие связи наблюдались во времени? Нам нужны тип объекта, дата анализа и основания отношений.</a:t>
            </a:r>
          </a:p>
          <a:p/>
          <a:p>
            <a:r>
              <a:t>Эти вопросы помогают подготовить следующую проверку. Текущих карточек на этом слайде нет, поэтому никаких чисел жалоб, оценок или вердиктов мы из него не выводим. И сегодняшние сведения не должны подменять состояние инфраструктуры в две тысячи двадцать втором году.</a:t>
            </a:r>
          </a:p>
          <a:p/>
          <a:p>
            <a:r>
              <a:t>Цель разбора — увидеть порядок: сначала источник и время, затем значение связи, затем вопрос к собственным данным. Теперь обсудим, зачем в нашей истории понадобилась эта публикация.</a:t>
            </a:r>
          </a:p>
          <a:p/>
          <a:p>
            <a:r>
              <a:t>ПЕРЕХОД: Почему этот реальный кейс меняет направление проверки?</a:t>
            </a:r>
          </a:p>
          <a:p/>
          <a:p>
            <a:r>
              <a:t>ИСТОЧНИКИ:</a:t>
            </a:r>
          </a:p>
          <a:p>
            <a:r>
              <a:t>Sygnia · Luna Moth · 2022</a:t>
            </a:r>
          </a:p>
          <a:p>
            <a:r>
              <a:t>https://www.sygnia.co/blog/luna-moth-false-subscription-scams/</a:t>
            </a:r>
          </a:p>
          <a:p/>
          <a:p>
            <a:r>
              <a:t>ПРОВЕРКА ДОКУМЕНТАЦИИ: 14 октября 2026 года. Текущие оценки конкретных IP/доменов не представлены.</a:t>
            </a:r>
          </a:p>
          <a:p/>
          <a:p>
            <a:r>
              <a:t>Это готовый запасной разбор, не скриншот интерфейса. Для live-варианта предварительно проверить публичные карточки, сохранить снимки с датой. Не открывать сам домен, не скачивать образцы, не запускать Scan/Upload/Reanalyze.</a:t>
            </a:r>
          </a:p>
          <a:p>
            <a:r>
              <a:t>https://www.abuseipdb.com/check/192.236.194.2</a:t>
            </a:r>
          </a:p>
          <a:p>
            <a:r>
              <a:t>https://www.virustotal.com/gui/domain/maaays.xyz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СЛАЙД 9 · 13:55–15:50</a:t>
            </a:r>
          </a:p>
          <a:p/>
          <a:p>
            <a:r>
              <a:t>В июле две тысячи двадцать второго года Sygnia опубликовала исследование Luna Moth. PDF со счётом побуждал человека позвонить. Под предлогом отмены подписки его приглашали в Zoho Assist, затем устанавливали Atera для удалённого администрирования. Средства передачи файлов, включая Rclone, использовали для выноса данных. Это легитимные продукты: решающим было их использование посторонним оператором.</a:t>
            </a:r>
          </a:p>
          <a:p/>
          <a:p>
            <a:r>
              <a:t>В ноябре Unit 42 опубликовала результаты своих расследований: в описанной кампании крали данные и вымогали деньги без шифрования. Фишинг — обман под видом доверенного отправителя или службы. Вариант callback phishing побуждает жертву позвонить. Эти расследования принадлежат исследователям, к нашей учебной ситуации они не относятся.</a:t>
            </a:r>
          </a:p>
          <a:p/>
          <a:p>
            <a:r>
              <a:t>Что мы берём из опубликованного материала? Проверяемую возможность: внешне обычная поддержка может оказаться частью цепочки обмана. Теперь для нашего события важнее происхождение сеанса и последующие действия, чем одно название приложения.</a:t>
            </a:r>
          </a:p>
          <a:p/>
          <a:p>
            <a:r>
              <a:t>Но сходство отдельных деталей не даёт права назвать нашего собеседника Luna Moth. Письмо про подписку, звонок и удалённая поддержка помогают выбрать направление проверки. Они не доказывают автора действий, принадлежность к группе или к конкретной кампании.</a:t>
            </a:r>
          </a:p>
          <a:p/>
          <a:p>
            <a:r>
              <a:t>Рабочая заметка должна отделять факты события от внешнего контекста: сотрудник сообщил одно; публичное исследование описывает другое; мы проверяем возможную связь через такие-то данные. Это простое разделение защищает от незаметного превращения предположения в факт.</a:t>
            </a:r>
          </a:p>
          <a:p/>
          <a:p>
            <a:r>
              <a:t>Мы используем чужое расследование как источник вопросов. У нас ещё нет собственного ответа, происходила ли похожая цепочка на компьютере сотрудника.</a:t>
            </a:r>
          </a:p>
          <a:p/>
          <a:p>
            <a:r>
              <a:t>ПЕРЕХОД: Какие связи можно взять из публикации — и где остановиться?</a:t>
            </a:r>
          </a:p>
          <a:p/>
          <a:p>
            <a:r>
              <a:t>ИСТОЧНИКИ:</a:t>
            </a:r>
          </a:p>
          <a:p>
            <a:r>
              <a:t>Sygnia · Luna Moth · 2022</a:t>
            </a:r>
          </a:p>
          <a:p>
            <a:r>
              <a:t>https://www.sygnia.co/blog/luna-moth-false-subscription-scams/</a:t>
            </a:r>
          </a:p>
          <a:p>
            <a:r>
              <a:t>Unit 42 · Callback Phishing · 2022</a:t>
            </a:r>
          </a:p>
          <a:p>
            <a:r>
              <a:t>https://unit42.paloaltonetworks.com/luna-moth-callback-phishing/</a:t>
            </a:r>
          </a:p>
          <a:p/>
          <a:p>
            <a:r>
              <a:t>ПРОВЕРКА ДОКУМЕНТАЦИИ: 14 октября 2026 года. Текущие оценки конкретных IP/доменов не представлены.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СЛАЙД 10 · 15:50–17:30</a:t>
            </a:r>
          </a:p>
          <a:p/>
          <a:p>
            <a:r>
              <a:t>В отчёте Sygnia две тысячи двадцать второго года есть историческая связка maaays[.]xyz и 192[.]236[.]194[.]2 с ролью Exfiltration Server — сервер для выноса данных. Это сведения публикации; сегодняшний адрес домена и текущий владелец здесь не установлены.</a:t>
            </a:r>
          </a:p>
          <a:p/>
          <a:p>
            <a:r>
              <a:t>Представим, что найденный файл действительно относится к известному продукту удалённой поддержки. Подпись выглядит ожидаемой, тип файла понятен, массовых обнаружений нет. У нас появилась полезная информация: возможно, сотрудник запустил обычный инструмент. Но исходный вопрос всё ещё открыт.</a:t>
            </a:r>
          </a:p>
          <a:p/>
          <a:p>
            <a:r>
              <a:t>Легитимность инструмента не означает, что его использование разрешено. Ключевое различие находится в контексте. Кто попросил запустить программу? Был ли запрос на помощь? Узнал ли сотрудник собеседника? Как был установлен контакт? Есть ли подтверждённая заявка и известный оператор? Для этого нужно вернуться к письму, звонку и обстоятельствам запуска.</a:t>
            </a:r>
          </a:p>
          <a:p/>
          <a:p>
            <a:r>
              <a:t>Получается полезная смена фокуса. Мы начали с вопроса «плохой ли адрес?», а теперь спрашиваем: «на каких основаниях этому человеку предоставили доступ и что он сделал?» Первый вопрос помог собрать контекст. Второй приближает нас к проверке события.</a:t>
            </a:r>
          </a:p>
          <a:p/>
          <a:p>
            <a:r>
              <a:t>То же относится к связям из сервисов. Соседство объектов может объясняться общим хостингом. Нужно выяснить время и характер связи. Исторический адрес помогает выбрать направление проверки, но не устанавливает автора действий в нашей истории.</a:t>
            </a:r>
          </a:p>
          <a:p/>
          <a:p>
            <a:r>
              <a:t>ПЕРЕХОД: Теперь возвращаемся к учебному сотруднику.</a:t>
            </a:r>
          </a:p>
          <a:p/>
          <a:p>
            <a:r>
              <a:t>ИСТОЧНИКИ:</a:t>
            </a:r>
          </a:p>
          <a:p>
            <a:r>
              <a:t>Sygnia · Luna Moth · 2022</a:t>
            </a:r>
          </a:p>
          <a:p>
            <a:r>
              <a:t>https://www.sygnia.co/blog/luna-moth-false-subscription-scams/</a:t>
            </a:r>
          </a:p>
          <a:p>
            <a:r>
              <a:t>VirusTotal · Domain object</a:t>
            </a:r>
          </a:p>
          <a:p>
            <a:r>
              <a:t>https://docs.virustotal.com/reference/domains-object</a:t>
            </a:r>
          </a:p>
          <a:p/>
          <a:p>
            <a:r>
              <a:t>ПРОВЕРКА ДОКУМЕНТАЦИИ: 14 октября 2026 года. Текущие оценки конкретных IP/доменов не представлены.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СЛАЙД 11 · 17:30–19:35</a:t>
            </a:r>
          </a:p>
          <a:p/>
          <a:p>
            <a:r>
              <a:t>Внешний контекст помог нам уточнить вопросы. Теперь нужно восстановить последовательность внутри компании. Начинаем с сотрудника: когда пришло письмо, когда был звонок, откуда взята программа, какие действия предложил собеседник. Сохраняем доступные материалы так, чтобы не потерять время и источник каждого факта.</a:t>
            </a:r>
          </a:p>
          <a:p/>
          <a:p>
            <a:r>
              <a:t>Затем смотрим, какие технические данные вообще собираются. Защитное средство на компьютере может записывать запуск программ и часть их действий. Такой класс средств часто называют EDR. Сетевая история может показать обращения и объём переданных данных, если организация её собирает. Журналы самого сервиса поддержки могут уточнить сеанс и участника. Сопоставляем записи по устройству, времени, пользователю и идентификатору процесса или сеанса, если он доступен. Спрашиваем: какая программа установила соединение и есть ли следы передачи файлов? Запрос DNS ещё не означает соединение, а исходящий трафик сам по себе не доказывает кражу данных.</a:t>
            </a:r>
          </a:p>
          <a:p/>
          <a:p>
            <a:r>
              <a:t>Не будем заранее придумывать записи, которых у нас нет. Отсутствующий журнал отличается от журнала, в котором событие действительно искали и не нашли. А запись о запуске программы отличается от записи о передаче конкретного файла. Каждый источник отвечает на свой набор вопросов.</a:t>
            </a:r>
          </a:p>
          <a:p/>
          <a:p>
            <a:r>
              <a:t>Если события собраны в общей системе поиска — SIEM, — сопоставлять их удобнее. Полнота всё равно зависит от охвата и срока хранения.</a:t>
            </a:r>
          </a:p>
          <a:p/>
          <a:p>
            <a:r>
              <a:t>В итоге мы сможем перечислить подтверждённые действия и оставшиеся пробелы. Даже если вывод пока ограничен, это уже полезный результат: станет ясно, что проверить дальше и на каком основании принимать решение о реагировании. Прежде чем искать похожее поведение, нужно понятно записать результат нашей проверки.</a:t>
            </a:r>
          </a:p>
          <a:p/>
          <a:p>
            <a:r>
              <a:t>ПЕРЕХОД: Как записать вывод, когда часть данных ещё отсутствует?</a:t>
            </a:r>
          </a:p>
          <a:p/>
          <a:p>
            <a:r>
              <a:t>ПРОВЕРКА ДОКУМЕНТАЦИИ: 14 октября 2026 года. Текущие оценки конкретных IP/доменов не представлены.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СЛАЙД 12 · 19:35–20:55</a:t>
            </a:r>
          </a:p>
          <a:p/>
          <a:p>
            <a:r>
              <a:t>Сохраняйте источник и дату просмотра рядом с выводом. Сервисы обновляются, отчёты меняются, ссылки пропадают. Коллеге понадобится понять основания вашего решения. Отдельно запишите факт, гипотезу, ограничения и следующий шаг.</a:t>
            </a:r>
          </a:p>
          <a:p/>
          <a:p>
            <a:r>
              <a:t>Результат удобно описывать словами, которые можно проверить. Например: «Найдено такое-то поведение, согласование пока не подтверждено». Или: «В доступных данных последовательность не обнаружена; часть периода не покрыта». Это шаблоны формулировок: результатов внутренней проверки в нашем учебном примере ещё нет.</a:t>
            </a:r>
          </a:p>
          <a:p/>
          <a:p>
            <a:r>
              <a:t>Если проверка дала новый сетевой адрес или хеш, возвращаемся к обогащению. Но каждый следующий переход должен отвечать вопросу расследования. Иначе можно долго переходить между связанными объектами и так и не узнать, что произошло с сотрудником.</a:t>
            </a:r>
          </a:p>
          <a:p/>
          <a:p>
            <a:r>
              <a:t>Когда основания достаточны, команда действует по своему процессу реагирования. Когда их мало, фиксирует пробел и выбирает следующий способ проверки. Threat Intelligence полезна в обоих случаях: она помогает поставить вопрос и объяснить ограничение ответа. Теперь применим этот подход к поиску похожего поведения в прошлом.</a:t>
            </a:r>
          </a:p>
          <a:p/>
          <a:p>
            <a:r>
              <a:t>ПЕРЕХОД: Из этого вопроса можно сделать поиск в истории.</a:t>
            </a:r>
          </a:p>
          <a:p/>
          <a:p>
            <a:r>
              <a:t>ПРОВЕРКА ДОКУМЕНТАЦИИ: 14 октября 2026 года. Текущие оценки конкретных IP/доменов не представлены.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СЛАЙД 13 · 20:55–23:25</a:t>
            </a:r>
          </a:p>
          <a:p/>
          <a:p>
            <a:r>
              <a:t>Третий вопрос к залу: если в наших данных нет передачи файлов, можем ли мы сказать, что передачи не было? Дайте себе несколько секунд. Ответ зависит от того, записывали ли источники такие действия и сохранилась ли нужная история.</a:t>
            </a:r>
          </a:p>
          <a:p/>
          <a:p>
            <a:r>
              <a:t>Попробуем сформулировать гипотезу аккуратно: в выбранном прошлом периоде могло происходить неразрешённое использование удалённой поддержки, после которого выполнялась передача файлов. В этой формулировке есть поведение и последовательность. Её можно проверить доступными данными.</a:t>
            </a:r>
          </a:p>
          <a:p/>
          <a:p>
            <a:r>
              <a:t>Для учебного упражнения выберем последние четырнадцать дней. Это наше условие, а не универсальное правило и не характеристика опубликованного кейса. В настоящей работе окно зависит от времени события, предполагаемой длительности активности и срока хранения нужных источников. Если история доступна только частично, ограничение должно попасть в вывод.</a:t>
            </a:r>
          </a:p>
          <a:p/>
          <a:p>
            <a:r>
              <a:t>Сначала определяем, какие средства удалённой поддержки встречаются в среде. Затем ищем запуск или сеансы, которые можем наблюдать. После них проверяем доступные следы передачи файлов. Допустимый интервал между действиями выбираем по устройству источников и задаче; волшебной минуты, подходящей всем, здесь нет.</a:t>
            </a:r>
          </a:p>
          <a:p/>
          <a:p>
            <a:r>
              <a:t>Сопоставляем найденное с заявками поддержки, известными операторами и словами сотрудников. Обычная передача документа при согласованной помощи может выглядеть похоже на подозрительную цепочку. Поэтому совпадение условий поиска становится кандидатом для проверки.</a:t>
            </a:r>
          </a:p>
          <a:p/>
          <a:p>
            <a:r>
              <a:t>Перед поиском полезно проверить покрытие: какие компьютеры присутствуют, каких нет, доступны ли нужные события за все четырнадцать дней. Затем для каждого кандидата собираем короткую последовательность: запуск или сеанс поддержки, последующее наблюдаемое действие, подтверждение разрешённого использования либо открытый вопрос.</a:t>
            </a:r>
          </a:p>
          <a:p/>
          <a:p>
            <a:r>
              <a:t>Так мы заранее понимаем, что будет подтверждением, что ослабит предположение и какие данные могут отсутствовать. Хорошая гипотеза позволяет получить полезный отрицательный результат: в проверенном охвате мы не обнаружили нужной последовательности. Она также показывает, где этот результат ограничен. Первый конкретный шаг: запросить список запусков средств удалённой поддержки на рабочих станциях за доступные четырнадцать дней. По кандидатам проверить согласование и последующие действия. Теперь вернёмся к началу.</a:t>
            </a:r>
          </a:p>
          <a:p/>
          <a:p>
            <a:r>
              <a:t>ПЕРЕХОД: Что мы теперь сделаем с исходным обращением?</a:t>
            </a:r>
          </a:p>
          <a:p/>
          <a:p>
            <a:r>
              <a:t>ПРОВЕРКА ДОКУМЕНТАЦИИ: 14 октября 2026 года. Текущие оценки конкретных IP/доменов не представлены.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СЛАЙД 14 · 23:25–25:00</a:t>
            </a:r>
          </a:p>
          <a:p/>
          <a:p>
            <a:r>
              <a:t>Сотрудник получил письмо со счётом за подписку, сам позвонил по номеру из PDF и запустил удалённую поддержку. Появился внешний сетевой адрес. В начале доклада это легко превращалось в задачу «найти плохой адрес». Теперь у нас есть более точный порядок действий.</a:t>
            </a:r>
          </a:p>
          <a:p/>
          <a:p>
            <a:r>
              <a:t>Сохраняем исходные обстоятельства и время. Проверяем репутацию адреса, читая историю жалоб и её ограничения. По доступным файлам, доменам и ссылкам изучаем отчёты, даты, поведение и связи. Помним, что внешние проверки не разрешают использование инструмента и не гарантируют его безопасность.</a:t>
            </a:r>
          </a:p>
          <a:p/>
          <a:p>
            <a:r>
              <a:t>Публичное исследование даёт нам направление: проверить, не использовали ли поддержку для неразрешённых действий. Собственные данные должны показать, что происходило в конкретном сеансе. А для поиска в прошлом у нас есть проверяемая гипотеза: удалённая поддержка, затем передача файлов, выбранный период и обязательная проверка контекста.</a:t>
            </a:r>
          </a:p>
          <a:p/>
          <a:p>
            <a:r>
              <a:t>Мы не объявили учебное событие атакой и не установили противника. Зато каждый следующий шаг стал понятнее, а каждый будущий вывод сможет опираться на источник и условия проверки.</a:t>
            </a:r>
          </a:p>
          <a:p/>
          <a:p>
            <a:r>
              <a:t>Если после выступления вы будете иначе читать хотя бы один отчёт — смотреть дату, происхождение данных и связь с вашим вопросом, — это уже практический результат. Начните с одного объекта, одного вопроса и одного проверяемого следующего действия. Спасибо.</a:t>
            </a:r>
          </a:p>
          <a:p/>
          <a:p>
            <a:r>
              <a:t>ПЕРЕХОД: Завершить речь; открыть отдельное время на вопросы.</a:t>
            </a:r>
          </a:p>
          <a:p/>
          <a:p>
            <a:r>
              <a:t>ПРОВЕРКА ДОКУМЕНТАЦИИ: 14 октября 2026 года. Текущие оценки конкретных IP/доменов не представлены.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СЛАЙД 15 · Вне 25 минут</a:t>
            </a:r>
          </a:p>
          <a:p/>
          <a:p>
            <a:r>
              <a:t>Справочный слайд. Ссылки ведут к первоисточникам кейса и официальной документации. Документация проверена 14 октября 2026 года. Текущие оценки конкретных индикаторов не заявляются.</a:t>
            </a:r>
          </a:p>
          <a:p/>
          <a:p>
            <a:r>
              <a:t>ПЕРЕХОД: Справочный слайд; не входит в хронометраж.</a:t>
            </a:r>
          </a:p>
          <a:p/>
          <a:p>
            <a:r>
              <a:t>ИСТОЧНИКИ:</a:t>
            </a:r>
          </a:p>
          <a:p>
            <a:r>
              <a:t>Sygnia · Luna Moth · 2022</a:t>
            </a:r>
          </a:p>
          <a:p>
            <a:r>
              <a:t>https://www.sygnia.co/blog/luna-moth-false-subscription-scams/</a:t>
            </a:r>
          </a:p>
          <a:p>
            <a:r>
              <a:t>Unit 42 · Callback Phishing · 2022</a:t>
            </a:r>
          </a:p>
          <a:p>
            <a:r>
              <a:t>https://unit42.paloaltonetworks.com/luna-moth-callback-phishing/</a:t>
            </a:r>
          </a:p>
          <a:p>
            <a:r>
              <a:t>AbuseIPDB · CHECK</a:t>
            </a:r>
          </a:p>
          <a:p>
            <a:r>
              <a:t>https://docs.abuseipdb.com/#check-endpoint</a:t>
            </a:r>
          </a:p>
          <a:p>
            <a:r>
              <a:t>AbuseIPDB · FAQ</a:t>
            </a:r>
          </a:p>
          <a:p>
            <a:r>
              <a:t>https://www.abuseipdb.com/faq.html</a:t>
            </a:r>
          </a:p>
          <a:p>
            <a:r>
              <a:t>VirusTotal · Analysis object</a:t>
            </a:r>
          </a:p>
          <a:p>
            <a:r>
              <a:t>https://docs.virustotal.com/reference/analyses-object</a:t>
            </a:r>
          </a:p>
          <a:p>
            <a:r>
              <a:t>VirusTotal · Searching</a:t>
            </a:r>
          </a:p>
          <a:p>
            <a:r>
              <a:t>https://docs.virustotal.com/docs/searching</a:t>
            </a:r>
          </a:p>
          <a:p>
            <a:r>
              <a:t>VirusTotal · Upload / disclosure</a:t>
            </a:r>
          </a:p>
          <a:p>
            <a:r>
              <a:t>https://docs.virustotal.com/reference/files-scan</a:t>
            </a:r>
          </a:p>
          <a:p/>
          <a:p>
            <a:r>
              <a:t>ПРОВЕРКА ДОКУМЕНТАЦИИ: 14 октября 2026 года. Текущие оценки конкретных IP/доменов не представлены.</a:t>
            </a:r>
          </a:p>
          <a:p/>
          <a:p>
            <a:r>
              <a:t>ДОПОЛНИТЕЛЬНО ИЗУЧЕННЫЕ ВЫСТУПЛЕНИЯ:</a:t>
            </a:r>
          </a:p>
          <a:p>
            <a:r>
              <a:t>Aaron Shelmire, Effective Threat Intel, 2017</a:t>
            </a:r>
          </a:p>
          <a:p>
            <a:r>
              <a:t>https://speakerdeck.com/ashelmire/effective-threat-intel-sans-cti-summit-2017</a:t>
            </a:r>
          </a:p>
          <a:p>
            <a:r>
              <a:t>Alexandre Dulaunoy, The Art of Pivoting, 2025</a:t>
            </a:r>
          </a:p>
          <a:p>
            <a:r>
              <a:t>https://ail-project.org/assets/img/slides/the-art-of-pivoting.pdf</a:t>
            </a:r>
          </a:p>
          <a:p>
            <a:r>
              <a:t>Kathryn Knerler, Carson Zimmerman, Confidence in Chaos, 2022</a:t>
            </a:r>
          </a:p>
          <a:p>
            <a:r>
              <a:t>https://i.blackhat.com/EU-22/Wednesday-Briefings/EU-22-Knerler-Zimmerman-Confidence-in-Chaos.pdf</a:t>
            </a:r>
          </a:p>
          <a:p>
            <a:r>
              <a:t>Bhavna Soman, Death to the IOC, 2019</a:t>
            </a:r>
          </a:p>
          <a:p>
            <a:r>
              <a:t>https://i.blackhat.com/USA-19/Thursday/us-19-Soman-Death-To-The-IOC-Whats-Next-In-Threat-Intelligence.pdf</a:t>
            </a:r>
          </a:p>
          <a:p>
            <a:r>
              <a:t>Исходный SANS Luna Moth: прочитана карточка, запись не просмотрена, PDF не изучен.</a:t>
            </a:r>
          </a:p>
          <a:p>
            <a:r>
              <a:t>https://www.sans.org/presentations/luna-moth-a-practical-case-of-threat-intelligence-from-ioc-to-unraveling-an-attacker-infrastructure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СЛАЙД 16 · Вне 25 минут</a:t>
            </a:r>
          </a:p>
          <a:p/>
          <a:p>
            <a:r>
              <a:t>Эта памятка — учебный синтез материала доклада. В заметке сохраняйте событие, точный объект, вопрос, внешние источники и даты, фактический результат внутренней проверки либо отметку «не выполнена», вывод с основанием, ограничения и следующий шаг.</a:t>
            </a:r>
          </a:p>
          <a:p/>
          <a:p>
            <a:r>
              <a:t>ПЕРЕХОД: Справочный слайд; не входит в хронометраж.</a:t>
            </a:r>
          </a:p>
          <a:p/>
          <a:p>
            <a:r>
              <a:t>ПРОВЕРКА ДОКУМЕНТАЦИИ: 14 октября 2026 года. Текущие оценки конкретных IP/доменов не представлены.</a:t>
            </a:r>
          </a:p>
          <a:p/>
          <a:p>
            <a:r>
              <a:t>ВОПРОСЫ АУДИТОРИИ:</a:t>
            </a:r>
          </a:p>
          <a:p>
            <a:r>
              <a:t>1. Сколько детектов достаточно? Универсального порога нет: содержание, время, поведение и контекст.</a:t>
            </a:r>
          </a:p>
          <a:p>
            <a:r>
              <a:t>2. Можно закрыть при пустых сервисах? Нет: проверить разрешённость доступа и действия.</a:t>
            </a:r>
          </a:p>
          <a:p>
            <a:r>
              <a:t>3. Блокировать старые IP? Сначала проверить период, принадлежность и последствия.</a:t>
            </a:r>
          </a:p>
          <a:p>
            <a:r>
              <a:t>4. Это Luna Moth? По одному IP/инструменту определить нельзя, атрибуция требует самостоятельного обоснования.</a:t>
            </a:r>
          </a:p>
          <a:p>
            <a:r>
              <a:t>5. Автоматизировать? Да, с подходящими API, условиями использования и правилами передачи данных.</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abuseipdb.com/#check-endpoint"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abuseipdb.com/#check-endpoint"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virustotal.com/reference/analyses-object"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virustotal.com/docs/searching"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ygnia.co/blog/luna-moth-false-subscription-scams/"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ygnia.co/blog/luna-moth-false-subscription-scams/"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ygnia.co/blog/luna-moth-false-subscription-scams/" TargetMode="Externa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ygnia.co/blog/luna-moth-false-subscription-scams/" TargetMode="External"/><Relationship Id="rId3" Type="http://schemas.openxmlformats.org/officeDocument/2006/relationships/hyperlink" Target="https://unit42.paloaltonetworks.com/luna-moth-callback-phishing/" TargetMode="External"/><Relationship Id="rId4" Type="http://schemas.openxmlformats.org/officeDocument/2006/relationships/hyperlink" Target="https://docs.abuseipdb.com/#check-endpoint" TargetMode="External"/><Relationship Id="rId5" Type="http://schemas.openxmlformats.org/officeDocument/2006/relationships/hyperlink" Target="https://www.abuseipdb.com/faq.html" TargetMode="External"/><Relationship Id="rId6" Type="http://schemas.openxmlformats.org/officeDocument/2006/relationships/hyperlink" Target="https://docs.virustotal.com/reference/analyses-object" TargetMode="External"/><Relationship Id="rId7" Type="http://schemas.openxmlformats.org/officeDocument/2006/relationships/hyperlink" Target="https://docs.virustotal.com/docs/searching" TargetMode="External"/><Relationship Id="rId8" Type="http://schemas.openxmlformats.org/officeDocument/2006/relationships/hyperlink" Target="https://docs.virustotal.com/reference/files-scan" TargetMode="Externa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B29"/>
        </a:solidFill>
        <a:effectLst/>
      </p:bgPr>
    </p:bg>
    <p:spTree>
      <p:nvGrpSpPr>
        <p:cNvPr id="1" name=""/>
        <p:cNvGrpSpPr/>
        <p:nvPr/>
      </p:nvGrpSpPr>
      <p:grpSpPr/>
      <p:sp>
        <p:nvSpPr>
          <p:cNvPr id="2" name="TextBox 1"/>
          <p:cNvSpPr txBox="1"/>
          <p:nvPr/>
        </p:nvSpPr>
        <p:spPr>
          <a:xfrm>
            <a:off x="658368" y="457200"/>
            <a:ext cx="7680960" cy="32004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200" b="1">
                <a:solidFill>
                  <a:srgbClr val="58D5CD"/>
                </a:solidFill>
                <a:latin typeface="Arial"/>
              </a:rPr>
              <a:t>THREAT INTELLIGENCE ДЛЯ НАЧИНАЮЩИХ</a:t>
            </a:r>
          </a:p>
        </p:txBody>
      </p:sp>
      <p:sp>
        <p:nvSpPr>
          <p:cNvPr id="3" name="TextBox 2"/>
          <p:cNvSpPr txBox="1"/>
          <p:nvPr/>
        </p:nvSpPr>
        <p:spPr>
          <a:xfrm>
            <a:off x="640080" y="1078992"/>
            <a:ext cx="7406640" cy="205740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6200" b="1">
                <a:solidFill>
                  <a:srgbClr val="F3F6FA"/>
                </a:solidFill>
                <a:latin typeface="Arial"/>
              </a:rPr>
              <a:t>Загуглить</a:t>
            </a:r>
          </a:p>
          <a:p>
            <a:pPr algn="l">
              <a:lnSpc>
                <a:spcPct val="108000"/>
              </a:lnSpc>
              <a:spcBef>
                <a:spcPts val="0"/>
              </a:spcBef>
              <a:spcAft>
                <a:spcPts val="300"/>
              </a:spcAft>
            </a:pPr>
            <a:r>
              <a:rPr sz="6200" b="1">
                <a:solidFill>
                  <a:srgbClr val="F3F6FA"/>
                </a:solidFill>
                <a:latin typeface="Arial"/>
              </a:rPr>
              <a:t>противника</a:t>
            </a:r>
          </a:p>
        </p:txBody>
      </p:sp>
      <p:sp>
        <p:nvSpPr>
          <p:cNvPr id="4" name="TextBox 3"/>
          <p:cNvSpPr txBox="1"/>
          <p:nvPr/>
        </p:nvSpPr>
        <p:spPr>
          <a:xfrm>
            <a:off x="685800" y="3520440"/>
            <a:ext cx="6858000" cy="10515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3000" b="0">
                <a:solidFill>
                  <a:srgbClr val="F3F6FA"/>
                </a:solidFill>
                <a:latin typeface="Arial"/>
              </a:rPr>
              <a:t>Программа настоящая.</a:t>
            </a:r>
          </a:p>
          <a:p>
            <a:pPr algn="l">
              <a:lnSpc>
                <a:spcPct val="108000"/>
              </a:lnSpc>
              <a:spcBef>
                <a:spcPts val="0"/>
              </a:spcBef>
              <a:spcAft>
                <a:spcPts val="300"/>
              </a:spcAft>
            </a:pPr>
            <a:r>
              <a:rPr sz="3000" b="0">
                <a:solidFill>
                  <a:srgbClr val="F3F6FA"/>
                </a:solidFill>
                <a:latin typeface="Arial"/>
              </a:rPr>
              <a:t>А поддержка?</a:t>
            </a:r>
          </a:p>
        </p:txBody>
      </p:sp>
      <p:sp>
        <p:nvSpPr>
          <p:cNvPr id="5" name="TextBox 4"/>
          <p:cNvSpPr txBox="1"/>
          <p:nvPr/>
        </p:nvSpPr>
        <p:spPr>
          <a:xfrm>
            <a:off x="685800" y="4956048"/>
            <a:ext cx="7223760" cy="5029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FFB477"/>
                </a:solidFill>
                <a:latin typeface="Arial"/>
              </a:rPr>
              <a:t>Что именно докажет внешний поиск?</a:t>
            </a:r>
          </a:p>
        </p:txBody>
      </p:sp>
      <p:sp>
        <p:nvSpPr>
          <p:cNvPr id="6" name="TextBox 5"/>
          <p:cNvSpPr txBox="1"/>
          <p:nvPr/>
        </p:nvSpPr>
        <p:spPr>
          <a:xfrm>
            <a:off x="685800" y="5760720"/>
            <a:ext cx="6858000" cy="32004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300" b="0">
                <a:solidFill>
                  <a:srgbClr val="A6B8C9"/>
                </a:solidFill>
                <a:latin typeface="Arial"/>
              </a:rPr>
              <a:t>Компания  /  Имя спикера</a:t>
            </a:r>
          </a:p>
        </p:txBody>
      </p:sp>
      <p:sp>
        <p:nvSpPr>
          <p:cNvPr id="7" name="Rounded Rectangle 6"/>
          <p:cNvSpPr/>
          <p:nvPr/>
        </p:nvSpPr>
        <p:spPr>
          <a:xfrm>
            <a:off x="8311896" y="1261872"/>
            <a:ext cx="3182112" cy="320040"/>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03336" y="1303019"/>
            <a:ext cx="2999232" cy="21945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000" b="1">
                <a:solidFill>
                  <a:srgbClr val="FFB477"/>
                </a:solidFill>
                <a:latin typeface="Arial"/>
              </a:rPr>
              <a:t>УЧЕБНАЯ СИТУАЦИЯ</a:t>
            </a:r>
          </a:p>
        </p:txBody>
      </p:sp>
      <p:cxnSp>
        <p:nvCxnSpPr>
          <p:cNvPr id="9" name="Connector 8"/>
          <p:cNvCxnSpPr/>
          <p:nvPr/>
        </p:nvCxnSpPr>
        <p:spPr>
          <a:xfrm>
            <a:off x="8366760" y="2322576"/>
            <a:ext cx="0" cy="1106424"/>
          </a:xfrm>
          <a:prstGeom prst="line">
            <a:avLst/>
          </a:prstGeom>
          <a:ln w="25400">
            <a:solidFill>
              <a:srgbClr val="39566B"/>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156448" y="2011680"/>
            <a:ext cx="420624" cy="420624"/>
          </a:xfrm>
          <a:prstGeom prst="ellipse">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02168" y="2084832"/>
            <a:ext cx="320040" cy="228600"/>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200" b="1">
                <a:solidFill>
                  <a:srgbClr val="142234"/>
                </a:solidFill>
                <a:latin typeface="Arial"/>
              </a:rPr>
              <a:t>1</a:t>
            </a:r>
          </a:p>
        </p:txBody>
      </p:sp>
      <p:sp>
        <p:nvSpPr>
          <p:cNvPr id="12" name="TextBox 11"/>
          <p:cNvSpPr txBox="1"/>
          <p:nvPr/>
        </p:nvSpPr>
        <p:spPr>
          <a:xfrm>
            <a:off x="8805672" y="1938528"/>
            <a:ext cx="2724912" cy="713232"/>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F3F6FA"/>
                </a:solidFill>
                <a:latin typeface="Arial"/>
              </a:rPr>
              <a:t>Письмо о подписке</a:t>
            </a:r>
          </a:p>
        </p:txBody>
      </p:sp>
      <p:cxnSp>
        <p:nvCxnSpPr>
          <p:cNvPr id="13" name="Connector 12"/>
          <p:cNvCxnSpPr/>
          <p:nvPr/>
        </p:nvCxnSpPr>
        <p:spPr>
          <a:xfrm>
            <a:off x="8366760" y="3392424"/>
            <a:ext cx="0" cy="1106424"/>
          </a:xfrm>
          <a:prstGeom prst="line">
            <a:avLst/>
          </a:prstGeom>
          <a:ln w="25400">
            <a:solidFill>
              <a:srgbClr val="39566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156448" y="3081528"/>
            <a:ext cx="420624" cy="420624"/>
          </a:xfrm>
          <a:prstGeom prst="ellipse">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02168" y="3154680"/>
            <a:ext cx="320040" cy="228600"/>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200" b="1">
                <a:solidFill>
                  <a:srgbClr val="142234"/>
                </a:solidFill>
                <a:latin typeface="Arial"/>
              </a:rPr>
              <a:t>2</a:t>
            </a:r>
          </a:p>
        </p:txBody>
      </p:sp>
      <p:sp>
        <p:nvSpPr>
          <p:cNvPr id="16" name="TextBox 15"/>
          <p:cNvSpPr txBox="1"/>
          <p:nvPr/>
        </p:nvSpPr>
        <p:spPr>
          <a:xfrm>
            <a:off x="8805672" y="3008376"/>
            <a:ext cx="2724912" cy="713232"/>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F3F6FA"/>
                </a:solidFill>
                <a:latin typeface="Arial"/>
              </a:rPr>
              <a:t>Звонок по номеру</a:t>
            </a:r>
          </a:p>
          <a:p>
            <a:pPr algn="l">
              <a:lnSpc>
                <a:spcPct val="108000"/>
              </a:lnSpc>
              <a:spcBef>
                <a:spcPts val="0"/>
              </a:spcBef>
              <a:spcAft>
                <a:spcPts val="300"/>
              </a:spcAft>
            </a:pPr>
            <a:r>
              <a:rPr sz="2000" b="0">
                <a:solidFill>
                  <a:srgbClr val="F3F6FA"/>
                </a:solidFill>
                <a:latin typeface="Arial"/>
              </a:rPr>
              <a:t>из счёта</a:t>
            </a:r>
          </a:p>
        </p:txBody>
      </p:sp>
      <p:sp>
        <p:nvSpPr>
          <p:cNvPr id="17" name="Oval 16"/>
          <p:cNvSpPr/>
          <p:nvPr/>
        </p:nvSpPr>
        <p:spPr>
          <a:xfrm>
            <a:off x="8156448" y="4151376"/>
            <a:ext cx="420624" cy="420624"/>
          </a:xfrm>
          <a:prstGeom prst="ellipse">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2168" y="4224528"/>
            <a:ext cx="320040" cy="228600"/>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200" b="1">
                <a:solidFill>
                  <a:srgbClr val="142234"/>
                </a:solidFill>
                <a:latin typeface="Arial"/>
              </a:rPr>
              <a:t>3</a:t>
            </a:r>
          </a:p>
        </p:txBody>
      </p:sp>
      <p:sp>
        <p:nvSpPr>
          <p:cNvPr id="19" name="TextBox 18"/>
          <p:cNvSpPr txBox="1"/>
          <p:nvPr/>
        </p:nvSpPr>
        <p:spPr>
          <a:xfrm>
            <a:off x="8805672" y="4078224"/>
            <a:ext cx="2724912" cy="713232"/>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F3F6FA"/>
                </a:solidFill>
                <a:latin typeface="Arial"/>
              </a:rPr>
              <a:t>Запуск удалённой</a:t>
            </a:r>
          </a:p>
          <a:p>
            <a:pPr algn="l">
              <a:lnSpc>
                <a:spcPct val="108000"/>
              </a:lnSpc>
              <a:spcBef>
                <a:spcPts val="0"/>
              </a:spcBef>
              <a:spcAft>
                <a:spcPts val="300"/>
              </a:spcAft>
            </a:pPr>
            <a:r>
              <a:rPr sz="2000" b="0">
                <a:solidFill>
                  <a:srgbClr val="F3F6FA"/>
                </a:solidFill>
                <a:latin typeface="Arial"/>
              </a:rPr>
              <a:t>поддержки</a:t>
            </a:r>
          </a:p>
        </p:txBody>
      </p:sp>
      <p:sp>
        <p:nvSpPr>
          <p:cNvPr id="20" name="TextBox 19"/>
          <p:cNvSpPr txBox="1"/>
          <p:nvPr/>
        </p:nvSpPr>
        <p:spPr>
          <a:xfrm>
            <a:off x="8284464" y="5532120"/>
            <a:ext cx="3136392" cy="45720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600" b="0">
                <a:solidFill>
                  <a:srgbClr val="A6B8C9"/>
                </a:solidFill>
                <a:latin typeface="Arial"/>
              </a:rPr>
              <a:t>Внешний адрес — подсказка</a:t>
            </a:r>
          </a:p>
        </p:txBody>
      </p:sp>
      <p:cxnSp>
        <p:nvCxnSpPr>
          <p:cNvPr id="21" name="Connector 20"/>
          <p:cNvCxnSpPr/>
          <p:nvPr/>
        </p:nvCxnSpPr>
        <p:spPr>
          <a:xfrm>
            <a:off x="640080" y="6419088"/>
            <a:ext cx="10927080" cy="0"/>
          </a:xfrm>
          <a:prstGeom prst="line">
            <a:avLst/>
          </a:prstGeom>
          <a:ln w="8890">
            <a:solidFill>
              <a:srgbClr val="2A3C4D"/>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0080" y="6519672"/>
            <a:ext cx="621792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A6B8C9"/>
                </a:solidFill>
                <a:latin typeface="Arial"/>
              </a:rPr>
              <a:t>ЗАГУГЛИТЬ ПРОТИВНИКА · THREAT INTELLIGENCE</a:t>
            </a:r>
          </a:p>
        </p:txBody>
      </p:sp>
      <p:sp>
        <p:nvSpPr>
          <p:cNvPr id="23" name="TextBox 22"/>
          <p:cNvSpPr txBox="1"/>
          <p:nvPr/>
        </p:nvSpPr>
        <p:spPr>
          <a:xfrm>
            <a:off x="8503920" y="6483096"/>
            <a:ext cx="2423160" cy="228600"/>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000" b="0">
                <a:solidFill>
                  <a:srgbClr val="A6B8C9"/>
                </a:solidFill>
                <a:latin typeface="Arial"/>
              </a:rPr>
              <a:t>00:00–01:50</a:t>
            </a:r>
          </a:p>
        </p:txBody>
      </p:sp>
      <p:sp>
        <p:nvSpPr>
          <p:cNvPr id="24" name="TextBox 23"/>
          <p:cNvSpPr txBox="1"/>
          <p:nvPr/>
        </p:nvSpPr>
        <p:spPr>
          <a:xfrm>
            <a:off x="11100816" y="6469380"/>
            <a:ext cx="448056" cy="265176"/>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200" b="1">
                <a:solidFill>
                  <a:srgbClr val="A6B8C9"/>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621792" y="438912"/>
            <a:ext cx="73152" cy="173736"/>
          </a:xfrm>
          <a:prstGeom prst="rect">
            <a:avLst/>
          </a:prstGeom>
          <a:solidFill>
            <a:srgbClr val="1886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32104" y="429768"/>
            <a:ext cx="10607040"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100" b="1">
                <a:solidFill>
                  <a:srgbClr val="526778"/>
                </a:solidFill>
                <a:latin typeface="Arial"/>
              </a:rPr>
              <a:t>01 · ОТ СОБЫТИЯ К ОБЪЕКТУ</a:t>
            </a:r>
          </a:p>
        </p:txBody>
      </p:sp>
      <p:sp>
        <p:nvSpPr>
          <p:cNvPr id="4" name="TextBox 3"/>
          <p:cNvSpPr txBox="1"/>
          <p:nvPr/>
        </p:nvSpPr>
        <p:spPr>
          <a:xfrm>
            <a:off x="621792" y="886968"/>
            <a:ext cx="10972800" cy="114300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3600" b="1">
                <a:solidFill>
                  <a:srgbClr val="142234"/>
                </a:solidFill>
                <a:latin typeface="Arial"/>
              </a:rPr>
              <a:t>Адрес — наблюдение.</a:t>
            </a:r>
          </a:p>
          <a:p>
            <a:pPr algn="l">
              <a:lnSpc>
                <a:spcPct val="108000"/>
              </a:lnSpc>
              <a:spcBef>
                <a:spcPts val="0"/>
              </a:spcBef>
              <a:spcAft>
                <a:spcPts val="300"/>
              </a:spcAft>
            </a:pPr>
            <a:r>
              <a:rPr sz="3600" b="1">
                <a:solidFill>
                  <a:srgbClr val="142234"/>
                </a:solidFill>
                <a:latin typeface="Arial"/>
              </a:rPr>
              <a:t>IoC — признак с основанием.</a:t>
            </a:r>
          </a:p>
        </p:txBody>
      </p:sp>
      <p:cxnSp>
        <p:nvCxnSpPr>
          <p:cNvPr id="5" name="Connector 4"/>
          <p:cNvCxnSpPr/>
          <p:nvPr/>
        </p:nvCxnSpPr>
        <p:spPr>
          <a:xfrm>
            <a:off x="640080" y="6419088"/>
            <a:ext cx="10927080" cy="0"/>
          </a:xfrm>
          <a:prstGeom prst="line">
            <a:avLst/>
          </a:prstGeom>
          <a:ln w="8890">
            <a:solidFill>
              <a:srgbClr val="DAE2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519672"/>
            <a:ext cx="621792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526778"/>
                </a:solidFill>
                <a:latin typeface="Arial"/>
              </a:rPr>
              <a:t>ЗАГУГЛИТЬ ПРОТИВНИКА · THREAT INTELLIGENCE</a:t>
            </a:r>
          </a:p>
        </p:txBody>
      </p:sp>
      <p:sp>
        <p:nvSpPr>
          <p:cNvPr id="7" name="TextBox 6"/>
          <p:cNvSpPr txBox="1"/>
          <p:nvPr/>
        </p:nvSpPr>
        <p:spPr>
          <a:xfrm>
            <a:off x="8503920" y="6483096"/>
            <a:ext cx="2423160" cy="228600"/>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000" b="0">
                <a:solidFill>
                  <a:srgbClr val="526778"/>
                </a:solidFill>
                <a:latin typeface="Arial"/>
              </a:rPr>
              <a:t>01:50–03:30</a:t>
            </a:r>
          </a:p>
        </p:txBody>
      </p:sp>
      <p:sp>
        <p:nvSpPr>
          <p:cNvPr id="8" name="TextBox 7"/>
          <p:cNvSpPr txBox="1"/>
          <p:nvPr/>
        </p:nvSpPr>
        <p:spPr>
          <a:xfrm>
            <a:off x="11100816" y="6469380"/>
            <a:ext cx="448056" cy="265176"/>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200" b="1">
                <a:solidFill>
                  <a:srgbClr val="526778"/>
                </a:solidFill>
                <a:latin typeface="Arial"/>
              </a:rPr>
              <a:t>02</a:t>
            </a:r>
          </a:p>
        </p:txBody>
      </p:sp>
      <p:sp>
        <p:nvSpPr>
          <p:cNvPr id="9" name="Rounded Rectangle 8"/>
          <p:cNvSpPr/>
          <p:nvPr/>
        </p:nvSpPr>
        <p:spPr>
          <a:xfrm>
            <a:off x="640080" y="2331720"/>
            <a:ext cx="3364992" cy="17830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331720"/>
            <a:ext cx="41148" cy="1783080"/>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496312"/>
            <a:ext cx="2999232"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1">
                <a:solidFill>
                  <a:srgbClr val="18867E"/>
                </a:solidFill>
                <a:latin typeface="Arial"/>
              </a:rPr>
              <a:t>СЕТЬ</a:t>
            </a:r>
          </a:p>
        </p:txBody>
      </p:sp>
      <p:sp>
        <p:nvSpPr>
          <p:cNvPr id="12" name="TextBox 11"/>
          <p:cNvSpPr txBox="1"/>
          <p:nvPr/>
        </p:nvSpPr>
        <p:spPr>
          <a:xfrm>
            <a:off x="822959" y="3035808"/>
            <a:ext cx="2999232" cy="960119"/>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142234"/>
                </a:solidFill>
                <a:latin typeface="Arial"/>
              </a:rPr>
              <a:t>IP · домен · URL</a:t>
            </a:r>
          </a:p>
        </p:txBody>
      </p:sp>
      <p:sp>
        <p:nvSpPr>
          <p:cNvPr id="13" name="Rounded Rectangle 12"/>
          <p:cNvSpPr/>
          <p:nvPr/>
        </p:nvSpPr>
        <p:spPr>
          <a:xfrm>
            <a:off x="4407408" y="2331720"/>
            <a:ext cx="3364992" cy="17830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07408" y="2331720"/>
            <a:ext cx="41148" cy="1783080"/>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496312"/>
            <a:ext cx="2999232"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1">
                <a:solidFill>
                  <a:srgbClr val="18867E"/>
                </a:solidFill>
                <a:latin typeface="Arial"/>
              </a:rPr>
              <a:t>ФАЙЛ</a:t>
            </a:r>
          </a:p>
        </p:txBody>
      </p:sp>
      <p:sp>
        <p:nvSpPr>
          <p:cNvPr id="16" name="TextBox 15"/>
          <p:cNvSpPr txBox="1"/>
          <p:nvPr/>
        </p:nvSpPr>
        <p:spPr>
          <a:xfrm>
            <a:off x="4590288" y="3035808"/>
            <a:ext cx="2999232" cy="960119"/>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142234"/>
                </a:solidFill>
                <a:latin typeface="Arial"/>
              </a:rPr>
              <a:t>Байты · имя · SHA-256</a:t>
            </a:r>
          </a:p>
        </p:txBody>
      </p:sp>
      <p:sp>
        <p:nvSpPr>
          <p:cNvPr id="17" name="Rounded Rectangle 16"/>
          <p:cNvSpPr/>
          <p:nvPr/>
        </p:nvSpPr>
        <p:spPr>
          <a:xfrm>
            <a:off x="8174736" y="2331720"/>
            <a:ext cx="3364992" cy="17830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74736" y="2331720"/>
            <a:ext cx="41148" cy="1783080"/>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496312"/>
            <a:ext cx="2999232"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1">
                <a:solidFill>
                  <a:srgbClr val="18867E"/>
                </a:solidFill>
                <a:latin typeface="Arial"/>
              </a:rPr>
              <a:t>КОНТЕКСТ</a:t>
            </a:r>
          </a:p>
        </p:txBody>
      </p:sp>
      <p:sp>
        <p:nvSpPr>
          <p:cNvPr id="20" name="TextBox 19"/>
          <p:cNvSpPr txBox="1"/>
          <p:nvPr/>
        </p:nvSpPr>
        <p:spPr>
          <a:xfrm>
            <a:off x="8357615" y="3035808"/>
            <a:ext cx="2999232" cy="960119"/>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142234"/>
                </a:solidFill>
                <a:latin typeface="Arial"/>
              </a:rPr>
              <a:t>Письмо · телефон · сеанс</a:t>
            </a:r>
          </a:p>
        </p:txBody>
      </p:sp>
      <p:sp>
        <p:nvSpPr>
          <p:cNvPr id="21" name="Rounded Rectangle 20"/>
          <p:cNvSpPr/>
          <p:nvPr/>
        </p:nvSpPr>
        <p:spPr>
          <a:xfrm>
            <a:off x="640080" y="4626864"/>
            <a:ext cx="10908792" cy="777240"/>
          </a:xfrm>
          <a:prstGeom prst="roundRect">
            <a:avLst>
              <a:gd name="adj" fmla="val 12000"/>
            </a:avLst>
          </a:prstGeom>
          <a:solidFill>
            <a:srgbClr val="14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800600"/>
            <a:ext cx="10442448" cy="457200"/>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2500" b="1">
                <a:solidFill>
                  <a:srgbClr val="F3F6FA"/>
                </a:solidFill>
                <a:latin typeface="Arial"/>
              </a:rPr>
              <a:t>Наблюдение + роль + период + основание → IoC</a:t>
            </a:r>
          </a:p>
        </p:txBody>
      </p:sp>
      <p:sp>
        <p:nvSpPr>
          <p:cNvPr id="23" name="TextBox 22"/>
          <p:cNvSpPr txBox="1"/>
          <p:nvPr/>
        </p:nvSpPr>
        <p:spPr>
          <a:xfrm>
            <a:off x="667512" y="5623560"/>
            <a:ext cx="10789920" cy="393192"/>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526778"/>
                </a:solidFill>
                <a:latin typeface="Arial"/>
              </a:rPr>
              <a:t>Совпадение — повод проверить событие.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B29"/>
        </a:solidFill>
        <a:effectLst/>
      </p:bgPr>
    </p:bg>
    <p:spTree>
      <p:nvGrpSpPr>
        <p:cNvPr id="1" name=""/>
        <p:cNvGrpSpPr/>
        <p:nvPr/>
      </p:nvGrpSpPr>
      <p:grpSpPr/>
      <p:sp>
        <p:nvSpPr>
          <p:cNvPr id="2" name="Rectangle 1"/>
          <p:cNvSpPr/>
          <p:nvPr/>
        </p:nvSpPr>
        <p:spPr>
          <a:xfrm>
            <a:off x="621792" y="438912"/>
            <a:ext cx="73152" cy="173736"/>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32104" y="429768"/>
            <a:ext cx="10607040"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100" b="1">
                <a:solidFill>
                  <a:srgbClr val="A6B8C9"/>
                </a:solidFill>
                <a:latin typeface="Arial"/>
              </a:rPr>
              <a:t>02 · ПЯТЬ РАЗНЫХ ЗАДАЧ</a:t>
            </a:r>
          </a:p>
        </p:txBody>
      </p:sp>
      <p:sp>
        <p:nvSpPr>
          <p:cNvPr id="4" name="TextBox 3"/>
          <p:cNvSpPr txBox="1"/>
          <p:nvPr/>
        </p:nvSpPr>
        <p:spPr>
          <a:xfrm>
            <a:off x="621792" y="886968"/>
            <a:ext cx="10972800" cy="8686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3600" b="1">
                <a:solidFill>
                  <a:srgbClr val="F3F6FA"/>
                </a:solidFill>
                <a:latin typeface="Arial"/>
              </a:rPr>
              <a:t>От репутации до hunting</a:t>
            </a:r>
          </a:p>
        </p:txBody>
      </p:sp>
      <p:cxnSp>
        <p:nvCxnSpPr>
          <p:cNvPr id="5" name="Connector 4"/>
          <p:cNvCxnSpPr/>
          <p:nvPr/>
        </p:nvCxnSpPr>
        <p:spPr>
          <a:xfrm>
            <a:off x="640080" y="6419088"/>
            <a:ext cx="10927080" cy="0"/>
          </a:xfrm>
          <a:prstGeom prst="line">
            <a:avLst/>
          </a:prstGeom>
          <a:ln w="8890">
            <a:solidFill>
              <a:srgbClr val="2A3C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519672"/>
            <a:ext cx="621792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A6B8C9"/>
                </a:solidFill>
                <a:latin typeface="Arial"/>
              </a:rPr>
              <a:t>ЗАГУГЛИТЬ ПРОТИВНИКА · THREAT INTELLIGENCE</a:t>
            </a:r>
          </a:p>
        </p:txBody>
      </p:sp>
      <p:sp>
        <p:nvSpPr>
          <p:cNvPr id="7" name="TextBox 6"/>
          <p:cNvSpPr txBox="1"/>
          <p:nvPr/>
        </p:nvSpPr>
        <p:spPr>
          <a:xfrm>
            <a:off x="8503920" y="6483096"/>
            <a:ext cx="2423160" cy="228600"/>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000" b="0">
                <a:solidFill>
                  <a:srgbClr val="A6B8C9"/>
                </a:solidFill>
                <a:latin typeface="Arial"/>
              </a:rPr>
              <a:t>03:30–05:15</a:t>
            </a:r>
          </a:p>
        </p:txBody>
      </p:sp>
      <p:sp>
        <p:nvSpPr>
          <p:cNvPr id="8" name="TextBox 7"/>
          <p:cNvSpPr txBox="1"/>
          <p:nvPr/>
        </p:nvSpPr>
        <p:spPr>
          <a:xfrm>
            <a:off x="11100816" y="6469380"/>
            <a:ext cx="448056" cy="265176"/>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200" b="1">
                <a:solidFill>
                  <a:srgbClr val="A6B8C9"/>
                </a:solidFill>
                <a:latin typeface="Arial"/>
              </a:rPr>
              <a:t>03</a:t>
            </a:r>
          </a:p>
        </p:txBody>
      </p:sp>
      <p:sp>
        <p:nvSpPr>
          <p:cNvPr id="9" name="Rounded Rectangle 8"/>
          <p:cNvSpPr/>
          <p:nvPr/>
        </p:nvSpPr>
        <p:spPr>
          <a:xfrm>
            <a:off x="658368" y="2423160"/>
            <a:ext cx="1975104" cy="2286000"/>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 y="2578608"/>
            <a:ext cx="1673352"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200" b="1">
                <a:solidFill>
                  <a:srgbClr val="58D5CD"/>
                </a:solidFill>
                <a:latin typeface="Arial"/>
              </a:rPr>
              <a:t>01</a:t>
            </a:r>
          </a:p>
        </p:txBody>
      </p:sp>
      <p:sp>
        <p:nvSpPr>
          <p:cNvPr id="11" name="TextBox 10"/>
          <p:cNvSpPr txBox="1"/>
          <p:nvPr/>
        </p:nvSpPr>
        <p:spPr>
          <a:xfrm>
            <a:off x="813816" y="3063240"/>
            <a:ext cx="1691640" cy="475488"/>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800" b="1">
                <a:solidFill>
                  <a:srgbClr val="F3F6FA"/>
                </a:solidFill>
                <a:latin typeface="Arial"/>
              </a:rPr>
              <a:t>Репутация</a:t>
            </a:r>
          </a:p>
        </p:txBody>
      </p:sp>
      <p:sp>
        <p:nvSpPr>
          <p:cNvPr id="12" name="TextBox 11"/>
          <p:cNvSpPr txBox="1"/>
          <p:nvPr/>
        </p:nvSpPr>
        <p:spPr>
          <a:xfrm>
            <a:off x="813816" y="3639312"/>
            <a:ext cx="1691640" cy="100584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0">
                <a:solidFill>
                  <a:srgbClr val="A6B8C9"/>
                </a:solidFill>
                <a:latin typeface="Arial"/>
              </a:rPr>
              <a:t>Что сообщали?</a:t>
            </a:r>
          </a:p>
        </p:txBody>
      </p:sp>
      <p:sp>
        <p:nvSpPr>
          <p:cNvPr id="13" name="Chevron 12"/>
          <p:cNvSpPr/>
          <p:nvPr/>
        </p:nvSpPr>
        <p:spPr>
          <a:xfrm>
            <a:off x="2706624" y="3419856"/>
            <a:ext cx="128016" cy="201168"/>
          </a:xfrm>
          <a:prstGeom prst="chevron">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89504" y="2423160"/>
            <a:ext cx="1975104" cy="2286000"/>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44952" y="2578608"/>
            <a:ext cx="1673352"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200" b="1">
                <a:solidFill>
                  <a:srgbClr val="58D5CD"/>
                </a:solidFill>
                <a:latin typeface="Arial"/>
              </a:rPr>
              <a:t>02</a:t>
            </a:r>
          </a:p>
        </p:txBody>
      </p:sp>
      <p:sp>
        <p:nvSpPr>
          <p:cNvPr id="16" name="TextBox 15"/>
          <p:cNvSpPr txBox="1"/>
          <p:nvPr/>
        </p:nvSpPr>
        <p:spPr>
          <a:xfrm>
            <a:off x="3044952" y="3063240"/>
            <a:ext cx="1691640" cy="475488"/>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800" b="1">
                <a:solidFill>
                  <a:srgbClr val="F3F6FA"/>
                </a:solidFill>
                <a:latin typeface="Arial"/>
              </a:rPr>
              <a:t>Обогащение</a:t>
            </a:r>
          </a:p>
        </p:txBody>
      </p:sp>
      <p:sp>
        <p:nvSpPr>
          <p:cNvPr id="17" name="TextBox 16"/>
          <p:cNvSpPr txBox="1"/>
          <p:nvPr/>
        </p:nvSpPr>
        <p:spPr>
          <a:xfrm>
            <a:off x="3044952" y="3639312"/>
            <a:ext cx="1691640" cy="100584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0">
                <a:solidFill>
                  <a:srgbClr val="A6B8C9"/>
                </a:solidFill>
                <a:latin typeface="Arial"/>
              </a:rPr>
              <a:t>Что известно?</a:t>
            </a:r>
          </a:p>
        </p:txBody>
      </p:sp>
      <p:sp>
        <p:nvSpPr>
          <p:cNvPr id="18" name="Chevron 17"/>
          <p:cNvSpPr/>
          <p:nvPr/>
        </p:nvSpPr>
        <p:spPr>
          <a:xfrm>
            <a:off x="4937760" y="3419856"/>
            <a:ext cx="128016" cy="201168"/>
          </a:xfrm>
          <a:prstGeom prst="chevron">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0" y="2423160"/>
            <a:ext cx="1975104" cy="2286000"/>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76088" y="2578608"/>
            <a:ext cx="1673352"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200" b="1">
                <a:solidFill>
                  <a:srgbClr val="58D5CD"/>
                </a:solidFill>
                <a:latin typeface="Arial"/>
              </a:rPr>
              <a:t>03</a:t>
            </a:r>
          </a:p>
        </p:txBody>
      </p:sp>
      <p:sp>
        <p:nvSpPr>
          <p:cNvPr id="21" name="TextBox 20"/>
          <p:cNvSpPr txBox="1"/>
          <p:nvPr/>
        </p:nvSpPr>
        <p:spPr>
          <a:xfrm>
            <a:off x="5276088" y="3063240"/>
            <a:ext cx="1691640" cy="475488"/>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800" b="1">
                <a:solidFill>
                  <a:srgbClr val="F3F6FA"/>
                </a:solidFill>
                <a:latin typeface="Arial"/>
              </a:rPr>
              <a:t>Анализ TI</a:t>
            </a:r>
          </a:p>
        </p:txBody>
      </p:sp>
      <p:sp>
        <p:nvSpPr>
          <p:cNvPr id="22" name="TextBox 21"/>
          <p:cNvSpPr txBox="1"/>
          <p:nvPr/>
        </p:nvSpPr>
        <p:spPr>
          <a:xfrm>
            <a:off x="5276088" y="3639312"/>
            <a:ext cx="1691640" cy="100584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0">
                <a:solidFill>
                  <a:srgbClr val="A6B8C9"/>
                </a:solidFill>
                <a:latin typeface="Arial"/>
              </a:rPr>
              <a:t>Что это</a:t>
            </a:r>
          </a:p>
          <a:p>
            <a:pPr algn="l">
              <a:lnSpc>
                <a:spcPct val="108000"/>
              </a:lnSpc>
              <a:spcBef>
                <a:spcPts val="0"/>
              </a:spcBef>
              <a:spcAft>
                <a:spcPts val="300"/>
              </a:spcAft>
            </a:pPr>
            <a:r>
              <a:rPr sz="1900" b="0">
                <a:solidFill>
                  <a:srgbClr val="A6B8C9"/>
                </a:solidFill>
                <a:latin typeface="Arial"/>
              </a:rPr>
              <a:t>объясняет?</a:t>
            </a:r>
          </a:p>
        </p:txBody>
      </p:sp>
      <p:sp>
        <p:nvSpPr>
          <p:cNvPr id="23" name="Chevron 22"/>
          <p:cNvSpPr/>
          <p:nvPr/>
        </p:nvSpPr>
        <p:spPr>
          <a:xfrm>
            <a:off x="7168896" y="3419856"/>
            <a:ext cx="128016" cy="201168"/>
          </a:xfrm>
          <a:prstGeom prst="chevron">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51776" y="2423160"/>
            <a:ext cx="1975104" cy="2286000"/>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07224" y="2578608"/>
            <a:ext cx="1673352"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200" b="1">
                <a:solidFill>
                  <a:srgbClr val="58D5CD"/>
                </a:solidFill>
                <a:latin typeface="Arial"/>
              </a:rPr>
              <a:t>04</a:t>
            </a:r>
          </a:p>
        </p:txBody>
      </p:sp>
      <p:sp>
        <p:nvSpPr>
          <p:cNvPr id="26" name="TextBox 25"/>
          <p:cNvSpPr txBox="1"/>
          <p:nvPr/>
        </p:nvSpPr>
        <p:spPr>
          <a:xfrm>
            <a:off x="7507224" y="3063240"/>
            <a:ext cx="1691640" cy="475488"/>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500" b="1">
                <a:solidFill>
                  <a:srgbClr val="F3F6FA"/>
                </a:solidFill>
                <a:latin typeface="Arial"/>
              </a:rPr>
              <a:t>Расследование</a:t>
            </a:r>
          </a:p>
        </p:txBody>
      </p:sp>
      <p:sp>
        <p:nvSpPr>
          <p:cNvPr id="27" name="TextBox 26"/>
          <p:cNvSpPr txBox="1"/>
          <p:nvPr/>
        </p:nvSpPr>
        <p:spPr>
          <a:xfrm>
            <a:off x="7507224" y="3639312"/>
            <a:ext cx="1691640" cy="100584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0">
                <a:solidFill>
                  <a:srgbClr val="A6B8C9"/>
                </a:solidFill>
                <a:latin typeface="Arial"/>
              </a:rPr>
              <a:t>Что произошло</a:t>
            </a:r>
          </a:p>
          <a:p>
            <a:pPr algn="l">
              <a:lnSpc>
                <a:spcPct val="108000"/>
              </a:lnSpc>
              <a:spcBef>
                <a:spcPts val="0"/>
              </a:spcBef>
              <a:spcAft>
                <a:spcPts val="300"/>
              </a:spcAft>
            </a:pPr>
            <a:r>
              <a:rPr sz="1900" b="0">
                <a:solidFill>
                  <a:srgbClr val="A6B8C9"/>
                </a:solidFill>
                <a:latin typeface="Arial"/>
              </a:rPr>
              <a:t>у нас?</a:t>
            </a:r>
          </a:p>
        </p:txBody>
      </p:sp>
      <p:sp>
        <p:nvSpPr>
          <p:cNvPr id="28" name="Chevron 27"/>
          <p:cNvSpPr/>
          <p:nvPr/>
        </p:nvSpPr>
        <p:spPr>
          <a:xfrm>
            <a:off x="9400032" y="3419856"/>
            <a:ext cx="128016" cy="201168"/>
          </a:xfrm>
          <a:prstGeom prst="chevron">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582912" y="2423160"/>
            <a:ext cx="1975104" cy="2286000"/>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2578608"/>
            <a:ext cx="1673352"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200" b="1">
                <a:solidFill>
                  <a:srgbClr val="58D5CD"/>
                </a:solidFill>
                <a:latin typeface="Arial"/>
              </a:rPr>
              <a:t>05</a:t>
            </a:r>
          </a:p>
        </p:txBody>
      </p:sp>
      <p:sp>
        <p:nvSpPr>
          <p:cNvPr id="31" name="TextBox 30"/>
          <p:cNvSpPr txBox="1"/>
          <p:nvPr/>
        </p:nvSpPr>
        <p:spPr>
          <a:xfrm>
            <a:off x="9738360" y="3063240"/>
            <a:ext cx="1691640" cy="475488"/>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800" b="1">
                <a:solidFill>
                  <a:srgbClr val="F3F6FA"/>
                </a:solidFill>
                <a:latin typeface="Arial"/>
              </a:rPr>
              <a:t>Hunting</a:t>
            </a:r>
          </a:p>
        </p:txBody>
      </p:sp>
      <p:sp>
        <p:nvSpPr>
          <p:cNvPr id="32" name="TextBox 31"/>
          <p:cNvSpPr txBox="1"/>
          <p:nvPr/>
        </p:nvSpPr>
        <p:spPr>
          <a:xfrm>
            <a:off x="9738360" y="3639312"/>
            <a:ext cx="1691640" cy="100584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0">
                <a:solidFill>
                  <a:srgbClr val="A6B8C9"/>
                </a:solidFill>
                <a:latin typeface="Arial"/>
              </a:rPr>
              <a:t>Встречалось</a:t>
            </a:r>
          </a:p>
          <a:p>
            <a:pPr algn="l">
              <a:lnSpc>
                <a:spcPct val="108000"/>
              </a:lnSpc>
              <a:spcBef>
                <a:spcPts val="0"/>
              </a:spcBef>
              <a:spcAft>
                <a:spcPts val="300"/>
              </a:spcAft>
            </a:pPr>
            <a:r>
              <a:rPr sz="1900" b="0">
                <a:solidFill>
                  <a:srgbClr val="A6B8C9"/>
                </a:solidFill>
                <a:latin typeface="Arial"/>
              </a:rPr>
              <a:t>ли ещё?</a:t>
            </a:r>
          </a:p>
        </p:txBody>
      </p:sp>
      <p:sp>
        <p:nvSpPr>
          <p:cNvPr id="33" name="TextBox 32"/>
          <p:cNvSpPr txBox="1"/>
          <p:nvPr/>
        </p:nvSpPr>
        <p:spPr>
          <a:xfrm>
            <a:off x="704088" y="5202936"/>
            <a:ext cx="10753344" cy="68580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400" b="0">
                <a:solidFill>
                  <a:srgbClr val="CDF276"/>
                </a:solidFill>
                <a:latin typeface="Arial"/>
              </a:rPr>
              <a:t>Поиск IP даёт подсказку.</a:t>
            </a:r>
          </a:p>
          <a:p>
            <a:pPr algn="l">
              <a:lnSpc>
                <a:spcPct val="108000"/>
              </a:lnSpc>
              <a:spcBef>
                <a:spcPts val="0"/>
              </a:spcBef>
              <a:spcAft>
                <a:spcPts val="300"/>
              </a:spcAft>
            </a:pPr>
            <a:r>
              <a:rPr sz="2400" b="0">
                <a:solidFill>
                  <a:srgbClr val="CDF276"/>
                </a:solidFill>
                <a:latin typeface="Arial"/>
              </a:rPr>
              <a:t>Hunting проверяет гипотезу в событиях.</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621792" y="438912"/>
            <a:ext cx="73152" cy="173736"/>
          </a:xfrm>
          <a:prstGeom prst="rect">
            <a:avLst/>
          </a:prstGeom>
          <a:solidFill>
            <a:srgbClr val="1886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32104" y="429768"/>
            <a:ext cx="10607040"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100" b="1">
                <a:solidFill>
                  <a:srgbClr val="526778"/>
                </a:solidFill>
                <a:latin typeface="Arial"/>
              </a:rPr>
              <a:t>03 · ВЫБИРАЕМ, ЧТО ИСКАТЬ</a:t>
            </a:r>
          </a:p>
        </p:txBody>
      </p:sp>
      <p:sp>
        <p:nvSpPr>
          <p:cNvPr id="4" name="TextBox 3"/>
          <p:cNvSpPr txBox="1"/>
          <p:nvPr/>
        </p:nvSpPr>
        <p:spPr>
          <a:xfrm>
            <a:off x="621792" y="886968"/>
            <a:ext cx="10972800" cy="8686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3600" b="1">
                <a:solidFill>
                  <a:srgbClr val="142234"/>
                </a:solidFill>
                <a:latin typeface="Arial"/>
              </a:rPr>
              <a:t>Сначала вопрос. Потом источник.</a:t>
            </a:r>
          </a:p>
        </p:txBody>
      </p:sp>
      <p:cxnSp>
        <p:nvCxnSpPr>
          <p:cNvPr id="5" name="Connector 4"/>
          <p:cNvCxnSpPr/>
          <p:nvPr/>
        </p:nvCxnSpPr>
        <p:spPr>
          <a:xfrm>
            <a:off x="640080" y="6419088"/>
            <a:ext cx="10927080" cy="0"/>
          </a:xfrm>
          <a:prstGeom prst="line">
            <a:avLst/>
          </a:prstGeom>
          <a:ln w="8890">
            <a:solidFill>
              <a:srgbClr val="DAE2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519672"/>
            <a:ext cx="621792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526778"/>
                </a:solidFill>
                <a:latin typeface="Arial"/>
              </a:rPr>
              <a:t>ЗАГУГЛИТЬ ПРОТИВНИКА · THREAT INTELLIGENCE</a:t>
            </a:r>
          </a:p>
        </p:txBody>
      </p:sp>
      <p:sp>
        <p:nvSpPr>
          <p:cNvPr id="7" name="TextBox 6"/>
          <p:cNvSpPr txBox="1"/>
          <p:nvPr/>
        </p:nvSpPr>
        <p:spPr>
          <a:xfrm>
            <a:off x="8503920" y="6483096"/>
            <a:ext cx="2423160" cy="228600"/>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000" b="0">
                <a:solidFill>
                  <a:srgbClr val="526778"/>
                </a:solidFill>
                <a:latin typeface="Arial"/>
              </a:rPr>
              <a:t>05:15–06:35</a:t>
            </a:r>
          </a:p>
        </p:txBody>
      </p:sp>
      <p:sp>
        <p:nvSpPr>
          <p:cNvPr id="8" name="TextBox 7"/>
          <p:cNvSpPr txBox="1"/>
          <p:nvPr/>
        </p:nvSpPr>
        <p:spPr>
          <a:xfrm>
            <a:off x="11100816" y="6469380"/>
            <a:ext cx="448056" cy="265176"/>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200" b="1">
                <a:solidFill>
                  <a:srgbClr val="526778"/>
                </a:solidFill>
                <a:latin typeface="Arial"/>
              </a:rPr>
              <a:t>04</a:t>
            </a:r>
          </a:p>
        </p:txBody>
      </p:sp>
      <p:sp>
        <p:nvSpPr>
          <p:cNvPr id="9" name="Rounded Rectangle 8"/>
          <p:cNvSpPr/>
          <p:nvPr/>
        </p:nvSpPr>
        <p:spPr>
          <a:xfrm>
            <a:off x="640080" y="1938528"/>
            <a:ext cx="10927080" cy="7132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03120"/>
            <a:ext cx="2029968" cy="45720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1">
                <a:solidFill>
                  <a:srgbClr val="142234"/>
                </a:solidFill>
                <a:latin typeface="Arial"/>
              </a:rPr>
              <a:t>IP</a:t>
            </a:r>
          </a:p>
        </p:txBody>
      </p:sp>
      <p:sp>
        <p:nvSpPr>
          <p:cNvPr id="11" name="TextBox 10"/>
          <p:cNvSpPr txBox="1"/>
          <p:nvPr/>
        </p:nvSpPr>
        <p:spPr>
          <a:xfrm>
            <a:off x="2990088" y="2103120"/>
            <a:ext cx="4864608" cy="40233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142234"/>
                </a:solidFill>
                <a:latin typeface="Arial"/>
              </a:rPr>
              <a:t>Что сообщали об активности?</a:t>
            </a:r>
          </a:p>
        </p:txBody>
      </p:sp>
      <p:sp>
        <p:nvSpPr>
          <p:cNvPr id="12" name="TextBox 11"/>
          <p:cNvSpPr txBox="1"/>
          <p:nvPr/>
        </p:nvSpPr>
        <p:spPr>
          <a:xfrm>
            <a:off x="8275320" y="2103120"/>
            <a:ext cx="2999232" cy="4114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800" b="1">
                <a:solidFill>
                  <a:srgbClr val="18867E"/>
                </a:solidFill>
                <a:latin typeface="Arial"/>
              </a:rPr>
              <a:t>AbuseIPDB</a:t>
            </a:r>
          </a:p>
        </p:txBody>
      </p:sp>
      <p:sp>
        <p:nvSpPr>
          <p:cNvPr id="13" name="Rounded Rectangle 12"/>
          <p:cNvSpPr/>
          <p:nvPr/>
        </p:nvSpPr>
        <p:spPr>
          <a:xfrm>
            <a:off x="640080" y="2779776"/>
            <a:ext cx="10927080" cy="7132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944368"/>
            <a:ext cx="2029968" cy="45720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1">
                <a:solidFill>
                  <a:srgbClr val="142234"/>
                </a:solidFill>
                <a:latin typeface="Arial"/>
              </a:rPr>
              <a:t>SHA-256</a:t>
            </a:r>
          </a:p>
        </p:txBody>
      </p:sp>
      <p:sp>
        <p:nvSpPr>
          <p:cNvPr id="15" name="TextBox 14"/>
          <p:cNvSpPr txBox="1"/>
          <p:nvPr/>
        </p:nvSpPr>
        <p:spPr>
          <a:xfrm>
            <a:off x="2990088" y="2944368"/>
            <a:ext cx="4864608" cy="40233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142234"/>
                </a:solidFill>
                <a:latin typeface="Arial"/>
              </a:rPr>
              <a:t>Что известно об этих байтах?</a:t>
            </a:r>
          </a:p>
        </p:txBody>
      </p:sp>
      <p:sp>
        <p:nvSpPr>
          <p:cNvPr id="16" name="TextBox 15"/>
          <p:cNvSpPr txBox="1"/>
          <p:nvPr/>
        </p:nvSpPr>
        <p:spPr>
          <a:xfrm>
            <a:off x="8275320" y="2944368"/>
            <a:ext cx="2999232" cy="4114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800" b="1">
                <a:solidFill>
                  <a:srgbClr val="18867E"/>
                </a:solidFill>
                <a:latin typeface="Arial"/>
              </a:rPr>
              <a:t>VirusTotal · файл</a:t>
            </a:r>
          </a:p>
        </p:txBody>
      </p:sp>
      <p:sp>
        <p:nvSpPr>
          <p:cNvPr id="17" name="Rounded Rectangle 16"/>
          <p:cNvSpPr/>
          <p:nvPr/>
        </p:nvSpPr>
        <p:spPr>
          <a:xfrm>
            <a:off x="640080" y="3621024"/>
            <a:ext cx="10927080" cy="7132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785615"/>
            <a:ext cx="2029968" cy="45720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1">
                <a:solidFill>
                  <a:srgbClr val="142234"/>
                </a:solidFill>
                <a:latin typeface="Arial"/>
              </a:rPr>
              <a:t>Домен / URL</a:t>
            </a:r>
          </a:p>
        </p:txBody>
      </p:sp>
      <p:sp>
        <p:nvSpPr>
          <p:cNvPr id="19" name="TextBox 18"/>
          <p:cNvSpPr txBox="1"/>
          <p:nvPr/>
        </p:nvSpPr>
        <p:spPr>
          <a:xfrm>
            <a:off x="2990088" y="3785615"/>
            <a:ext cx="4864608" cy="40233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142234"/>
                </a:solidFill>
                <a:latin typeface="Arial"/>
              </a:rPr>
              <a:t>Какие сведения и связи есть?</a:t>
            </a:r>
          </a:p>
        </p:txBody>
      </p:sp>
      <p:sp>
        <p:nvSpPr>
          <p:cNvPr id="20" name="TextBox 19"/>
          <p:cNvSpPr txBox="1"/>
          <p:nvPr/>
        </p:nvSpPr>
        <p:spPr>
          <a:xfrm>
            <a:off x="8275320" y="3785615"/>
            <a:ext cx="2999232" cy="4114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800" b="1">
                <a:solidFill>
                  <a:srgbClr val="18867E"/>
                </a:solidFill>
                <a:latin typeface="Arial"/>
              </a:rPr>
              <a:t>VirusTotal</a:t>
            </a:r>
          </a:p>
        </p:txBody>
      </p:sp>
      <p:sp>
        <p:nvSpPr>
          <p:cNvPr id="21" name="Rounded Rectangle 20"/>
          <p:cNvSpPr/>
          <p:nvPr/>
        </p:nvSpPr>
        <p:spPr>
          <a:xfrm>
            <a:off x="640080" y="4462272"/>
            <a:ext cx="10927080" cy="71323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626864"/>
            <a:ext cx="2029968" cy="45720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1">
                <a:solidFill>
                  <a:srgbClr val="142234"/>
                </a:solidFill>
                <a:latin typeface="Arial"/>
              </a:rPr>
              <a:t>Сеанс</a:t>
            </a:r>
          </a:p>
        </p:txBody>
      </p:sp>
      <p:sp>
        <p:nvSpPr>
          <p:cNvPr id="23" name="TextBox 22"/>
          <p:cNvSpPr txBox="1"/>
          <p:nvPr/>
        </p:nvSpPr>
        <p:spPr>
          <a:xfrm>
            <a:off x="2990088" y="4626864"/>
            <a:ext cx="4864608" cy="40233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142234"/>
                </a:solidFill>
                <a:latin typeface="Arial"/>
              </a:rPr>
              <a:t>Кто и что сделал?</a:t>
            </a:r>
          </a:p>
        </p:txBody>
      </p:sp>
      <p:sp>
        <p:nvSpPr>
          <p:cNvPr id="24" name="TextBox 23"/>
          <p:cNvSpPr txBox="1"/>
          <p:nvPr/>
        </p:nvSpPr>
        <p:spPr>
          <a:xfrm>
            <a:off x="8275320" y="4626864"/>
            <a:ext cx="2999232" cy="4114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800" b="1">
                <a:solidFill>
                  <a:srgbClr val="18867E"/>
                </a:solidFill>
                <a:latin typeface="Arial"/>
              </a:rPr>
              <a:t>Внутренние журналы</a:t>
            </a:r>
          </a:p>
        </p:txBody>
      </p:sp>
      <p:sp>
        <p:nvSpPr>
          <p:cNvPr id="25" name="TextBox 24"/>
          <p:cNvSpPr txBox="1"/>
          <p:nvPr/>
        </p:nvSpPr>
        <p:spPr>
          <a:xfrm>
            <a:off x="713232" y="5550408"/>
            <a:ext cx="10780776" cy="393192"/>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100" b="0">
                <a:solidFill>
                  <a:srgbClr val="526778"/>
                </a:solidFill>
                <a:latin typeface="Arial"/>
              </a:rPr>
              <a:t>Домен не заменяет полный URL. Имя файла не заменяет хеш.</a:t>
            </a:r>
          </a:p>
        </p:txBody>
      </p:sp>
      <p:sp>
        <p:nvSpPr>
          <p:cNvPr id="26" name="TextBox 25">
            <a:hlinkClick r:id="rId2"/>
          </p:cNvPr>
          <p:cNvSpPr txBox="1"/>
          <p:nvPr/>
        </p:nvSpPr>
        <p:spPr>
          <a:xfrm>
            <a:off x="667512" y="6108192"/>
            <a:ext cx="1088136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526778"/>
                </a:solidFill>
                <a:latin typeface="Arial"/>
              </a:rPr>
              <a:t>AbuseIPDB · CHECK  /  VirusTotal · File object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B29"/>
        </a:solidFill>
        <a:effectLst/>
      </p:bgPr>
    </p:bg>
    <p:spTree>
      <p:nvGrpSpPr>
        <p:cNvPr id="1" name=""/>
        <p:cNvGrpSpPr/>
        <p:nvPr/>
      </p:nvGrpSpPr>
      <p:grpSpPr/>
      <p:sp>
        <p:nvSpPr>
          <p:cNvPr id="2" name="Rectangle 1"/>
          <p:cNvSpPr/>
          <p:nvPr/>
        </p:nvSpPr>
        <p:spPr>
          <a:xfrm>
            <a:off x="621792" y="438912"/>
            <a:ext cx="73152" cy="173736"/>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32104" y="429768"/>
            <a:ext cx="10607040"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100" b="1">
                <a:solidFill>
                  <a:srgbClr val="A6B8C9"/>
                </a:solidFill>
                <a:latin typeface="Arial"/>
              </a:rPr>
              <a:t>04 · СООБЩЕНИЯ ОБ IP</a:t>
            </a:r>
          </a:p>
        </p:txBody>
      </p:sp>
      <p:sp>
        <p:nvSpPr>
          <p:cNvPr id="4" name="TextBox 3"/>
          <p:cNvSpPr txBox="1"/>
          <p:nvPr/>
        </p:nvSpPr>
        <p:spPr>
          <a:xfrm>
            <a:off x="621792" y="886968"/>
            <a:ext cx="10972800" cy="8686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3600" b="1">
                <a:solidFill>
                  <a:srgbClr val="F3F6FA"/>
                </a:solidFill>
                <a:latin typeface="Arial"/>
              </a:rPr>
              <a:t>AbuseIPDB: читаем историю</a:t>
            </a:r>
          </a:p>
        </p:txBody>
      </p:sp>
      <p:cxnSp>
        <p:nvCxnSpPr>
          <p:cNvPr id="5" name="Connector 4"/>
          <p:cNvCxnSpPr/>
          <p:nvPr/>
        </p:nvCxnSpPr>
        <p:spPr>
          <a:xfrm>
            <a:off x="640080" y="6419088"/>
            <a:ext cx="10927080" cy="0"/>
          </a:xfrm>
          <a:prstGeom prst="line">
            <a:avLst/>
          </a:prstGeom>
          <a:ln w="8890">
            <a:solidFill>
              <a:srgbClr val="2A3C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519672"/>
            <a:ext cx="621792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A6B8C9"/>
                </a:solidFill>
                <a:latin typeface="Arial"/>
              </a:rPr>
              <a:t>ЗАГУГЛИТЬ ПРОТИВНИКА · THREAT INTELLIGENCE</a:t>
            </a:r>
          </a:p>
        </p:txBody>
      </p:sp>
      <p:sp>
        <p:nvSpPr>
          <p:cNvPr id="7" name="TextBox 6"/>
          <p:cNvSpPr txBox="1"/>
          <p:nvPr/>
        </p:nvSpPr>
        <p:spPr>
          <a:xfrm>
            <a:off x="8503920" y="6483096"/>
            <a:ext cx="2423160" cy="228600"/>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000" b="0">
                <a:solidFill>
                  <a:srgbClr val="A6B8C9"/>
                </a:solidFill>
                <a:latin typeface="Arial"/>
              </a:rPr>
              <a:t>06:35–08:40</a:t>
            </a:r>
          </a:p>
        </p:txBody>
      </p:sp>
      <p:sp>
        <p:nvSpPr>
          <p:cNvPr id="8" name="TextBox 7"/>
          <p:cNvSpPr txBox="1"/>
          <p:nvPr/>
        </p:nvSpPr>
        <p:spPr>
          <a:xfrm>
            <a:off x="11100816" y="6469380"/>
            <a:ext cx="448056" cy="265176"/>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200" b="1">
                <a:solidFill>
                  <a:srgbClr val="A6B8C9"/>
                </a:solidFill>
                <a:latin typeface="Arial"/>
              </a:rPr>
              <a:t>05</a:t>
            </a:r>
          </a:p>
        </p:txBody>
      </p:sp>
      <p:sp>
        <p:nvSpPr>
          <p:cNvPr id="9" name="Rounded Rectangle 8"/>
          <p:cNvSpPr/>
          <p:nvPr/>
        </p:nvSpPr>
        <p:spPr>
          <a:xfrm>
            <a:off x="658368" y="2029968"/>
            <a:ext cx="3364992" cy="1499616"/>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029968"/>
            <a:ext cx="41148" cy="1499616"/>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194560"/>
            <a:ext cx="2999232"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1">
                <a:solidFill>
                  <a:srgbClr val="58D5CD"/>
                </a:solidFill>
                <a:latin typeface="Arial"/>
              </a:rPr>
              <a:t>ПЕРИОД</a:t>
            </a:r>
          </a:p>
        </p:txBody>
      </p:sp>
      <p:sp>
        <p:nvSpPr>
          <p:cNvPr id="12" name="TextBox 11"/>
          <p:cNvSpPr txBox="1"/>
          <p:nvPr/>
        </p:nvSpPr>
        <p:spPr>
          <a:xfrm>
            <a:off x="841247" y="2734056"/>
            <a:ext cx="2999232" cy="676655"/>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F3F6FA"/>
                </a:solidFill>
                <a:latin typeface="Arial"/>
              </a:rPr>
              <a:t>Какое окно</a:t>
            </a:r>
          </a:p>
          <a:p>
            <a:pPr algn="l">
              <a:lnSpc>
                <a:spcPct val="108000"/>
              </a:lnSpc>
              <a:spcBef>
                <a:spcPts val="0"/>
              </a:spcBef>
              <a:spcAft>
                <a:spcPts val="300"/>
              </a:spcAft>
            </a:pPr>
            <a:r>
              <a:rPr sz="2000" b="0">
                <a:solidFill>
                  <a:srgbClr val="F3F6FA"/>
                </a:solidFill>
                <a:latin typeface="Arial"/>
              </a:rPr>
              <a:t>проверяем?</a:t>
            </a:r>
          </a:p>
        </p:txBody>
      </p:sp>
      <p:sp>
        <p:nvSpPr>
          <p:cNvPr id="13" name="Rounded Rectangle 12"/>
          <p:cNvSpPr/>
          <p:nvPr/>
        </p:nvSpPr>
        <p:spPr>
          <a:xfrm>
            <a:off x="4279392" y="2029968"/>
            <a:ext cx="3364992" cy="1499616"/>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9392" y="2029968"/>
            <a:ext cx="41148" cy="1499616"/>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2194560"/>
            <a:ext cx="2999232"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1">
                <a:solidFill>
                  <a:srgbClr val="58D5CD"/>
                </a:solidFill>
                <a:latin typeface="Arial"/>
              </a:rPr>
              <a:t>ДАТЫ</a:t>
            </a:r>
          </a:p>
        </p:txBody>
      </p:sp>
      <p:sp>
        <p:nvSpPr>
          <p:cNvPr id="16" name="TextBox 15"/>
          <p:cNvSpPr txBox="1"/>
          <p:nvPr/>
        </p:nvSpPr>
        <p:spPr>
          <a:xfrm>
            <a:off x="4462272" y="2734056"/>
            <a:ext cx="2999232" cy="676655"/>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F3F6FA"/>
                </a:solidFill>
                <a:latin typeface="Arial"/>
              </a:rPr>
              <a:t>Когда</a:t>
            </a:r>
          </a:p>
          <a:p>
            <a:pPr algn="l">
              <a:lnSpc>
                <a:spcPct val="108000"/>
              </a:lnSpc>
              <a:spcBef>
                <a:spcPts val="0"/>
              </a:spcBef>
              <a:spcAft>
                <a:spcPts val="300"/>
              </a:spcAft>
            </a:pPr>
            <a:r>
              <a:rPr sz="2000" b="0">
                <a:solidFill>
                  <a:srgbClr val="F3F6FA"/>
                </a:solidFill>
                <a:latin typeface="Arial"/>
              </a:rPr>
              <a:t>сообщали?</a:t>
            </a:r>
          </a:p>
        </p:txBody>
      </p:sp>
      <p:sp>
        <p:nvSpPr>
          <p:cNvPr id="17" name="Rounded Rectangle 16"/>
          <p:cNvSpPr/>
          <p:nvPr/>
        </p:nvSpPr>
        <p:spPr>
          <a:xfrm>
            <a:off x="658368" y="3749039"/>
            <a:ext cx="3364992" cy="1499616"/>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49039"/>
            <a:ext cx="41148" cy="1499616"/>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 y="3913631"/>
            <a:ext cx="2999232"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1">
                <a:solidFill>
                  <a:srgbClr val="58D5CD"/>
                </a:solidFill>
                <a:latin typeface="Arial"/>
              </a:rPr>
              <a:t>КАТЕГОРИИ</a:t>
            </a:r>
          </a:p>
        </p:txBody>
      </p:sp>
      <p:sp>
        <p:nvSpPr>
          <p:cNvPr id="20" name="TextBox 19"/>
          <p:cNvSpPr txBox="1"/>
          <p:nvPr/>
        </p:nvSpPr>
        <p:spPr>
          <a:xfrm>
            <a:off x="841247" y="4453127"/>
            <a:ext cx="2999232" cy="676655"/>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F3F6FA"/>
                </a:solidFill>
                <a:latin typeface="Arial"/>
              </a:rPr>
              <a:t>Что наблюдали?</a:t>
            </a:r>
          </a:p>
        </p:txBody>
      </p:sp>
      <p:sp>
        <p:nvSpPr>
          <p:cNvPr id="21" name="Rounded Rectangle 20"/>
          <p:cNvSpPr/>
          <p:nvPr/>
        </p:nvSpPr>
        <p:spPr>
          <a:xfrm>
            <a:off x="4279392" y="3749039"/>
            <a:ext cx="3364992" cy="1499616"/>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79392" y="3749039"/>
            <a:ext cx="41148" cy="1499616"/>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62272" y="3913631"/>
            <a:ext cx="2999232"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1">
                <a:solidFill>
                  <a:srgbClr val="58D5CD"/>
                </a:solidFill>
                <a:latin typeface="Arial"/>
              </a:rPr>
              <a:t>РЕПОРТЁРЫ</a:t>
            </a:r>
          </a:p>
        </p:txBody>
      </p:sp>
      <p:sp>
        <p:nvSpPr>
          <p:cNvPr id="24" name="TextBox 23"/>
          <p:cNvSpPr txBox="1"/>
          <p:nvPr/>
        </p:nvSpPr>
        <p:spPr>
          <a:xfrm>
            <a:off x="4462272" y="4453127"/>
            <a:ext cx="2999232" cy="676655"/>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F3F6FA"/>
                </a:solidFill>
                <a:latin typeface="Arial"/>
              </a:rPr>
              <a:t>Кто и сколько раз?</a:t>
            </a:r>
          </a:p>
        </p:txBody>
      </p:sp>
      <p:sp>
        <p:nvSpPr>
          <p:cNvPr id="25" name="TextBox 24"/>
          <p:cNvSpPr txBox="1"/>
          <p:nvPr/>
        </p:nvSpPr>
        <p:spPr>
          <a:xfrm>
            <a:off x="8065008" y="2286000"/>
            <a:ext cx="3383280" cy="1024128"/>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7800" b="1">
                <a:solidFill>
                  <a:srgbClr val="CDF276"/>
                </a:solidFill>
                <a:latin typeface="Arial"/>
              </a:rPr>
              <a:t>≠</a:t>
            </a:r>
          </a:p>
        </p:txBody>
      </p:sp>
      <p:sp>
        <p:nvSpPr>
          <p:cNvPr id="26" name="TextBox 25"/>
          <p:cNvSpPr txBox="1"/>
          <p:nvPr/>
        </p:nvSpPr>
        <p:spPr>
          <a:xfrm>
            <a:off x="8129016" y="3438144"/>
            <a:ext cx="3273552" cy="8686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300" b="1">
                <a:solidFill>
                  <a:srgbClr val="F3F6FA"/>
                </a:solidFill>
                <a:latin typeface="Arial"/>
              </a:rPr>
              <a:t>Оценка сервиса</a:t>
            </a:r>
          </a:p>
          <a:p>
            <a:pPr algn="l">
              <a:lnSpc>
                <a:spcPct val="108000"/>
              </a:lnSpc>
              <a:spcBef>
                <a:spcPts val="0"/>
              </a:spcBef>
              <a:spcAft>
                <a:spcPts val="300"/>
              </a:spcAft>
            </a:pPr>
            <a:r>
              <a:rPr sz="2300" b="1">
                <a:solidFill>
                  <a:srgbClr val="F3F6FA"/>
                </a:solidFill>
                <a:latin typeface="Arial"/>
              </a:rPr>
              <a:t>не равна вероятности</a:t>
            </a:r>
          </a:p>
          <a:p>
            <a:pPr algn="l">
              <a:lnSpc>
                <a:spcPct val="108000"/>
              </a:lnSpc>
              <a:spcBef>
                <a:spcPts val="0"/>
              </a:spcBef>
              <a:spcAft>
                <a:spcPts val="300"/>
              </a:spcAft>
            </a:pPr>
            <a:r>
              <a:rPr sz="2300" b="1">
                <a:solidFill>
                  <a:srgbClr val="F3F6FA"/>
                </a:solidFill>
                <a:latin typeface="Arial"/>
              </a:rPr>
              <a:t>нашего инцидента</a:t>
            </a:r>
          </a:p>
        </p:txBody>
      </p:sp>
      <p:sp>
        <p:nvSpPr>
          <p:cNvPr id="27" name="TextBox 26"/>
          <p:cNvSpPr txBox="1"/>
          <p:nvPr/>
        </p:nvSpPr>
        <p:spPr>
          <a:xfrm>
            <a:off x="8147304" y="4681728"/>
            <a:ext cx="3291840" cy="49377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600" b="0">
                <a:solidFill>
                  <a:srgbClr val="A6B8C9"/>
                </a:solidFill>
                <a:latin typeface="Arial"/>
              </a:rPr>
              <a:t>Комментарии помогают</a:t>
            </a:r>
          </a:p>
          <a:p>
            <a:pPr algn="l">
              <a:lnSpc>
                <a:spcPct val="108000"/>
              </a:lnSpc>
              <a:spcBef>
                <a:spcPts val="0"/>
              </a:spcBef>
              <a:spcAft>
                <a:spcPts val="300"/>
              </a:spcAft>
            </a:pPr>
            <a:r>
              <a:rPr sz="1600" b="0">
                <a:solidFill>
                  <a:srgbClr val="A6B8C9"/>
                </a:solidFill>
                <a:latin typeface="Arial"/>
              </a:rPr>
              <a:t>понять содержание жалобы.</a:t>
            </a:r>
          </a:p>
        </p:txBody>
      </p:sp>
      <p:sp>
        <p:nvSpPr>
          <p:cNvPr id="28" name="TextBox 27"/>
          <p:cNvSpPr txBox="1"/>
          <p:nvPr/>
        </p:nvSpPr>
        <p:spPr>
          <a:xfrm>
            <a:off x="713232" y="5532120"/>
            <a:ext cx="10789920" cy="45720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FFB477"/>
                </a:solidFill>
                <a:latin typeface="Arial"/>
              </a:rPr>
              <a:t>Количество сообщений ≠ количество атак. Нет жалоб ≠ безопасно.</a:t>
            </a:r>
          </a:p>
        </p:txBody>
      </p:sp>
      <p:sp>
        <p:nvSpPr>
          <p:cNvPr id="29" name="TextBox 28">
            <a:hlinkClick r:id="rId2"/>
          </p:cNvPr>
          <p:cNvSpPr txBox="1"/>
          <p:nvPr/>
        </p:nvSpPr>
        <p:spPr>
          <a:xfrm>
            <a:off x="667512" y="6108192"/>
            <a:ext cx="1088136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A6B8C9"/>
                </a:solidFill>
                <a:latin typeface="Arial"/>
              </a:rPr>
              <a:t>AbuseIPDB · CHECK  /  AbuseIPDB · FAQ</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621792" y="438912"/>
            <a:ext cx="73152" cy="173736"/>
          </a:xfrm>
          <a:prstGeom prst="rect">
            <a:avLst/>
          </a:prstGeom>
          <a:solidFill>
            <a:srgbClr val="1886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32104" y="429768"/>
            <a:ext cx="10607040"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100" b="1">
                <a:solidFill>
                  <a:srgbClr val="526778"/>
                </a:solidFill>
                <a:latin typeface="Arial"/>
              </a:rPr>
              <a:t>05 · ТИП ОБЪЕКТА И ВРЕМЯ</a:t>
            </a:r>
          </a:p>
        </p:txBody>
      </p:sp>
      <p:sp>
        <p:nvSpPr>
          <p:cNvPr id="4" name="TextBox 3"/>
          <p:cNvSpPr txBox="1"/>
          <p:nvPr/>
        </p:nvSpPr>
        <p:spPr>
          <a:xfrm>
            <a:off x="621792" y="886968"/>
            <a:ext cx="10972800" cy="8686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3600" b="1">
                <a:solidFill>
                  <a:srgbClr val="142234"/>
                </a:solidFill>
                <a:latin typeface="Arial"/>
              </a:rPr>
              <a:t>VirusTotal: читаем весь отчёт</a:t>
            </a:r>
          </a:p>
        </p:txBody>
      </p:sp>
      <p:cxnSp>
        <p:nvCxnSpPr>
          <p:cNvPr id="5" name="Connector 4"/>
          <p:cNvCxnSpPr/>
          <p:nvPr/>
        </p:nvCxnSpPr>
        <p:spPr>
          <a:xfrm>
            <a:off x="640080" y="6419088"/>
            <a:ext cx="10927080" cy="0"/>
          </a:xfrm>
          <a:prstGeom prst="line">
            <a:avLst/>
          </a:prstGeom>
          <a:ln w="8890">
            <a:solidFill>
              <a:srgbClr val="DAE2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519672"/>
            <a:ext cx="621792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526778"/>
                </a:solidFill>
                <a:latin typeface="Arial"/>
              </a:rPr>
              <a:t>ЗАГУГЛИТЬ ПРОТИВНИКА · THREAT INTELLIGENCE</a:t>
            </a:r>
          </a:p>
        </p:txBody>
      </p:sp>
      <p:sp>
        <p:nvSpPr>
          <p:cNvPr id="7" name="TextBox 6"/>
          <p:cNvSpPr txBox="1"/>
          <p:nvPr/>
        </p:nvSpPr>
        <p:spPr>
          <a:xfrm>
            <a:off x="8503920" y="6483096"/>
            <a:ext cx="2423160" cy="228600"/>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000" b="0">
                <a:solidFill>
                  <a:srgbClr val="526778"/>
                </a:solidFill>
                <a:latin typeface="Arial"/>
              </a:rPr>
              <a:t>08:40–10:45</a:t>
            </a:r>
          </a:p>
        </p:txBody>
      </p:sp>
      <p:sp>
        <p:nvSpPr>
          <p:cNvPr id="8" name="TextBox 7"/>
          <p:cNvSpPr txBox="1"/>
          <p:nvPr/>
        </p:nvSpPr>
        <p:spPr>
          <a:xfrm>
            <a:off x="11100816" y="6469380"/>
            <a:ext cx="448056" cy="265176"/>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200" b="1">
                <a:solidFill>
                  <a:srgbClr val="526778"/>
                </a:solidFill>
                <a:latin typeface="Arial"/>
              </a:rPr>
              <a:t>06</a:t>
            </a:r>
          </a:p>
        </p:txBody>
      </p:sp>
      <p:sp>
        <p:nvSpPr>
          <p:cNvPr id="9" name="Rounded Rectangle 8"/>
          <p:cNvSpPr/>
          <p:nvPr/>
        </p:nvSpPr>
        <p:spPr>
          <a:xfrm>
            <a:off x="685800" y="1874519"/>
            <a:ext cx="1371600" cy="320040"/>
          </a:xfrm>
          <a:prstGeom prst="roundRect">
            <a:avLst>
              <a:gd name="adj" fmla="val 12000"/>
            </a:avLst>
          </a:prstGeom>
          <a:solidFill>
            <a:srgbClr val="E5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15667"/>
            <a:ext cx="1188720" cy="21945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000" b="1">
                <a:solidFill>
                  <a:srgbClr val="18867E"/>
                </a:solidFill>
                <a:latin typeface="Arial"/>
              </a:rPr>
              <a:t>IP</a:t>
            </a:r>
          </a:p>
        </p:txBody>
      </p:sp>
      <p:sp>
        <p:nvSpPr>
          <p:cNvPr id="11" name="Rounded Rectangle 10"/>
          <p:cNvSpPr/>
          <p:nvPr/>
        </p:nvSpPr>
        <p:spPr>
          <a:xfrm>
            <a:off x="2322576" y="1874519"/>
            <a:ext cx="1371600" cy="320040"/>
          </a:xfrm>
          <a:prstGeom prst="roundRect">
            <a:avLst>
              <a:gd name="adj" fmla="val 12000"/>
            </a:avLst>
          </a:prstGeom>
          <a:solidFill>
            <a:srgbClr val="E5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14016" y="1915667"/>
            <a:ext cx="1188720" cy="21945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000" b="1">
                <a:solidFill>
                  <a:srgbClr val="18867E"/>
                </a:solidFill>
                <a:latin typeface="Arial"/>
              </a:rPr>
              <a:t>ДОМЕН</a:t>
            </a:r>
          </a:p>
        </p:txBody>
      </p:sp>
      <p:sp>
        <p:nvSpPr>
          <p:cNvPr id="13" name="Rounded Rectangle 12"/>
          <p:cNvSpPr/>
          <p:nvPr/>
        </p:nvSpPr>
        <p:spPr>
          <a:xfrm>
            <a:off x="3959352" y="1874519"/>
            <a:ext cx="1371600" cy="320040"/>
          </a:xfrm>
          <a:prstGeom prst="roundRect">
            <a:avLst>
              <a:gd name="adj" fmla="val 12000"/>
            </a:avLst>
          </a:prstGeom>
          <a:solidFill>
            <a:srgbClr val="E5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50791" y="1915667"/>
            <a:ext cx="1188720" cy="21945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000" b="1">
                <a:solidFill>
                  <a:srgbClr val="18867E"/>
                </a:solidFill>
                <a:latin typeface="Arial"/>
              </a:rPr>
              <a:t>URL</a:t>
            </a:r>
          </a:p>
        </p:txBody>
      </p:sp>
      <p:sp>
        <p:nvSpPr>
          <p:cNvPr id="15" name="Rounded Rectangle 14"/>
          <p:cNvSpPr/>
          <p:nvPr/>
        </p:nvSpPr>
        <p:spPr>
          <a:xfrm>
            <a:off x="5596128" y="1874519"/>
            <a:ext cx="1371600" cy="320040"/>
          </a:xfrm>
          <a:prstGeom prst="roundRect">
            <a:avLst>
              <a:gd name="adj" fmla="val 12000"/>
            </a:avLst>
          </a:prstGeom>
          <a:solidFill>
            <a:srgbClr val="E5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87568" y="1915667"/>
            <a:ext cx="1188720" cy="21945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000" b="1">
                <a:solidFill>
                  <a:srgbClr val="18867E"/>
                </a:solidFill>
                <a:latin typeface="Arial"/>
              </a:rPr>
              <a:t>ФАЙЛ</a:t>
            </a:r>
          </a:p>
        </p:txBody>
      </p:sp>
      <p:sp>
        <p:nvSpPr>
          <p:cNvPr id="17" name="TextBox 16"/>
          <p:cNvSpPr txBox="1"/>
          <p:nvPr/>
        </p:nvSpPr>
        <p:spPr>
          <a:xfrm>
            <a:off x="694944" y="2660904"/>
            <a:ext cx="5715000" cy="1252728"/>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3200" b="1">
                <a:solidFill>
                  <a:srgbClr val="142234"/>
                </a:solidFill>
                <a:latin typeface="Arial"/>
              </a:rPr>
              <a:t>Доля детектов</a:t>
            </a:r>
          </a:p>
          <a:p>
            <a:pPr algn="l">
              <a:lnSpc>
                <a:spcPct val="108000"/>
              </a:lnSpc>
              <a:spcBef>
                <a:spcPts val="0"/>
              </a:spcBef>
              <a:spcAft>
                <a:spcPts val="300"/>
              </a:spcAft>
            </a:pPr>
            <a:r>
              <a:rPr sz="3200" b="1">
                <a:solidFill>
                  <a:srgbClr val="142234"/>
                </a:solidFill>
                <a:latin typeface="Arial"/>
              </a:rPr>
              <a:t>≠ вероятность атаки</a:t>
            </a:r>
          </a:p>
        </p:txBody>
      </p:sp>
      <p:sp>
        <p:nvSpPr>
          <p:cNvPr id="18" name="TextBox 17"/>
          <p:cNvSpPr txBox="1"/>
          <p:nvPr/>
        </p:nvSpPr>
        <p:spPr>
          <a:xfrm>
            <a:off x="713232" y="4270248"/>
            <a:ext cx="5394960" cy="91440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526778"/>
                </a:solidFill>
                <a:latin typeface="Arial"/>
              </a:rPr>
              <a:t>Читать дальше:</a:t>
            </a:r>
          </a:p>
          <a:p>
            <a:pPr algn="l">
              <a:lnSpc>
                <a:spcPct val="108000"/>
              </a:lnSpc>
              <a:spcBef>
                <a:spcPts val="0"/>
              </a:spcBef>
              <a:spcAft>
                <a:spcPts val="300"/>
              </a:spcAft>
            </a:pPr>
            <a:r>
              <a:rPr sz="2200" b="0">
                <a:solidFill>
                  <a:srgbClr val="526778"/>
                </a:solidFill>
                <a:latin typeface="Arial"/>
              </a:rPr>
              <a:t>дату · тип · поведение · связи</a:t>
            </a:r>
          </a:p>
        </p:txBody>
      </p:sp>
      <p:cxnSp>
        <p:nvCxnSpPr>
          <p:cNvPr id="19" name="Connector 18"/>
          <p:cNvCxnSpPr/>
          <p:nvPr/>
        </p:nvCxnSpPr>
        <p:spPr>
          <a:xfrm>
            <a:off x="7040880" y="2569464"/>
            <a:ext cx="0" cy="420624"/>
          </a:xfrm>
          <a:prstGeom prst="line">
            <a:avLst/>
          </a:prstGeom>
          <a:ln w="38100">
            <a:solidFill>
              <a:srgbClr val="C6464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214616" y="2468880"/>
            <a:ext cx="4215384" cy="28346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800" b="1">
                <a:solidFill>
                  <a:srgbClr val="C64646"/>
                </a:solidFill>
                <a:latin typeface="Courier New"/>
              </a:rPr>
              <a:t>malicious</a:t>
            </a:r>
          </a:p>
        </p:txBody>
      </p:sp>
      <p:sp>
        <p:nvSpPr>
          <p:cNvPr id="21" name="TextBox 20"/>
          <p:cNvSpPr txBox="1"/>
          <p:nvPr/>
        </p:nvSpPr>
        <p:spPr>
          <a:xfrm>
            <a:off x="7214616" y="2788920"/>
            <a:ext cx="4224528" cy="28346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700" b="0">
                <a:solidFill>
                  <a:srgbClr val="142234"/>
                </a:solidFill>
                <a:latin typeface="Arial"/>
              </a:rPr>
              <a:t>Считают вредоносным</a:t>
            </a:r>
          </a:p>
        </p:txBody>
      </p:sp>
      <p:cxnSp>
        <p:nvCxnSpPr>
          <p:cNvPr id="22" name="Connector 21"/>
          <p:cNvCxnSpPr/>
          <p:nvPr/>
        </p:nvCxnSpPr>
        <p:spPr>
          <a:xfrm>
            <a:off x="7040880" y="3236976"/>
            <a:ext cx="0" cy="420624"/>
          </a:xfrm>
          <a:prstGeom prst="line">
            <a:avLst/>
          </a:prstGeom>
          <a:ln w="38100">
            <a:solidFill>
              <a:srgbClr val="52677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214616" y="3136392"/>
            <a:ext cx="4215384" cy="28346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800" b="1">
                <a:solidFill>
                  <a:srgbClr val="526778"/>
                </a:solidFill>
                <a:latin typeface="Courier New"/>
              </a:rPr>
              <a:t>undetected</a:t>
            </a:r>
          </a:p>
        </p:txBody>
      </p:sp>
      <p:sp>
        <p:nvSpPr>
          <p:cNvPr id="24" name="TextBox 23"/>
          <p:cNvSpPr txBox="1"/>
          <p:nvPr/>
        </p:nvSpPr>
        <p:spPr>
          <a:xfrm>
            <a:off x="7214616" y="3456432"/>
            <a:ext cx="4224528" cy="28346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700" b="0">
                <a:solidFill>
                  <a:srgbClr val="142234"/>
                </a:solidFill>
                <a:latin typeface="Arial"/>
              </a:rPr>
              <a:t>Нет детекта / мнения</a:t>
            </a:r>
          </a:p>
        </p:txBody>
      </p:sp>
      <p:cxnSp>
        <p:nvCxnSpPr>
          <p:cNvPr id="25" name="Connector 24"/>
          <p:cNvCxnSpPr/>
          <p:nvPr/>
        </p:nvCxnSpPr>
        <p:spPr>
          <a:xfrm>
            <a:off x="7040880" y="3904488"/>
            <a:ext cx="0" cy="420624"/>
          </a:xfrm>
          <a:prstGeom prst="line">
            <a:avLst/>
          </a:prstGeom>
          <a:ln w="38100">
            <a:solidFill>
              <a:srgbClr val="18867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214616" y="3803904"/>
            <a:ext cx="4215384" cy="28346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800" b="1">
                <a:solidFill>
                  <a:srgbClr val="18867E"/>
                </a:solidFill>
                <a:latin typeface="Courier New"/>
              </a:rPr>
              <a:t>harmless</a:t>
            </a:r>
          </a:p>
        </p:txBody>
      </p:sp>
      <p:sp>
        <p:nvSpPr>
          <p:cNvPr id="27" name="TextBox 26"/>
          <p:cNvSpPr txBox="1"/>
          <p:nvPr/>
        </p:nvSpPr>
        <p:spPr>
          <a:xfrm>
            <a:off x="7214616" y="4123944"/>
            <a:ext cx="4224528" cy="28346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700" b="0">
                <a:solidFill>
                  <a:srgbClr val="142234"/>
                </a:solidFill>
                <a:latin typeface="Arial"/>
              </a:rPr>
              <a:t>Считают невредоносным</a:t>
            </a:r>
          </a:p>
        </p:txBody>
      </p:sp>
      <p:cxnSp>
        <p:nvCxnSpPr>
          <p:cNvPr id="28" name="Connector 27"/>
          <p:cNvCxnSpPr/>
          <p:nvPr/>
        </p:nvCxnSpPr>
        <p:spPr>
          <a:xfrm>
            <a:off x="7040880" y="4572000"/>
            <a:ext cx="0" cy="420624"/>
          </a:xfrm>
          <a:prstGeom prst="line">
            <a:avLst/>
          </a:prstGeom>
          <a:ln w="38100">
            <a:solidFill>
              <a:srgbClr val="A86D2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214616" y="4471416"/>
            <a:ext cx="4215384" cy="28346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800" b="1">
                <a:solidFill>
                  <a:srgbClr val="A86D2D"/>
                </a:solidFill>
                <a:latin typeface="Courier New"/>
              </a:rPr>
              <a:t>timeout / failure</a:t>
            </a:r>
          </a:p>
        </p:txBody>
      </p:sp>
      <p:sp>
        <p:nvSpPr>
          <p:cNvPr id="30" name="TextBox 29"/>
          <p:cNvSpPr txBox="1"/>
          <p:nvPr/>
        </p:nvSpPr>
        <p:spPr>
          <a:xfrm>
            <a:off x="7214616" y="4791456"/>
            <a:ext cx="4224528" cy="28346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700" b="0">
                <a:solidFill>
                  <a:srgbClr val="142234"/>
                </a:solidFill>
                <a:latin typeface="Arial"/>
              </a:rPr>
              <a:t>Результат не получен</a:t>
            </a:r>
          </a:p>
        </p:txBody>
      </p:sp>
      <p:sp>
        <p:nvSpPr>
          <p:cNvPr id="31" name="Rounded Rectangle 30"/>
          <p:cNvSpPr/>
          <p:nvPr/>
        </p:nvSpPr>
        <p:spPr>
          <a:xfrm>
            <a:off x="640080" y="5513832"/>
            <a:ext cx="10917936" cy="493776"/>
          </a:xfrm>
          <a:prstGeom prst="roundRect">
            <a:avLst>
              <a:gd name="adj" fmla="val 12000"/>
            </a:avLst>
          </a:prstGeom>
          <a:solidFill>
            <a:srgbClr val="14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5623560"/>
            <a:ext cx="10415016"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100" b="1">
                <a:solidFill>
                  <a:srgbClr val="F3F6FA"/>
                </a:solidFill>
                <a:latin typeface="Arial"/>
              </a:rPr>
              <a:t>Легитимная программа ≠ разрешённая сессия.</a:t>
            </a:r>
          </a:p>
        </p:txBody>
      </p:sp>
      <p:sp>
        <p:nvSpPr>
          <p:cNvPr id="33" name="TextBox 32">
            <a:hlinkClick r:id="rId2"/>
          </p:cNvPr>
          <p:cNvSpPr txBox="1"/>
          <p:nvPr/>
        </p:nvSpPr>
        <p:spPr>
          <a:xfrm>
            <a:off x="667512" y="6108192"/>
            <a:ext cx="1088136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526778"/>
                </a:solidFill>
                <a:latin typeface="Arial"/>
              </a:rPr>
              <a:t>VirusTotal · Analysis object  /  VirusTotal · IP object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B29"/>
        </a:solidFill>
        <a:effectLst/>
      </p:bgPr>
    </p:bg>
    <p:spTree>
      <p:nvGrpSpPr>
        <p:cNvPr id="1" name=""/>
        <p:cNvGrpSpPr/>
        <p:nvPr/>
      </p:nvGrpSpPr>
      <p:grpSpPr/>
      <p:sp>
        <p:nvSpPr>
          <p:cNvPr id="2" name="Rectangle 1"/>
          <p:cNvSpPr/>
          <p:nvPr/>
        </p:nvSpPr>
        <p:spPr>
          <a:xfrm>
            <a:off x="621792" y="438912"/>
            <a:ext cx="73152" cy="173736"/>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32104" y="429768"/>
            <a:ext cx="10607040"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100" b="1">
                <a:solidFill>
                  <a:srgbClr val="A6B8C9"/>
                </a:solidFill>
                <a:latin typeface="Arial"/>
              </a:rPr>
              <a:t>06 · ПЕРЕД ПОИСКОМ</a:t>
            </a:r>
          </a:p>
        </p:txBody>
      </p:sp>
      <p:sp>
        <p:nvSpPr>
          <p:cNvPr id="4" name="TextBox 3"/>
          <p:cNvSpPr txBox="1"/>
          <p:nvPr/>
        </p:nvSpPr>
        <p:spPr>
          <a:xfrm>
            <a:off x="621792" y="886968"/>
            <a:ext cx="10972800" cy="8686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3600" b="1">
                <a:solidFill>
                  <a:srgbClr val="F3F6FA"/>
                </a:solidFill>
                <a:latin typeface="Arial"/>
              </a:rPr>
              <a:t>Что раскрывает внешний запрос?</a:t>
            </a:r>
          </a:p>
        </p:txBody>
      </p:sp>
      <p:cxnSp>
        <p:nvCxnSpPr>
          <p:cNvPr id="5" name="Connector 4"/>
          <p:cNvCxnSpPr/>
          <p:nvPr/>
        </p:nvCxnSpPr>
        <p:spPr>
          <a:xfrm>
            <a:off x="640080" y="6419088"/>
            <a:ext cx="10927080" cy="0"/>
          </a:xfrm>
          <a:prstGeom prst="line">
            <a:avLst/>
          </a:prstGeom>
          <a:ln w="8890">
            <a:solidFill>
              <a:srgbClr val="2A3C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519672"/>
            <a:ext cx="621792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A6B8C9"/>
                </a:solidFill>
                <a:latin typeface="Arial"/>
              </a:rPr>
              <a:t>ЗАГУГЛИТЬ ПРОТИВНИКА · THREAT INTELLIGENCE</a:t>
            </a:r>
          </a:p>
        </p:txBody>
      </p:sp>
      <p:sp>
        <p:nvSpPr>
          <p:cNvPr id="7" name="TextBox 6"/>
          <p:cNvSpPr txBox="1"/>
          <p:nvPr/>
        </p:nvSpPr>
        <p:spPr>
          <a:xfrm>
            <a:off x="8503920" y="6483096"/>
            <a:ext cx="2423160" cy="228600"/>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000" b="0">
                <a:solidFill>
                  <a:srgbClr val="A6B8C9"/>
                </a:solidFill>
                <a:latin typeface="Arial"/>
              </a:rPr>
              <a:t>10:45–12:15</a:t>
            </a:r>
          </a:p>
        </p:txBody>
      </p:sp>
      <p:sp>
        <p:nvSpPr>
          <p:cNvPr id="8" name="TextBox 7"/>
          <p:cNvSpPr txBox="1"/>
          <p:nvPr/>
        </p:nvSpPr>
        <p:spPr>
          <a:xfrm>
            <a:off x="11100816" y="6469380"/>
            <a:ext cx="448056" cy="265176"/>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200" b="1">
                <a:solidFill>
                  <a:srgbClr val="A6B8C9"/>
                </a:solidFill>
                <a:latin typeface="Arial"/>
              </a:rPr>
              <a:t>07</a:t>
            </a:r>
          </a:p>
        </p:txBody>
      </p:sp>
      <p:sp>
        <p:nvSpPr>
          <p:cNvPr id="9" name="Rounded Rectangle 8"/>
          <p:cNvSpPr/>
          <p:nvPr/>
        </p:nvSpPr>
        <p:spPr>
          <a:xfrm>
            <a:off x="658368" y="2057400"/>
            <a:ext cx="3374136" cy="1737360"/>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057400"/>
            <a:ext cx="41148" cy="1737360"/>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221992"/>
            <a:ext cx="3008376"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1">
                <a:solidFill>
                  <a:srgbClr val="58D5CD"/>
                </a:solidFill>
                <a:latin typeface="Arial"/>
              </a:rPr>
              <a:t>ОТЧЁТ ПО ХЕШУ</a:t>
            </a:r>
          </a:p>
        </p:txBody>
      </p:sp>
      <p:sp>
        <p:nvSpPr>
          <p:cNvPr id="12" name="TextBox 11"/>
          <p:cNvSpPr txBox="1"/>
          <p:nvPr/>
        </p:nvSpPr>
        <p:spPr>
          <a:xfrm>
            <a:off x="841247" y="2761488"/>
            <a:ext cx="3008376" cy="914399"/>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F3F6FA"/>
                </a:solidFill>
                <a:latin typeface="Arial"/>
              </a:rPr>
              <a:t>Запрос известного</a:t>
            </a:r>
          </a:p>
          <a:p>
            <a:pPr algn="l">
              <a:lnSpc>
                <a:spcPct val="108000"/>
              </a:lnSpc>
              <a:spcBef>
                <a:spcPts val="0"/>
              </a:spcBef>
              <a:spcAft>
                <a:spcPts val="300"/>
              </a:spcAft>
            </a:pPr>
            <a:r>
              <a:rPr sz="2200" b="0">
                <a:solidFill>
                  <a:srgbClr val="F3F6FA"/>
                </a:solidFill>
                <a:latin typeface="Arial"/>
              </a:rPr>
              <a:t>отпечатка</a:t>
            </a:r>
          </a:p>
        </p:txBody>
      </p:sp>
      <p:sp>
        <p:nvSpPr>
          <p:cNvPr id="13" name="Rounded Rectangle 12"/>
          <p:cNvSpPr/>
          <p:nvPr/>
        </p:nvSpPr>
        <p:spPr>
          <a:xfrm>
            <a:off x="4416552" y="2057400"/>
            <a:ext cx="3374136" cy="1737360"/>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6552" y="2057400"/>
            <a:ext cx="41148" cy="1737360"/>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9432" y="2221992"/>
            <a:ext cx="3008376"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1">
                <a:solidFill>
                  <a:srgbClr val="58D5CD"/>
                </a:solidFill>
                <a:latin typeface="Arial"/>
              </a:rPr>
              <a:t>UPLOAD</a:t>
            </a:r>
          </a:p>
        </p:txBody>
      </p:sp>
      <p:sp>
        <p:nvSpPr>
          <p:cNvPr id="16" name="TextBox 15"/>
          <p:cNvSpPr txBox="1"/>
          <p:nvPr/>
        </p:nvSpPr>
        <p:spPr>
          <a:xfrm>
            <a:off x="4599432" y="2761488"/>
            <a:ext cx="3008376" cy="914399"/>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F3F6FA"/>
                </a:solidFill>
                <a:latin typeface="Arial"/>
              </a:rPr>
              <a:t>Содержимое</a:t>
            </a:r>
          </a:p>
          <a:p>
            <a:pPr algn="l">
              <a:lnSpc>
                <a:spcPct val="108000"/>
              </a:lnSpc>
              <a:spcBef>
                <a:spcPts val="0"/>
              </a:spcBef>
              <a:spcAft>
                <a:spcPts val="300"/>
              </a:spcAft>
            </a:pPr>
            <a:r>
              <a:rPr sz="2200" b="0">
                <a:solidFill>
                  <a:srgbClr val="F3F6FA"/>
                </a:solidFill>
                <a:latin typeface="Arial"/>
              </a:rPr>
              <a:t>файла</a:t>
            </a:r>
          </a:p>
        </p:txBody>
      </p:sp>
      <p:sp>
        <p:nvSpPr>
          <p:cNvPr id="17" name="Rounded Rectangle 16"/>
          <p:cNvSpPr/>
          <p:nvPr/>
        </p:nvSpPr>
        <p:spPr>
          <a:xfrm>
            <a:off x="8174736" y="2057400"/>
            <a:ext cx="3374136" cy="1737360"/>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74736" y="2057400"/>
            <a:ext cx="41148" cy="1737360"/>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7615" y="2221992"/>
            <a:ext cx="3008376"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1">
                <a:solidFill>
                  <a:srgbClr val="58D5CD"/>
                </a:solidFill>
                <a:latin typeface="Arial"/>
              </a:rPr>
              <a:t>REANALYZE</a:t>
            </a:r>
          </a:p>
        </p:txBody>
      </p:sp>
      <p:sp>
        <p:nvSpPr>
          <p:cNvPr id="20" name="TextBox 19"/>
          <p:cNvSpPr txBox="1"/>
          <p:nvPr/>
        </p:nvSpPr>
        <p:spPr>
          <a:xfrm>
            <a:off x="8357615" y="2761488"/>
            <a:ext cx="3008376" cy="914399"/>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F3F6FA"/>
                </a:solidFill>
                <a:latin typeface="Arial"/>
              </a:rPr>
              <a:t>Новый анализ</a:t>
            </a:r>
          </a:p>
          <a:p>
            <a:pPr algn="l">
              <a:lnSpc>
                <a:spcPct val="108000"/>
              </a:lnSpc>
              <a:spcBef>
                <a:spcPts val="0"/>
              </a:spcBef>
              <a:spcAft>
                <a:spcPts val="300"/>
              </a:spcAft>
            </a:pPr>
            <a:r>
              <a:rPr sz="2200" b="0">
                <a:solidFill>
                  <a:srgbClr val="F3F6FA"/>
                </a:solidFill>
                <a:latin typeface="Arial"/>
              </a:rPr>
              <a:t>объекта</a:t>
            </a:r>
          </a:p>
        </p:txBody>
      </p:sp>
      <p:sp>
        <p:nvSpPr>
          <p:cNvPr id="21" name="Rounded Rectangle 20"/>
          <p:cNvSpPr/>
          <p:nvPr/>
        </p:nvSpPr>
        <p:spPr>
          <a:xfrm>
            <a:off x="658368" y="4242816"/>
            <a:ext cx="10899648" cy="1097280"/>
          </a:xfrm>
          <a:prstGeom prst="roundRect">
            <a:avLst>
              <a:gd name="adj" fmla="val 12000"/>
            </a:avLst>
          </a:prstGeom>
          <a:solidFill>
            <a:srgbClr val="3E3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56" y="4425696"/>
            <a:ext cx="10378440" cy="72237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300" b="1">
                <a:solidFill>
                  <a:srgbClr val="FFB477"/>
                </a:solidFill>
                <a:latin typeface="Arial"/>
              </a:rPr>
              <a:t>VT предупреждает об анализе и включении запрошенных</a:t>
            </a:r>
          </a:p>
          <a:p>
            <a:pPr algn="l">
              <a:lnSpc>
                <a:spcPct val="108000"/>
              </a:lnSpc>
              <a:spcBef>
                <a:spcPts val="0"/>
              </a:spcBef>
              <a:spcAft>
                <a:spcPts val="300"/>
              </a:spcAft>
            </a:pPr>
            <a:r>
              <a:rPr sz="2300" b="1">
                <a:solidFill>
                  <a:srgbClr val="FFB477"/>
                </a:solidFill>
                <a:latin typeface="Arial"/>
              </a:rPr>
              <a:t>и переданных IoC в набор данных сообщества.</a:t>
            </a:r>
          </a:p>
        </p:txBody>
      </p:sp>
      <p:sp>
        <p:nvSpPr>
          <p:cNvPr id="23" name="TextBox 22"/>
          <p:cNvSpPr txBox="1"/>
          <p:nvPr/>
        </p:nvSpPr>
        <p:spPr>
          <a:xfrm>
            <a:off x="722376" y="5632704"/>
            <a:ext cx="10689336"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A6B8C9"/>
                </a:solidFill>
                <a:latin typeface="Arial"/>
              </a:rPr>
              <a:t>Приватные ссылки, токены и документы — в разрешённом контуре.</a:t>
            </a:r>
          </a:p>
        </p:txBody>
      </p:sp>
      <p:sp>
        <p:nvSpPr>
          <p:cNvPr id="24" name="TextBox 23">
            <a:hlinkClick r:id="rId2"/>
          </p:cNvPr>
          <p:cNvSpPr txBox="1"/>
          <p:nvPr/>
        </p:nvSpPr>
        <p:spPr>
          <a:xfrm>
            <a:off x="667512" y="6108192"/>
            <a:ext cx="1088136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A6B8C9"/>
                </a:solidFill>
                <a:latin typeface="Arial"/>
              </a:rPr>
              <a:t>VirusTotal · Searching  /  VirusTotal · Upload / disclosure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B29"/>
        </a:solidFill>
        <a:effectLst/>
      </p:bgPr>
    </p:bg>
    <p:spTree>
      <p:nvGrpSpPr>
        <p:cNvPr id="1" name=""/>
        <p:cNvGrpSpPr/>
        <p:nvPr/>
      </p:nvGrpSpPr>
      <p:grpSpPr/>
      <p:sp>
        <p:nvSpPr>
          <p:cNvPr id="2" name="Rectangle 1"/>
          <p:cNvSpPr/>
          <p:nvPr/>
        </p:nvSpPr>
        <p:spPr>
          <a:xfrm>
            <a:off x="621792" y="438912"/>
            <a:ext cx="73152" cy="173736"/>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32104" y="429768"/>
            <a:ext cx="10607040"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100" b="1">
                <a:solidFill>
                  <a:srgbClr val="A6B8C9"/>
                </a:solidFill>
                <a:latin typeface="Arial"/>
              </a:rPr>
              <a:t>07 · РАЗБОР ПУБЛИКАЦИИ</a:t>
            </a:r>
          </a:p>
        </p:txBody>
      </p:sp>
      <p:sp>
        <p:nvSpPr>
          <p:cNvPr id="4" name="TextBox 3"/>
          <p:cNvSpPr txBox="1"/>
          <p:nvPr/>
        </p:nvSpPr>
        <p:spPr>
          <a:xfrm>
            <a:off x="621792" y="886968"/>
            <a:ext cx="10972800" cy="8686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3600" b="1">
                <a:solidFill>
                  <a:srgbClr val="F3F6FA"/>
                </a:solidFill>
                <a:latin typeface="Arial"/>
              </a:rPr>
              <a:t>Одна пара — два вопроса</a:t>
            </a:r>
          </a:p>
        </p:txBody>
      </p:sp>
      <p:cxnSp>
        <p:nvCxnSpPr>
          <p:cNvPr id="5" name="Connector 4"/>
          <p:cNvCxnSpPr/>
          <p:nvPr/>
        </p:nvCxnSpPr>
        <p:spPr>
          <a:xfrm>
            <a:off x="640080" y="6419088"/>
            <a:ext cx="10927080" cy="0"/>
          </a:xfrm>
          <a:prstGeom prst="line">
            <a:avLst/>
          </a:prstGeom>
          <a:ln w="8890">
            <a:solidFill>
              <a:srgbClr val="2A3C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519672"/>
            <a:ext cx="621792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A6B8C9"/>
                </a:solidFill>
                <a:latin typeface="Arial"/>
              </a:rPr>
              <a:t>ЗАГУГЛИТЬ ПРОТИВНИКА · THREAT INTELLIGENCE</a:t>
            </a:r>
          </a:p>
        </p:txBody>
      </p:sp>
      <p:sp>
        <p:nvSpPr>
          <p:cNvPr id="7" name="TextBox 6"/>
          <p:cNvSpPr txBox="1"/>
          <p:nvPr/>
        </p:nvSpPr>
        <p:spPr>
          <a:xfrm>
            <a:off x="8503920" y="6483096"/>
            <a:ext cx="2423160" cy="228600"/>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000" b="0">
                <a:solidFill>
                  <a:srgbClr val="A6B8C9"/>
                </a:solidFill>
                <a:latin typeface="Arial"/>
              </a:rPr>
              <a:t>12:15–13:55</a:t>
            </a:r>
          </a:p>
        </p:txBody>
      </p:sp>
      <p:sp>
        <p:nvSpPr>
          <p:cNvPr id="8" name="TextBox 7"/>
          <p:cNvSpPr txBox="1"/>
          <p:nvPr/>
        </p:nvSpPr>
        <p:spPr>
          <a:xfrm>
            <a:off x="11100816" y="6469380"/>
            <a:ext cx="448056" cy="265176"/>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200" b="1">
                <a:solidFill>
                  <a:srgbClr val="A6B8C9"/>
                </a:solidFill>
                <a:latin typeface="Arial"/>
              </a:rPr>
              <a:t>08</a:t>
            </a:r>
          </a:p>
        </p:txBody>
      </p:sp>
      <p:sp>
        <p:nvSpPr>
          <p:cNvPr id="9" name="Rounded Rectangle 8"/>
          <p:cNvSpPr/>
          <p:nvPr/>
        </p:nvSpPr>
        <p:spPr>
          <a:xfrm>
            <a:off x="685800" y="1947672"/>
            <a:ext cx="3675887" cy="320040"/>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88819"/>
            <a:ext cx="3493007" cy="21945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000" b="1">
                <a:solidFill>
                  <a:srgbClr val="CDF276"/>
                </a:solidFill>
                <a:latin typeface="Arial"/>
              </a:rPr>
              <a:t>SYGNIA · ИСТОРИЧЕСКИЙ ОБЪЕКТ · 2022</a:t>
            </a:r>
          </a:p>
        </p:txBody>
      </p:sp>
      <p:sp>
        <p:nvSpPr>
          <p:cNvPr id="11" name="Rounded Rectangle 10"/>
          <p:cNvSpPr/>
          <p:nvPr/>
        </p:nvSpPr>
        <p:spPr>
          <a:xfrm>
            <a:off x="658368" y="2542032"/>
            <a:ext cx="4754880" cy="694944"/>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697480"/>
            <a:ext cx="4297680" cy="45720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900" b="1">
                <a:solidFill>
                  <a:srgbClr val="F3F6FA"/>
                </a:solidFill>
                <a:latin typeface="Courier New"/>
              </a:rPr>
              <a:t>maaays[.]xyz</a:t>
            </a:r>
          </a:p>
        </p:txBody>
      </p:sp>
      <p:sp>
        <p:nvSpPr>
          <p:cNvPr id="13" name="TextBox 12"/>
          <p:cNvSpPr txBox="1"/>
          <p:nvPr/>
        </p:nvSpPr>
        <p:spPr>
          <a:xfrm>
            <a:off x="5559552" y="2633472"/>
            <a:ext cx="685800" cy="521207"/>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3500" b="1">
                <a:solidFill>
                  <a:srgbClr val="58D5CD"/>
                </a:solidFill>
                <a:latin typeface="Arial"/>
              </a:rPr>
              <a:t>↔</a:t>
            </a:r>
          </a:p>
        </p:txBody>
      </p:sp>
      <p:sp>
        <p:nvSpPr>
          <p:cNvPr id="14" name="Rounded Rectangle 13"/>
          <p:cNvSpPr/>
          <p:nvPr/>
        </p:nvSpPr>
        <p:spPr>
          <a:xfrm>
            <a:off x="6419088" y="2542032"/>
            <a:ext cx="5129784" cy="694944"/>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0256" y="2697480"/>
            <a:ext cx="4718304" cy="45720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700" b="1">
                <a:solidFill>
                  <a:srgbClr val="F3F6FA"/>
                </a:solidFill>
                <a:latin typeface="Courier New"/>
              </a:rPr>
              <a:t>192[.]236[.]194[.]2</a:t>
            </a:r>
          </a:p>
        </p:txBody>
      </p:sp>
      <p:sp>
        <p:nvSpPr>
          <p:cNvPr id="16" name="TextBox 15"/>
          <p:cNvSpPr txBox="1"/>
          <p:nvPr/>
        </p:nvSpPr>
        <p:spPr>
          <a:xfrm>
            <a:off x="704088" y="3456432"/>
            <a:ext cx="10744200" cy="338328"/>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A6B8C9"/>
                </a:solidFill>
                <a:latin typeface="Arial"/>
              </a:rPr>
              <a:t>Роль в таблице: Exfiltration Server — сервер для выноса данных.</a:t>
            </a:r>
          </a:p>
        </p:txBody>
      </p:sp>
      <p:sp>
        <p:nvSpPr>
          <p:cNvPr id="17" name="Rounded Rectangle 16"/>
          <p:cNvSpPr/>
          <p:nvPr/>
        </p:nvSpPr>
        <p:spPr>
          <a:xfrm>
            <a:off x="667512" y="4014215"/>
            <a:ext cx="5230368" cy="1472184"/>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7512" y="4014215"/>
            <a:ext cx="41148" cy="1472184"/>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178807"/>
            <a:ext cx="4864607"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1">
                <a:solidFill>
                  <a:srgbClr val="58D5CD"/>
                </a:solidFill>
                <a:latin typeface="Arial"/>
              </a:rPr>
              <a:t>ABUSEIPDB</a:t>
            </a:r>
          </a:p>
        </p:txBody>
      </p:sp>
      <p:sp>
        <p:nvSpPr>
          <p:cNvPr id="20" name="TextBox 19"/>
          <p:cNvSpPr txBox="1"/>
          <p:nvPr/>
        </p:nvSpPr>
        <p:spPr>
          <a:xfrm>
            <a:off x="850392" y="4718304"/>
            <a:ext cx="4864607" cy="64922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100" b="0">
                <a:solidFill>
                  <a:srgbClr val="F3F6FA"/>
                </a:solidFill>
                <a:latin typeface="Arial"/>
              </a:rPr>
              <a:t>Что сообщали об IP — и когда?</a:t>
            </a:r>
          </a:p>
        </p:txBody>
      </p:sp>
      <p:sp>
        <p:nvSpPr>
          <p:cNvPr id="21" name="Rounded Rectangle 20"/>
          <p:cNvSpPr/>
          <p:nvPr/>
        </p:nvSpPr>
        <p:spPr>
          <a:xfrm>
            <a:off x="6281928" y="4014215"/>
            <a:ext cx="5257800" cy="1472184"/>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1928" y="4014215"/>
            <a:ext cx="41148" cy="1472184"/>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4808" y="4178807"/>
            <a:ext cx="4892040"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1">
                <a:solidFill>
                  <a:srgbClr val="58D5CD"/>
                </a:solidFill>
                <a:latin typeface="Arial"/>
              </a:rPr>
              <a:t>VIRUSTOTAL</a:t>
            </a:r>
          </a:p>
        </p:txBody>
      </p:sp>
      <p:sp>
        <p:nvSpPr>
          <p:cNvPr id="24" name="TextBox 23"/>
          <p:cNvSpPr txBox="1"/>
          <p:nvPr/>
        </p:nvSpPr>
        <p:spPr>
          <a:xfrm>
            <a:off x="6464808" y="4718304"/>
            <a:ext cx="4892040" cy="64922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100" b="0">
                <a:solidFill>
                  <a:srgbClr val="F3F6FA"/>
                </a:solidFill>
                <a:latin typeface="Arial"/>
              </a:rPr>
              <a:t>Что известно о домене</a:t>
            </a:r>
          </a:p>
          <a:p>
            <a:pPr algn="l">
              <a:lnSpc>
                <a:spcPct val="108000"/>
              </a:lnSpc>
              <a:spcBef>
                <a:spcPts val="0"/>
              </a:spcBef>
              <a:spcAft>
                <a:spcPts val="300"/>
              </a:spcAft>
            </a:pPr>
            <a:r>
              <a:rPr sz="2100" b="0">
                <a:solidFill>
                  <a:srgbClr val="F3F6FA"/>
                </a:solidFill>
                <a:latin typeface="Arial"/>
              </a:rPr>
              <a:t>и датах связей?</a:t>
            </a:r>
          </a:p>
        </p:txBody>
      </p:sp>
      <p:sp>
        <p:nvSpPr>
          <p:cNvPr id="25" name="TextBox 24"/>
          <p:cNvSpPr txBox="1"/>
          <p:nvPr/>
        </p:nvSpPr>
        <p:spPr>
          <a:xfrm>
            <a:off x="731520" y="5687568"/>
            <a:ext cx="10689336" cy="347472"/>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FFB477"/>
                </a:solidFill>
                <a:latin typeface="Arial"/>
              </a:rPr>
              <a:t>Текущих оценок нет. К учебному компьютеру эта пара не привязана.</a:t>
            </a:r>
          </a:p>
        </p:txBody>
      </p:sp>
      <p:sp>
        <p:nvSpPr>
          <p:cNvPr id="26" name="TextBox 25">
            <a:hlinkClick r:id="rId2"/>
          </p:cNvPr>
          <p:cNvSpPr txBox="1"/>
          <p:nvPr/>
        </p:nvSpPr>
        <p:spPr>
          <a:xfrm>
            <a:off x="667512" y="6108192"/>
            <a:ext cx="1088136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A6B8C9"/>
                </a:solidFill>
                <a:latin typeface="Arial"/>
              </a:rPr>
              <a:t>Sygnia · Luna Moth · 2022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B29"/>
        </a:solidFill>
        <a:effectLst/>
      </p:bgPr>
    </p:bg>
    <p:spTree>
      <p:nvGrpSpPr>
        <p:cNvPr id="1" name=""/>
        <p:cNvGrpSpPr/>
        <p:nvPr/>
      </p:nvGrpSpPr>
      <p:grpSpPr/>
      <p:sp>
        <p:nvSpPr>
          <p:cNvPr id="2" name="Rectangle 1"/>
          <p:cNvSpPr/>
          <p:nvPr/>
        </p:nvSpPr>
        <p:spPr>
          <a:xfrm>
            <a:off x="621792" y="438912"/>
            <a:ext cx="73152" cy="173736"/>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32104" y="429768"/>
            <a:ext cx="10607040"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100" b="1">
                <a:solidFill>
                  <a:srgbClr val="A6B8C9"/>
                </a:solidFill>
                <a:latin typeface="Arial"/>
              </a:rPr>
              <a:t>08 · РЕАЛЬНЫЙ КЕЙС</a:t>
            </a:r>
          </a:p>
        </p:txBody>
      </p:sp>
      <p:sp>
        <p:nvSpPr>
          <p:cNvPr id="4" name="TextBox 3"/>
          <p:cNvSpPr txBox="1"/>
          <p:nvPr/>
        </p:nvSpPr>
        <p:spPr>
          <a:xfrm>
            <a:off x="621792" y="886968"/>
            <a:ext cx="10972800" cy="8686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3600" b="1">
                <a:solidFill>
                  <a:srgbClr val="F3F6FA"/>
                </a:solidFill>
                <a:latin typeface="Arial"/>
              </a:rPr>
              <a:t>Luna Moth: цепочка обмана</a:t>
            </a:r>
          </a:p>
        </p:txBody>
      </p:sp>
      <p:cxnSp>
        <p:nvCxnSpPr>
          <p:cNvPr id="5" name="Connector 4"/>
          <p:cNvCxnSpPr/>
          <p:nvPr/>
        </p:nvCxnSpPr>
        <p:spPr>
          <a:xfrm>
            <a:off x="640080" y="6419088"/>
            <a:ext cx="10927080" cy="0"/>
          </a:xfrm>
          <a:prstGeom prst="line">
            <a:avLst/>
          </a:prstGeom>
          <a:ln w="8890">
            <a:solidFill>
              <a:srgbClr val="2A3C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519672"/>
            <a:ext cx="621792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A6B8C9"/>
                </a:solidFill>
                <a:latin typeface="Arial"/>
              </a:rPr>
              <a:t>ЗАГУГЛИТЬ ПРОТИВНИКА · THREAT INTELLIGENCE</a:t>
            </a:r>
          </a:p>
        </p:txBody>
      </p:sp>
      <p:sp>
        <p:nvSpPr>
          <p:cNvPr id="7" name="TextBox 6"/>
          <p:cNvSpPr txBox="1"/>
          <p:nvPr/>
        </p:nvSpPr>
        <p:spPr>
          <a:xfrm>
            <a:off x="8503920" y="6483096"/>
            <a:ext cx="2423160" cy="228600"/>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000" b="0">
                <a:solidFill>
                  <a:srgbClr val="A6B8C9"/>
                </a:solidFill>
                <a:latin typeface="Arial"/>
              </a:rPr>
              <a:t>13:55–15:50</a:t>
            </a:r>
          </a:p>
        </p:txBody>
      </p:sp>
      <p:sp>
        <p:nvSpPr>
          <p:cNvPr id="8" name="TextBox 7"/>
          <p:cNvSpPr txBox="1"/>
          <p:nvPr/>
        </p:nvSpPr>
        <p:spPr>
          <a:xfrm>
            <a:off x="11100816" y="6469380"/>
            <a:ext cx="448056" cy="265176"/>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200" b="1">
                <a:solidFill>
                  <a:srgbClr val="A6B8C9"/>
                </a:solidFill>
                <a:latin typeface="Arial"/>
              </a:rPr>
              <a:t>09</a:t>
            </a:r>
          </a:p>
        </p:txBody>
      </p:sp>
      <p:sp>
        <p:nvSpPr>
          <p:cNvPr id="9" name="Rounded Rectangle 8"/>
          <p:cNvSpPr/>
          <p:nvPr/>
        </p:nvSpPr>
        <p:spPr>
          <a:xfrm>
            <a:off x="704088" y="1874519"/>
            <a:ext cx="3236976" cy="320040"/>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915667"/>
            <a:ext cx="3054096" cy="21945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000" b="1">
                <a:solidFill>
                  <a:srgbClr val="CDF276"/>
                </a:solidFill>
                <a:latin typeface="Arial"/>
              </a:rPr>
              <a:t>ЦЕПОЧКА ПО SYGNIA · 2022</a:t>
            </a:r>
          </a:p>
        </p:txBody>
      </p:sp>
      <p:sp>
        <p:nvSpPr>
          <p:cNvPr id="11" name="Oval 10"/>
          <p:cNvSpPr/>
          <p:nvPr/>
        </p:nvSpPr>
        <p:spPr>
          <a:xfrm>
            <a:off x="1243584" y="2313432"/>
            <a:ext cx="676656" cy="676656"/>
          </a:xfrm>
          <a:prstGeom prst="ellipse">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35024" y="2487168"/>
            <a:ext cx="493776" cy="292608"/>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700" b="1">
                <a:solidFill>
                  <a:srgbClr val="142234"/>
                </a:solidFill>
                <a:latin typeface="Arial"/>
              </a:rPr>
              <a:t>1</a:t>
            </a:r>
          </a:p>
        </p:txBody>
      </p:sp>
      <p:sp>
        <p:nvSpPr>
          <p:cNvPr id="13" name="Chevron 12"/>
          <p:cNvSpPr/>
          <p:nvPr/>
        </p:nvSpPr>
        <p:spPr>
          <a:xfrm>
            <a:off x="2368296" y="2560320"/>
            <a:ext cx="274320" cy="246888"/>
          </a:xfrm>
          <a:prstGeom prst="chevron">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3255264"/>
            <a:ext cx="1965960" cy="594360"/>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800" b="1">
                <a:solidFill>
                  <a:srgbClr val="F3F6FA"/>
                </a:solidFill>
                <a:latin typeface="Arial"/>
              </a:rPr>
              <a:t>Счёт</a:t>
            </a:r>
          </a:p>
        </p:txBody>
      </p:sp>
      <p:sp>
        <p:nvSpPr>
          <p:cNvPr id="15" name="TextBox 14"/>
          <p:cNvSpPr txBox="1"/>
          <p:nvPr/>
        </p:nvSpPr>
        <p:spPr>
          <a:xfrm>
            <a:off x="667512" y="3986784"/>
            <a:ext cx="1965960" cy="685800"/>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700" b="0">
                <a:solidFill>
                  <a:srgbClr val="A6B8C9"/>
                </a:solidFill>
                <a:latin typeface="Arial"/>
              </a:rPr>
              <a:t>PDF о подписке</a:t>
            </a:r>
          </a:p>
        </p:txBody>
      </p:sp>
      <p:sp>
        <p:nvSpPr>
          <p:cNvPr id="16" name="Oval 15"/>
          <p:cNvSpPr/>
          <p:nvPr/>
        </p:nvSpPr>
        <p:spPr>
          <a:xfrm>
            <a:off x="3465576" y="2313432"/>
            <a:ext cx="676656" cy="676656"/>
          </a:xfrm>
          <a:prstGeom prst="ellipse">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7016" y="2487168"/>
            <a:ext cx="493776" cy="292608"/>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700" b="1">
                <a:solidFill>
                  <a:srgbClr val="142234"/>
                </a:solidFill>
                <a:latin typeface="Arial"/>
              </a:rPr>
              <a:t>2</a:t>
            </a:r>
          </a:p>
        </p:txBody>
      </p:sp>
      <p:sp>
        <p:nvSpPr>
          <p:cNvPr id="18" name="Chevron 17"/>
          <p:cNvSpPr/>
          <p:nvPr/>
        </p:nvSpPr>
        <p:spPr>
          <a:xfrm>
            <a:off x="4590288" y="2560320"/>
            <a:ext cx="274320" cy="246888"/>
          </a:xfrm>
          <a:prstGeom prst="chevron">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89504" y="3255264"/>
            <a:ext cx="1965960" cy="594360"/>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800" b="1">
                <a:solidFill>
                  <a:srgbClr val="F3F6FA"/>
                </a:solidFill>
                <a:latin typeface="Arial"/>
              </a:rPr>
              <a:t>Звонок</a:t>
            </a:r>
          </a:p>
        </p:txBody>
      </p:sp>
      <p:sp>
        <p:nvSpPr>
          <p:cNvPr id="20" name="TextBox 19"/>
          <p:cNvSpPr txBox="1"/>
          <p:nvPr/>
        </p:nvSpPr>
        <p:spPr>
          <a:xfrm>
            <a:off x="2889504" y="3986784"/>
            <a:ext cx="1965960" cy="685800"/>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700" b="0">
                <a:solidFill>
                  <a:srgbClr val="A6B8C9"/>
                </a:solidFill>
                <a:latin typeface="Arial"/>
              </a:rPr>
              <a:t>Жертва звонит сама</a:t>
            </a:r>
          </a:p>
        </p:txBody>
      </p:sp>
      <p:sp>
        <p:nvSpPr>
          <p:cNvPr id="21" name="Oval 20"/>
          <p:cNvSpPr/>
          <p:nvPr/>
        </p:nvSpPr>
        <p:spPr>
          <a:xfrm>
            <a:off x="5687568" y="2313432"/>
            <a:ext cx="676656" cy="676656"/>
          </a:xfrm>
          <a:prstGeom prst="ellipse">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79008" y="2487168"/>
            <a:ext cx="493776" cy="292608"/>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700" b="1">
                <a:solidFill>
                  <a:srgbClr val="142234"/>
                </a:solidFill>
                <a:latin typeface="Arial"/>
              </a:rPr>
              <a:t>3</a:t>
            </a:r>
          </a:p>
        </p:txBody>
      </p:sp>
      <p:sp>
        <p:nvSpPr>
          <p:cNvPr id="23" name="Chevron 22"/>
          <p:cNvSpPr/>
          <p:nvPr/>
        </p:nvSpPr>
        <p:spPr>
          <a:xfrm>
            <a:off x="6812280" y="2560320"/>
            <a:ext cx="274320" cy="246888"/>
          </a:xfrm>
          <a:prstGeom prst="chevron">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11496" y="3255264"/>
            <a:ext cx="1965960" cy="594360"/>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800" b="1">
                <a:solidFill>
                  <a:srgbClr val="F3F6FA"/>
                </a:solidFill>
                <a:latin typeface="Arial"/>
              </a:rPr>
              <a:t>Поддержка</a:t>
            </a:r>
          </a:p>
        </p:txBody>
      </p:sp>
      <p:sp>
        <p:nvSpPr>
          <p:cNvPr id="25" name="TextBox 24"/>
          <p:cNvSpPr txBox="1"/>
          <p:nvPr/>
        </p:nvSpPr>
        <p:spPr>
          <a:xfrm>
            <a:off x="5111496" y="3986784"/>
            <a:ext cx="1965960" cy="685800"/>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700" b="0">
                <a:solidFill>
                  <a:srgbClr val="A6B8C9"/>
                </a:solidFill>
                <a:latin typeface="Arial"/>
              </a:rPr>
              <a:t>Zoho Assist</a:t>
            </a:r>
          </a:p>
        </p:txBody>
      </p:sp>
      <p:sp>
        <p:nvSpPr>
          <p:cNvPr id="26" name="Oval 25"/>
          <p:cNvSpPr/>
          <p:nvPr/>
        </p:nvSpPr>
        <p:spPr>
          <a:xfrm>
            <a:off x="7909560" y="2313432"/>
            <a:ext cx="676656" cy="676656"/>
          </a:xfrm>
          <a:prstGeom prst="ellipse">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01000" y="2487168"/>
            <a:ext cx="493776" cy="292608"/>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700" b="1">
                <a:solidFill>
                  <a:srgbClr val="142234"/>
                </a:solidFill>
                <a:latin typeface="Arial"/>
              </a:rPr>
              <a:t>4</a:t>
            </a:r>
          </a:p>
        </p:txBody>
      </p:sp>
      <p:sp>
        <p:nvSpPr>
          <p:cNvPr id="28" name="Chevron 27"/>
          <p:cNvSpPr/>
          <p:nvPr/>
        </p:nvSpPr>
        <p:spPr>
          <a:xfrm>
            <a:off x="9034272" y="2560320"/>
            <a:ext cx="274320" cy="246888"/>
          </a:xfrm>
          <a:prstGeom prst="chevron">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33488" y="3255264"/>
            <a:ext cx="1965960" cy="594360"/>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800" b="1">
                <a:solidFill>
                  <a:srgbClr val="F3F6FA"/>
                </a:solidFill>
                <a:latin typeface="Arial"/>
              </a:rPr>
              <a:t>Управление</a:t>
            </a:r>
          </a:p>
        </p:txBody>
      </p:sp>
      <p:sp>
        <p:nvSpPr>
          <p:cNvPr id="30" name="TextBox 29"/>
          <p:cNvSpPr txBox="1"/>
          <p:nvPr/>
        </p:nvSpPr>
        <p:spPr>
          <a:xfrm>
            <a:off x="7333488" y="3986784"/>
            <a:ext cx="1965960" cy="685800"/>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700" b="0">
                <a:solidFill>
                  <a:srgbClr val="A6B8C9"/>
                </a:solidFill>
                <a:latin typeface="Arial"/>
              </a:rPr>
              <a:t>Atera</a:t>
            </a:r>
          </a:p>
        </p:txBody>
      </p:sp>
      <p:sp>
        <p:nvSpPr>
          <p:cNvPr id="31" name="Oval 30"/>
          <p:cNvSpPr/>
          <p:nvPr/>
        </p:nvSpPr>
        <p:spPr>
          <a:xfrm>
            <a:off x="10131552" y="2313432"/>
            <a:ext cx="676656" cy="676656"/>
          </a:xfrm>
          <a:prstGeom prst="ellipse">
            <a:avLst/>
          </a:prstGeom>
          <a:solidFill>
            <a:srgbClr val="FFB4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22992" y="2487168"/>
            <a:ext cx="493776" cy="292608"/>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700" b="1">
                <a:solidFill>
                  <a:srgbClr val="142234"/>
                </a:solidFill>
                <a:latin typeface="Arial"/>
              </a:rPr>
              <a:t>5</a:t>
            </a:r>
          </a:p>
        </p:txBody>
      </p:sp>
      <p:sp>
        <p:nvSpPr>
          <p:cNvPr id="33" name="TextBox 32"/>
          <p:cNvSpPr txBox="1"/>
          <p:nvPr/>
        </p:nvSpPr>
        <p:spPr>
          <a:xfrm>
            <a:off x="9555480" y="3255264"/>
            <a:ext cx="1965960" cy="594360"/>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800" b="1">
                <a:solidFill>
                  <a:srgbClr val="F3F6FA"/>
                </a:solidFill>
                <a:latin typeface="Arial"/>
              </a:rPr>
              <a:t>Вынос данных</a:t>
            </a:r>
          </a:p>
        </p:txBody>
      </p:sp>
      <p:sp>
        <p:nvSpPr>
          <p:cNvPr id="34" name="TextBox 33"/>
          <p:cNvSpPr txBox="1"/>
          <p:nvPr/>
        </p:nvSpPr>
        <p:spPr>
          <a:xfrm>
            <a:off x="9555480" y="3986784"/>
            <a:ext cx="1965960" cy="685800"/>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700" b="0">
                <a:solidFill>
                  <a:srgbClr val="A6B8C9"/>
                </a:solidFill>
                <a:latin typeface="Arial"/>
              </a:rPr>
              <a:t>Rclone</a:t>
            </a:r>
          </a:p>
        </p:txBody>
      </p:sp>
      <p:sp>
        <p:nvSpPr>
          <p:cNvPr id="35" name="TextBox 34"/>
          <p:cNvSpPr txBox="1"/>
          <p:nvPr/>
        </p:nvSpPr>
        <p:spPr>
          <a:xfrm>
            <a:off x="731520" y="5074920"/>
            <a:ext cx="10689336" cy="429768"/>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700" b="1">
                <a:solidFill>
                  <a:srgbClr val="CDF276"/>
                </a:solidFill>
                <a:latin typeface="Arial"/>
              </a:rPr>
              <a:t>Знакомый инструмент. Посторонний оператор.</a:t>
            </a:r>
          </a:p>
        </p:txBody>
      </p:sp>
      <p:sp>
        <p:nvSpPr>
          <p:cNvPr id="36" name="TextBox 35"/>
          <p:cNvSpPr txBox="1"/>
          <p:nvPr/>
        </p:nvSpPr>
        <p:spPr>
          <a:xfrm>
            <a:off x="731520" y="5605272"/>
            <a:ext cx="10744200"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0">
                <a:solidFill>
                  <a:srgbClr val="A6B8C9"/>
                </a:solidFill>
                <a:latin typeface="Arial"/>
              </a:rPr>
              <a:t>Кампания Unit 42: хищение и вымогательство без шифрования.</a:t>
            </a:r>
          </a:p>
        </p:txBody>
      </p:sp>
      <p:sp>
        <p:nvSpPr>
          <p:cNvPr id="37" name="TextBox 36">
            <a:hlinkClick r:id="rId2"/>
          </p:cNvPr>
          <p:cNvSpPr txBox="1"/>
          <p:nvPr/>
        </p:nvSpPr>
        <p:spPr>
          <a:xfrm>
            <a:off x="667512" y="6108192"/>
            <a:ext cx="1088136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A6B8C9"/>
                </a:solidFill>
                <a:latin typeface="Arial"/>
              </a:rPr>
              <a:t>Sygnia · Luna Moth · 2022  /  Unit 42 · Callback Phishing · 2022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621792" y="438912"/>
            <a:ext cx="73152" cy="173736"/>
          </a:xfrm>
          <a:prstGeom prst="rect">
            <a:avLst/>
          </a:prstGeom>
          <a:solidFill>
            <a:srgbClr val="1886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32104" y="429768"/>
            <a:ext cx="10607040"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100" b="1">
                <a:solidFill>
                  <a:srgbClr val="526778"/>
                </a:solidFill>
                <a:latin typeface="Arial"/>
              </a:rPr>
              <a:t>09 · ПЕРЕХОД К КОНТЕКСТУ</a:t>
            </a:r>
          </a:p>
        </p:txBody>
      </p:sp>
      <p:sp>
        <p:nvSpPr>
          <p:cNvPr id="4" name="TextBox 3"/>
          <p:cNvSpPr txBox="1"/>
          <p:nvPr/>
        </p:nvSpPr>
        <p:spPr>
          <a:xfrm>
            <a:off x="621792" y="886968"/>
            <a:ext cx="10972800" cy="8686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3600" b="1">
                <a:solidFill>
                  <a:srgbClr val="142234"/>
                </a:solidFill>
                <a:latin typeface="Arial"/>
              </a:rPr>
              <a:t>У связи есть время и основание</a:t>
            </a:r>
          </a:p>
        </p:txBody>
      </p:sp>
      <p:cxnSp>
        <p:nvCxnSpPr>
          <p:cNvPr id="5" name="Connector 4"/>
          <p:cNvCxnSpPr/>
          <p:nvPr/>
        </p:nvCxnSpPr>
        <p:spPr>
          <a:xfrm>
            <a:off x="640080" y="6419088"/>
            <a:ext cx="10927080" cy="0"/>
          </a:xfrm>
          <a:prstGeom prst="line">
            <a:avLst/>
          </a:prstGeom>
          <a:ln w="8890">
            <a:solidFill>
              <a:srgbClr val="DAE2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519672"/>
            <a:ext cx="621792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526778"/>
                </a:solidFill>
                <a:latin typeface="Arial"/>
              </a:rPr>
              <a:t>ЗАГУГЛИТЬ ПРОТИВНИКА · THREAT INTELLIGENCE</a:t>
            </a:r>
          </a:p>
        </p:txBody>
      </p:sp>
      <p:sp>
        <p:nvSpPr>
          <p:cNvPr id="7" name="TextBox 6"/>
          <p:cNvSpPr txBox="1"/>
          <p:nvPr/>
        </p:nvSpPr>
        <p:spPr>
          <a:xfrm>
            <a:off x="8503920" y="6483096"/>
            <a:ext cx="2423160" cy="228600"/>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000" b="0">
                <a:solidFill>
                  <a:srgbClr val="526778"/>
                </a:solidFill>
                <a:latin typeface="Arial"/>
              </a:rPr>
              <a:t>15:50–17:30</a:t>
            </a:r>
          </a:p>
        </p:txBody>
      </p:sp>
      <p:sp>
        <p:nvSpPr>
          <p:cNvPr id="8" name="TextBox 7"/>
          <p:cNvSpPr txBox="1"/>
          <p:nvPr/>
        </p:nvSpPr>
        <p:spPr>
          <a:xfrm>
            <a:off x="11100816" y="6469380"/>
            <a:ext cx="448056" cy="265176"/>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200" b="1">
                <a:solidFill>
                  <a:srgbClr val="526778"/>
                </a:solidFill>
                <a:latin typeface="Arial"/>
              </a:rPr>
              <a:t>10</a:t>
            </a:r>
          </a:p>
        </p:txBody>
      </p:sp>
      <p:sp>
        <p:nvSpPr>
          <p:cNvPr id="9" name="TextBox 8"/>
          <p:cNvSpPr txBox="1"/>
          <p:nvPr/>
        </p:nvSpPr>
        <p:spPr>
          <a:xfrm>
            <a:off x="694944" y="1947672"/>
            <a:ext cx="3310128" cy="384048"/>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1">
                <a:solidFill>
                  <a:srgbClr val="18867E"/>
                </a:solidFill>
                <a:latin typeface="Arial"/>
              </a:rPr>
              <a:t>Источник</a:t>
            </a:r>
          </a:p>
        </p:txBody>
      </p:sp>
      <p:sp>
        <p:nvSpPr>
          <p:cNvPr id="10" name="TextBox 9"/>
          <p:cNvSpPr txBox="1"/>
          <p:nvPr/>
        </p:nvSpPr>
        <p:spPr>
          <a:xfrm>
            <a:off x="694944" y="2450592"/>
            <a:ext cx="3300984" cy="4114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142234"/>
                </a:solidFill>
                <a:latin typeface="Arial"/>
              </a:rPr>
              <a:t>Откуда связь?</a:t>
            </a:r>
          </a:p>
        </p:txBody>
      </p:sp>
      <p:sp>
        <p:nvSpPr>
          <p:cNvPr id="11" name="TextBox 10"/>
          <p:cNvSpPr txBox="1"/>
          <p:nvPr/>
        </p:nvSpPr>
        <p:spPr>
          <a:xfrm>
            <a:off x="4407407" y="1947672"/>
            <a:ext cx="3310128" cy="384048"/>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1">
                <a:solidFill>
                  <a:srgbClr val="18867E"/>
                </a:solidFill>
                <a:latin typeface="Arial"/>
              </a:rPr>
              <a:t>Время</a:t>
            </a:r>
          </a:p>
        </p:txBody>
      </p:sp>
      <p:sp>
        <p:nvSpPr>
          <p:cNvPr id="12" name="TextBox 11"/>
          <p:cNvSpPr txBox="1"/>
          <p:nvPr/>
        </p:nvSpPr>
        <p:spPr>
          <a:xfrm>
            <a:off x="4407407" y="2450592"/>
            <a:ext cx="3300984" cy="4114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142234"/>
                </a:solidFill>
                <a:latin typeface="Arial"/>
              </a:rPr>
              <a:t>Когда наблюдали?</a:t>
            </a:r>
          </a:p>
        </p:txBody>
      </p:sp>
      <p:sp>
        <p:nvSpPr>
          <p:cNvPr id="13" name="TextBox 12"/>
          <p:cNvSpPr txBox="1"/>
          <p:nvPr/>
        </p:nvSpPr>
        <p:spPr>
          <a:xfrm>
            <a:off x="8119871" y="1947672"/>
            <a:ext cx="3310128" cy="384048"/>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1">
                <a:solidFill>
                  <a:srgbClr val="18867E"/>
                </a:solidFill>
                <a:latin typeface="Arial"/>
              </a:rPr>
              <a:t>Характер</a:t>
            </a:r>
          </a:p>
        </p:txBody>
      </p:sp>
      <p:sp>
        <p:nvSpPr>
          <p:cNvPr id="14" name="TextBox 13"/>
          <p:cNvSpPr txBox="1"/>
          <p:nvPr/>
        </p:nvSpPr>
        <p:spPr>
          <a:xfrm>
            <a:off x="8119871" y="2450592"/>
            <a:ext cx="3300984" cy="4114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142234"/>
                </a:solidFill>
                <a:latin typeface="Arial"/>
              </a:rPr>
              <a:t>Что связывает объекты?</a:t>
            </a:r>
          </a:p>
        </p:txBody>
      </p:sp>
      <p:cxnSp>
        <p:nvCxnSpPr>
          <p:cNvPr id="15" name="Connector 14"/>
          <p:cNvCxnSpPr/>
          <p:nvPr/>
        </p:nvCxnSpPr>
        <p:spPr>
          <a:xfrm>
            <a:off x="2880360" y="3767328"/>
            <a:ext cx="2798064" cy="0"/>
          </a:xfrm>
          <a:prstGeom prst="line">
            <a:avLst/>
          </a:prstGeom>
          <a:ln w="25400">
            <a:solidFill>
              <a:srgbClr val="7795A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5870448" y="3246120"/>
            <a:ext cx="2834640" cy="521208"/>
          </a:xfrm>
          <a:prstGeom prst="line">
            <a:avLst/>
          </a:prstGeom>
          <a:ln w="19050">
            <a:solidFill>
              <a:srgbClr val="7795A9"/>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870448" y="3767328"/>
            <a:ext cx="2834640" cy="54863"/>
          </a:xfrm>
          <a:prstGeom prst="line">
            <a:avLst/>
          </a:prstGeom>
          <a:ln w="19050">
            <a:solidFill>
              <a:srgbClr val="7795A9"/>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870448" y="3767328"/>
            <a:ext cx="2834640" cy="630936"/>
          </a:xfrm>
          <a:prstGeom prst="line">
            <a:avLst/>
          </a:prstGeom>
          <a:ln w="19050">
            <a:solidFill>
              <a:srgbClr val="7795A9"/>
            </a:solidFill>
            <a:prstDash val="dash"/>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2104" y="3374136"/>
            <a:ext cx="2450592" cy="786384"/>
          </a:xfrm>
          <a:prstGeom prst="roundRect">
            <a:avLst>
              <a:gd name="adj" fmla="val 12000"/>
            </a:avLst>
          </a:prstGeom>
          <a:solidFill>
            <a:srgbClr val="FFFFFF"/>
          </a:solidFill>
          <a:ln w="10160">
            <a:solidFill>
              <a:srgbClr val="DA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9848" y="3611880"/>
            <a:ext cx="1975104" cy="37490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1">
                <a:solidFill>
                  <a:srgbClr val="142234"/>
                </a:solidFill>
                <a:latin typeface="Arial"/>
              </a:rPr>
              <a:t>Домен A</a:t>
            </a:r>
          </a:p>
        </p:txBody>
      </p:sp>
      <p:sp>
        <p:nvSpPr>
          <p:cNvPr id="21" name="Rounded Rectangle 20"/>
          <p:cNvSpPr/>
          <p:nvPr/>
        </p:nvSpPr>
        <p:spPr>
          <a:xfrm>
            <a:off x="4379976" y="3319272"/>
            <a:ext cx="2734056" cy="932688"/>
          </a:xfrm>
          <a:prstGeom prst="roundRect">
            <a:avLst>
              <a:gd name="adj" fmla="val 12000"/>
            </a:avLst>
          </a:prstGeom>
          <a:solidFill>
            <a:srgbClr val="14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45152" y="3493008"/>
            <a:ext cx="2212848" cy="603504"/>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900" b="1">
                <a:solidFill>
                  <a:srgbClr val="F3F6FA"/>
                </a:solidFill>
                <a:latin typeface="Arial"/>
              </a:rPr>
              <a:t>Общий IP</a:t>
            </a:r>
          </a:p>
          <a:p>
            <a:pPr algn="ctr">
              <a:lnSpc>
                <a:spcPct val="108000"/>
              </a:lnSpc>
              <a:spcBef>
                <a:spcPts val="0"/>
              </a:spcBef>
              <a:spcAft>
                <a:spcPts val="300"/>
              </a:spcAft>
            </a:pPr>
            <a:r>
              <a:rPr sz="1900" b="1">
                <a:solidFill>
                  <a:srgbClr val="F3F6FA"/>
                </a:solidFill>
                <a:latin typeface="Arial"/>
              </a:rPr>
              <a:t>разные клиенты</a:t>
            </a:r>
          </a:p>
        </p:txBody>
      </p:sp>
      <p:sp>
        <p:nvSpPr>
          <p:cNvPr id="23" name="Rounded Rectangle 22"/>
          <p:cNvSpPr/>
          <p:nvPr/>
        </p:nvSpPr>
        <p:spPr>
          <a:xfrm>
            <a:off x="8668512" y="3008376"/>
            <a:ext cx="2715768" cy="457200"/>
          </a:xfrm>
          <a:prstGeom prst="roundRect">
            <a:avLst>
              <a:gd name="adj" fmla="val 12000"/>
            </a:avLst>
          </a:prstGeom>
          <a:solidFill>
            <a:srgbClr val="FFFFFF"/>
          </a:solidFill>
          <a:ln w="10160">
            <a:solidFill>
              <a:srgbClr val="DA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15400" y="3099816"/>
            <a:ext cx="2194560" cy="28346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700" b="0">
                <a:solidFill>
                  <a:srgbClr val="142234"/>
                </a:solidFill>
                <a:latin typeface="Arial"/>
              </a:rPr>
              <a:t>Сайт B</a:t>
            </a:r>
          </a:p>
        </p:txBody>
      </p:sp>
      <p:sp>
        <p:nvSpPr>
          <p:cNvPr id="25" name="Rounded Rectangle 24"/>
          <p:cNvSpPr/>
          <p:nvPr/>
        </p:nvSpPr>
        <p:spPr>
          <a:xfrm>
            <a:off x="8668512" y="3584448"/>
            <a:ext cx="2715768" cy="457200"/>
          </a:xfrm>
          <a:prstGeom prst="roundRect">
            <a:avLst>
              <a:gd name="adj" fmla="val 12000"/>
            </a:avLst>
          </a:prstGeom>
          <a:solidFill>
            <a:srgbClr val="FFFFFF"/>
          </a:solidFill>
          <a:ln w="10160">
            <a:solidFill>
              <a:srgbClr val="DA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15400" y="3675887"/>
            <a:ext cx="2194560" cy="28346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700" b="0">
                <a:solidFill>
                  <a:srgbClr val="142234"/>
                </a:solidFill>
                <a:latin typeface="Arial"/>
              </a:rPr>
              <a:t>Сайт C</a:t>
            </a:r>
          </a:p>
        </p:txBody>
      </p:sp>
      <p:sp>
        <p:nvSpPr>
          <p:cNvPr id="27" name="Rounded Rectangle 26"/>
          <p:cNvSpPr/>
          <p:nvPr/>
        </p:nvSpPr>
        <p:spPr>
          <a:xfrm>
            <a:off x="8668512" y="4160520"/>
            <a:ext cx="2715768" cy="457200"/>
          </a:xfrm>
          <a:prstGeom prst="roundRect">
            <a:avLst>
              <a:gd name="adj" fmla="val 12000"/>
            </a:avLst>
          </a:prstGeom>
          <a:solidFill>
            <a:srgbClr val="FFFFFF"/>
          </a:solidFill>
          <a:ln w="10160">
            <a:solidFill>
              <a:srgbClr val="DA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15400" y="4251959"/>
            <a:ext cx="2194560" cy="28346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700" b="0">
                <a:solidFill>
                  <a:srgbClr val="142234"/>
                </a:solidFill>
                <a:latin typeface="Arial"/>
              </a:rPr>
              <a:t>Сайт D</a:t>
            </a:r>
          </a:p>
        </p:txBody>
      </p:sp>
      <p:sp>
        <p:nvSpPr>
          <p:cNvPr id="29" name="TextBox 28"/>
          <p:cNvSpPr txBox="1"/>
          <p:nvPr/>
        </p:nvSpPr>
        <p:spPr>
          <a:xfrm>
            <a:off x="896112" y="4526280"/>
            <a:ext cx="10040112" cy="26517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0">
                <a:solidFill>
                  <a:srgbClr val="526778"/>
                </a:solidFill>
                <a:latin typeface="Arial"/>
              </a:rPr>
              <a:t>Учебная схема общего хостинга — не найденная инфраструктура.</a:t>
            </a:r>
          </a:p>
        </p:txBody>
      </p:sp>
      <p:sp>
        <p:nvSpPr>
          <p:cNvPr id="30" name="TextBox 29"/>
          <p:cNvSpPr txBox="1"/>
          <p:nvPr/>
        </p:nvSpPr>
        <p:spPr>
          <a:xfrm>
            <a:off x="740664" y="5193792"/>
            <a:ext cx="10671048" cy="576072"/>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700" b="1">
                <a:solidFill>
                  <a:srgbClr val="142234"/>
                </a:solidFill>
                <a:latin typeface="Arial"/>
              </a:rPr>
              <a:t>Кто разрешил доступ — и что сделал оператор?</a:t>
            </a:r>
          </a:p>
        </p:txBody>
      </p:sp>
      <p:sp>
        <p:nvSpPr>
          <p:cNvPr id="31" name="TextBox 30">
            <a:hlinkClick r:id="rId2"/>
          </p:cNvPr>
          <p:cNvSpPr txBox="1"/>
          <p:nvPr/>
        </p:nvSpPr>
        <p:spPr>
          <a:xfrm>
            <a:off x="667512" y="6108192"/>
            <a:ext cx="1088136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526778"/>
                </a:solidFill>
                <a:latin typeface="Arial"/>
              </a:rPr>
              <a:t>Sygnia · Luna Moth · 2022  /  VirusTotal · Domain object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B29"/>
        </a:solidFill>
        <a:effectLst/>
      </p:bgPr>
    </p:bg>
    <p:spTree>
      <p:nvGrpSpPr>
        <p:cNvPr id="1" name=""/>
        <p:cNvGrpSpPr/>
        <p:nvPr/>
      </p:nvGrpSpPr>
      <p:grpSpPr/>
      <p:sp>
        <p:nvSpPr>
          <p:cNvPr id="2" name="Rectangle 1"/>
          <p:cNvSpPr/>
          <p:nvPr/>
        </p:nvSpPr>
        <p:spPr>
          <a:xfrm>
            <a:off x="621792" y="438912"/>
            <a:ext cx="73152" cy="173736"/>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32104" y="429768"/>
            <a:ext cx="10607040"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100" b="1">
                <a:solidFill>
                  <a:srgbClr val="A6B8C9"/>
                </a:solidFill>
                <a:latin typeface="Arial"/>
              </a:rPr>
              <a:t>10 · ВНУТРЕННИЕ ИСТОЧНИКИ</a:t>
            </a:r>
          </a:p>
        </p:txBody>
      </p:sp>
      <p:sp>
        <p:nvSpPr>
          <p:cNvPr id="4" name="TextBox 3"/>
          <p:cNvSpPr txBox="1"/>
          <p:nvPr/>
        </p:nvSpPr>
        <p:spPr>
          <a:xfrm>
            <a:off x="621792" y="886968"/>
            <a:ext cx="10972800" cy="8686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3600" b="1">
                <a:solidFill>
                  <a:srgbClr val="F3F6FA"/>
                </a:solidFill>
                <a:latin typeface="Arial"/>
              </a:rPr>
              <a:t>Что произошло у нас?</a:t>
            </a:r>
          </a:p>
        </p:txBody>
      </p:sp>
      <p:cxnSp>
        <p:nvCxnSpPr>
          <p:cNvPr id="5" name="Connector 4"/>
          <p:cNvCxnSpPr/>
          <p:nvPr/>
        </p:nvCxnSpPr>
        <p:spPr>
          <a:xfrm>
            <a:off x="640080" y="6419088"/>
            <a:ext cx="10927080" cy="0"/>
          </a:xfrm>
          <a:prstGeom prst="line">
            <a:avLst/>
          </a:prstGeom>
          <a:ln w="8890">
            <a:solidFill>
              <a:srgbClr val="2A3C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519672"/>
            <a:ext cx="621792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A6B8C9"/>
                </a:solidFill>
                <a:latin typeface="Arial"/>
              </a:rPr>
              <a:t>ЗАГУГЛИТЬ ПРОТИВНИКА · THREAT INTELLIGENCE</a:t>
            </a:r>
          </a:p>
        </p:txBody>
      </p:sp>
      <p:sp>
        <p:nvSpPr>
          <p:cNvPr id="7" name="TextBox 6"/>
          <p:cNvSpPr txBox="1"/>
          <p:nvPr/>
        </p:nvSpPr>
        <p:spPr>
          <a:xfrm>
            <a:off x="8503920" y="6483096"/>
            <a:ext cx="2423160" cy="228600"/>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000" b="0">
                <a:solidFill>
                  <a:srgbClr val="A6B8C9"/>
                </a:solidFill>
                <a:latin typeface="Arial"/>
              </a:rPr>
              <a:t>17:30–19:35</a:t>
            </a:r>
          </a:p>
        </p:txBody>
      </p:sp>
      <p:sp>
        <p:nvSpPr>
          <p:cNvPr id="8" name="TextBox 7"/>
          <p:cNvSpPr txBox="1"/>
          <p:nvPr/>
        </p:nvSpPr>
        <p:spPr>
          <a:xfrm>
            <a:off x="11100816" y="6469380"/>
            <a:ext cx="448056" cy="265176"/>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200" b="1">
                <a:solidFill>
                  <a:srgbClr val="A6B8C9"/>
                </a:solidFill>
                <a:latin typeface="Arial"/>
              </a:rPr>
              <a:t>11</a:t>
            </a:r>
          </a:p>
        </p:txBody>
      </p:sp>
      <p:sp>
        <p:nvSpPr>
          <p:cNvPr id="9" name="TextBox 8"/>
          <p:cNvSpPr txBox="1"/>
          <p:nvPr/>
        </p:nvSpPr>
        <p:spPr>
          <a:xfrm>
            <a:off x="749808" y="1984248"/>
            <a:ext cx="4069080" cy="37490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1">
                <a:solidFill>
                  <a:srgbClr val="58D5CD"/>
                </a:solidFill>
                <a:latin typeface="Arial"/>
              </a:rPr>
              <a:t>Почта и сотрудник</a:t>
            </a:r>
          </a:p>
        </p:txBody>
      </p:sp>
      <p:sp>
        <p:nvSpPr>
          <p:cNvPr id="10" name="TextBox 9"/>
          <p:cNvSpPr txBox="1"/>
          <p:nvPr/>
        </p:nvSpPr>
        <p:spPr>
          <a:xfrm>
            <a:off x="5020056" y="1984248"/>
            <a:ext cx="6309360" cy="45720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F3F6FA"/>
                </a:solidFill>
                <a:latin typeface="Arial"/>
              </a:rPr>
              <a:t>Когда и откуда начался контакт?</a:t>
            </a:r>
          </a:p>
        </p:txBody>
      </p:sp>
      <p:cxnSp>
        <p:nvCxnSpPr>
          <p:cNvPr id="11" name="Connector 10"/>
          <p:cNvCxnSpPr/>
          <p:nvPr/>
        </p:nvCxnSpPr>
        <p:spPr>
          <a:xfrm>
            <a:off x="749808" y="2560320"/>
            <a:ext cx="10698480" cy="0"/>
          </a:xfrm>
          <a:prstGeom prst="line">
            <a:avLst/>
          </a:prstGeom>
          <a:ln w="10160">
            <a:solidFill>
              <a:srgbClr val="2A3C4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9808" y="2788920"/>
            <a:ext cx="4069080" cy="37490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1">
                <a:solidFill>
                  <a:srgbClr val="58D5CD"/>
                </a:solidFill>
                <a:latin typeface="Arial"/>
              </a:rPr>
              <a:t>Устройство и процесс</a:t>
            </a:r>
          </a:p>
        </p:txBody>
      </p:sp>
      <p:sp>
        <p:nvSpPr>
          <p:cNvPr id="13" name="TextBox 12"/>
          <p:cNvSpPr txBox="1"/>
          <p:nvPr/>
        </p:nvSpPr>
        <p:spPr>
          <a:xfrm>
            <a:off x="5020056" y="2788920"/>
            <a:ext cx="6309360" cy="45720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F3F6FA"/>
                </a:solidFill>
                <a:latin typeface="Arial"/>
              </a:rPr>
              <a:t>Что запустили?</a:t>
            </a:r>
          </a:p>
        </p:txBody>
      </p:sp>
      <p:cxnSp>
        <p:nvCxnSpPr>
          <p:cNvPr id="14" name="Connector 13"/>
          <p:cNvCxnSpPr/>
          <p:nvPr/>
        </p:nvCxnSpPr>
        <p:spPr>
          <a:xfrm>
            <a:off x="749808" y="3364991"/>
            <a:ext cx="10698480" cy="0"/>
          </a:xfrm>
          <a:prstGeom prst="line">
            <a:avLst/>
          </a:prstGeom>
          <a:ln w="10160">
            <a:solidFill>
              <a:srgbClr val="2A3C4D"/>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49808" y="3593591"/>
            <a:ext cx="4069080" cy="37490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1">
                <a:solidFill>
                  <a:srgbClr val="58D5CD"/>
                </a:solidFill>
                <a:latin typeface="Arial"/>
              </a:rPr>
              <a:t>Сессия поддержки</a:t>
            </a:r>
          </a:p>
        </p:txBody>
      </p:sp>
      <p:sp>
        <p:nvSpPr>
          <p:cNvPr id="16" name="TextBox 15"/>
          <p:cNvSpPr txBox="1"/>
          <p:nvPr/>
        </p:nvSpPr>
        <p:spPr>
          <a:xfrm>
            <a:off x="5020056" y="3593591"/>
            <a:ext cx="6309360" cy="45720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F3F6FA"/>
                </a:solidFill>
                <a:latin typeface="Arial"/>
              </a:rPr>
              <a:t>Кто подключался? Было ли разрешение?</a:t>
            </a:r>
          </a:p>
        </p:txBody>
      </p:sp>
      <p:cxnSp>
        <p:nvCxnSpPr>
          <p:cNvPr id="17" name="Connector 16"/>
          <p:cNvCxnSpPr/>
          <p:nvPr/>
        </p:nvCxnSpPr>
        <p:spPr>
          <a:xfrm>
            <a:off x="749808" y="4169663"/>
            <a:ext cx="10698480" cy="0"/>
          </a:xfrm>
          <a:prstGeom prst="line">
            <a:avLst/>
          </a:prstGeom>
          <a:ln w="10160">
            <a:solidFill>
              <a:srgbClr val="2A3C4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49808" y="4398264"/>
            <a:ext cx="4069080" cy="37490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1">
                <a:solidFill>
                  <a:srgbClr val="58D5CD"/>
                </a:solidFill>
                <a:latin typeface="Arial"/>
              </a:rPr>
              <a:t>Сеть и файлы</a:t>
            </a:r>
          </a:p>
        </p:txBody>
      </p:sp>
      <p:sp>
        <p:nvSpPr>
          <p:cNvPr id="19" name="TextBox 18"/>
          <p:cNvSpPr txBox="1"/>
          <p:nvPr/>
        </p:nvSpPr>
        <p:spPr>
          <a:xfrm>
            <a:off x="5020056" y="4398264"/>
            <a:ext cx="6309360" cy="45720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F3F6FA"/>
                </a:solidFill>
                <a:latin typeface="Arial"/>
              </a:rPr>
              <a:t>Какие обращения и передача видны?</a:t>
            </a:r>
          </a:p>
        </p:txBody>
      </p:sp>
      <p:cxnSp>
        <p:nvCxnSpPr>
          <p:cNvPr id="20" name="Connector 19"/>
          <p:cNvCxnSpPr/>
          <p:nvPr/>
        </p:nvCxnSpPr>
        <p:spPr>
          <a:xfrm>
            <a:off x="749808" y="4974336"/>
            <a:ext cx="10698480" cy="0"/>
          </a:xfrm>
          <a:prstGeom prst="line">
            <a:avLst/>
          </a:prstGeom>
          <a:ln w="10160">
            <a:solidFill>
              <a:srgbClr val="2A3C4D"/>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40664" y="5458968"/>
            <a:ext cx="10707624" cy="35661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0">
                <a:solidFill>
                  <a:srgbClr val="A6B8C9"/>
                </a:solidFill>
                <a:latin typeface="Arial"/>
              </a:rPr>
              <a:t>Сопоставить: устройство · время · пользователь · процесс / сеанс</a:t>
            </a:r>
          </a:p>
        </p:txBody>
      </p:sp>
      <p:sp>
        <p:nvSpPr>
          <p:cNvPr id="22" name="TextBox 21"/>
          <p:cNvSpPr txBox="1"/>
          <p:nvPr/>
        </p:nvSpPr>
        <p:spPr>
          <a:xfrm>
            <a:off x="740664" y="5943600"/>
            <a:ext cx="10707624" cy="32918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100" b="1">
                <a:solidFill>
                  <a:srgbClr val="FFB477"/>
                </a:solidFill>
                <a:latin typeface="Arial"/>
              </a:rPr>
              <a:t>DNS-запрос ≠ соединение. Соединение ≠ кража.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621792" y="438912"/>
            <a:ext cx="73152" cy="173736"/>
          </a:xfrm>
          <a:prstGeom prst="rect">
            <a:avLst/>
          </a:prstGeom>
          <a:solidFill>
            <a:srgbClr val="1886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32104" y="429768"/>
            <a:ext cx="10607040"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100" b="1">
                <a:solidFill>
                  <a:srgbClr val="526778"/>
                </a:solidFill>
                <a:latin typeface="Arial"/>
              </a:rPr>
              <a:t>11 · УЧЕБНАЯ ЗАПИСЬ</a:t>
            </a:r>
          </a:p>
        </p:txBody>
      </p:sp>
      <p:sp>
        <p:nvSpPr>
          <p:cNvPr id="4" name="TextBox 3"/>
          <p:cNvSpPr txBox="1"/>
          <p:nvPr/>
        </p:nvSpPr>
        <p:spPr>
          <a:xfrm>
            <a:off x="621792" y="886968"/>
            <a:ext cx="10972800" cy="8686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3600" b="1">
                <a:solidFill>
                  <a:srgbClr val="142234"/>
                </a:solidFill>
                <a:latin typeface="Arial"/>
              </a:rPr>
              <a:t>Вывод, который можно проверить</a:t>
            </a:r>
          </a:p>
        </p:txBody>
      </p:sp>
      <p:cxnSp>
        <p:nvCxnSpPr>
          <p:cNvPr id="5" name="Connector 4"/>
          <p:cNvCxnSpPr/>
          <p:nvPr/>
        </p:nvCxnSpPr>
        <p:spPr>
          <a:xfrm>
            <a:off x="640080" y="6419088"/>
            <a:ext cx="10927080" cy="0"/>
          </a:xfrm>
          <a:prstGeom prst="line">
            <a:avLst/>
          </a:prstGeom>
          <a:ln w="8890">
            <a:solidFill>
              <a:srgbClr val="DAE2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519672"/>
            <a:ext cx="621792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526778"/>
                </a:solidFill>
                <a:latin typeface="Arial"/>
              </a:rPr>
              <a:t>ЗАГУГЛИТЬ ПРОТИВНИКА · THREAT INTELLIGENCE</a:t>
            </a:r>
          </a:p>
        </p:txBody>
      </p:sp>
      <p:sp>
        <p:nvSpPr>
          <p:cNvPr id="7" name="TextBox 6"/>
          <p:cNvSpPr txBox="1"/>
          <p:nvPr/>
        </p:nvSpPr>
        <p:spPr>
          <a:xfrm>
            <a:off x="8503920" y="6483096"/>
            <a:ext cx="2423160" cy="228600"/>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000" b="0">
                <a:solidFill>
                  <a:srgbClr val="526778"/>
                </a:solidFill>
                <a:latin typeface="Arial"/>
              </a:rPr>
              <a:t>19:35–20:55</a:t>
            </a:r>
          </a:p>
        </p:txBody>
      </p:sp>
      <p:sp>
        <p:nvSpPr>
          <p:cNvPr id="8" name="TextBox 7"/>
          <p:cNvSpPr txBox="1"/>
          <p:nvPr/>
        </p:nvSpPr>
        <p:spPr>
          <a:xfrm>
            <a:off x="11100816" y="6469380"/>
            <a:ext cx="448056" cy="265176"/>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200" b="1">
                <a:solidFill>
                  <a:srgbClr val="526778"/>
                </a:solidFill>
                <a:latin typeface="Arial"/>
              </a:rPr>
              <a:t>12</a:t>
            </a:r>
          </a:p>
        </p:txBody>
      </p:sp>
      <p:sp>
        <p:nvSpPr>
          <p:cNvPr id="9" name="Rounded Rectangle 8"/>
          <p:cNvSpPr/>
          <p:nvPr/>
        </p:nvSpPr>
        <p:spPr>
          <a:xfrm>
            <a:off x="704088" y="1865376"/>
            <a:ext cx="4224528" cy="320040"/>
          </a:xfrm>
          <a:prstGeom prst="roundRect">
            <a:avLst>
              <a:gd name="adj" fmla="val 12000"/>
            </a:avLst>
          </a:prstGeom>
          <a:solidFill>
            <a:srgbClr val="E5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906524"/>
            <a:ext cx="4041648" cy="21945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000" b="1">
                <a:solidFill>
                  <a:srgbClr val="B17438"/>
                </a:solidFill>
                <a:latin typeface="Arial"/>
              </a:rPr>
              <a:t>УЧЕБНЫЙ ПРИМЕР · ПРОВЕРКА НЕ ВЫПОЛНЕНА</a:t>
            </a:r>
          </a:p>
        </p:txBody>
      </p:sp>
      <p:sp>
        <p:nvSpPr>
          <p:cNvPr id="11" name="TextBox 10"/>
          <p:cNvSpPr txBox="1"/>
          <p:nvPr/>
        </p:nvSpPr>
        <p:spPr>
          <a:xfrm>
            <a:off x="822960" y="2478024"/>
            <a:ext cx="1837943" cy="32004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1">
                <a:solidFill>
                  <a:srgbClr val="18867E"/>
                </a:solidFill>
                <a:latin typeface="Arial"/>
              </a:rPr>
              <a:t>Факт</a:t>
            </a:r>
          </a:p>
        </p:txBody>
      </p:sp>
      <p:sp>
        <p:nvSpPr>
          <p:cNvPr id="12" name="TextBox 11"/>
          <p:cNvSpPr txBox="1"/>
          <p:nvPr/>
        </p:nvSpPr>
        <p:spPr>
          <a:xfrm>
            <a:off x="2788920" y="2478024"/>
            <a:ext cx="8586216" cy="37490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100" b="0">
                <a:solidFill>
                  <a:srgbClr val="142234"/>
                </a:solidFill>
                <a:latin typeface="Arial"/>
              </a:rPr>
              <a:t>Сотрудник сообщил о запуске поддержки.</a:t>
            </a:r>
          </a:p>
        </p:txBody>
      </p:sp>
      <p:cxnSp>
        <p:nvCxnSpPr>
          <p:cNvPr id="13" name="Connector 12"/>
          <p:cNvCxnSpPr/>
          <p:nvPr/>
        </p:nvCxnSpPr>
        <p:spPr>
          <a:xfrm>
            <a:off x="822960" y="2916936"/>
            <a:ext cx="10588752" cy="0"/>
          </a:xfrm>
          <a:prstGeom prst="line">
            <a:avLst/>
          </a:prstGeom>
          <a:ln w="8890">
            <a:solidFill>
              <a:srgbClr val="DAE2E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3054096"/>
            <a:ext cx="1837943" cy="32004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1">
                <a:solidFill>
                  <a:srgbClr val="18867E"/>
                </a:solidFill>
                <a:latin typeface="Arial"/>
              </a:rPr>
              <a:t>Контекст</a:t>
            </a:r>
          </a:p>
        </p:txBody>
      </p:sp>
      <p:sp>
        <p:nvSpPr>
          <p:cNvPr id="15" name="TextBox 14"/>
          <p:cNvSpPr txBox="1"/>
          <p:nvPr/>
        </p:nvSpPr>
        <p:spPr>
          <a:xfrm>
            <a:off x="2788920" y="3054096"/>
            <a:ext cx="8586216" cy="37490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100" b="0">
                <a:solidFill>
                  <a:srgbClr val="142234"/>
                </a:solidFill>
                <a:latin typeface="Arial"/>
              </a:rPr>
              <a:t>Публичный кейс описывает похожую цепочку.</a:t>
            </a:r>
          </a:p>
        </p:txBody>
      </p:sp>
      <p:cxnSp>
        <p:nvCxnSpPr>
          <p:cNvPr id="16" name="Connector 15"/>
          <p:cNvCxnSpPr/>
          <p:nvPr/>
        </p:nvCxnSpPr>
        <p:spPr>
          <a:xfrm>
            <a:off x="822960" y="3493008"/>
            <a:ext cx="10588752" cy="0"/>
          </a:xfrm>
          <a:prstGeom prst="line">
            <a:avLst/>
          </a:prstGeom>
          <a:ln w="8890">
            <a:solidFill>
              <a:srgbClr val="DAE2E9"/>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3630168"/>
            <a:ext cx="1837943" cy="32004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1">
                <a:solidFill>
                  <a:srgbClr val="18867E"/>
                </a:solidFill>
                <a:latin typeface="Arial"/>
              </a:rPr>
              <a:t>Гипотеза</a:t>
            </a:r>
          </a:p>
        </p:txBody>
      </p:sp>
      <p:sp>
        <p:nvSpPr>
          <p:cNvPr id="18" name="TextBox 17"/>
          <p:cNvSpPr txBox="1"/>
          <p:nvPr/>
        </p:nvSpPr>
        <p:spPr>
          <a:xfrm>
            <a:off x="2788920" y="3630168"/>
            <a:ext cx="8586216" cy="37490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100" b="0">
                <a:solidFill>
                  <a:srgbClr val="142234"/>
                </a:solidFill>
                <a:latin typeface="Arial"/>
              </a:rPr>
              <a:t>Доступ мог быть несанкционированным.</a:t>
            </a:r>
          </a:p>
        </p:txBody>
      </p:sp>
      <p:cxnSp>
        <p:nvCxnSpPr>
          <p:cNvPr id="19" name="Connector 18"/>
          <p:cNvCxnSpPr/>
          <p:nvPr/>
        </p:nvCxnSpPr>
        <p:spPr>
          <a:xfrm>
            <a:off x="822960" y="4069079"/>
            <a:ext cx="10588752" cy="0"/>
          </a:xfrm>
          <a:prstGeom prst="line">
            <a:avLst/>
          </a:prstGeom>
          <a:ln w="8890">
            <a:solidFill>
              <a:srgbClr val="DAE2E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2960" y="4206240"/>
            <a:ext cx="1837943" cy="32004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1">
                <a:solidFill>
                  <a:srgbClr val="18867E"/>
                </a:solidFill>
                <a:latin typeface="Arial"/>
              </a:rPr>
              <a:t>Пробел</a:t>
            </a:r>
          </a:p>
        </p:txBody>
      </p:sp>
      <p:sp>
        <p:nvSpPr>
          <p:cNvPr id="21" name="TextBox 20"/>
          <p:cNvSpPr txBox="1"/>
          <p:nvPr/>
        </p:nvSpPr>
        <p:spPr>
          <a:xfrm>
            <a:off x="2788920" y="4206240"/>
            <a:ext cx="8586216" cy="37490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100" b="0">
                <a:solidFill>
                  <a:srgbClr val="142234"/>
                </a:solidFill>
                <a:latin typeface="Arial"/>
              </a:rPr>
              <a:t>Согласование и действия не проверены.</a:t>
            </a:r>
          </a:p>
        </p:txBody>
      </p:sp>
      <p:cxnSp>
        <p:nvCxnSpPr>
          <p:cNvPr id="22" name="Connector 21"/>
          <p:cNvCxnSpPr/>
          <p:nvPr/>
        </p:nvCxnSpPr>
        <p:spPr>
          <a:xfrm>
            <a:off x="822960" y="4645152"/>
            <a:ext cx="10588752" cy="0"/>
          </a:xfrm>
          <a:prstGeom prst="line">
            <a:avLst/>
          </a:prstGeom>
          <a:ln w="8890">
            <a:solidFill>
              <a:srgbClr val="DAE2E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22960" y="4782312"/>
            <a:ext cx="1837943" cy="32004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1">
                <a:solidFill>
                  <a:srgbClr val="18867E"/>
                </a:solidFill>
                <a:latin typeface="Arial"/>
              </a:rPr>
              <a:t>Шаг</a:t>
            </a:r>
          </a:p>
        </p:txBody>
      </p:sp>
      <p:sp>
        <p:nvSpPr>
          <p:cNvPr id="24" name="TextBox 23"/>
          <p:cNvSpPr txBox="1"/>
          <p:nvPr/>
        </p:nvSpPr>
        <p:spPr>
          <a:xfrm>
            <a:off x="2788920" y="4782312"/>
            <a:ext cx="8586216" cy="37490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100" b="0">
                <a:solidFill>
                  <a:srgbClr val="142234"/>
                </a:solidFill>
                <a:latin typeface="Arial"/>
              </a:rPr>
              <a:t>Проверить заявку, запуск, сеанс и сеть.</a:t>
            </a:r>
          </a:p>
        </p:txBody>
      </p:sp>
      <p:cxnSp>
        <p:nvCxnSpPr>
          <p:cNvPr id="25" name="Connector 24"/>
          <p:cNvCxnSpPr/>
          <p:nvPr/>
        </p:nvCxnSpPr>
        <p:spPr>
          <a:xfrm>
            <a:off x="822960" y="5221224"/>
            <a:ext cx="10588752" cy="0"/>
          </a:xfrm>
          <a:prstGeom prst="line">
            <a:avLst/>
          </a:prstGeom>
          <a:ln w="8890">
            <a:solidFill>
              <a:srgbClr val="DAE2E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95528" y="5641848"/>
            <a:ext cx="10661904" cy="40233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526778"/>
                </a:solidFill>
                <a:latin typeface="Arial"/>
              </a:rPr>
              <a:t>Сохраняем источник, дату и пределы вывода.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1B29"/>
        </a:solidFill>
        <a:effectLst/>
      </p:bgPr>
    </p:bg>
    <p:spTree>
      <p:nvGrpSpPr>
        <p:cNvPr id="1" name=""/>
        <p:cNvGrpSpPr/>
        <p:nvPr/>
      </p:nvGrpSpPr>
      <p:grpSpPr/>
      <p:sp>
        <p:nvSpPr>
          <p:cNvPr id="2" name="Rectangle 1"/>
          <p:cNvSpPr/>
          <p:nvPr/>
        </p:nvSpPr>
        <p:spPr>
          <a:xfrm>
            <a:off x="621792" y="438912"/>
            <a:ext cx="73152" cy="173736"/>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32104" y="429768"/>
            <a:ext cx="10607040"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100" b="1">
                <a:solidFill>
                  <a:srgbClr val="A6B8C9"/>
                </a:solidFill>
                <a:latin typeface="Arial"/>
              </a:rPr>
              <a:t>12 · ПОИСК В ИСТОРИИ</a:t>
            </a:r>
          </a:p>
        </p:txBody>
      </p:sp>
      <p:sp>
        <p:nvSpPr>
          <p:cNvPr id="4" name="TextBox 3"/>
          <p:cNvSpPr txBox="1"/>
          <p:nvPr/>
        </p:nvSpPr>
        <p:spPr>
          <a:xfrm>
            <a:off x="621792" y="886968"/>
            <a:ext cx="10972800" cy="8686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3600" b="1">
                <a:solidFill>
                  <a:srgbClr val="F3F6FA"/>
                </a:solidFill>
                <a:latin typeface="Arial"/>
              </a:rPr>
              <a:t>Hunting начинается с гипотезы</a:t>
            </a:r>
          </a:p>
        </p:txBody>
      </p:sp>
      <p:cxnSp>
        <p:nvCxnSpPr>
          <p:cNvPr id="5" name="Connector 4"/>
          <p:cNvCxnSpPr/>
          <p:nvPr/>
        </p:nvCxnSpPr>
        <p:spPr>
          <a:xfrm>
            <a:off x="640080" y="6419088"/>
            <a:ext cx="10927080" cy="0"/>
          </a:xfrm>
          <a:prstGeom prst="line">
            <a:avLst/>
          </a:prstGeom>
          <a:ln w="8890">
            <a:solidFill>
              <a:srgbClr val="2A3C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519672"/>
            <a:ext cx="621792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A6B8C9"/>
                </a:solidFill>
                <a:latin typeface="Arial"/>
              </a:rPr>
              <a:t>ЗАГУГЛИТЬ ПРОТИВНИКА · THREAT INTELLIGENCE</a:t>
            </a:r>
          </a:p>
        </p:txBody>
      </p:sp>
      <p:sp>
        <p:nvSpPr>
          <p:cNvPr id="7" name="TextBox 6"/>
          <p:cNvSpPr txBox="1"/>
          <p:nvPr/>
        </p:nvSpPr>
        <p:spPr>
          <a:xfrm>
            <a:off x="8503920" y="6483096"/>
            <a:ext cx="2423160" cy="228600"/>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000" b="0">
                <a:solidFill>
                  <a:srgbClr val="A6B8C9"/>
                </a:solidFill>
                <a:latin typeface="Arial"/>
              </a:rPr>
              <a:t>20:55–23:25</a:t>
            </a:r>
          </a:p>
        </p:txBody>
      </p:sp>
      <p:sp>
        <p:nvSpPr>
          <p:cNvPr id="8" name="TextBox 7"/>
          <p:cNvSpPr txBox="1"/>
          <p:nvPr/>
        </p:nvSpPr>
        <p:spPr>
          <a:xfrm>
            <a:off x="11100816" y="6469380"/>
            <a:ext cx="448056" cy="265176"/>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200" b="1">
                <a:solidFill>
                  <a:srgbClr val="A6B8C9"/>
                </a:solidFill>
                <a:latin typeface="Arial"/>
              </a:rPr>
              <a:t>13</a:t>
            </a:r>
          </a:p>
        </p:txBody>
      </p:sp>
      <p:sp>
        <p:nvSpPr>
          <p:cNvPr id="9" name="Rounded Rectangle 8"/>
          <p:cNvSpPr/>
          <p:nvPr/>
        </p:nvSpPr>
        <p:spPr>
          <a:xfrm>
            <a:off x="704088" y="1883664"/>
            <a:ext cx="3456432" cy="320040"/>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924812"/>
            <a:ext cx="3273551" cy="21945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000" b="1">
                <a:solidFill>
                  <a:srgbClr val="FFB477"/>
                </a:solidFill>
                <a:latin typeface="Arial"/>
              </a:rPr>
              <a:t>14 ДНЕЙ — УСЛОВИЕ УПРАЖНЕНИЯ</a:t>
            </a:r>
          </a:p>
        </p:txBody>
      </p:sp>
      <p:sp>
        <p:nvSpPr>
          <p:cNvPr id="11" name="TextBox 10"/>
          <p:cNvSpPr txBox="1"/>
          <p:nvPr/>
        </p:nvSpPr>
        <p:spPr>
          <a:xfrm>
            <a:off x="731520" y="2542032"/>
            <a:ext cx="10698480" cy="42062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A6B8C9"/>
                </a:solidFill>
                <a:latin typeface="Arial"/>
              </a:rPr>
              <a:t>Возможное неразрешённое использование:</a:t>
            </a:r>
          </a:p>
        </p:txBody>
      </p:sp>
      <p:sp>
        <p:nvSpPr>
          <p:cNvPr id="12" name="TextBox 11"/>
          <p:cNvSpPr txBox="1"/>
          <p:nvPr/>
        </p:nvSpPr>
        <p:spPr>
          <a:xfrm>
            <a:off x="731520" y="3090672"/>
            <a:ext cx="10698480" cy="5943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3100" b="1">
                <a:solidFill>
                  <a:srgbClr val="F3F6FA"/>
                </a:solidFill>
                <a:latin typeface="Arial"/>
              </a:rPr>
              <a:t>Удалённая поддержка → передача файлов</a:t>
            </a:r>
          </a:p>
        </p:txBody>
      </p:sp>
      <p:sp>
        <p:nvSpPr>
          <p:cNvPr id="13" name="Rounded Rectangle 12"/>
          <p:cNvSpPr/>
          <p:nvPr/>
        </p:nvSpPr>
        <p:spPr>
          <a:xfrm>
            <a:off x="704088" y="4151376"/>
            <a:ext cx="3401568" cy="1252728"/>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4088" y="4151376"/>
            <a:ext cx="41148" cy="1252728"/>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4315968"/>
            <a:ext cx="3035808"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1">
                <a:solidFill>
                  <a:srgbClr val="58D5CD"/>
                </a:solidFill>
                <a:latin typeface="Arial"/>
              </a:rPr>
              <a:t>НАЙТИ</a:t>
            </a:r>
          </a:p>
        </p:txBody>
      </p:sp>
      <p:sp>
        <p:nvSpPr>
          <p:cNvPr id="16" name="TextBox 15"/>
          <p:cNvSpPr txBox="1"/>
          <p:nvPr/>
        </p:nvSpPr>
        <p:spPr>
          <a:xfrm>
            <a:off x="886968" y="4855464"/>
            <a:ext cx="3035808" cy="429768"/>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0">
                <a:solidFill>
                  <a:srgbClr val="F3F6FA"/>
                </a:solidFill>
                <a:latin typeface="Arial"/>
              </a:rPr>
              <a:t>Запуски и сеансы</a:t>
            </a:r>
          </a:p>
        </p:txBody>
      </p:sp>
      <p:sp>
        <p:nvSpPr>
          <p:cNvPr id="17" name="Rounded Rectangle 16"/>
          <p:cNvSpPr/>
          <p:nvPr/>
        </p:nvSpPr>
        <p:spPr>
          <a:xfrm>
            <a:off x="4443983" y="4151376"/>
            <a:ext cx="3401568" cy="1252728"/>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43983" y="4151376"/>
            <a:ext cx="41148" cy="1252728"/>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26864" y="4315968"/>
            <a:ext cx="3035808"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1">
                <a:solidFill>
                  <a:srgbClr val="58D5CD"/>
                </a:solidFill>
                <a:latin typeface="Arial"/>
              </a:rPr>
              <a:t>ПРОВЕРИТЬ</a:t>
            </a:r>
          </a:p>
        </p:txBody>
      </p:sp>
      <p:sp>
        <p:nvSpPr>
          <p:cNvPr id="20" name="TextBox 19"/>
          <p:cNvSpPr txBox="1"/>
          <p:nvPr/>
        </p:nvSpPr>
        <p:spPr>
          <a:xfrm>
            <a:off x="4626864" y="4855464"/>
            <a:ext cx="3035808" cy="429768"/>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0">
                <a:solidFill>
                  <a:srgbClr val="F3F6FA"/>
                </a:solidFill>
                <a:latin typeface="Arial"/>
              </a:rPr>
              <a:t>Последующие действия</a:t>
            </a:r>
          </a:p>
        </p:txBody>
      </p:sp>
      <p:sp>
        <p:nvSpPr>
          <p:cNvPr id="21" name="Rounded Rectangle 20"/>
          <p:cNvSpPr/>
          <p:nvPr/>
        </p:nvSpPr>
        <p:spPr>
          <a:xfrm>
            <a:off x="8183879" y="4151376"/>
            <a:ext cx="3401568" cy="1252728"/>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83879" y="4151376"/>
            <a:ext cx="41148" cy="1252728"/>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66759" y="4315968"/>
            <a:ext cx="3035808"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1">
                <a:solidFill>
                  <a:srgbClr val="58D5CD"/>
                </a:solidFill>
                <a:latin typeface="Arial"/>
              </a:rPr>
              <a:t>СВЕРИТЬ</a:t>
            </a:r>
          </a:p>
        </p:txBody>
      </p:sp>
      <p:sp>
        <p:nvSpPr>
          <p:cNvPr id="24" name="TextBox 23"/>
          <p:cNvSpPr txBox="1"/>
          <p:nvPr/>
        </p:nvSpPr>
        <p:spPr>
          <a:xfrm>
            <a:off x="8366759" y="4855464"/>
            <a:ext cx="3035808" cy="429768"/>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0">
                <a:solidFill>
                  <a:srgbClr val="F3F6FA"/>
                </a:solidFill>
                <a:latin typeface="Arial"/>
              </a:rPr>
              <a:t>Заявки и операторов</a:t>
            </a:r>
          </a:p>
        </p:txBody>
      </p:sp>
      <p:sp>
        <p:nvSpPr>
          <p:cNvPr id="25" name="TextBox 24"/>
          <p:cNvSpPr txBox="1"/>
          <p:nvPr/>
        </p:nvSpPr>
        <p:spPr>
          <a:xfrm>
            <a:off x="749808" y="5632704"/>
            <a:ext cx="10661904" cy="384048"/>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000" b="0">
                <a:solidFill>
                  <a:srgbClr val="A6B8C9"/>
                </a:solidFill>
                <a:latin typeface="Arial"/>
              </a:rPr>
              <a:t>До поиска: охват устройств, срок хранения и время событий.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1B29"/>
        </a:solidFill>
        <a:effectLst/>
      </p:bgPr>
    </p:bg>
    <p:spTree>
      <p:nvGrpSpPr>
        <p:cNvPr id="1" name=""/>
        <p:cNvGrpSpPr/>
        <p:nvPr/>
      </p:nvGrpSpPr>
      <p:grpSpPr/>
      <p:sp>
        <p:nvSpPr>
          <p:cNvPr id="2" name="TextBox 1"/>
          <p:cNvSpPr txBox="1"/>
          <p:nvPr/>
        </p:nvSpPr>
        <p:spPr>
          <a:xfrm>
            <a:off x="694944" y="539496"/>
            <a:ext cx="9418320" cy="26517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200" b="1">
                <a:solidFill>
                  <a:srgbClr val="58D5CD"/>
                </a:solidFill>
                <a:latin typeface="Arial"/>
              </a:rPr>
              <a:t>THREAT INTELLIGENCE В РАБОТЕ</a:t>
            </a:r>
          </a:p>
        </p:txBody>
      </p:sp>
      <p:sp>
        <p:nvSpPr>
          <p:cNvPr id="3" name="TextBox 2"/>
          <p:cNvSpPr txBox="1"/>
          <p:nvPr/>
        </p:nvSpPr>
        <p:spPr>
          <a:xfrm>
            <a:off x="667512" y="1307592"/>
            <a:ext cx="7726679" cy="252374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4800" b="1">
                <a:solidFill>
                  <a:srgbClr val="F3F6FA"/>
                </a:solidFill>
                <a:latin typeface="Arial"/>
              </a:rPr>
              <a:t>Один объект.</a:t>
            </a:r>
          </a:p>
          <a:p>
            <a:pPr algn="l">
              <a:lnSpc>
                <a:spcPct val="108000"/>
              </a:lnSpc>
              <a:spcBef>
                <a:spcPts val="0"/>
              </a:spcBef>
              <a:spcAft>
                <a:spcPts val="300"/>
              </a:spcAft>
            </a:pPr>
            <a:r>
              <a:rPr sz="4800" b="1">
                <a:solidFill>
                  <a:srgbClr val="F3F6FA"/>
                </a:solidFill>
                <a:latin typeface="Arial"/>
              </a:rPr>
              <a:t>Один вопрос.</a:t>
            </a:r>
          </a:p>
          <a:p>
            <a:pPr algn="l">
              <a:lnSpc>
                <a:spcPct val="108000"/>
              </a:lnSpc>
              <a:spcBef>
                <a:spcPts val="0"/>
              </a:spcBef>
              <a:spcAft>
                <a:spcPts val="300"/>
              </a:spcAft>
            </a:pPr>
            <a:r>
              <a:rPr sz="4800" b="1">
                <a:solidFill>
                  <a:srgbClr val="F3F6FA"/>
                </a:solidFill>
                <a:latin typeface="Arial"/>
              </a:rPr>
              <a:t>Следующий шаг.</a:t>
            </a:r>
          </a:p>
        </p:txBody>
      </p:sp>
      <p:sp>
        <p:nvSpPr>
          <p:cNvPr id="4" name="TextBox 3"/>
          <p:cNvSpPr txBox="1"/>
          <p:nvPr/>
        </p:nvSpPr>
        <p:spPr>
          <a:xfrm>
            <a:off x="740664" y="4453128"/>
            <a:ext cx="6848856" cy="96926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500" b="0">
                <a:solidFill>
                  <a:srgbClr val="CDF276"/>
                </a:solidFill>
                <a:latin typeface="Arial"/>
              </a:rPr>
              <a:t>Проверить разрешённость сеанса</a:t>
            </a:r>
          </a:p>
          <a:p>
            <a:pPr algn="l">
              <a:lnSpc>
                <a:spcPct val="108000"/>
              </a:lnSpc>
              <a:spcBef>
                <a:spcPts val="0"/>
              </a:spcBef>
              <a:spcAft>
                <a:spcPts val="300"/>
              </a:spcAft>
            </a:pPr>
            <a:r>
              <a:rPr sz="2500" b="0">
                <a:solidFill>
                  <a:srgbClr val="CDF276"/>
                </a:solidFill>
                <a:latin typeface="Arial"/>
              </a:rPr>
              <a:t>и действия оператора.</a:t>
            </a:r>
          </a:p>
        </p:txBody>
      </p:sp>
      <p:sp>
        <p:nvSpPr>
          <p:cNvPr id="5" name="TextBox 4"/>
          <p:cNvSpPr txBox="1"/>
          <p:nvPr/>
        </p:nvSpPr>
        <p:spPr>
          <a:xfrm>
            <a:off x="740664" y="5815584"/>
            <a:ext cx="6830568" cy="32004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800" b="0">
                <a:solidFill>
                  <a:srgbClr val="A6B8C9"/>
                </a:solidFill>
                <a:latin typeface="Arial"/>
              </a:rPr>
              <a:t>Спасибо! Вопросы?</a:t>
            </a:r>
          </a:p>
        </p:txBody>
      </p:sp>
      <p:sp>
        <p:nvSpPr>
          <p:cNvPr id="6" name="Oval 5"/>
          <p:cNvSpPr/>
          <p:nvPr/>
        </p:nvSpPr>
        <p:spPr>
          <a:xfrm>
            <a:off x="8567928" y="1554480"/>
            <a:ext cx="146304" cy="146304"/>
          </a:xfrm>
          <a:prstGeom prst="ellipse">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8641080" y="1709928"/>
            <a:ext cx="0" cy="658368"/>
          </a:xfrm>
          <a:prstGeom prst="line">
            <a:avLst/>
          </a:prstGeom>
          <a:ln w="19050">
            <a:solidFill>
              <a:srgbClr val="39566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052560" y="1517904"/>
            <a:ext cx="2560320" cy="46634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500" b="1">
                <a:solidFill>
                  <a:srgbClr val="F3F6FA"/>
                </a:solidFill>
                <a:latin typeface="Arial"/>
              </a:rPr>
              <a:t>Объект</a:t>
            </a:r>
          </a:p>
        </p:txBody>
      </p:sp>
      <p:sp>
        <p:nvSpPr>
          <p:cNvPr id="9" name="Oval 8"/>
          <p:cNvSpPr/>
          <p:nvPr/>
        </p:nvSpPr>
        <p:spPr>
          <a:xfrm>
            <a:off x="8567928" y="2368296"/>
            <a:ext cx="146304" cy="146304"/>
          </a:xfrm>
          <a:prstGeom prst="ellipse">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8641080" y="2523744"/>
            <a:ext cx="0" cy="658368"/>
          </a:xfrm>
          <a:prstGeom prst="line">
            <a:avLst/>
          </a:prstGeom>
          <a:ln w="19050">
            <a:solidFill>
              <a:srgbClr val="39566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052560" y="2331720"/>
            <a:ext cx="2560320" cy="46634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500" b="1">
                <a:solidFill>
                  <a:srgbClr val="F3F6FA"/>
                </a:solidFill>
                <a:latin typeface="Arial"/>
              </a:rPr>
              <a:t>Вопрос</a:t>
            </a:r>
          </a:p>
        </p:txBody>
      </p:sp>
      <p:sp>
        <p:nvSpPr>
          <p:cNvPr id="12" name="Oval 11"/>
          <p:cNvSpPr/>
          <p:nvPr/>
        </p:nvSpPr>
        <p:spPr>
          <a:xfrm>
            <a:off x="8567928" y="3182112"/>
            <a:ext cx="146304" cy="146304"/>
          </a:xfrm>
          <a:prstGeom prst="ellipse">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8641080" y="3337560"/>
            <a:ext cx="0" cy="658368"/>
          </a:xfrm>
          <a:prstGeom prst="line">
            <a:avLst/>
          </a:prstGeom>
          <a:ln w="19050">
            <a:solidFill>
              <a:srgbClr val="39566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052560" y="3145536"/>
            <a:ext cx="2560320" cy="46634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500" b="1">
                <a:solidFill>
                  <a:srgbClr val="F3F6FA"/>
                </a:solidFill>
                <a:latin typeface="Arial"/>
              </a:rPr>
              <a:t>Источник</a:t>
            </a:r>
          </a:p>
        </p:txBody>
      </p:sp>
      <p:sp>
        <p:nvSpPr>
          <p:cNvPr id="15" name="Oval 14"/>
          <p:cNvSpPr/>
          <p:nvPr/>
        </p:nvSpPr>
        <p:spPr>
          <a:xfrm>
            <a:off x="8567928" y="3995928"/>
            <a:ext cx="146304" cy="146304"/>
          </a:xfrm>
          <a:prstGeom prst="ellipse">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8641080" y="4151376"/>
            <a:ext cx="0" cy="658368"/>
          </a:xfrm>
          <a:prstGeom prst="line">
            <a:avLst/>
          </a:prstGeom>
          <a:ln w="19050">
            <a:solidFill>
              <a:srgbClr val="39566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052560" y="3959352"/>
            <a:ext cx="2560320" cy="46634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500" b="1">
                <a:solidFill>
                  <a:srgbClr val="F3F6FA"/>
                </a:solidFill>
                <a:latin typeface="Arial"/>
              </a:rPr>
              <a:t>Проверка</a:t>
            </a:r>
          </a:p>
        </p:txBody>
      </p:sp>
      <p:sp>
        <p:nvSpPr>
          <p:cNvPr id="18" name="Oval 17"/>
          <p:cNvSpPr/>
          <p:nvPr/>
        </p:nvSpPr>
        <p:spPr>
          <a:xfrm>
            <a:off x="8567928" y="4809744"/>
            <a:ext cx="146304" cy="146304"/>
          </a:xfrm>
          <a:prstGeom prst="ellipse">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0" y="4773168"/>
            <a:ext cx="2560320" cy="46634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500" b="1">
                <a:solidFill>
                  <a:srgbClr val="CDF276"/>
                </a:solidFill>
                <a:latin typeface="Arial"/>
              </a:rPr>
              <a:t>Действие</a:t>
            </a:r>
          </a:p>
        </p:txBody>
      </p:sp>
      <p:cxnSp>
        <p:nvCxnSpPr>
          <p:cNvPr id="20" name="Connector 19"/>
          <p:cNvCxnSpPr/>
          <p:nvPr/>
        </p:nvCxnSpPr>
        <p:spPr>
          <a:xfrm>
            <a:off x="640080" y="6419088"/>
            <a:ext cx="10927080" cy="0"/>
          </a:xfrm>
          <a:prstGeom prst="line">
            <a:avLst/>
          </a:prstGeom>
          <a:ln w="8890">
            <a:solidFill>
              <a:srgbClr val="2A3C4D"/>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0080" y="6519672"/>
            <a:ext cx="621792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A6B8C9"/>
                </a:solidFill>
                <a:latin typeface="Arial"/>
              </a:rPr>
              <a:t>ЗАГУГЛИТЬ ПРОТИВНИКА · THREAT INTELLIGENCE</a:t>
            </a:r>
          </a:p>
        </p:txBody>
      </p:sp>
      <p:sp>
        <p:nvSpPr>
          <p:cNvPr id="22" name="TextBox 21"/>
          <p:cNvSpPr txBox="1"/>
          <p:nvPr/>
        </p:nvSpPr>
        <p:spPr>
          <a:xfrm>
            <a:off x="8503920" y="6483096"/>
            <a:ext cx="2423160" cy="228600"/>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000" b="0">
                <a:solidFill>
                  <a:srgbClr val="A6B8C9"/>
                </a:solidFill>
                <a:latin typeface="Arial"/>
              </a:rPr>
              <a:t>23:25–25:00</a:t>
            </a:r>
          </a:p>
        </p:txBody>
      </p:sp>
      <p:sp>
        <p:nvSpPr>
          <p:cNvPr id="23" name="TextBox 22"/>
          <p:cNvSpPr txBox="1"/>
          <p:nvPr/>
        </p:nvSpPr>
        <p:spPr>
          <a:xfrm>
            <a:off x="11100816" y="6469380"/>
            <a:ext cx="448056" cy="265176"/>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200" b="1">
                <a:solidFill>
                  <a:srgbClr val="A6B8C9"/>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621792" y="438912"/>
            <a:ext cx="73152" cy="173736"/>
          </a:xfrm>
          <a:prstGeom prst="rect">
            <a:avLst/>
          </a:prstGeom>
          <a:solidFill>
            <a:srgbClr val="1886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32104" y="429768"/>
            <a:ext cx="10607040"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100" b="1">
                <a:solidFill>
                  <a:srgbClr val="526778"/>
                </a:solidFill>
                <a:latin typeface="Arial"/>
              </a:rPr>
              <a:t>ПРИЛОЖЕНИЕ · ОФИЦИАЛЬНЫЕ МАТЕРИАЛЫ</a:t>
            </a:r>
          </a:p>
        </p:txBody>
      </p:sp>
      <p:sp>
        <p:nvSpPr>
          <p:cNvPr id="4" name="TextBox 3"/>
          <p:cNvSpPr txBox="1"/>
          <p:nvPr/>
        </p:nvSpPr>
        <p:spPr>
          <a:xfrm>
            <a:off x="621792" y="886968"/>
            <a:ext cx="10972800" cy="8686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3600" b="1">
                <a:solidFill>
                  <a:srgbClr val="142234"/>
                </a:solidFill>
                <a:latin typeface="Arial"/>
              </a:rPr>
              <a:t>Источники, на которые можно опереться</a:t>
            </a:r>
          </a:p>
        </p:txBody>
      </p:sp>
      <p:cxnSp>
        <p:nvCxnSpPr>
          <p:cNvPr id="5" name="Connector 4"/>
          <p:cNvCxnSpPr/>
          <p:nvPr/>
        </p:nvCxnSpPr>
        <p:spPr>
          <a:xfrm>
            <a:off x="640080" y="6419088"/>
            <a:ext cx="10927080" cy="0"/>
          </a:xfrm>
          <a:prstGeom prst="line">
            <a:avLst/>
          </a:prstGeom>
          <a:ln w="8890">
            <a:solidFill>
              <a:srgbClr val="DAE2E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519672"/>
            <a:ext cx="621792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526778"/>
                </a:solidFill>
                <a:latin typeface="Arial"/>
              </a:rPr>
              <a:t>ЗАГУГЛИТЬ ПРОТИВНИКА · THREAT INTELLIGENCE</a:t>
            </a:r>
          </a:p>
        </p:txBody>
      </p:sp>
      <p:sp>
        <p:nvSpPr>
          <p:cNvPr id="7" name="TextBox 6"/>
          <p:cNvSpPr txBox="1"/>
          <p:nvPr/>
        </p:nvSpPr>
        <p:spPr>
          <a:xfrm>
            <a:off x="8503920" y="6483096"/>
            <a:ext cx="2423160" cy="228600"/>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000" b="0">
                <a:solidFill>
                  <a:srgbClr val="526778"/>
                </a:solidFill>
                <a:latin typeface="Arial"/>
              </a:rPr>
              <a:t>Вне 25 минут</a:t>
            </a:r>
          </a:p>
        </p:txBody>
      </p:sp>
      <p:sp>
        <p:nvSpPr>
          <p:cNvPr id="8" name="TextBox 7"/>
          <p:cNvSpPr txBox="1"/>
          <p:nvPr/>
        </p:nvSpPr>
        <p:spPr>
          <a:xfrm>
            <a:off x="11100816" y="6469380"/>
            <a:ext cx="448056" cy="265176"/>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200" b="1">
                <a:solidFill>
                  <a:srgbClr val="526778"/>
                </a:solidFill>
                <a:latin typeface="Arial"/>
              </a:rPr>
              <a:t>15</a:t>
            </a:r>
          </a:p>
        </p:txBody>
      </p:sp>
      <p:sp>
        <p:nvSpPr>
          <p:cNvPr id="9" name="Rounded Rectangle 8"/>
          <p:cNvSpPr/>
          <p:nvPr/>
        </p:nvSpPr>
        <p:spPr>
          <a:xfrm>
            <a:off x="704088" y="2167128"/>
            <a:ext cx="3410712" cy="29260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04088" y="2167128"/>
            <a:ext cx="41148" cy="2926080"/>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331720"/>
            <a:ext cx="3044952"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1">
                <a:solidFill>
                  <a:srgbClr val="18867E"/>
                </a:solidFill>
                <a:latin typeface="Arial"/>
              </a:rPr>
              <a:t>КЕЙС</a:t>
            </a:r>
          </a:p>
        </p:txBody>
      </p:sp>
      <p:sp>
        <p:nvSpPr>
          <p:cNvPr id="12" name="TextBox 11"/>
          <p:cNvSpPr txBox="1"/>
          <p:nvPr/>
        </p:nvSpPr>
        <p:spPr>
          <a:xfrm>
            <a:off x="886968" y="2871216"/>
            <a:ext cx="3044952" cy="21031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100" b="0">
                <a:solidFill>
                  <a:srgbClr val="142234"/>
                </a:solidFill>
                <a:latin typeface="Arial"/>
              </a:rPr>
              <a:t/>
            </a:r>
          </a:p>
        </p:txBody>
      </p:sp>
      <p:sp>
        <p:nvSpPr>
          <p:cNvPr id="13" name="TextBox 12">
            <a:hlinkClick r:id="rId2"/>
          </p:cNvPr>
          <p:cNvSpPr txBox="1"/>
          <p:nvPr/>
        </p:nvSpPr>
        <p:spPr>
          <a:xfrm>
            <a:off x="914400" y="3026664"/>
            <a:ext cx="2990088" cy="55778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0">
                <a:solidFill>
                  <a:srgbClr val="142234"/>
                </a:solidFill>
                <a:latin typeface="Arial"/>
              </a:rPr>
              <a:t>Sygnia · Luna Moth, 2022</a:t>
            </a:r>
          </a:p>
        </p:txBody>
      </p:sp>
      <p:sp>
        <p:nvSpPr>
          <p:cNvPr id="14" name="TextBox 13">
            <a:hlinkClick r:id="rId3"/>
          </p:cNvPr>
          <p:cNvSpPr txBox="1"/>
          <p:nvPr/>
        </p:nvSpPr>
        <p:spPr>
          <a:xfrm>
            <a:off x="914400" y="3675887"/>
            <a:ext cx="2990088" cy="55778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0">
                <a:solidFill>
                  <a:srgbClr val="142234"/>
                </a:solidFill>
                <a:latin typeface="Arial"/>
              </a:rPr>
              <a:t>Unit 42 · Callback Phishing, 2022</a:t>
            </a:r>
          </a:p>
        </p:txBody>
      </p:sp>
      <p:sp>
        <p:nvSpPr>
          <p:cNvPr id="15" name="Rounded Rectangle 14"/>
          <p:cNvSpPr/>
          <p:nvPr/>
        </p:nvSpPr>
        <p:spPr>
          <a:xfrm>
            <a:off x="4434840" y="2167128"/>
            <a:ext cx="3410712" cy="29260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34840" y="2167128"/>
            <a:ext cx="41148" cy="2926080"/>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2331720"/>
            <a:ext cx="3044952"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1">
                <a:solidFill>
                  <a:srgbClr val="18867E"/>
                </a:solidFill>
                <a:latin typeface="Arial"/>
              </a:rPr>
              <a:t>РЕПУТАЦИЯ IP</a:t>
            </a:r>
          </a:p>
        </p:txBody>
      </p:sp>
      <p:sp>
        <p:nvSpPr>
          <p:cNvPr id="18" name="TextBox 17"/>
          <p:cNvSpPr txBox="1"/>
          <p:nvPr/>
        </p:nvSpPr>
        <p:spPr>
          <a:xfrm>
            <a:off x="4617720" y="2871216"/>
            <a:ext cx="3044952" cy="21031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100" b="0">
                <a:solidFill>
                  <a:srgbClr val="142234"/>
                </a:solidFill>
                <a:latin typeface="Arial"/>
              </a:rPr>
              <a:t/>
            </a:r>
          </a:p>
        </p:txBody>
      </p:sp>
      <p:sp>
        <p:nvSpPr>
          <p:cNvPr id="19" name="TextBox 18">
            <a:hlinkClick r:id="rId4"/>
          </p:cNvPr>
          <p:cNvSpPr txBox="1"/>
          <p:nvPr/>
        </p:nvSpPr>
        <p:spPr>
          <a:xfrm>
            <a:off x="4645152" y="3026664"/>
            <a:ext cx="2990088" cy="55778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0">
                <a:solidFill>
                  <a:srgbClr val="142234"/>
                </a:solidFill>
                <a:latin typeface="Arial"/>
              </a:rPr>
              <a:t>AbuseIPDB · CHECK</a:t>
            </a:r>
          </a:p>
        </p:txBody>
      </p:sp>
      <p:sp>
        <p:nvSpPr>
          <p:cNvPr id="20" name="TextBox 19">
            <a:hlinkClick r:id="rId5"/>
          </p:cNvPr>
          <p:cNvSpPr txBox="1"/>
          <p:nvPr/>
        </p:nvSpPr>
        <p:spPr>
          <a:xfrm>
            <a:off x="4645152" y="3675887"/>
            <a:ext cx="2990088" cy="55778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0">
                <a:solidFill>
                  <a:srgbClr val="142234"/>
                </a:solidFill>
                <a:latin typeface="Arial"/>
              </a:rPr>
              <a:t>AbuseIPDB · FAQ</a:t>
            </a:r>
          </a:p>
        </p:txBody>
      </p:sp>
      <p:sp>
        <p:nvSpPr>
          <p:cNvPr id="21" name="Rounded Rectangle 20"/>
          <p:cNvSpPr/>
          <p:nvPr/>
        </p:nvSpPr>
        <p:spPr>
          <a:xfrm>
            <a:off x="8165592" y="2167128"/>
            <a:ext cx="3410712" cy="29260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65592" y="2167128"/>
            <a:ext cx="41148" cy="2926080"/>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1" y="2331720"/>
            <a:ext cx="3044952" cy="36576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400" b="1">
                <a:solidFill>
                  <a:srgbClr val="18867E"/>
                </a:solidFill>
                <a:latin typeface="Arial"/>
              </a:rPr>
              <a:t>ОТЧЁТЫ И ДАННЫЕ</a:t>
            </a:r>
          </a:p>
        </p:txBody>
      </p:sp>
      <p:sp>
        <p:nvSpPr>
          <p:cNvPr id="24" name="TextBox 23"/>
          <p:cNvSpPr txBox="1"/>
          <p:nvPr/>
        </p:nvSpPr>
        <p:spPr>
          <a:xfrm>
            <a:off x="8348471" y="2871216"/>
            <a:ext cx="3044952" cy="21031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100" b="0">
                <a:solidFill>
                  <a:srgbClr val="142234"/>
                </a:solidFill>
                <a:latin typeface="Arial"/>
              </a:rPr>
              <a:t/>
            </a:r>
          </a:p>
        </p:txBody>
      </p:sp>
      <p:sp>
        <p:nvSpPr>
          <p:cNvPr id="25" name="TextBox 24">
            <a:hlinkClick r:id="rId6"/>
          </p:cNvPr>
          <p:cNvSpPr txBox="1"/>
          <p:nvPr/>
        </p:nvSpPr>
        <p:spPr>
          <a:xfrm>
            <a:off x="8375904" y="3026664"/>
            <a:ext cx="2990088" cy="55778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0">
                <a:solidFill>
                  <a:srgbClr val="142234"/>
                </a:solidFill>
                <a:latin typeface="Arial"/>
              </a:rPr>
              <a:t>VT · Analysis object</a:t>
            </a:r>
          </a:p>
        </p:txBody>
      </p:sp>
      <p:sp>
        <p:nvSpPr>
          <p:cNvPr id="26" name="TextBox 25">
            <a:hlinkClick r:id="rId7"/>
          </p:cNvPr>
          <p:cNvSpPr txBox="1"/>
          <p:nvPr/>
        </p:nvSpPr>
        <p:spPr>
          <a:xfrm>
            <a:off x="8375904" y="3675887"/>
            <a:ext cx="2990088" cy="55778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0">
                <a:solidFill>
                  <a:srgbClr val="142234"/>
                </a:solidFill>
                <a:latin typeface="Arial"/>
              </a:rPr>
              <a:t>VT · Searching</a:t>
            </a:r>
          </a:p>
        </p:txBody>
      </p:sp>
      <p:sp>
        <p:nvSpPr>
          <p:cNvPr id="27" name="TextBox 26">
            <a:hlinkClick r:id="rId8"/>
          </p:cNvPr>
          <p:cNvSpPr txBox="1"/>
          <p:nvPr/>
        </p:nvSpPr>
        <p:spPr>
          <a:xfrm>
            <a:off x="8375904" y="4325112"/>
            <a:ext cx="2990088" cy="557784"/>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900" b="0">
                <a:solidFill>
                  <a:srgbClr val="142234"/>
                </a:solidFill>
                <a:latin typeface="Arial"/>
              </a:rPr>
              <a:t>VT · Upload / disclosure</a:t>
            </a:r>
          </a:p>
        </p:txBody>
      </p:sp>
      <p:sp>
        <p:nvSpPr>
          <p:cNvPr id="28" name="TextBox 27"/>
          <p:cNvSpPr txBox="1"/>
          <p:nvPr/>
        </p:nvSpPr>
        <p:spPr>
          <a:xfrm>
            <a:off x="795528" y="5513832"/>
            <a:ext cx="10561320" cy="658368"/>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100" b="0">
                <a:solidFill>
                  <a:srgbClr val="526778"/>
                </a:solidFill>
                <a:latin typeface="Arial"/>
              </a:rPr>
              <a:t>Проверено 14 октября 2026 года.</a:t>
            </a:r>
          </a:p>
          <a:p>
            <a:pPr algn="l">
              <a:lnSpc>
                <a:spcPct val="108000"/>
              </a:lnSpc>
              <a:spcBef>
                <a:spcPts val="0"/>
              </a:spcBef>
              <a:spcAft>
                <a:spcPts val="300"/>
              </a:spcAft>
            </a:pPr>
            <a:r>
              <a:rPr sz="2100" b="0">
                <a:solidFill>
                  <a:srgbClr val="526778"/>
                </a:solidFill>
                <a:latin typeface="Arial"/>
              </a:rPr>
              <a:t>Полные ссылки и основания — в заметках слайдов.</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B29"/>
        </a:solidFill>
        <a:effectLst/>
      </p:bgPr>
    </p:bg>
    <p:spTree>
      <p:nvGrpSpPr>
        <p:cNvPr id="1" name=""/>
        <p:cNvGrpSpPr/>
        <p:nvPr/>
      </p:nvGrpSpPr>
      <p:grpSpPr/>
      <p:sp>
        <p:nvSpPr>
          <p:cNvPr id="2" name="Rectangle 1"/>
          <p:cNvSpPr/>
          <p:nvPr/>
        </p:nvSpPr>
        <p:spPr>
          <a:xfrm>
            <a:off x="621792" y="438912"/>
            <a:ext cx="73152" cy="173736"/>
          </a:xfrm>
          <a:prstGeom prst="rect">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32104" y="429768"/>
            <a:ext cx="10607040" cy="27432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1100" b="1">
                <a:solidFill>
                  <a:srgbClr val="A6B8C9"/>
                </a:solidFill>
                <a:latin typeface="Arial"/>
              </a:rPr>
              <a:t>ПРИЛОЖЕНИЕ · ПАМЯТКА АНАЛИТИКУ</a:t>
            </a:r>
          </a:p>
        </p:txBody>
      </p:sp>
      <p:sp>
        <p:nvSpPr>
          <p:cNvPr id="4" name="TextBox 3"/>
          <p:cNvSpPr txBox="1"/>
          <p:nvPr/>
        </p:nvSpPr>
        <p:spPr>
          <a:xfrm>
            <a:off x="621792" y="886968"/>
            <a:ext cx="10972800" cy="8686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3600" b="1">
                <a:solidFill>
                  <a:srgbClr val="F3F6FA"/>
                </a:solidFill>
                <a:latin typeface="Arial"/>
              </a:rPr>
              <a:t>Сохранить себе: проверка объекта</a:t>
            </a:r>
          </a:p>
        </p:txBody>
      </p:sp>
      <p:cxnSp>
        <p:nvCxnSpPr>
          <p:cNvPr id="5" name="Connector 4"/>
          <p:cNvCxnSpPr/>
          <p:nvPr/>
        </p:nvCxnSpPr>
        <p:spPr>
          <a:xfrm>
            <a:off x="640080" y="6419088"/>
            <a:ext cx="10927080" cy="0"/>
          </a:xfrm>
          <a:prstGeom prst="line">
            <a:avLst/>
          </a:prstGeom>
          <a:ln w="8890">
            <a:solidFill>
              <a:srgbClr val="2A3C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6519672"/>
            <a:ext cx="6217920" cy="182880"/>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900" b="0">
                <a:solidFill>
                  <a:srgbClr val="A6B8C9"/>
                </a:solidFill>
                <a:latin typeface="Arial"/>
              </a:rPr>
              <a:t>ЗАГУГЛИТЬ ПРОТИВНИКА · THREAT INTELLIGENCE</a:t>
            </a:r>
          </a:p>
        </p:txBody>
      </p:sp>
      <p:sp>
        <p:nvSpPr>
          <p:cNvPr id="7" name="TextBox 6"/>
          <p:cNvSpPr txBox="1"/>
          <p:nvPr/>
        </p:nvSpPr>
        <p:spPr>
          <a:xfrm>
            <a:off x="8503920" y="6483096"/>
            <a:ext cx="2423160" cy="228600"/>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000" b="0">
                <a:solidFill>
                  <a:srgbClr val="A6B8C9"/>
                </a:solidFill>
                <a:latin typeface="Arial"/>
              </a:rPr>
              <a:t>Вне 25 минут</a:t>
            </a:r>
          </a:p>
        </p:txBody>
      </p:sp>
      <p:sp>
        <p:nvSpPr>
          <p:cNvPr id="8" name="TextBox 7"/>
          <p:cNvSpPr txBox="1"/>
          <p:nvPr/>
        </p:nvSpPr>
        <p:spPr>
          <a:xfrm>
            <a:off x="11100816" y="6469380"/>
            <a:ext cx="448056" cy="265176"/>
          </a:xfrm>
          <a:prstGeom prst="rect">
            <a:avLst/>
          </a:prstGeom>
          <a:noFill/>
        </p:spPr>
        <p:txBody>
          <a:bodyPr wrap="square" lIns="9144" rIns="9144" tIns="13716" bIns="13716" anchor="t">
            <a:spAutoFit/>
          </a:bodyPr>
          <a:lstStyle/>
          <a:p>
            <a:pPr algn="r">
              <a:lnSpc>
                <a:spcPct val="108000"/>
              </a:lnSpc>
              <a:spcBef>
                <a:spcPts val="0"/>
              </a:spcBef>
              <a:spcAft>
                <a:spcPts val="300"/>
              </a:spcAft>
            </a:pPr>
            <a:r>
              <a:rPr sz="1200" b="1">
                <a:solidFill>
                  <a:srgbClr val="A6B8C9"/>
                </a:solidFill>
                <a:latin typeface="Arial"/>
              </a:rPr>
              <a:t>16</a:t>
            </a:r>
          </a:p>
        </p:txBody>
      </p:sp>
      <p:sp>
        <p:nvSpPr>
          <p:cNvPr id="9" name="Oval 8"/>
          <p:cNvSpPr/>
          <p:nvPr/>
        </p:nvSpPr>
        <p:spPr>
          <a:xfrm>
            <a:off x="731520" y="2185415"/>
            <a:ext cx="420624" cy="420624"/>
          </a:xfrm>
          <a:prstGeom prst="ellipse">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 y="2276856"/>
            <a:ext cx="292608" cy="219456"/>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200" b="1">
                <a:solidFill>
                  <a:srgbClr val="142234"/>
                </a:solidFill>
                <a:latin typeface="Arial"/>
              </a:rPr>
              <a:t>1</a:t>
            </a:r>
          </a:p>
        </p:txBody>
      </p:sp>
      <p:sp>
        <p:nvSpPr>
          <p:cNvPr id="11" name="TextBox 10"/>
          <p:cNvSpPr txBox="1"/>
          <p:nvPr/>
        </p:nvSpPr>
        <p:spPr>
          <a:xfrm>
            <a:off x="1417320" y="2139696"/>
            <a:ext cx="4443984" cy="81381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F3F6FA"/>
                </a:solidFill>
                <a:latin typeface="Arial"/>
              </a:rPr>
              <a:t>Зафиксировать событие</a:t>
            </a:r>
          </a:p>
          <a:p>
            <a:pPr algn="l">
              <a:lnSpc>
                <a:spcPct val="108000"/>
              </a:lnSpc>
              <a:spcBef>
                <a:spcPts val="0"/>
              </a:spcBef>
              <a:spcAft>
                <a:spcPts val="300"/>
              </a:spcAft>
            </a:pPr>
            <a:r>
              <a:rPr sz="2200" b="0">
                <a:solidFill>
                  <a:srgbClr val="F3F6FA"/>
                </a:solidFill>
                <a:latin typeface="Arial"/>
              </a:rPr>
              <a:t>и время</a:t>
            </a:r>
          </a:p>
        </p:txBody>
      </p:sp>
      <p:sp>
        <p:nvSpPr>
          <p:cNvPr id="12" name="Oval 11"/>
          <p:cNvSpPr/>
          <p:nvPr/>
        </p:nvSpPr>
        <p:spPr>
          <a:xfrm>
            <a:off x="731520" y="3136391"/>
            <a:ext cx="420624" cy="420624"/>
          </a:xfrm>
          <a:prstGeom prst="ellipse">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 y="3227832"/>
            <a:ext cx="292608" cy="219456"/>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200" b="1">
                <a:solidFill>
                  <a:srgbClr val="142234"/>
                </a:solidFill>
                <a:latin typeface="Arial"/>
              </a:rPr>
              <a:t>2</a:t>
            </a:r>
          </a:p>
        </p:txBody>
      </p:sp>
      <p:sp>
        <p:nvSpPr>
          <p:cNvPr id="14" name="TextBox 13"/>
          <p:cNvSpPr txBox="1"/>
          <p:nvPr/>
        </p:nvSpPr>
        <p:spPr>
          <a:xfrm>
            <a:off x="1417320" y="3090672"/>
            <a:ext cx="4443984" cy="81381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F3F6FA"/>
                </a:solidFill>
                <a:latin typeface="Arial"/>
              </a:rPr>
              <a:t>Выбрать объект</a:t>
            </a:r>
          </a:p>
          <a:p>
            <a:pPr algn="l">
              <a:lnSpc>
                <a:spcPct val="108000"/>
              </a:lnSpc>
              <a:spcBef>
                <a:spcPts val="0"/>
              </a:spcBef>
              <a:spcAft>
                <a:spcPts val="300"/>
              </a:spcAft>
            </a:pPr>
            <a:r>
              <a:rPr sz="2200" b="0">
                <a:solidFill>
                  <a:srgbClr val="F3F6FA"/>
                </a:solidFill>
                <a:latin typeface="Arial"/>
              </a:rPr>
              <a:t>и вопрос</a:t>
            </a:r>
          </a:p>
        </p:txBody>
      </p:sp>
      <p:sp>
        <p:nvSpPr>
          <p:cNvPr id="15" name="Oval 14"/>
          <p:cNvSpPr/>
          <p:nvPr/>
        </p:nvSpPr>
        <p:spPr>
          <a:xfrm>
            <a:off x="731520" y="4087368"/>
            <a:ext cx="420624" cy="420624"/>
          </a:xfrm>
          <a:prstGeom prst="ellipse">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 y="4178808"/>
            <a:ext cx="292608" cy="219456"/>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200" b="1">
                <a:solidFill>
                  <a:srgbClr val="142234"/>
                </a:solidFill>
                <a:latin typeface="Arial"/>
              </a:rPr>
              <a:t>3</a:t>
            </a:r>
          </a:p>
        </p:txBody>
      </p:sp>
      <p:sp>
        <p:nvSpPr>
          <p:cNvPr id="17" name="TextBox 16"/>
          <p:cNvSpPr txBox="1"/>
          <p:nvPr/>
        </p:nvSpPr>
        <p:spPr>
          <a:xfrm>
            <a:off x="1417320" y="4041648"/>
            <a:ext cx="4443984" cy="81381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F3F6FA"/>
                </a:solidFill>
                <a:latin typeface="Arial"/>
              </a:rPr>
              <a:t>Проверить допустимость</a:t>
            </a:r>
          </a:p>
          <a:p>
            <a:pPr algn="l">
              <a:lnSpc>
                <a:spcPct val="108000"/>
              </a:lnSpc>
              <a:spcBef>
                <a:spcPts val="0"/>
              </a:spcBef>
              <a:spcAft>
                <a:spcPts val="300"/>
              </a:spcAft>
            </a:pPr>
            <a:r>
              <a:rPr sz="2200" b="0">
                <a:solidFill>
                  <a:srgbClr val="F3F6FA"/>
                </a:solidFill>
                <a:latin typeface="Arial"/>
              </a:rPr>
              <a:t>внешнего запроса</a:t>
            </a:r>
          </a:p>
        </p:txBody>
      </p:sp>
      <p:sp>
        <p:nvSpPr>
          <p:cNvPr id="18" name="Oval 17"/>
          <p:cNvSpPr/>
          <p:nvPr/>
        </p:nvSpPr>
        <p:spPr>
          <a:xfrm>
            <a:off x="6291072" y="2185415"/>
            <a:ext cx="420624" cy="420624"/>
          </a:xfrm>
          <a:prstGeom prst="ellipse">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0508" y="2276856"/>
            <a:ext cx="292608" cy="219456"/>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200" b="1">
                <a:solidFill>
                  <a:srgbClr val="142234"/>
                </a:solidFill>
                <a:latin typeface="Arial"/>
              </a:rPr>
              <a:t>4</a:t>
            </a:r>
          </a:p>
        </p:txBody>
      </p:sp>
      <p:sp>
        <p:nvSpPr>
          <p:cNvPr id="20" name="TextBox 19"/>
          <p:cNvSpPr txBox="1"/>
          <p:nvPr/>
        </p:nvSpPr>
        <p:spPr>
          <a:xfrm>
            <a:off x="6976872" y="2139696"/>
            <a:ext cx="4443984" cy="81381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F3F6FA"/>
                </a:solidFill>
                <a:latin typeface="Arial"/>
              </a:rPr>
              <a:t>Прочитать содержание,</a:t>
            </a:r>
          </a:p>
          <a:p>
            <a:pPr algn="l">
              <a:lnSpc>
                <a:spcPct val="108000"/>
              </a:lnSpc>
              <a:spcBef>
                <a:spcPts val="0"/>
              </a:spcBef>
              <a:spcAft>
                <a:spcPts val="300"/>
              </a:spcAft>
            </a:pPr>
            <a:r>
              <a:rPr sz="2200" b="0">
                <a:solidFill>
                  <a:srgbClr val="F3F6FA"/>
                </a:solidFill>
                <a:latin typeface="Arial"/>
              </a:rPr>
              <a:t>источник и даты</a:t>
            </a:r>
          </a:p>
        </p:txBody>
      </p:sp>
      <p:sp>
        <p:nvSpPr>
          <p:cNvPr id="21" name="Oval 20"/>
          <p:cNvSpPr/>
          <p:nvPr/>
        </p:nvSpPr>
        <p:spPr>
          <a:xfrm>
            <a:off x="6291072" y="3136391"/>
            <a:ext cx="420624" cy="420624"/>
          </a:xfrm>
          <a:prstGeom prst="ellipse">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0508" y="3227832"/>
            <a:ext cx="292608" cy="219456"/>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200" b="1">
                <a:solidFill>
                  <a:srgbClr val="142234"/>
                </a:solidFill>
                <a:latin typeface="Arial"/>
              </a:rPr>
              <a:t>5</a:t>
            </a:r>
          </a:p>
        </p:txBody>
      </p:sp>
      <p:sp>
        <p:nvSpPr>
          <p:cNvPr id="23" name="TextBox 22"/>
          <p:cNvSpPr txBox="1"/>
          <p:nvPr/>
        </p:nvSpPr>
        <p:spPr>
          <a:xfrm>
            <a:off x="6976872" y="3090672"/>
            <a:ext cx="4443984" cy="81381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F3F6FA"/>
                </a:solidFill>
                <a:latin typeface="Arial"/>
              </a:rPr>
              <a:t>Сопоставить</a:t>
            </a:r>
          </a:p>
          <a:p>
            <a:pPr algn="l">
              <a:lnSpc>
                <a:spcPct val="108000"/>
              </a:lnSpc>
              <a:spcBef>
                <a:spcPts val="0"/>
              </a:spcBef>
              <a:spcAft>
                <a:spcPts val="300"/>
              </a:spcAft>
            </a:pPr>
            <a:r>
              <a:rPr sz="2200" b="0">
                <a:solidFill>
                  <a:srgbClr val="F3F6FA"/>
                </a:solidFill>
                <a:latin typeface="Arial"/>
              </a:rPr>
              <a:t>с внутренними данными</a:t>
            </a:r>
          </a:p>
        </p:txBody>
      </p:sp>
      <p:sp>
        <p:nvSpPr>
          <p:cNvPr id="24" name="Oval 23"/>
          <p:cNvSpPr/>
          <p:nvPr/>
        </p:nvSpPr>
        <p:spPr>
          <a:xfrm>
            <a:off x="6291072" y="4087368"/>
            <a:ext cx="420624" cy="420624"/>
          </a:xfrm>
          <a:prstGeom prst="ellipse">
            <a:avLst/>
          </a:prstGeom>
          <a:solidFill>
            <a:srgbClr val="58D5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0508" y="4178808"/>
            <a:ext cx="292608" cy="219456"/>
          </a:xfrm>
          <a:prstGeom prst="rect">
            <a:avLst/>
          </a:prstGeom>
          <a:noFill/>
        </p:spPr>
        <p:txBody>
          <a:bodyPr wrap="square" lIns="9144" rIns="9144" tIns="13716" bIns="13716" anchor="t">
            <a:spAutoFit/>
          </a:bodyPr>
          <a:lstStyle/>
          <a:p>
            <a:pPr algn="ctr">
              <a:lnSpc>
                <a:spcPct val="108000"/>
              </a:lnSpc>
              <a:spcBef>
                <a:spcPts val="0"/>
              </a:spcBef>
              <a:spcAft>
                <a:spcPts val="300"/>
              </a:spcAft>
            </a:pPr>
            <a:r>
              <a:rPr sz="1200" b="1">
                <a:solidFill>
                  <a:srgbClr val="142234"/>
                </a:solidFill>
                <a:latin typeface="Arial"/>
              </a:rPr>
              <a:t>6</a:t>
            </a:r>
          </a:p>
        </p:txBody>
      </p:sp>
      <p:sp>
        <p:nvSpPr>
          <p:cNvPr id="26" name="TextBox 25"/>
          <p:cNvSpPr txBox="1"/>
          <p:nvPr/>
        </p:nvSpPr>
        <p:spPr>
          <a:xfrm>
            <a:off x="6976872" y="4041648"/>
            <a:ext cx="4443984" cy="813816"/>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200" b="0">
                <a:solidFill>
                  <a:srgbClr val="F3F6FA"/>
                </a:solidFill>
                <a:latin typeface="Arial"/>
              </a:rPr>
              <a:t>Записать вывод,</a:t>
            </a:r>
          </a:p>
          <a:p>
            <a:pPr algn="l">
              <a:lnSpc>
                <a:spcPct val="108000"/>
              </a:lnSpc>
              <a:spcBef>
                <a:spcPts val="0"/>
              </a:spcBef>
              <a:spcAft>
                <a:spcPts val="300"/>
              </a:spcAft>
            </a:pPr>
            <a:r>
              <a:rPr sz="2200" b="0">
                <a:solidFill>
                  <a:srgbClr val="F3F6FA"/>
                </a:solidFill>
                <a:latin typeface="Arial"/>
              </a:rPr>
              <a:t>пробелы и действие</a:t>
            </a:r>
          </a:p>
        </p:txBody>
      </p:sp>
      <p:sp>
        <p:nvSpPr>
          <p:cNvPr id="27" name="Rounded Rectangle 26"/>
          <p:cNvSpPr/>
          <p:nvPr/>
        </p:nvSpPr>
        <p:spPr>
          <a:xfrm>
            <a:off x="722376" y="5431536"/>
            <a:ext cx="10771632" cy="539496"/>
          </a:xfrm>
          <a:prstGeom prst="roundRect">
            <a:avLst>
              <a:gd name="adj" fmla="val 12000"/>
            </a:avLst>
          </a:prstGeom>
          <a:solidFill>
            <a:srgbClr val="1B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5559552"/>
            <a:ext cx="10341864" cy="301752"/>
          </a:xfrm>
          <a:prstGeom prst="rect">
            <a:avLst/>
          </a:prstGeom>
          <a:noFill/>
        </p:spPr>
        <p:txBody>
          <a:bodyPr wrap="square" lIns="9144" rIns="9144" tIns="13716" bIns="13716" anchor="t">
            <a:spAutoFit/>
          </a:bodyPr>
          <a:lstStyle/>
          <a:p>
            <a:pPr algn="l">
              <a:lnSpc>
                <a:spcPct val="108000"/>
              </a:lnSpc>
              <a:spcBef>
                <a:spcPts val="0"/>
              </a:spcBef>
              <a:spcAft>
                <a:spcPts val="300"/>
              </a:spcAft>
            </a:pPr>
            <a:r>
              <a:rPr sz="2100" b="1">
                <a:solidFill>
                  <a:srgbClr val="CDF276"/>
                </a:solidFill>
                <a:latin typeface="Arial"/>
              </a:rPr>
              <a:t>Событие → свидетельство → проверка → вывод → действие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Загуглить противника: Threat Intelligence для начинающих</dc:title>
  <dc:subject>25 минут · 14 слайдов · заметки спикера · 2 приложения</dc:subject>
  <dc:creator>Компания / Имя спикера</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