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141d8edb724312" /><Relationship Type="http://schemas.openxmlformats.org/officeDocument/2006/relationships/extended-properties" Target="/docProps/app.xml" Id="Re8cddbc46af24ca9" /><Relationship Type="http://schemas.openxmlformats.org/officeDocument/2006/relationships/officeDocument" Target="/ppt/presentation.xml" Id="Ra7f019d5166d4c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96e880fed4a25"/>
  </p:sldMasterIdLst>
  <p:notesMasterIdLst>
    <p:notesMasterId xmlns:r="http://schemas.openxmlformats.org/officeDocument/2006/relationships" r:id="Rd08078ccc1e24399"/>
  </p:notesMasterIdLst>
  <p:sldIdLst>
    <p:sldId xmlns:r="http://schemas.openxmlformats.org/officeDocument/2006/relationships" id="256" r:id="R2cf48d8bba5c411a"/>
    <p:sldId xmlns:r="http://schemas.openxmlformats.org/officeDocument/2006/relationships" id="257" r:id="R28948af7648a498d"/>
    <p:sldId xmlns:r="http://schemas.openxmlformats.org/officeDocument/2006/relationships" id="258" r:id="R4701a4c0d7ad4461"/>
    <p:sldId xmlns:r="http://schemas.openxmlformats.org/officeDocument/2006/relationships" id="259" r:id="Rf037a434f8ab4441"/>
    <p:sldId xmlns:r="http://schemas.openxmlformats.org/officeDocument/2006/relationships" id="260" r:id="Rc0e706f7438b41d6"/>
    <p:sldId xmlns:r="http://schemas.openxmlformats.org/officeDocument/2006/relationships" id="261" r:id="R0fd029a43a8e4e43"/>
    <p:sldId xmlns:r="http://schemas.openxmlformats.org/officeDocument/2006/relationships" id="262" r:id="Re016efe4acf74e93"/>
    <p:sldId xmlns:r="http://schemas.openxmlformats.org/officeDocument/2006/relationships" id="263" r:id="R48121f13c61e4fdc"/>
    <p:sldId xmlns:r="http://schemas.openxmlformats.org/officeDocument/2006/relationships" id="264" r:id="Rc0136a15f387465a"/>
    <p:sldId xmlns:r="http://schemas.openxmlformats.org/officeDocument/2006/relationships" id="265" r:id="Rea9ac8d35c0d4b0f"/>
    <p:sldId xmlns:r="http://schemas.openxmlformats.org/officeDocument/2006/relationships" id="266" r:id="R7a873360a3134e3e"/>
    <p:sldId xmlns:r="http://schemas.openxmlformats.org/officeDocument/2006/relationships" id="267" r:id="R139c58c17bec4963"/>
    <p:sldId xmlns:r="http://schemas.openxmlformats.org/officeDocument/2006/relationships" id="268" r:id="R2643d742b2f34d04"/>
    <p:sldId xmlns:r="http://schemas.openxmlformats.org/officeDocument/2006/relationships" id="269" r:id="R719ad64632f24741"/>
    <p:sldId xmlns:r="http://schemas.openxmlformats.org/officeDocument/2006/relationships" id="270" r:id="R0a3c7f1a32e84473"/>
    <p:sldId xmlns:r="http://schemas.openxmlformats.org/officeDocument/2006/relationships" id="271" r:id="R4b46e14842cb44db"/>
    <p:sldId xmlns:r="http://schemas.openxmlformats.org/officeDocument/2006/relationships" id="272" r:id="R598c1f3b5763414c"/>
    <p:sldId xmlns:r="http://schemas.openxmlformats.org/officeDocument/2006/relationships" id="273" r:id="Ra64d2fa1fc0d41ab"/>
    <p:sldId xmlns:r="http://schemas.openxmlformats.org/officeDocument/2006/relationships" id="274" r:id="Rf39014f1679b42da"/>
    <p:sldId xmlns:r="http://schemas.openxmlformats.org/officeDocument/2006/relationships" id="275" r:id="R057ee53e4a0f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f98de292f430b" /><Relationship Type="http://schemas.openxmlformats.org/officeDocument/2006/relationships/slideMaster" Target="/ppt/slideMasters/slideMaster1.xml" Id="R62796e880fed4a25" /><Relationship Type="http://schemas.openxmlformats.org/officeDocument/2006/relationships/notesMaster" Target="/ppt/notesMasters/notesMaster1.xml" Id="Rd08078ccc1e24399" /><Relationship Type="http://schemas.openxmlformats.org/officeDocument/2006/relationships/presProps" Target="/ppt/presProps.xml" Id="R0a7fd4ee679b44a6" /><Relationship Type="http://schemas.openxmlformats.org/officeDocument/2006/relationships/tableStyles" Target="/ppt/tableStyles.xml" Id="R7862c510d6f04dc0" /><Relationship Type="http://schemas.openxmlformats.org/officeDocument/2006/relationships/slide" Target="/ppt/slides/slide1.xml" Id="R2cf48d8bba5c411a" /><Relationship Type="http://schemas.openxmlformats.org/officeDocument/2006/relationships/slide" Target="/ppt/slides/slide2.xml" Id="R28948af7648a498d" /><Relationship Type="http://schemas.openxmlformats.org/officeDocument/2006/relationships/slide" Target="/ppt/slides/slide3.xml" Id="R4701a4c0d7ad4461" /><Relationship Type="http://schemas.openxmlformats.org/officeDocument/2006/relationships/slide" Target="/ppt/slides/slide4.xml" Id="Rf037a434f8ab4441" /><Relationship Type="http://schemas.openxmlformats.org/officeDocument/2006/relationships/slide" Target="/ppt/slides/slide5.xml" Id="Rc0e706f7438b41d6" /><Relationship Type="http://schemas.openxmlformats.org/officeDocument/2006/relationships/slide" Target="/ppt/slides/slide6.xml" Id="R0fd029a43a8e4e43" /><Relationship Type="http://schemas.openxmlformats.org/officeDocument/2006/relationships/slide" Target="/ppt/slides/slide7.xml" Id="Re016efe4acf74e93" /><Relationship Type="http://schemas.openxmlformats.org/officeDocument/2006/relationships/slide" Target="/ppt/slides/slide8.xml" Id="R48121f13c61e4fdc" /><Relationship Type="http://schemas.openxmlformats.org/officeDocument/2006/relationships/slide" Target="/ppt/slides/slide9.xml" Id="Rc0136a15f387465a" /><Relationship Type="http://schemas.openxmlformats.org/officeDocument/2006/relationships/slide" Target="/ppt/slides/slide10.xml" Id="Rea9ac8d35c0d4b0f" /><Relationship Type="http://schemas.openxmlformats.org/officeDocument/2006/relationships/slide" Target="/ppt/slides/slide11.xml" Id="R7a873360a3134e3e" /><Relationship Type="http://schemas.openxmlformats.org/officeDocument/2006/relationships/slide" Target="/ppt/slides/slide12.xml" Id="R139c58c17bec4963" /><Relationship Type="http://schemas.openxmlformats.org/officeDocument/2006/relationships/slide" Target="/ppt/slides/slide13.xml" Id="R2643d742b2f34d04" /><Relationship Type="http://schemas.openxmlformats.org/officeDocument/2006/relationships/slide" Target="/ppt/slides/slide14.xml" Id="R719ad64632f24741" /><Relationship Type="http://schemas.openxmlformats.org/officeDocument/2006/relationships/slide" Target="/ppt/slides/slide15.xml" Id="R0a3c7f1a32e84473" /><Relationship Type="http://schemas.openxmlformats.org/officeDocument/2006/relationships/slide" Target="/ppt/slides/slide16.xml" Id="R4b46e14842cb44db" /><Relationship Type="http://schemas.openxmlformats.org/officeDocument/2006/relationships/slide" Target="/ppt/slides/slide17.xml" Id="R598c1f3b5763414c" /><Relationship Type="http://schemas.openxmlformats.org/officeDocument/2006/relationships/slide" Target="/ppt/slides/slide18.xml" Id="Ra64d2fa1fc0d41ab" /><Relationship Type="http://schemas.openxmlformats.org/officeDocument/2006/relationships/slide" Target="/ppt/slides/slide19.xml" Id="Rf39014f1679b42da" /><Relationship Type="http://schemas.openxmlformats.org/officeDocument/2006/relationships/slide" Target="/ppt/slides/slide20.xml" Id="R057ee53e4a0f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e4ad2afd4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414c814c04940" /><Relationship Type="http://schemas.openxmlformats.org/officeDocument/2006/relationships/notesMaster" Target="/ppt/notesMasters/notesMaster1.xml" Id="Ra20de2fbda8d45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5fa162b2e4f98" /><Relationship Type="http://schemas.openxmlformats.org/officeDocument/2006/relationships/notesMaster" Target="/ppt/notesMasters/notesMaster1.xml" Id="R807eafa59e9d44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8acdbd708465c" /><Relationship Type="http://schemas.openxmlformats.org/officeDocument/2006/relationships/notesMaster" Target="/ppt/notesMasters/notesMaster1.xml" Id="R0a725eb036d54a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43969e25345cf" /><Relationship Type="http://schemas.openxmlformats.org/officeDocument/2006/relationships/notesMaster" Target="/ppt/notesMasters/notesMaster1.xml" Id="R9f384570400b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c75c988bed4854" /><Relationship Type="http://schemas.openxmlformats.org/officeDocument/2006/relationships/notesMaster" Target="/ppt/notesMasters/notesMaster1.xml" Id="Reea30fa9215241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ef13a9321749bd" /><Relationship Type="http://schemas.openxmlformats.org/officeDocument/2006/relationships/notesMaster" Target="/ppt/notesMasters/notesMaster1.xml" Id="R48e1faba2eb8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877c37c33b4436" /><Relationship Type="http://schemas.openxmlformats.org/officeDocument/2006/relationships/notesMaster" Target="/ppt/notesMasters/notesMaster1.xml" Id="R9aa74fa52cbc46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7be82df1814bf6" /><Relationship Type="http://schemas.openxmlformats.org/officeDocument/2006/relationships/notesMaster" Target="/ppt/notesMasters/notesMaster1.xml" Id="Rc4b35d8e6fad4e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fda438e22b4127" /><Relationship Type="http://schemas.openxmlformats.org/officeDocument/2006/relationships/notesMaster" Target="/ppt/notesMasters/notesMaster1.xml" Id="R4a0469c9092d48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8c6d58b3174785" /><Relationship Type="http://schemas.openxmlformats.org/officeDocument/2006/relationships/notesMaster" Target="/ppt/notesMasters/notesMaster1.xml" Id="R387ef76465b240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8408bc5ad744e5" /><Relationship Type="http://schemas.openxmlformats.org/officeDocument/2006/relationships/notesMaster" Target="/ppt/notesMasters/notesMaster1.xml" Id="Rd31e649936af4d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5b33adbc874d46" /><Relationship Type="http://schemas.openxmlformats.org/officeDocument/2006/relationships/notesMaster" Target="/ppt/notesMasters/notesMaster1.xml" Id="R182cb98cac7748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1e324647e34bf0" /><Relationship Type="http://schemas.openxmlformats.org/officeDocument/2006/relationships/notesMaster" Target="/ppt/notesMasters/notesMaster1.xml" Id="Rf370d7cdf56040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a8534444b5484a" /><Relationship Type="http://schemas.openxmlformats.org/officeDocument/2006/relationships/notesMaster" Target="/ppt/notesMasters/notesMaster1.xml" Id="Rf63fbe9b1a5848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b5316e862248a0" /><Relationship Type="http://schemas.openxmlformats.org/officeDocument/2006/relationships/notesMaster" Target="/ppt/notesMasters/notesMaster1.xml" Id="R7e5c00962fdc4b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8537cf720c4e00" /><Relationship Type="http://schemas.openxmlformats.org/officeDocument/2006/relationships/notesMaster" Target="/ppt/notesMasters/notesMaster1.xml" Id="R138ffc011c7248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944d3e249b4044" /><Relationship Type="http://schemas.openxmlformats.org/officeDocument/2006/relationships/notesMaster" Target="/ppt/notesMasters/notesMaster1.xml" Id="R34484ef6fd0146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aef7fcfc6342dc" /><Relationship Type="http://schemas.openxmlformats.org/officeDocument/2006/relationships/notesMaster" Target="/ppt/notesMasters/notesMaster1.xml" Id="R8dda727af29149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ed5e8c2fe334dfb" /><Relationship Type="http://schemas.openxmlformats.org/officeDocument/2006/relationships/notesMaster" Target="/ppt/notesMasters/notesMaster1.xml" Id="R2d6c8a8dcc3c48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f34fb43fd64d05" /><Relationship Type="http://schemas.openxmlformats.org/officeDocument/2006/relationships/notesMaster" Target="/ppt/notesMasters/notesMaster1.xml" Id="Ra56f5098cb06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этой работе мы связываем три понятия: эталон класса, решение классификатора и запас прочности этого решения. Объектами будут характеристики сетевого трафика, а классами — нормальная работа и SYN-flood. Сначала выберем представительные объекты, затем сравним классификацию по близости к ним с линейной машиной опорных векторов. На численном примере увидим, почему правильное решение может быть пограничным, а расстояние от границы само по себе ещё не подтверждает правильность. Все приведённые объекты созданы специально для объяснения метода. Цель доклада — показать воспроизводимый расчёт и аккуратную интерпретацию отступа.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https://doi.org/10.1007/BF00994018</a:t>
            </a:r>
          </a:p>
          <a:p xmlns:a="http://schemas.openxmlformats.org/drawingml/2006/main">
            <a:r>
              <a:t>https://www.rfc-editor.org/rfc/rfc4987.html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Напомним установление TCP-соединения: клиент отправляет SYN, сервер отвечает SYN-ACK и ожидает завершающий ACK. При SYN-flood возникает множество попыток, для которых рукопожатие не завершается. Если сервер хранит состояние таких попыток, они могут занять очередь и ресурсы, необходимые обычным клиентам. Для нашей задачи важны два наблюдения: интенсивность входящих SYN и доля незавершённых рукопожатий. Однако высокая интенсивность встречается и при легитимном росте посещаемости. Незавершённые соединения возможны при потерях, задержках и неполной видимости трафика. Поэтому мы рассматриваем сочетание признаков и заранее ожидаем область неоднозначности. RFC 4987 описывает механизм атаки и ограничения способов защиты; здесь мы исследуем именно классификационную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https://www.rfc-editor.org/rfc/rfc4987.html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объект — наблюдение за одним целевым хостом и портом в окне десять секунд. Первый признак равен средней скорости всех входящих SYN, делённой на тысячу: значение 0,9 означает 900 SYN в секунду. Второй признак — доля начатых соединений, для которых полное рукопожатие не наблюдалось за три секунды после начального SYN. Значение 0,4 означает 40 процентов. Повторные SYN входят в счётчик скорости, но при подсчёте доли попыток дедуплицируются. Для последней попытки в окне потребуется дождаться окончания трёхсекундного срока; это ретроспективный признак с задержкой. Окна без SYN исключаем, поскольку доля для них не определена. Оба направления трафика должны быть доступны наблюдателю.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https://www.rfc-editor.org/rfc/rfc4987.html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Обучающая выборка содержит двадцать объектов: десять нормальных и десять атакующих. Метка минус один означает норму, плюс один — SYN-flood. Ещё восемь объектов заранее оставлены для иллюстративных проверок: они не участвовали в выборе медоидов или обучении SVM. Эти восемь примеров намеренно включают простые и пограничные ситуации. Поэтому считать по ним достоверную точность сетевого детектора нельзя: это небольшая синтетическая демонстрация, а не независимый эксперимент на реальном трафике. Масштаб первого признака задан заранее, параметры стандартизации по данным не оценивались. Именно в этих фиксированных координатах далее определены евклидовы расстояния, эталоны, зазор и радиус устойчивости.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эталон — представительный объект своего класса в выбранном пространстве признаков. Возьмём медоид: среди обучающих объектов класса выберем тот, у которого минимальна сумма евклидовых расстояний до остальных объектов того же класса. В отличие от среднего вектора, такой эталон обязательно совпадает с одним из наблюдений. Для нормального трафика получили N05 с координатами 0,60 и 0,15. Для атаки — A06 с координатами 1,30 и 0,65. Минимальные суммы расстояний равны примерно 2,4155 и 2,8826 соответственно. Это типичные представители именно нашей учебной выборки. У другого сервиса, при другом масштабе признаков или нескольких режимах нормальной нагрузки эталоны могут измениться.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https://arxiv.org/abs/1810.05691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Простейшее правило выбирает ближайший из двух медоидов. Обозначим расстояния до нормального и атакующего эталонов через d минус и d плюс. Для объекта с известной меткой отступ равен y, умноженному на разность d минус и d плюс. Положительное значение означает правильный выбор, отрицательное — ошибку, ноль — равенство расстояний. Например, для T01 расстояния около 0,1897 и 1,0431, отступ положительный: это норма. Для T02 расстояния 1,1981 и 0,3397: правильно выбрана атака. У нормального T07 расстояния 0,6001 и 0,5001: ближайший эталон ошибочно указывает на атаку, хотя SVM, которую рассмотрим далее, правильно выберет норму. Разность расстояний служит сравнительной оценкой, но не является непосредственно расстоянием до разделяющей границы.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https://arxiv.org/abs/1810.05691</a:t>
            </a:r>
          </a:p>
          <a:p xmlns:a="http://schemas.openxmlformats.org/drawingml/2006/main">
            <a:r>
              <a:t>https://see.stanford.edu/materials/aimlcs229/cs229-notes3.pdf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Теперь используем все двадцать обучающих объектов и построим линейную SVM. Она вычисляет функцию f от x, равную скалярному произведению w и x плюс b. Положительный знак означает атаку, отрицательный — нормальный трафик. Для C, равного единице, получили коэффициенты примерно 1,216667 и 2,116667, свободный член минус 2,047500. Норма вектора коэффициентов равна 2,441425. Эти значения получены обучением, а не проведением линии на глаз. Увеличение каждого из двух признаков в этой конкретной модели повышает оценку атаки. При этом сравнивать величины коэффициентов можно только с учётом выбранного масштаба признаков; они не являются вероятностями или универсальными характеристиками SYN-flood.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https://doi.org/10.1007/BF00994018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https://scikit-learn.org/stable/modules/svm.html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с мягким зазором минимизирует сумму двух частей: половины квадрата нормы w и штрафа C за нарушения требований к отступам. Меньшая норма соответствует более широкой полосе между уровнями f, равными минус единице и плюс единице. Для каждого обучающего объекта вводится неотрицательная величина ξ. В оптимальном решении её можно вычислить как максимум из нуля и единицы минус y f. Если отступ не меньше единицы, штраф нулевой. При отступе между нулём и единицей классификация правильная, но объект находится внутри полосы. Отрицательный отступ означает ошибку. В нашем примере при C=1 ошибок на обучении нет, но десять объектов нарушают требование отступа. Даже разделимые данные допускают такой результат: модель обменивает часть ширины зазора на штраф.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https://doi.org/10.1007/BF00994018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https://scikit-learn.org/stable/modules/svm.html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рисунке центральная прямая соответствует f=0, две параллельные — f=−1 и f=+1. Расстояние от центральной прямой до каждой из них равно примерно 0,4096, ширина всей полосы — 0,8192. Нормальные и атакующие объекты показаны разными цветами. Опорные векторы выделены дополнительно: это обучающие точки с ненулевыми двойственными коэффициентами, участвующие в построении границы. В данном решении их двенадцать. Эталон описывает типичный объект класса, а опорный вектор определяется задачей оптимизации. Здесь оба медоида также оказались опорными векторами; это совпадение ролей в конкретных данных. Проверочный объект, даже лежащий рядом с границей, опорным вектором обученной модели не становится.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https://doi.org/10.1007/BF00994018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https://scikit-learn.org/stable/modules/svm.html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Нужно различать три величины. Функциональный отступ m равен y f: он учитывает истинную метку и показывает правильность решения своим знаком. Однако при умножении w и b на положительную константу граница не изменится, а m изменится. Геометрический размеченный отступ γ равен y f, делённому на норму w; он устраняет эту зависимость. Наконец, расстояние d равно модулю f, делённому на норму w, и всегда неотрицательно. Оно показывает близость к границе, но теряет информацию о правильности. Для нового неразмеченного трафика доступно d, тогда как m и γ требуют истинной метки. Далее пограничные объекты отбираются именно по малому d, независимо от предсказанного класса.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https://doi.org/10.1007/BF00994018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Рассмотрим T04: 900 SYN в секунду и 40 процентов незавершённых соединений, то есть x=(0,90; 0,40). По заданной учебной разметке это атака, поэтому y=+1. Подставляем значения в обученную функцию: 1,216667 умножить на 0,90 плюс 2,116667 умножить на 0,40 минус 2,047500. Получаем f примерно минус 0,105833. Прогноз — нормальный трафик. Функциональный отступ тоже отрицательный, значит модель ошиблась. Делим его на 2,441425 и получаем размеченный геометрический отступ минус 0,043349. Расстояние до границы равно положительному 0,043349. Величина ξ составляет 1,105833; здесь это вычисленная hinge-потеря проверочного объекта, а не переменная обучающей оптимизации. Пример одновременно показывает ошибку и близость к границе.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https://scikit-learn.org/stable/modules/svm.html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собраны все восемь иллюстративных проверок. Её полезнее читать по знаку отступа и расстоянию, чем по отдельному прогнозу. У T01 и T02 расстояния около 0,5513 и 0,6967: в выбранных координатах они заметно дальше от границы. У T03 и T06 решения верные, однако расстояния составляют лишь 0,0184 и 0,0336. T04 — пропущенная атака, T05 — ложная тревога; оба имеют отрицательный размеченный отступ. T07 демонстрирует отличие методов: ближайший эталон относит его к атаке, а SVM правильно выбирает норму. Это подтверждает различие правил на конкретных примерах. Восемь специально подобранных объектов не позволяют заключить, что один метод вообще лучше другого, и не служат основанием для оценки реальной точности.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Зададим учебный порог проверки τ=0,1 и будем выделять объекты, у которых расстояние d меньше этого значения. Среди восьми проверочных примеров это T03, T05, T06 и T04 — в порядке увеличения расстояния. Здесь есть оба класса и как правильные решения, так и ошибки. Следовательно, пограничность означает чувствительность решения к небольшим изменениям признаков, а не автоматически наличие атаки. Для таких окон разумно собирать дополнительную информацию: число завершённых соединений, повторные SYN, состояние очереди сервера и сетевые потери. T07 находится совсем рядом с порогом: d около 0,1019, поэтому формально не попадает в список. Это напоминает, что 0,1 — выбранное правило обработки, а не естественная граница безопасности.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Сравним три обучения на одних и тех же данных: C=0,1; C=1; C=10. Параметр C задаёт стоимость нарушений относительно нормы коэффициентов. При меньшем C модель легче принимает штрафы ради более широкой полосы. При большем C сильнее старается увеличить отступы обучающих объектов, и полоса может сужаться. Числа в таблице показывают результат именно для этой выборки: при C=0,1 норма w равна 0,8349, нарушений двадцать, ошибок обучения одна и опорных векторов двадцать; при C=1 — 2,4414, десять нарушений, ноль ошибок и двенадцать опорных векторов; при C=10 — 5,2897, четыре нарушения, ноль ошибок и шесть опорных векторов. Важно различать число нарушений и число ошибок: объект с положительным отступом меньше единицы нарушает требование зазора, но классифицирован верно. Увеличение C само по себе не гарантирует лучшего результата на новом трафике. На практике его выбирают по отдельной валидационной выборке с учётом цены пропусков и ложных тревог.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https://doi.org/10.1007/BF00994018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https://scikit-learn.org/stable/modules/svm.html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фиксированного линейного классификатора расстояние r=|f|/||w|| имеет точный смысл: это минимальная евклидова длина изменения вектора признаков, необходимая для достижения границы. Любое возмущение с нормой строго меньше r сохраняет знак решения. При равенстве граница уже может быть достигнута, поэтому неравенство именно строгое. Ближайшее изменение направлено перпендикулярно прямой: δ* = −f w / ||w||². Это можно вывести из расстояния от точки до гиперплоскости. Для T04 радиус составляет 0,043349: исходный прогноз ошибочен, но малые изменения всё равно сохраняют этот ошибочный знак. Величина относится к двум масштабированным признакам и произвольным направлениям изменения. Она не означает, что атакующий способен реализовать такое изменение пакетами, и не измеряет стойкость всей системы защиты.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https://www.cv-foundation.org/openaccess/content_cvpr_2016/papers/Moosavi-Dezfooli_DeepFool_A_Simple_CVPR_2016_paper.pdf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Большой отступ говорит об удалённости от границы модели; правильность решения требует отдельной проверки. Если новые данные отличаются от обучающих, модель может уверенно ошибаться. Расстояние также не является вероятностью атаки: для вероятностных выводов нужны другие процедуры и проверка калибровки. Наши расстояния зависят от масштабирования: изменение веса первого признака изменит евклидову геометрию, медоиды и обученную SVM. Два признака не описывают всё поведение TCP. Потери, длительные задержки, асимметрия наблюдения и ограничение трафика способны увеличить долю незавершённых соединений без атаки. Кроме того, наблюдать завершение приходится с задержкой. Поэтому небольшой отступ полезен как сигнал для проверки, а большой отступ не заменяет оценку качества и анализ текущих условий.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https://www.rfc-editor.org/rfc/rfc4987.html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https://scikit-learn.org/stable/modules/svm.html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собрать или взять размеченные данные с реальными SYN-flood и нормальными всплесками. CICDDoS2019 подходит как один из источников для дальнейшего исследования, но в представленных вычислениях он не использовался. При подготовке нужно проверить, доступны ли события для определения именно наших двух признаков; готовые агрегаты нельзя автоматически считать эквивалентными. Обучение, валидацию и тест следует разделять по времени и сеансам так, чтобы связанные наблюдения не пересекались. Любые оцениваемые преобразования и эталоны строятся только на обучении; C и порог τ выбираются на валидации. На тесте оцениваются precision и recall атак, доля ложных тревог, число пропусков, задержка обнаружения и нагрузка дополнительной проверки. Результаты нужны отдельно для обычной работы, всплесков и различных условий сети.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https://www.unb.ca/cic/datasets/ddos-2019.html</a:t>
            </a:r>
          </a:p>
          <a:p xmlns:a="http://schemas.openxmlformats.org/drawingml/2006/main">
            <a:r>
              <a:t>https://scikit-learn.org/stable/modules/svm.html</a:t>
            </a:r>
          </a:p>
          <a:p xmlns:a="http://schemas.openxmlformats.org/drawingml/2006/main">
            <a:r>
              <a:t>https://www.rfc-editor.org/rfc/rfc4987.html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части задания теперь связаны одним примером. Для двух классов выбраны конкретные эталоны: N05 и A06, найденные как медоиды обучающих объектов. Построены правило ближайшего эталона и линейная SVM с мягким зазором. Для восьми проверочных объектов вычислены функциональный отступ, размеченное расстояние и абсолютное расстояние до границы. При учебном пороге 0,1 выделены T03, T04, T05 и T06. Главная интерпретация такова: знак размеченного отступа показывает правильность, а абсолютное геометрическое расстояние — локальный запас сохранения решения в выбранном пространстве признаков. Поэтому классификация должна сопровождаться оценкой пограничности и проверкой на данных, соответствующих условиям применения.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https://doi.org/10.1007/BF00994018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приложении приведены все двадцать обучающих объектов, чтобы расчёт можно было повторить. Слева показан нормальный класс, справа — SYN-flood. По этим координатам можно независимо пересчитать суммы расстояний для медоидов и обучить SVM с указанным масштабом признаков и C=1. При основном выступлении достаточно кратко обозначить назначение таблицы; подробно разбирать строки следует при вопросах о воспроизводимости.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разделяются по роли: RFC 4987 объясняет TCP SYN-flood; статья Кортеса и Вапника, конспект CS229 и документация scikit-learn дают основу SVM; работа об эталонах поясняет выбор медоидов; DeepFool рассматривает геометрию минимальных изменений; страница CIC описывает возможные данные для дальнейшей проверки. Координаты объектов, выбор параметров и все численные таблицы в докладе — авторский учебный пример. Они не заимствованы из сетевого датасета и не заявляются как экспериментальная оценка качества.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https://www.rfc-editor.org/rfc/rfc4987.html</a:t>
            </a:r>
          </a:p>
          <a:p xmlns:a="http://schemas.openxmlformats.org/drawingml/2006/main">
            <a:r>
              <a:t>https://see.stanford.edu/materials/aimlcs229/cs229-notes3.pdf</a:t>
            </a:r>
          </a:p>
          <a:p xmlns:a="http://schemas.openxmlformats.org/drawingml/2006/main">
            <a:r>
              <a:t>https://doi.org/10.1007/BF00994018</a:t>
            </a:r>
          </a:p>
          <a:p xmlns:a="http://schemas.openxmlformats.org/drawingml/2006/main">
            <a:r>
              <a:t>https://arxiv.org/abs/1810.05691</a:t>
            </a:r>
          </a:p>
          <a:p xmlns:a="http://schemas.openxmlformats.org/drawingml/2006/main">
            <a:r>
              <a:t>https://scikit-learn.org/stable/modules/svm.html</a:t>
            </a:r>
          </a:p>
          <a:p xmlns:a="http://schemas.openxmlformats.org/drawingml/2006/main">
            <a:r>
              <a:t>https://www.cv-foundation.org/openaccess/content_cvpr_2016/papers/Moosavi-Dezfooli_DeepFool_A_Simple_CVPR_2016_paper.pdf</a:t>
            </a:r>
          </a:p>
          <a:p xmlns:a="http://schemas.openxmlformats.org/drawingml/2006/main">
            <a:r>
              <a:t>https://www.unb.ca/cic/datasets/ddos-2019.html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55f7233fa43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8011387ac4d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f75a347c840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8626c3cfe44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19545c70d41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9eb6b8d4e43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A227A0-5350-4CD8-AC70-7BE40E1B9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EB9C1A-1772-45D0-B915-E210991452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372935-B126-4FE8-8301-04A66C3D1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F6074C-CF3C-4F1B-A701-119203333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E5C275-DB62-4121-9537-AEB99DFE29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AC53F6-657B-4D94-BD14-667243F3E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2F6B3F-D5A6-4876-B669-3292C1C03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7BBCDF-553C-418A-97C3-087F4FB0C3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F3CB1D-0E9B-4643-850B-57611766E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F03109-9F1D-4D84-B83D-DF129FDBF3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f43c176ce4f00" /><Relationship Type="http://schemas.openxmlformats.org/officeDocument/2006/relationships/slideLayout" Target="/ppt/slideLayouts/slideLayout1.xml" Id="R2471d6b0d18d451a" /><Relationship Type="http://schemas.openxmlformats.org/officeDocument/2006/relationships/slideLayout" Target="/ppt/slideLayouts/slideLayout2.xml" Id="R3f185e6c2a4e49b1" /><Relationship Type="http://schemas.openxmlformats.org/officeDocument/2006/relationships/slideLayout" Target="/ppt/slideLayouts/slideLayout3.xml" Id="Ra52a6b1426504b08" /><Relationship Type="http://schemas.openxmlformats.org/officeDocument/2006/relationships/slideLayout" Target="/ppt/slideLayouts/slideLayout4.xml" Id="Rb7cc554868354d24" /><Relationship Type="http://schemas.openxmlformats.org/officeDocument/2006/relationships/slideLayout" Target="/ppt/slideLayouts/slideLayout5.xml" Id="Rdb3966dca84a48da" /><Relationship Type="http://schemas.openxmlformats.org/officeDocument/2006/relationships/slideLayout" Target="/ppt/slideLayouts/slideLayout6.xml" Id="R44eb503f4ed549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71d6b0d18d451a"/>
    <p:sldLayoutId xmlns:r="http://schemas.openxmlformats.org/officeDocument/2006/relationships" id="2147483650" r:id="R3f185e6c2a4e49b1"/>
    <p:sldLayoutId xmlns:r="http://schemas.openxmlformats.org/officeDocument/2006/relationships" id="2147483651" r:id="Ra52a6b1426504b08"/>
    <p:sldLayoutId xmlns:r="http://schemas.openxmlformats.org/officeDocument/2006/relationships" id="2147483652" r:id="Rb7cc554868354d24"/>
    <p:sldLayoutId xmlns:r="http://schemas.openxmlformats.org/officeDocument/2006/relationships" id="2147483653" r:id="Rdb3966dca84a48da"/>
    <p:sldLayoutId xmlns:r="http://schemas.openxmlformats.org/officeDocument/2006/relationships" id="2147483654" r:id="R44eb503f4ed549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4ad0e7f064ffb" /><Relationship Type="http://schemas.openxmlformats.org/officeDocument/2006/relationships/notesSlide" Target="/ppt/notesSlides/notesSlide1.xml" Id="Ra0fd6e4963ef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b4036bc774694" /><Relationship Type="http://schemas.openxmlformats.org/officeDocument/2006/relationships/notesSlide" Target="/ppt/notesSlides/notesSlide2.xml" Id="R58a5ae426c68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207127100476c" /><Relationship Type="http://schemas.openxmlformats.org/officeDocument/2006/relationships/notesSlide" Target="/ppt/notesSlides/notesSlide3.xml" Id="R7d75edf0d43e43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d5ce4dc5d44ff" /><Relationship Type="http://schemas.openxmlformats.org/officeDocument/2006/relationships/notesSlide" Target="/ppt/notesSlides/notesSlide4.xml" Id="R98efb839fee4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d54cabaa34793" /><Relationship Type="http://schemas.openxmlformats.org/officeDocument/2006/relationships/notesSlide" Target="/ppt/notesSlides/notesSlide5.xml" Id="Rcc04575a4b1d46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79ed4bd574302" /><Relationship Type="http://schemas.openxmlformats.org/officeDocument/2006/relationships/notesSlide" Target="/ppt/notesSlides/notesSlide6.xml" Id="Rdda44a01cf4541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65b586dc0411c" /><Relationship Type="http://schemas.openxmlformats.org/officeDocument/2006/relationships/notesSlide" Target="/ppt/notesSlides/notesSlide7.xml" Id="R4effb7eec34d4e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37ecbe9d54d61" /><Relationship Type="http://schemas.openxmlformats.org/officeDocument/2006/relationships/notesSlide" Target="/ppt/notesSlides/notesSlide8.xml" Id="R57411e26b6974a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bdd94ce4543f6" /><Relationship Type="http://schemas.openxmlformats.org/officeDocument/2006/relationships/notesSlide" Target="/ppt/notesSlides/notesSlide9.xml" Id="Rc56b63e4e6d948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e2448bb1544f7" /><Relationship Type="http://schemas.openxmlformats.org/officeDocument/2006/relationships/notesSlide" Target="/ppt/notesSlides/notesSlide10.xml" Id="Rc773d5de558849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638ecc308490f" /><Relationship Type="http://schemas.openxmlformats.org/officeDocument/2006/relationships/notesSlide" Target="/ppt/notesSlides/notesSlide11.xml" Id="Rd47dcd2aed554d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24628d7e04f6e" /><Relationship Type="http://schemas.openxmlformats.org/officeDocument/2006/relationships/notesSlide" Target="/ppt/notesSlides/notesSlide12.xml" Id="R471b81dcad0a40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bcb4e0c0642bb" /><Relationship Type="http://schemas.openxmlformats.org/officeDocument/2006/relationships/chart" Target="/ppt/slides/charts/chart1.xml" Id="R4e87ddacab8548d4" /><Relationship Type="http://schemas.openxmlformats.org/officeDocument/2006/relationships/notesSlide" Target="/ppt/notesSlides/notesSlide13.xml" Id="R8c8cc276d9f244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f23512c494c33" /><Relationship Type="http://schemas.openxmlformats.org/officeDocument/2006/relationships/notesSlide" Target="/ppt/notesSlides/notesSlide14.xml" Id="R89976374b83e4d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570b317fd74da4" /><Relationship Type="http://schemas.openxmlformats.org/officeDocument/2006/relationships/notesSlide" Target="/ppt/notesSlides/notesSlide15.xml" Id="R460239f20a6e4e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0feac696c459d" /><Relationship Type="http://schemas.openxmlformats.org/officeDocument/2006/relationships/notesSlide" Target="/ppt/notesSlides/notesSlide16.xml" Id="R58a8c077248240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6ac81ab924959" /><Relationship Type="http://schemas.openxmlformats.org/officeDocument/2006/relationships/notesSlide" Target="/ppt/notesSlides/notesSlide17.xml" Id="Ree6c10927ed14b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9cfa36d68644b9" /><Relationship Type="http://schemas.openxmlformats.org/officeDocument/2006/relationships/notesSlide" Target="/ppt/notesSlides/notesSlide18.xml" Id="R4d448bd6e08e40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4f8a6c9d44da5" /><Relationship Type="http://schemas.openxmlformats.org/officeDocument/2006/relationships/notesSlide" Target="/ppt/notesSlides/notesSlide19.xml" Id="R9ca48293c22247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630421ad0475e" /><Relationship Type="http://schemas.openxmlformats.org/officeDocument/2006/relationships/hyperlink" Target="https://doi.org/10.1007/BF00994018" TargetMode="External" Id="R29cbf04112604791" /><Relationship Type="http://schemas.openxmlformats.org/officeDocument/2006/relationships/hyperlink" Target="https://see.stanford.edu/materials/aimlcs229/cs229-notes3.pdf" TargetMode="External" Id="R729f6c36d6cd44d6" /><Relationship Type="http://schemas.openxmlformats.org/officeDocument/2006/relationships/hyperlink" Target="https://arxiv.org/abs/1810.05691" TargetMode="External" Id="R7d988a36271341db" /><Relationship Type="http://schemas.openxmlformats.org/officeDocument/2006/relationships/hyperlink" Target="https://www.rfc-editor.org/rfc/rfc4987.html" TargetMode="External" Id="R2d3239c2c633408f" /><Relationship Type="http://schemas.openxmlformats.org/officeDocument/2006/relationships/hyperlink" Target="https://scikit-learn.org/stable/modules/svm.html" TargetMode="External" Id="Rfb0545138c094d30" /><Relationship Type="http://schemas.openxmlformats.org/officeDocument/2006/relationships/hyperlink" Target="https://www.cv-foundation.org/openaccess/content_cvpr_2016/papers/Moosavi-Dezfooli_DeepFool_A_Simple_CVPR_2016_paper.pdf" TargetMode="External" Id="R2c66995b07c444c3" /><Relationship Type="http://schemas.openxmlformats.org/officeDocument/2006/relationships/hyperlink" Target="https://www.unb.ca/cic/datasets/ddos-2019.html" TargetMode="External" Id="R83234eeb98c14cd9" /><Relationship Type="http://schemas.openxmlformats.org/officeDocument/2006/relationships/notesSlide" Target="/ppt/notesSlides/notesSlide20.xml" Id="R041814e6ba3746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Расстояние до границы</c:v>
          </c:tx>
          <c:spPr>
            <a:solidFill xmlns:a="http://schemas.openxmlformats.org/drawingml/2006/main">
              <a:srgbClr val="008C9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5B64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5B64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5B64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B64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08C9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008C95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8C95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8C95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T03</c:v>
                </c:pt>
                <c:pt idx="1">
                  <c:v>T05</c:v>
                </c:pt>
                <c:pt idx="2">
                  <c:v>T06</c:v>
                </c:pt>
                <c:pt idx="3">
                  <c:v>T04</c:v>
                </c:pt>
                <c:pt idx="4">
                  <c:v>T07</c:v>
                </c:pt>
                <c:pt idx="5">
                  <c:v>T08</c:v>
                </c:pt>
                <c:pt idx="6">
                  <c:v>T01</c:v>
                </c:pt>
                <c:pt idx="7">
                  <c:v>T02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0.018432</c:v>
                </c:pt>
                <c:pt idx="1">
                  <c:v>0.023825</c:v>
                </c:pt>
                <c:pt idx="2">
                  <c:v>0.033587</c:v>
                </c:pt>
                <c:pt idx="3">
                  <c:v>0.043349</c:v>
                </c:pt>
                <c:pt idx="4">
                  <c:v>0.101921</c:v>
                </c:pt>
                <c:pt idx="5">
                  <c:v>0.285011</c:v>
                </c:pt>
                <c:pt idx="6">
                  <c:v>0.551317</c:v>
                </c:pt>
                <c:pt idx="7">
                  <c:v>0.696724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1C3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1C32"/>
                    </a:solidFill>
                    <a:latin typeface="DejaVu Sans"/>
                    <a:ea typeface="DejaVu Sans"/>
                    <a:cs typeface="DejaVu Sans"/>
                  </a:rPr>
                  <a:t>d = |f| / ‖w‖₂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1C3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12678ED5-2A6D-4F5D-BDED-9D7B4BCE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6ED63-324D-47AB-A73A-394961A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B38CF5C-198D-404C-9834-C19C8467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0B3B255-B815-4FAD-888A-3078265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8A9EBE-84CC-4FDB-B76A-79A54F3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E5B6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E5B6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5B64A"/>
                </a:solidFill>
                <a:latin typeface="DejaVu Sans"/>
                <a:ea typeface="DejaVu Sans"/>
                <a:cs typeface="DejaVu Sans"/>
              </a:rPr>
              <a:t>ТЕМА 1.13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273DB0C-2924-46F9-9233-F581799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01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Понятие эталона.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Отступы и классификация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объектов качества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BB71987-DD46-4E8F-AF91-FC566A6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79D0D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79D0D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9D0D5"/>
                </a:solidFill>
                <a:latin typeface="DejaVu Sans"/>
                <a:ea typeface="DejaVu Sans"/>
                <a:cs typeface="DejaVu Sans"/>
              </a:rPr>
              <a:t>Нормальный трафик и SYN-flood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C5F43A-AE14-48C1-8D54-B0726E30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Выбор эталонов • расчёт отступов • SVM • запас прочности</a:t>
            </a:r>
          </a:p>
        </p:txBody>
      </p:sp>
    </p:spTree>
    <p:extLst>
      <p:ext uri="{BB962C8B-B14F-4D97-AF65-F5344CB8AC3E}">
        <p14:creationId xmlns:p14="http://schemas.microsoft.com/office/powerpoint/2010/main" val="1103725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">
            <a:extLst xmlns:a="http://schemas.openxmlformats.org/drawingml/2006/main">
              <a:ext uri="{FF2B5EF4-FFF2-40B4-BE49-F238E27FC236}">
                <a16:creationId xmlns:a16="http://schemas.microsoft.com/office/drawing/2014/main" id="{05903279-5BED-4875-AFEA-3D005DC0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Задача: обнаружить SYN-flood</a:t>
            </a:r>
          </a:p>
        </p:txBody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A460F12A-B605-4E0E-B55A-22D1F4D0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Классифицируем поведение соединений на сервере, а не отдельный SYN-пакет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93FA2-3A24-4CFB-B3EF-11068464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36469392-1178-4063-8BA1-0E6B7D0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[4]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377CAD8A-44D1-4630-8B00-ADB1F371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566E5E47-BD5F-4C1D-AE67-4758561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Нормальный трафик</a:t>
            </a:r>
          </a:p>
        </p:txBody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886DC8B4-FA2D-4984-8E4A-7014DC2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SYN → SYN-ACK → ACK</a:t>
            </a:r>
          </a:p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Рукопожатие завершается</a:t>
            </a:r>
          </a:p>
        </p:txBody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22473466-0839-47AF-B08C-AE1522D7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19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E85555"/>
                </a:solidFill>
                <a:latin typeface="DejaVu Sans"/>
                <a:ea typeface="DejaVu Sans"/>
                <a:cs typeface="DejaVu Sans"/>
              </a:rPr>
              <a:t>SYN-flood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802E423E-F221-4F8C-A5F8-C63C22A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Много начатых рукопожатий</a:t>
            </a:r>
          </a:p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Часть не завершается</a:t>
            </a:r>
          </a:p>
        </p:txBody>
      </p:sp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2DDB8C5C-94D7-4192-889B-8C86FA5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100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Атака может исчерпать очередь полуоткрытых соединений и затруднить новые подключения.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9CCAB-27DB-4FE7-ABFC-4D23D983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1A93C45A-7E26-4EF5-A7C6-747C2B47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Один высокий поток SYN ещё не доказывает атаку</a:t>
            </a:r>
          </a:p>
        </p:txBody>
      </p:sp>
    </p:spTree>
    <p:extLst>
      <p:ext uri="{BB962C8B-B14F-4D97-AF65-F5344CB8AC3E}">
        <p14:creationId xmlns:p14="http://schemas.microsoft.com/office/powerpoint/2010/main" val="1296260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953798EF-DB37-41F1-8DB5-25E94102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Объект и два признака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EFA3238A-41D1-4EF7-83AC-E6FB49FA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Один объект — 10-секундное окно для выбранного IP и TCP-порта сервера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E830C-EE32-403F-B796-7B92C18E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251145FA-2290-46BC-B446-D12FB2C3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[4]; определение признаков — учебное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E92B2040-65DB-46E1-A944-4291ABF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9D4C5-AC95-44E6-A295-D635FEEF9B1E}"/>
              </a:ext>
            </a:extLst>
          </p:cNvPr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110490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84717"/>
                <a:gridCol w="5420264"/>
                <a:gridCol w="3544019"/>
              </a:tblGrid>
              <a:tr h="660400"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Признак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Определение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Масштаб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660400"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Средняя частота входящих SYN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SYN/с ÷ 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x₂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начатых соединений без ACK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 0 до 1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4E86DAB7-5325-4325-92E6-48BDC184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Рукопожатие наблюдаем до 3 с от первого SYN. Повторы SYN</a:t>
            </a:r>
          </a:p>
          <a:p xmlns:a="http://schemas.openxmlformats.org/drawingml/2006/main">
            <a: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не создают новое соединение для расчёта доли x₂.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8A3BA-7162-409D-A15B-EC0D433E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9" name="text-23">
            <a:extLst xmlns:a="http://schemas.openxmlformats.org/drawingml/2006/main">
              <a:ext uri="{FF2B5EF4-FFF2-40B4-BE49-F238E27FC236}">
                <a16:creationId xmlns:a16="http://schemas.microsoft.com/office/drawing/2014/main" id="{ED03A5A4-B289-4468-922E-054D95F6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Окна без начатых соединений исключаем; значение x₁ не обрезаем до 1</a:t>
            </a:r>
          </a:p>
        </p:txBody>
      </p:sp>
    </p:spTree>
    <p:extLst>
      <p:ext uri="{BB962C8B-B14F-4D97-AF65-F5344CB8AC3E}">
        <p14:creationId xmlns:p14="http://schemas.microsoft.com/office/powerpoint/2010/main" val="871334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4">
            <a:extLst xmlns:a="http://schemas.openxmlformats.org/drawingml/2006/main">
              <a:ext uri="{FF2B5EF4-FFF2-40B4-BE49-F238E27FC236}">
                <a16:creationId xmlns:a16="http://schemas.microsoft.com/office/drawing/2014/main" id="{341BADE9-D86A-4934-9F26-FFBDBF5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Учебная выборка и метки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2904C1E1-EDD4-461C-8C47-7DFB7144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Все значения заданы искусственно для объяснения метода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862B3-63F8-4EE3-8D1E-ABC2188A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26">
            <a:extLst xmlns:a="http://schemas.openxmlformats.org/drawingml/2006/main">
              <a:ext uri="{FF2B5EF4-FFF2-40B4-BE49-F238E27FC236}">
                <a16:creationId xmlns:a16="http://schemas.microsoft.com/office/drawing/2014/main" id="{74FB0FF4-1A79-4112-B99B-67317D66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27">
            <a:extLst xmlns:a="http://schemas.openxmlformats.org/drawingml/2006/main">
              <a:ext uri="{FF2B5EF4-FFF2-40B4-BE49-F238E27FC236}">
                <a16:creationId xmlns:a16="http://schemas.microsoft.com/office/drawing/2014/main" id="{8DA58501-FDEA-4E77-AC81-C3C12D7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text-28">
            <a:extLst xmlns:a="http://schemas.openxmlformats.org/drawingml/2006/main">
              <a:ext uri="{FF2B5EF4-FFF2-40B4-BE49-F238E27FC236}">
                <a16:creationId xmlns:a16="http://schemas.microsoft.com/office/drawing/2014/main" id="{DE8FBE59-4F66-49D5-A277-2911CCD2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42B4A4AF-C588-4F8B-A8C5-071911AD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90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обучающих объектов</a:t>
            </a:r>
          </a:p>
          <a:p xmlns:a="http://schemas.openxmlformats.org/drawingml/2006/main">
            <a: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10 нормальных + 10 атак</a:t>
            </a:r>
          </a:p>
        </p:txBody>
      </p:sp>
      <p:sp>
        <p:nvSpPr>
          <p:cNvPr id="8" name="text-30">
            <a:extLst xmlns:a="http://schemas.openxmlformats.org/drawingml/2006/main">
              <a:ext uri="{FF2B5EF4-FFF2-40B4-BE49-F238E27FC236}">
                <a16:creationId xmlns:a16="http://schemas.microsoft.com/office/drawing/2014/main" id="{583732BA-574A-4815-A55C-75BC7A51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9" name="text-31">
            <a:extLst xmlns:a="http://schemas.openxmlformats.org/drawingml/2006/main">
              <a:ext uri="{FF2B5EF4-FFF2-40B4-BE49-F238E27FC236}">
                <a16:creationId xmlns:a16="http://schemas.microsoft.com/office/drawing/2014/main" id="{9B485711-FCE3-4665-B74F-81D47BC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523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отдельных проверочных примеров</a:t>
            </a:r>
          </a:p>
          <a:p xmlns:a="http://schemas.openxmlformats.org/drawingml/2006/main">
            <a: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Типичные, пограничные, ошибочные</a:t>
            </a:r>
          </a:p>
        </p:txBody>
      </p:sp>
      <p:sp>
        <p:nvSpPr>
          <p:cNvPr id="10" name="text-32">
            <a:extLst xmlns:a="http://schemas.openxmlformats.org/drawingml/2006/main">
              <a:ext uri="{FF2B5EF4-FFF2-40B4-BE49-F238E27FC236}">
                <a16:creationId xmlns:a16="http://schemas.microsoft.com/office/drawing/2014/main" id="{036E433D-D491-4E09-9233-3103D45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y = −1: нормальный трафик      y = +1: SYN-flood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DE4C2-C00A-4308-9367-C4FF58E2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2" name="text-33">
            <a:extLst xmlns:a="http://schemas.openxmlformats.org/drawingml/2006/main">
              <a:ext uri="{FF2B5EF4-FFF2-40B4-BE49-F238E27FC236}">
                <a16:creationId xmlns:a16="http://schemas.microsoft.com/office/drawing/2014/main" id="{85A19D8B-6C9C-4585-880B-FABD92B9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Проверочные примеры подобраны для иллюстрации; это не оценка качества IDS</a:t>
            </a:r>
          </a:p>
        </p:txBody>
      </p:sp>
    </p:spTree>
    <p:extLst>
      <p:ext uri="{BB962C8B-B14F-4D97-AF65-F5344CB8AC3E}">
        <p14:creationId xmlns:p14="http://schemas.microsoft.com/office/powerpoint/2010/main" val="2088993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05E9968A-A765-4F5A-B794-A5A94FEB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Эталоны классов: медоиды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DB07D8E4-D063-4A00-8900-B45A62E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Эталон — типичный представитель класса в выбранной метрике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0586A-E891-4A34-A725-1439641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BF990F96-612D-4C6B-94E1-C38CF269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 [3]; расчёты по train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6F11BB41-0FB3-4027-B391-D99E209B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C79CEB0C-00E7-4C16-B3BE-2352C38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e꜀ = arg min  Σ ‖xᵢ − xⱼ‖₂</a:t>
            </a:r>
          </a:p>
        </p:txBody>
      </p:sp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B0695225-5A73-4A03-8D5C-C85B70B6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xᵢ и xⱼ — объекты класса c из train; выбираем xᵢ с минимальной суммой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74E5F-2CEB-4E99-BAA0-4A069F2EFBD1}"/>
              </a:ext>
            </a:extLst>
          </p:cNvPr>
          <p:cNvGraphicFramePr/>
          <p:nvPr/>
        </p:nvGraphicFramePr>
        <p:xfrm>
          <a:off xmlns:a="http://schemas.openxmlformats.org/drawingml/2006/main" x="571500" y="3505200"/>
          <a:ext xmlns:a="http://schemas.openxmlformats.org/drawingml/2006/main" cx="11049000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667000"/>
                <a:gridCol w="1905000"/>
                <a:gridCol w="1905000"/>
              </a:tblGrid>
              <a:tr h="561975">
                <a:tc>
                  <a:txBody>
                    <a:bodyPr lIns="114300" tIns="95250" rIns="952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Класс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Эталон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x₁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561975"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Нормальный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SYN-flood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A06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20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7588E-E7DA-49B0-9531-4CFF40D8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0" name="text-40">
            <a:extLst xmlns:a="http://schemas.openxmlformats.org/drawingml/2006/main">
              <a:ext uri="{FF2B5EF4-FFF2-40B4-BE49-F238E27FC236}">
                <a16:creationId xmlns:a16="http://schemas.microsoft.com/office/drawing/2014/main" id="{A8AE8941-FF49-4212-8F13-910C3752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Эталоны выбираем только на обучении; при равенстве сумм — меньший ID</a:t>
            </a:r>
          </a:p>
        </p:txBody>
      </p:sp>
    </p:spTree>
    <p:extLst>
      <p:ext uri="{BB962C8B-B14F-4D97-AF65-F5344CB8AC3E}">
        <p14:creationId xmlns:p14="http://schemas.microsoft.com/office/powerpoint/2010/main" val="1088224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1">
            <a:extLst xmlns:a="http://schemas.openxmlformats.org/drawingml/2006/main">
              <a:ext uri="{FF2B5EF4-FFF2-40B4-BE49-F238E27FC236}">
                <a16:creationId xmlns:a16="http://schemas.microsoft.com/office/drawing/2014/main" id="{1BE80BD4-CA8E-41C5-96FB-E296F7B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Отступ относительно эталонов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81C2DCD7-6E4B-4101-B267-86325102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Ближайший эталон задаёт простейший классификатор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D1741-52F8-4ACF-BDD8-3C939A62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4BED9EF9-E6B1-4C56-BBDB-429F0DB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[2, 3]; формула Mᴱ — выбранное определение</a:t>
            </a: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32FEC954-68A1-4031-B7C8-FCD4242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871BD-213D-42CA-967D-D8A1E100F62F}"/>
              </a:ext>
            </a:extLst>
          </p:cNvPr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11049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14700"/>
                <a:gridCol w="1894114"/>
                <a:gridCol w="1894114"/>
                <a:gridCol w="3946071"/>
              </a:tblGrid>
              <a:tr h="523875"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Объект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d₋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d₊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Mᴱ = y(d₋ − d₊)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523875"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T01 (y=−1)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 (y=+1)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1,198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0,340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0,858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523875"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T07 (y=−1)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07EF044E-53AC-4BA2-8DE8-BB42178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fᴱ(x) = d₋ − d₊       ŷᴱ = sign fᴱ(x)</a:t>
            </a:r>
          </a:p>
        </p:txBody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DF98F256-A03D-421F-BD52-3BF30F6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d₋ = ‖x − e₋‖₂;  d₊ = ‖x − e₊‖₂.  Mᴱ &gt; 0 — ближе к своему классу.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62935-A774-41D8-9F9D-C029BFD3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0" name="text-47">
            <a:extLst xmlns:a="http://schemas.openxmlformats.org/drawingml/2006/main">
              <a:ext uri="{FF2B5EF4-FFF2-40B4-BE49-F238E27FC236}">
                <a16:creationId xmlns:a16="http://schemas.microsoft.com/office/drawing/2014/main" id="{221A9105-2768-443D-9DD3-97347BA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Разность расстояний не равна расстоянию до границы</a:t>
            </a:r>
          </a:p>
        </p:txBody>
      </p:sp>
    </p:spTree>
    <p:extLst>
      <p:ext uri="{BB962C8B-B14F-4D97-AF65-F5344CB8AC3E}">
        <p14:creationId xmlns:p14="http://schemas.microsoft.com/office/powerpoint/2010/main" val="1991362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8">
            <a:extLst xmlns:a="http://schemas.openxmlformats.org/drawingml/2006/main">
              <a:ext uri="{FF2B5EF4-FFF2-40B4-BE49-F238E27FC236}">
                <a16:creationId xmlns:a16="http://schemas.microsoft.com/office/drawing/2014/main" id="{DA4F8470-006E-4BBB-A4FF-7A6F28A5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Линейная SVM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7A0CBBF9-AFED-4898-BD1C-2FB4A3DC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Обучаем модель на всех 20 объектах, а не только на двух эталонах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5BE65-063C-4AD9-A73B-EDA1D52C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50">
            <a:extLst xmlns:a="http://schemas.openxmlformats.org/drawingml/2006/main">
              <a:ext uri="{FF2B5EF4-FFF2-40B4-BE49-F238E27FC236}">
                <a16:creationId xmlns:a16="http://schemas.microsoft.com/office/drawing/2014/main" id="{90BD9F6A-F993-4832-A4DE-21A0CE0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[1, 2, 5]</a:t>
            </a:r>
          </a:p>
        </p:txBody>
      </p:sp>
      <p:sp>
        <p:nvSpPr>
          <p:cNvPr id="5" name="text-51">
            <a:extLst xmlns:a="http://schemas.openxmlformats.org/drawingml/2006/main">
              <a:ext uri="{FF2B5EF4-FFF2-40B4-BE49-F238E27FC236}">
                <a16:creationId xmlns:a16="http://schemas.microsoft.com/office/drawing/2014/main" id="{FD313901-12D1-4017-A225-CE8C147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615F0B7E-38CC-4A02-BEFA-F336C45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f(x) = wᵀx + b</a:t>
            </a:r>
          </a:p>
        </p:txBody>
      </p:sp>
      <p:sp>
        <p:nvSpPr>
          <p:cNvPr id="7" name="text-53">
            <a:extLst xmlns:a="http://schemas.openxmlformats.org/drawingml/2006/main">
              <a:ext uri="{FF2B5EF4-FFF2-40B4-BE49-F238E27FC236}">
                <a16:creationId xmlns:a16="http://schemas.microsoft.com/office/drawing/2014/main" id="{D7484233-FDDF-475F-8EC3-2108A769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f(x) = 1,2167x₁ + 2,1167x₂ − 2,0475</a:t>
            </a:r>
          </a:p>
        </p:txBody>
      </p:sp>
      <p:sp>
        <p:nvSpPr>
          <p:cNvPr id="8" name="text-54">
            <a:extLst xmlns:a="http://schemas.openxmlformats.org/drawingml/2006/main">
              <a:ext uri="{FF2B5EF4-FFF2-40B4-BE49-F238E27FC236}">
                <a16:creationId xmlns:a16="http://schemas.microsoft.com/office/drawing/2014/main" id="{C04E1D82-E7CD-46F6-89C7-A071EB73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f(x) &gt; 0 → SYN-flood                 f(x) &lt; 0 → нормальный трафик</a:t>
            </a:r>
          </a:p>
        </p:txBody>
      </p:sp>
      <p:sp>
        <p:nvSpPr>
          <p:cNvPr id="9" name="text-55">
            <a:extLst xmlns:a="http://schemas.openxmlformats.org/drawingml/2006/main">
              <a:ext uri="{FF2B5EF4-FFF2-40B4-BE49-F238E27FC236}">
                <a16:creationId xmlns:a16="http://schemas.microsoft.com/office/drawing/2014/main" id="{8EA479CC-8B8E-4076-A13B-3B48675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SVC(kernel="linear", C=1)       ‖w‖₂ = 2,4414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FBDE3-CAC0-4D41-AEE9-00CB2F15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1" name="text-56">
            <a:extLst xmlns:a="http://schemas.openxmlformats.org/drawingml/2006/main">
              <a:ext uri="{FF2B5EF4-FFF2-40B4-BE49-F238E27FC236}">
                <a16:creationId xmlns:a16="http://schemas.microsoft.com/office/drawing/2014/main" id="{A7176632-EC5B-4C6D-9520-BA948158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Коэффициенты рассчитаны; округление на слайдах — до 4 знаков</a:t>
            </a:r>
          </a:p>
        </p:txBody>
      </p:sp>
    </p:spTree>
    <p:extLst>
      <p:ext uri="{BB962C8B-B14F-4D97-AF65-F5344CB8AC3E}">
        <p14:creationId xmlns:p14="http://schemas.microsoft.com/office/powerpoint/2010/main" val="1912220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57">
            <a:extLst xmlns:a="http://schemas.openxmlformats.org/drawingml/2006/main">
              <a:ext uri="{FF2B5EF4-FFF2-40B4-BE49-F238E27FC236}">
                <a16:creationId xmlns:a16="http://schemas.microsoft.com/office/drawing/2014/main" id="{93BF6214-DF4A-4632-A6E6-884BA0F1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SVM с мягким зазором</a:t>
            </a:r>
          </a:p>
        </p:txBody>
      </p:sp>
      <p:sp>
        <p:nvSpPr>
          <p:cNvPr id="2" name="text-58">
            <a:extLst xmlns:a="http://schemas.openxmlformats.org/drawingml/2006/main">
              <a:ext uri="{FF2B5EF4-FFF2-40B4-BE49-F238E27FC236}">
                <a16:creationId xmlns:a16="http://schemas.microsoft.com/office/drawing/2014/main" id="{6CC6A8CF-F788-478E-AF1D-75D6BA02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Модель балансирует ширину зазора и штраф за его нарушения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30763-CF24-4358-A8D2-2A5859E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F05D5F53-6BCB-4E72-B6DA-4EBCD40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[1, 2, 5]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30677A0C-3AB4-4D7C-BCB8-D12CA4BA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9AFA0656-8A7F-4490-BB66-45938AB2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min  ½‖w‖₂² + C Σ ξᵢ</a:t>
            </a:r>
          </a:p>
        </p:txBody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786EC56F-538D-47B0-9FBF-22C1E751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При условиях:  yᵢ(wᵀxᵢ + b) ≥ 1 − ξᵢ;  ξᵢ ≥ 0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BCF43-6289-4404-9463-5FCB61E86AE6}"/>
              </a:ext>
            </a:extLst>
          </p:cNvPr>
          <p:cNvGraphicFramePr/>
          <p:nvPr/>
        </p:nvGraphicFramePr>
        <p:xfrm>
          <a:off xmlns:a="http://schemas.openxmlformats.org/drawingml/2006/main" x="571500" y="3524250"/>
          <a:ext xmlns:a="http://schemas.openxmlformats.org/drawingml/2006/main" cx="11049000" cy="2009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49588"/>
                <a:gridCol w="6499412"/>
              </a:tblGrid>
              <a:tr h="502444">
                <a:tc>
                  <a:txBody>
                    <a:bodyPr lIns="114300" tIns="95250" rIns="9525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Функциональный отступ m = yf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Интерпретация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502444"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 ≥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Верно, единичный отступ выполнен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444"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&lt; m &lt; 1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Верно, но внутри полосы зазора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502444"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 &lt;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Ошибка классификации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E0A95-D7CC-45E8-94EF-C1831079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0" name="text-63">
            <a:extLst xmlns:a="http://schemas.openxmlformats.org/drawingml/2006/main">
              <a:ext uri="{FF2B5EF4-FFF2-40B4-BE49-F238E27FC236}">
                <a16:creationId xmlns:a16="http://schemas.microsoft.com/office/drawing/2014/main" id="{F8B91EBD-76AA-4EC8-9F2A-73EFB335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ξᵢ = max(0, 1 − mᵢ). C = 1 — фиксированный учебный выбор</a:t>
            </a:r>
          </a:p>
        </p:txBody>
      </p:sp>
    </p:spTree>
    <p:extLst>
      <p:ext uri="{BB962C8B-B14F-4D97-AF65-F5344CB8AC3E}">
        <p14:creationId xmlns:p14="http://schemas.microsoft.com/office/powerpoint/2010/main" val="1043433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ext-64">
            <a:extLst xmlns:a="http://schemas.openxmlformats.org/drawingml/2006/main">
              <a:ext uri="{FF2B5EF4-FFF2-40B4-BE49-F238E27FC236}">
                <a16:creationId xmlns:a16="http://schemas.microsoft.com/office/drawing/2014/main" id="{D0BB9752-1E5D-4C93-A306-161EB82E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Геометрия SVM и опорные векторы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A9E33C50-8A22-4A40-A029-4259C9E4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Сплошная линия: f = 0; пунктирные: f = ±1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A8650-6F0F-4076-9524-3DEF580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81D4058A-B8C8-4C25-BDFF-D07558E9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[1, 2]; рассчитано на синтетическом train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5761C846-2A27-4F47-8252-532CC0D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scaled-feature-plane">
            <a:extLst xmlns:a="http://schemas.openxmlformats.org/drawingml/2006/main">
              <a:ext uri="{FF2B5EF4-FFF2-40B4-BE49-F238E27FC236}">
                <a16:creationId xmlns:a16="http://schemas.microsoft.com/office/drawing/2014/main" id="{EEAA0BC8-287A-40B7-B8FC-C9597DB8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667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7980D-4E42-4D8B-8D1D-4CD63C39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86D0CAF9-2FD5-4EE1-AACF-77BEC11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76875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83467-7622-48B0-AB04-2B4DFEB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10" name="text-69">
            <a:extLst xmlns:a="http://schemas.openxmlformats.org/drawingml/2006/main">
              <a:ext uri="{FF2B5EF4-FFF2-40B4-BE49-F238E27FC236}">
                <a16:creationId xmlns:a16="http://schemas.microsoft.com/office/drawing/2014/main" id="{9EBFC032-1587-40AE-8F73-A1D9E66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76875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2BD96-A64A-442A-9EB2-4A1E0384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12" name="text-70">
            <a:extLst xmlns:a="http://schemas.openxmlformats.org/drawingml/2006/main">
              <a:ext uri="{FF2B5EF4-FFF2-40B4-BE49-F238E27FC236}">
                <a16:creationId xmlns:a16="http://schemas.microsoft.com/office/drawing/2014/main" id="{0B08E26D-A72A-468A-8A41-D8B623E0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76875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1,0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E695D-DD17-4C57-8ED0-6FECEE6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14" name="text-71">
            <a:extLst xmlns:a="http://schemas.openxmlformats.org/drawingml/2006/main">
              <a:ext uri="{FF2B5EF4-FFF2-40B4-BE49-F238E27FC236}">
                <a16:creationId xmlns:a16="http://schemas.microsoft.com/office/drawing/2014/main" id="{51BC3844-EFE9-46B4-8DAB-E4A3751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76875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E49B1-D7D8-4370-997A-69013ACF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16" name="text-72">
            <a:extLst xmlns:a="http://schemas.openxmlformats.org/drawingml/2006/main">
              <a:ext uri="{FF2B5EF4-FFF2-40B4-BE49-F238E27FC236}">
                <a16:creationId xmlns:a16="http://schemas.microsoft.com/office/drawing/2014/main" id="{CA96A396-3269-44AC-938E-F88C3AD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76875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2,0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8E65E-DE6E-42DF-BAF6-437FD2E2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18" name="text-73">
            <a:extLst xmlns:a="http://schemas.openxmlformats.org/drawingml/2006/main">
              <a:ext uri="{FF2B5EF4-FFF2-40B4-BE49-F238E27FC236}">
                <a16:creationId xmlns:a16="http://schemas.microsoft.com/office/drawing/2014/main" id="{AB9C8543-1D7F-4841-B3AD-48A71AFD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76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8194B-0477-4B59-B270-DF0D4600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20" name="text-74">
            <a:extLst xmlns:a="http://schemas.openxmlformats.org/drawingml/2006/main">
              <a:ext uri="{FF2B5EF4-FFF2-40B4-BE49-F238E27FC236}">
                <a16:creationId xmlns:a16="http://schemas.microsoft.com/office/drawing/2014/main" id="{32DD0A90-E22B-4F95-8D60-F4A6E3B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E3FB1-78D5-42E1-A8B5-89C7E863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4812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22" name="text-75">
            <a:extLst xmlns:a="http://schemas.openxmlformats.org/drawingml/2006/main">
              <a:ext uri="{FF2B5EF4-FFF2-40B4-BE49-F238E27FC236}">
                <a16:creationId xmlns:a16="http://schemas.microsoft.com/office/drawing/2014/main" id="{DAE1F562-4F5A-4A1C-B022-F30CD370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433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05B10-0530-4E45-A7AA-B1EBFDC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8137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60B57075-B8C2-4BB0-917C-74CEEC5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766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7C476-C8EF-4B46-97B7-C7650CA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1462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26" name="text-77">
            <a:extLst xmlns:a="http://schemas.openxmlformats.org/drawingml/2006/main">
              <a:ext uri="{FF2B5EF4-FFF2-40B4-BE49-F238E27FC236}">
                <a16:creationId xmlns:a16="http://schemas.microsoft.com/office/drawing/2014/main" id="{DD7A8C5B-1AE7-4831-85FE-659E171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98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0,8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300CB-376A-4E68-A54D-A6198B32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28" name="text-78">
            <a:extLst xmlns:a="http://schemas.openxmlformats.org/drawingml/2006/main">
              <a:ext uri="{FF2B5EF4-FFF2-40B4-BE49-F238E27FC236}">
                <a16:creationId xmlns:a16="http://schemas.microsoft.com/office/drawing/2014/main" id="{42F81BC6-5528-4553-8E13-9ABC2E52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1,0</a:t>
            </a:r>
          </a:p>
        </p:txBody>
      </p:sp>
      <p:sp>
        <p:nvSpPr>
          <p:cNvPr id="29" name="text-79">
            <a:extLst xmlns:a="http://schemas.openxmlformats.org/drawingml/2006/main">
              <a:ext uri="{FF2B5EF4-FFF2-40B4-BE49-F238E27FC236}">
                <a16:creationId xmlns:a16="http://schemas.microsoft.com/office/drawing/2014/main" id="{41C1A269-EA4D-4741-9C66-2FB6A9F8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430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x₂: доля незавершённых</a:t>
            </a:r>
          </a:p>
        </p:txBody>
      </p:sp>
      <p:sp>
        <p:nvSpPr>
          <p:cNvPr id="30" name="text-80">
            <a:extLst xmlns:a="http://schemas.openxmlformats.org/drawingml/2006/main">
              <a:ext uri="{FF2B5EF4-FFF2-40B4-BE49-F238E27FC236}">
                <a16:creationId xmlns:a16="http://schemas.microsoft.com/office/drawing/2014/main" id="{378F21EA-50D2-4C01-AED1-F8DFA0B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43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x₁ = SYN/с ÷ 1000</a:t>
            </a:r>
          </a:p>
        </p:txBody>
      </p:sp>
      <p:sp>
        <p:nvSpPr>
          <p:cNvPr id="31" name="boundary-f--1">
            <a:extLst xmlns:a="http://schemas.openxmlformats.org/drawingml/2006/main">
              <a:ext uri="{FF2B5EF4-FFF2-40B4-BE49-F238E27FC236}">
                <a16:creationId xmlns:a16="http://schemas.microsoft.com/office/drawing/2014/main" id="{EEC54061-6D3A-4397-A002-03F7FAF9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31812"/>
            <a:ext cx="2870222" cy="1649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36377"/>
            </a:solidFill>
            <a:prstDash val="dash"/>
          </a:ln>
        </p:spPr>
      </p:sp>
      <p:sp>
        <p:nvSpPr>
          <p:cNvPr id="32" name="boundary-f-0">
            <a:extLst xmlns:a="http://schemas.openxmlformats.org/drawingml/2006/main">
              <a:ext uri="{FF2B5EF4-FFF2-40B4-BE49-F238E27FC236}">
                <a16:creationId xmlns:a16="http://schemas.microsoft.com/office/drawing/2014/main" id="{6105146D-176B-41D1-A122-2FE9C2A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56812"/>
            <a:ext cx="5610290" cy="322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1C32"/>
            </a:solidFill>
            <a:prstDash val="solid"/>
          </a:ln>
        </p:spPr>
      </p:sp>
      <p:sp>
        <p:nvSpPr>
          <p:cNvPr id="33" name="boundary-f-1">
            <a:extLst xmlns:a="http://schemas.openxmlformats.org/drawingml/2006/main">
              <a:ext uri="{FF2B5EF4-FFF2-40B4-BE49-F238E27FC236}">
                <a16:creationId xmlns:a16="http://schemas.microsoft.com/office/drawing/2014/main" id="{B1B63653-6DD0-4290-9F98-FEAFD2E0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22" y="2047875"/>
            <a:ext cx="4116953" cy="2366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36377"/>
            </a:solidFill>
            <a:prstDash val="dash"/>
          </a:ln>
        </p:spPr>
      </p:sp>
      <p:sp>
        <p:nvSpPr>
          <p:cNvPr id="34" name="point-N01">
            <a:extLst xmlns:a="http://schemas.openxmlformats.org/drawingml/2006/main">
              <a:ext uri="{FF2B5EF4-FFF2-40B4-BE49-F238E27FC236}">
                <a16:creationId xmlns:a16="http://schemas.microsoft.com/office/drawing/2014/main" id="{D7F66B92-7BB8-44A1-A969-5A25ABC9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673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5" name="point-N02">
            <a:extLst xmlns:a="http://schemas.openxmlformats.org/drawingml/2006/main">
              <a:ext uri="{FF2B5EF4-FFF2-40B4-BE49-F238E27FC236}">
                <a16:creationId xmlns:a16="http://schemas.microsoft.com/office/drawing/2014/main" id="{6EB13DB7-8446-4B3C-90D8-0C29D4A6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6" name="point-N03">
            <a:extLst xmlns:a="http://schemas.openxmlformats.org/drawingml/2006/main">
              <a:ext uri="{FF2B5EF4-FFF2-40B4-BE49-F238E27FC236}">
                <a16:creationId xmlns:a16="http://schemas.microsoft.com/office/drawing/2014/main" id="{DDB71EC8-E93D-4399-9E93-DCECE779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7" name="point-N04">
            <a:extLst xmlns:a="http://schemas.openxmlformats.org/drawingml/2006/main">
              <a:ext uri="{FF2B5EF4-FFF2-40B4-BE49-F238E27FC236}">
                <a16:creationId xmlns:a16="http://schemas.microsoft.com/office/drawing/2014/main" id="{24BCE0B7-6987-406B-94E4-25901D2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8" name="support-N05">
            <a:extLst xmlns:a="http://schemas.openxmlformats.org/drawingml/2006/main">
              <a:ext uri="{FF2B5EF4-FFF2-40B4-BE49-F238E27FC236}">
                <a16:creationId xmlns:a16="http://schemas.microsoft.com/office/drawing/2014/main" id="{17C97054-0172-4953-82A2-966E6B2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958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39" name="point-N05">
            <a:extLst xmlns:a="http://schemas.openxmlformats.org/drawingml/2006/main">
              <a:ext uri="{FF2B5EF4-FFF2-40B4-BE49-F238E27FC236}">
                <a16:creationId xmlns:a16="http://schemas.microsoft.com/office/drawing/2014/main" id="{8E30340A-45FD-45CF-B41B-5B1BABB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339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0" name="support-N06">
            <a:extLst xmlns:a="http://schemas.openxmlformats.org/drawingml/2006/main">
              <a:ext uri="{FF2B5EF4-FFF2-40B4-BE49-F238E27FC236}">
                <a16:creationId xmlns:a16="http://schemas.microsoft.com/office/drawing/2014/main" id="{20A23DC2-39F4-463D-909C-AA1FF31D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41" name="point-N06">
            <a:extLst xmlns:a="http://schemas.openxmlformats.org/drawingml/2006/main">
              <a:ext uri="{FF2B5EF4-FFF2-40B4-BE49-F238E27FC236}">
                <a16:creationId xmlns:a16="http://schemas.microsoft.com/office/drawing/2014/main" id="{B09129DF-9F75-4499-9C9C-A18EB20A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2" name="support-N07">
            <a:extLst xmlns:a="http://schemas.openxmlformats.org/drawingml/2006/main">
              <a:ext uri="{FF2B5EF4-FFF2-40B4-BE49-F238E27FC236}">
                <a16:creationId xmlns:a16="http://schemas.microsoft.com/office/drawing/2014/main" id="{CCA43B79-7CDC-482A-8A60-D2D6A19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4695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43" name="point-N07">
            <a:extLst xmlns:a="http://schemas.openxmlformats.org/drawingml/2006/main">
              <a:ext uri="{FF2B5EF4-FFF2-40B4-BE49-F238E27FC236}">
                <a16:creationId xmlns:a16="http://schemas.microsoft.com/office/drawing/2014/main" id="{0B88E4B0-000A-4F14-A962-58D77E8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4" name="support-N08">
            <a:extLst xmlns:a="http://schemas.openxmlformats.org/drawingml/2006/main">
              <a:ext uri="{FF2B5EF4-FFF2-40B4-BE49-F238E27FC236}">
                <a16:creationId xmlns:a16="http://schemas.microsoft.com/office/drawing/2014/main" id="{0FFAB846-000F-41D9-ABA7-A9CDBFBF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47958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45" name="point-N08">
            <a:extLst xmlns:a="http://schemas.openxmlformats.org/drawingml/2006/main">
              <a:ext uri="{FF2B5EF4-FFF2-40B4-BE49-F238E27FC236}">
                <a16:creationId xmlns:a16="http://schemas.microsoft.com/office/drawing/2014/main" id="{A6DBCC59-8980-49B4-8C6D-A753E57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88" y="48339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6" name="support-N09">
            <a:extLst xmlns:a="http://schemas.openxmlformats.org/drawingml/2006/main">
              <a:ext uri="{FF2B5EF4-FFF2-40B4-BE49-F238E27FC236}">
                <a16:creationId xmlns:a16="http://schemas.microsoft.com/office/drawing/2014/main" id="{72CB2F3A-1E89-49F6-8553-26CF0DF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47" name="point-N09">
            <a:extLst xmlns:a="http://schemas.openxmlformats.org/drawingml/2006/main">
              <a:ext uri="{FF2B5EF4-FFF2-40B4-BE49-F238E27FC236}">
                <a16:creationId xmlns:a16="http://schemas.microsoft.com/office/drawing/2014/main" id="{A6F21E19-6186-4B7D-BA70-8F3B1CA9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8" name="support-N10">
            <a:extLst xmlns:a="http://schemas.openxmlformats.org/drawingml/2006/main">
              <a:ext uri="{FF2B5EF4-FFF2-40B4-BE49-F238E27FC236}">
                <a16:creationId xmlns:a16="http://schemas.microsoft.com/office/drawing/2014/main" id="{B99CCA58-42DB-4F9E-AE10-2BFD130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49" name="point-N10">
            <a:extLst xmlns:a="http://schemas.openxmlformats.org/drawingml/2006/main">
              <a:ext uri="{FF2B5EF4-FFF2-40B4-BE49-F238E27FC236}">
                <a16:creationId xmlns:a16="http://schemas.microsoft.com/office/drawing/2014/main" id="{3D8EFAF9-0582-4877-9C02-B24FDEE9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50" name="support-A01">
            <a:extLst xmlns:a="http://schemas.openxmlformats.org/drawingml/2006/main">
              <a:ext uri="{FF2B5EF4-FFF2-40B4-BE49-F238E27FC236}">
                <a16:creationId xmlns:a16="http://schemas.microsoft.com/office/drawing/2014/main" id="{FD2609A0-E8F2-42A1-8373-0E00047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31289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51" name="point-A01">
            <a:extLst xmlns:a="http://schemas.openxmlformats.org/drawingml/2006/main">
              <a:ext uri="{FF2B5EF4-FFF2-40B4-BE49-F238E27FC236}">
                <a16:creationId xmlns:a16="http://schemas.microsoft.com/office/drawing/2014/main" id="{D712B817-9BF2-46E1-9B40-D70FC022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88" y="31670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52" name="support-A02">
            <a:extLst xmlns:a="http://schemas.openxmlformats.org/drawingml/2006/main">
              <a:ext uri="{FF2B5EF4-FFF2-40B4-BE49-F238E27FC236}">
                <a16:creationId xmlns:a16="http://schemas.microsoft.com/office/drawing/2014/main" id="{AB5EA55F-C61C-4CE5-8AD7-8F441163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955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53" name="point-A02">
            <a:extLst xmlns:a="http://schemas.openxmlformats.org/drawingml/2006/main">
              <a:ext uri="{FF2B5EF4-FFF2-40B4-BE49-F238E27FC236}">
                <a16:creationId xmlns:a16="http://schemas.microsoft.com/office/drawing/2014/main" id="{BCA0BB51-CFC4-4671-AC25-646167AF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3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54" name="point-A03">
            <a:extLst xmlns:a="http://schemas.openxmlformats.org/drawingml/2006/main">
              <a:ext uri="{FF2B5EF4-FFF2-40B4-BE49-F238E27FC236}">
                <a16:creationId xmlns:a16="http://schemas.microsoft.com/office/drawing/2014/main" id="{EEB2E817-691B-40E6-A542-3E490E16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55" name="point-A04">
            <a:extLst xmlns:a="http://schemas.openxmlformats.org/drawingml/2006/main">
              <a:ext uri="{FF2B5EF4-FFF2-40B4-BE49-F238E27FC236}">
                <a16:creationId xmlns:a16="http://schemas.microsoft.com/office/drawing/2014/main" id="{93AB99F1-5114-462D-9842-DBBDC6BD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56" name="point-A05">
            <a:extLst xmlns:a="http://schemas.openxmlformats.org/drawingml/2006/main">
              <a:ext uri="{FF2B5EF4-FFF2-40B4-BE49-F238E27FC236}">
                <a16:creationId xmlns:a16="http://schemas.microsoft.com/office/drawing/2014/main" id="{E86B9B01-68F0-4F60-9BDB-44D3132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57" name="support-A06">
            <a:extLst xmlns:a="http://schemas.openxmlformats.org/drawingml/2006/main">
              <a:ext uri="{FF2B5EF4-FFF2-40B4-BE49-F238E27FC236}">
                <a16:creationId xmlns:a16="http://schemas.microsoft.com/office/drawing/2014/main" id="{3D5D1CA4-2719-4983-BE4D-7BE08E39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1289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58" name="point-A06">
            <a:extLst xmlns:a="http://schemas.openxmlformats.org/drawingml/2006/main">
              <a:ext uri="{FF2B5EF4-FFF2-40B4-BE49-F238E27FC236}">
                <a16:creationId xmlns:a16="http://schemas.microsoft.com/office/drawing/2014/main" id="{865B3861-9CB4-4CDB-8BDF-B2F60387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670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59" name="point-A07">
            <a:extLst xmlns:a="http://schemas.openxmlformats.org/drawingml/2006/main">
              <a:ext uri="{FF2B5EF4-FFF2-40B4-BE49-F238E27FC236}">
                <a16:creationId xmlns:a16="http://schemas.microsoft.com/office/drawing/2014/main" id="{33B100FD-3AA0-4FCD-9809-FFF8098B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3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60" name="support-A08">
            <a:extLst xmlns:a="http://schemas.openxmlformats.org/drawingml/2006/main">
              <a:ext uri="{FF2B5EF4-FFF2-40B4-BE49-F238E27FC236}">
                <a16:creationId xmlns:a16="http://schemas.microsoft.com/office/drawing/2014/main" id="{B865F690-D754-4BF4-A9B8-AB1BED59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61" name="point-A08">
            <a:extLst xmlns:a="http://schemas.openxmlformats.org/drawingml/2006/main">
              <a:ext uri="{FF2B5EF4-FFF2-40B4-BE49-F238E27FC236}">
                <a16:creationId xmlns:a16="http://schemas.microsoft.com/office/drawing/2014/main" id="{D5864116-A420-45B2-BC8F-577F9E8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62" name="support-A09">
            <a:extLst xmlns:a="http://schemas.openxmlformats.org/drawingml/2006/main">
              <a:ext uri="{FF2B5EF4-FFF2-40B4-BE49-F238E27FC236}">
                <a16:creationId xmlns:a16="http://schemas.microsoft.com/office/drawing/2014/main" id="{40947474-E162-454D-A734-F2394F28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63" name="point-A09">
            <a:extLst xmlns:a="http://schemas.openxmlformats.org/drawingml/2006/main">
              <a:ext uri="{FF2B5EF4-FFF2-40B4-BE49-F238E27FC236}">
                <a16:creationId xmlns:a16="http://schemas.microsoft.com/office/drawing/2014/main" id="{1CD64AAD-6352-4C51-ADEA-E80CEB4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64" name="support-A10">
            <a:extLst xmlns:a="http://schemas.openxmlformats.org/drawingml/2006/main">
              <a:ext uri="{FF2B5EF4-FFF2-40B4-BE49-F238E27FC236}">
                <a16:creationId xmlns:a16="http://schemas.microsoft.com/office/drawing/2014/main" id="{C96CC72D-8218-4FA0-BAF4-8FC020A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101C32"/>
            </a:solidFill>
          </a:ln>
        </p:spPr>
      </p:sp>
      <p:sp>
        <p:nvSpPr>
          <p:cNvPr id="65" name="point-A10">
            <a:extLst xmlns:a="http://schemas.openxmlformats.org/drawingml/2006/main">
              <a:ext uri="{FF2B5EF4-FFF2-40B4-BE49-F238E27FC236}">
                <a16:creationId xmlns:a16="http://schemas.microsoft.com/office/drawing/2014/main" id="{9B8023E3-DA62-4A7B-9FE2-DE12ED03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555"/>
          </a:solidFill>
          <a:ln xmlns:a="http://schemas.openxmlformats.org/drawingml/2006/main" w="0">
            <a:noFill/>
          </a:ln>
        </p:spPr>
      </p:sp>
      <p:sp>
        <p:nvSpPr>
          <p:cNvPr id="66" name="text-81">
            <a:extLst xmlns:a="http://schemas.openxmlformats.org/drawingml/2006/main">
              <a:ext uri="{FF2B5EF4-FFF2-40B4-BE49-F238E27FC236}">
                <a16:creationId xmlns:a16="http://schemas.microsoft.com/office/drawing/2014/main" id="{CBDE452C-C083-485C-B8BB-88C0036B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809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f = −1</a:t>
            </a:r>
          </a:p>
        </p:txBody>
      </p:sp>
      <p:sp>
        <p:nvSpPr>
          <p:cNvPr id="67" name="text-82">
            <a:extLst xmlns:a="http://schemas.openxmlformats.org/drawingml/2006/main">
              <a:ext uri="{FF2B5EF4-FFF2-40B4-BE49-F238E27FC236}">
                <a16:creationId xmlns:a16="http://schemas.microsoft.com/office/drawing/2014/main" id="{133C8609-7E4E-47B7-8618-A5303F20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14575"/>
            <a:ext cx="809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f = 0</a:t>
            </a:r>
          </a:p>
        </p:txBody>
      </p:sp>
      <p:sp>
        <p:nvSpPr>
          <p:cNvPr id="68" name="text-83">
            <a:extLst xmlns:a="http://schemas.openxmlformats.org/drawingml/2006/main">
              <a:ext uri="{FF2B5EF4-FFF2-40B4-BE49-F238E27FC236}">
                <a16:creationId xmlns:a16="http://schemas.microsoft.com/office/drawing/2014/main" id="{BECC455A-244B-4653-9B77-FC23C320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f = +1</a:t>
            </a:r>
          </a:p>
        </p:txBody>
      </p:sp>
      <p:sp>
        <p:nvSpPr>
          <p:cNvPr id="69" name="text-84">
            <a:extLst xmlns:a="http://schemas.openxmlformats.org/drawingml/2006/main">
              <a:ext uri="{FF2B5EF4-FFF2-40B4-BE49-F238E27FC236}">
                <a16:creationId xmlns:a16="http://schemas.microsoft.com/office/drawing/2014/main" id="{802B48EA-7FED-49E8-9220-4DB1038A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57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● Норма</a:t>
            </a:r>
          </a:p>
        </p:txBody>
      </p:sp>
      <p:sp>
        <p:nvSpPr>
          <p:cNvPr id="70" name="text-85">
            <a:extLst xmlns:a="http://schemas.openxmlformats.org/drawingml/2006/main">
              <a:ext uri="{FF2B5EF4-FFF2-40B4-BE49-F238E27FC236}">
                <a16:creationId xmlns:a16="http://schemas.microsoft.com/office/drawing/2014/main" id="{3C371D49-F408-435D-B602-052292B5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57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85555"/>
                </a:solidFill>
                <a:latin typeface="DejaVu Sans"/>
                <a:ea typeface="DejaVu Sans"/>
                <a:cs typeface="DejaVu Sans"/>
              </a:rPr>
              <a:t>● SYN-flood</a:t>
            </a:r>
          </a:p>
        </p:txBody>
      </p:sp>
      <p:sp>
        <p:nvSpPr>
          <p:cNvPr id="71" name="text-86">
            <a:extLst xmlns:a="http://schemas.openxmlformats.org/drawingml/2006/main">
              <a:ext uri="{FF2B5EF4-FFF2-40B4-BE49-F238E27FC236}">
                <a16:creationId xmlns:a16="http://schemas.microsoft.com/office/drawing/2014/main" id="{633E6A78-95C3-4456-BB35-EF41A102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057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○ Опорные векторы</a:t>
            </a:r>
          </a:p>
        </p:txBody>
      </p:sp>
      <p:sp>
        <p:nvSpPr>
          <p:cNvPr id="72" name="text-87">
            <a:extLst xmlns:a="http://schemas.openxmlformats.org/drawingml/2006/main">
              <a:ext uri="{FF2B5EF4-FFF2-40B4-BE49-F238E27FC236}">
                <a16:creationId xmlns:a16="http://schemas.microsoft.com/office/drawing/2014/main" id="{A7840462-5A26-4748-8B61-E95DD42A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5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73" name="text-88">
            <a:extLst xmlns:a="http://schemas.openxmlformats.org/drawingml/2006/main">
              <a:ext uri="{FF2B5EF4-FFF2-40B4-BE49-F238E27FC236}">
                <a16:creationId xmlns:a16="http://schemas.microsoft.com/office/drawing/2014/main" id="{B25E35EA-3EA7-42AF-9B7C-E230A3A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опорных векторов</a:t>
            </a:r>
          </a:p>
        </p:txBody>
      </p:sp>
      <p:sp>
        <p:nvSpPr>
          <p:cNvPr id="74" name="text-89">
            <a:extLst xmlns:a="http://schemas.openxmlformats.org/drawingml/2006/main">
              <a:ext uri="{FF2B5EF4-FFF2-40B4-BE49-F238E27FC236}">
                <a16:creationId xmlns:a16="http://schemas.microsoft.com/office/drawing/2014/main" id="{45238821-880E-4317-A4DC-1398243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Ширина полосы</a:t>
            </a:r>
          </a:p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2/‖w‖ = 0,819</a:t>
            </a:r>
          </a:p>
        </p:txBody>
      </p:sp>
    </p:spTree>
    <p:extLst>
      <p:ext uri="{BB962C8B-B14F-4D97-AF65-F5344CB8AC3E}">
        <p14:creationId xmlns:p14="http://schemas.microsoft.com/office/powerpoint/2010/main" val="783874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42B8382C-A89B-42C1-9C06-C78FC47E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Функциональный и геометрический отступ</a:t>
            </a:r>
          </a:p>
        </p:txBody>
      </p:sp>
      <p:sp>
        <p:nvSpPr>
          <p:cNvPr id="2" name="text-91">
            <a:extLst xmlns:a="http://schemas.openxmlformats.org/drawingml/2006/main">
              <a:ext uri="{FF2B5EF4-FFF2-40B4-BE49-F238E27FC236}">
                <a16:creationId xmlns:a16="http://schemas.microsoft.com/office/drawing/2014/main" id="{4A0431B2-C41F-4AD2-AC43-3699A20C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Знак оценивает правильность; расстояние показывает близость к границе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87A95-2FB2-41DD-8CC9-4EBF2393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92">
            <a:extLst xmlns:a="http://schemas.openxmlformats.org/drawingml/2006/main">
              <a:ext uri="{FF2B5EF4-FFF2-40B4-BE49-F238E27FC236}">
                <a16:creationId xmlns:a16="http://schemas.microsoft.com/office/drawing/2014/main" id="{7C44A7D1-D847-4E93-BE51-54DE946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[2, 5, 6]</a:t>
            </a:r>
          </a:p>
        </p:txBody>
      </p:sp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ACE859C1-0D19-4715-BF7E-67BF192F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59ACE-E89D-4D11-8046-B3F2C5450D02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2981476"/>
                <a:gridCol w="4384524"/>
              </a:tblGrid>
              <a:tr h="681038">
                <a:tc>
                  <a:txBody>
                    <a:bodyPr lIns="114300" tIns="95250" rIns="9525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Величина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Формула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Смысл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681038"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Функциональный отступ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 = yf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Верно при m &gt;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Геометрический отступ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γ = yf / ‖w‖₂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То же, в единицах расстояния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681038"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Расстояние до границы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 = |f| / ‖w‖₂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80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Неотрицательная близость к f=0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489C3-F8E0-486E-B3A6-33FDC4F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8" name="text-94">
            <a:extLst xmlns:a="http://schemas.openxmlformats.org/drawingml/2006/main">
              <a:ext uri="{FF2B5EF4-FFF2-40B4-BE49-F238E27FC236}">
                <a16:creationId xmlns:a16="http://schemas.microsoft.com/office/drawing/2014/main" id="{D49488C7-C60E-4A1B-8916-0E40541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При неизвестной истинной метке можно вычислить d; знак правильности неизвестен</a:t>
            </a:r>
          </a:p>
        </p:txBody>
      </p:sp>
    </p:spTree>
    <p:extLst>
      <p:ext uri="{BB962C8B-B14F-4D97-AF65-F5344CB8AC3E}">
        <p14:creationId xmlns:p14="http://schemas.microsoft.com/office/powerpoint/2010/main" val="28803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5">
            <a:extLst xmlns:a="http://schemas.openxmlformats.org/drawingml/2006/main">
              <a:ext uri="{FF2B5EF4-FFF2-40B4-BE49-F238E27FC236}">
                <a16:creationId xmlns:a16="http://schemas.microsoft.com/office/drawing/2014/main" id="{23BCC659-61E1-41EA-9E4D-C377B4A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Ручной расчёт для T04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DECBCDAE-04ED-4FDA-9BAC-3BE46A5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Размеченная атака около границы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6FE8E-08A1-434D-B270-A9F55BAB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CC96B01A-087F-4D7A-B593-974303B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8A774399-C333-4553-85CC-E2B039F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3CF37A69-882D-4A73-9D2E-F92927B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x = (0,90; 0,40),  y = +1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425DBD1F-4B19-4839-A55A-960585D0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f(x) = 1,2167 · 0,90 + 2,1167 · 0,40 − 2,0475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70BAABB7-5C61-4486-941D-E96CEC1F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E85555"/>
                </a:solidFill>
                <a:latin typeface="DejaVu Sans"/>
                <a:ea typeface="DejaVu Sans"/>
                <a:cs typeface="DejaVu Sans"/>
              </a:rPr>
              <a:t>f(x) ≈ −0,1058  →  нормальный трафик: пропуск атаки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F3842251-C6B5-4121-9F83-01D28F2C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m = yf = −0,1058       γ = −0,0433       d = 0,0433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023E0-847B-424C-848A-DD228E0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1" name="text-103">
            <a:extLst xmlns:a="http://schemas.openxmlformats.org/drawingml/2006/main">
              <a:ext uri="{FF2B5EF4-FFF2-40B4-BE49-F238E27FC236}">
                <a16:creationId xmlns:a16="http://schemas.microsoft.com/office/drawing/2014/main" id="{746FFB08-8E9B-420D-8A46-DAE58036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Малое расстояние объясняет хрупкость решения; отрицательный отступ — ошибку</a:t>
            </a:r>
          </a:p>
        </p:txBody>
      </p:sp>
    </p:spTree>
    <p:extLst>
      <p:ext uri="{BB962C8B-B14F-4D97-AF65-F5344CB8AC3E}">
        <p14:creationId xmlns:p14="http://schemas.microsoft.com/office/powerpoint/2010/main" val="11170298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E8495B2D-266F-41B9-808E-A2EFBB32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Отступы восьми проверочных объектов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CCEE65C0-D1B4-4D2C-A048-7FFAD970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ŷ: «Н» — нормальный трафик, «А» — SYN-flood; вычисления без округления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D6576-9C39-46F6-AF80-FD11171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0494C89B-C517-4F03-ADC6-31E8685C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107">
            <a:extLst xmlns:a="http://schemas.openxmlformats.org/drawingml/2006/main">
              <a:ext uri="{FF2B5EF4-FFF2-40B4-BE49-F238E27FC236}">
                <a16:creationId xmlns:a16="http://schemas.microsoft.com/office/drawing/2014/main" id="{1A6D2907-AAD3-4CA0-BBF9-81243D9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B0080-9CC1-451E-964F-7CF81F201834}"/>
              </a:ext>
            </a:extLst>
          </p:cNvPr>
          <p:cNvGraphicFramePr/>
          <p:nvPr/>
        </p:nvGraphicFramePr>
        <p:xfrm>
          <a:off xmlns:a="http://schemas.openxmlformats.org/drawingml/2006/main" x="571500" y="2105025"/>
          <a:ext xmlns:a="http://schemas.openxmlformats.org/drawingml/2006/main" cx="110490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5176"/>
                <a:gridCol w="2239662"/>
                <a:gridCol w="895865"/>
                <a:gridCol w="1493108"/>
                <a:gridCol w="1493108"/>
                <a:gridCol w="1493108"/>
                <a:gridCol w="1493108"/>
                <a:gridCol w="895865"/>
              </a:tblGrid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x₁; x₂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f(x)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 = yf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γ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ŷ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0,42; 0,09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−1,346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1,55; 0,88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1,701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1,701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0,697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0,697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T03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0,95; 0,40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−0,045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0,045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0,018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0,018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T04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0,90; 0,40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−0,106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−0,106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−0,043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0,043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T05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1,00; 0,42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0,058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−0,058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−0,024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0,024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FBE4E4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T06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0,95; 0,46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0,082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0,082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0,034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0,034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FFF4D7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1,20; 0,16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−0,249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T08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0,95; 0,75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0,696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0,696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0,285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0,285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650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A6036B8F-001D-43EF-AE52-889CA2A8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Красный фон — ошибка; жёлтый — верный пограничный случай. Проверки иллюстративные.</a:t>
            </a:r>
          </a:p>
        </p:txBody>
      </p:sp>
    </p:spTree>
    <p:extLst>
      <p:ext uri="{BB962C8B-B14F-4D97-AF65-F5344CB8AC3E}">
        <p14:creationId xmlns:p14="http://schemas.microsoft.com/office/powerpoint/2010/main" val="4988901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F4F30866-69BE-4878-9B26-BD1A6FB6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Пограничные объекты</a:t>
            </a:r>
          </a:p>
        </p:txBody>
      </p:sp>
      <p:sp>
        <p:nvSpPr>
          <p:cNvPr id="2" name="text-110">
            <a:extLst xmlns:a="http://schemas.openxmlformats.org/drawingml/2006/main">
              <a:ext uri="{FF2B5EF4-FFF2-40B4-BE49-F238E27FC236}">
                <a16:creationId xmlns:a16="http://schemas.microsoft.com/office/drawing/2014/main" id="{059D9580-2AE0-4C3B-9758-F3EA6A51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Учебный порог: d &lt; τ, где τ = 0,10 в масштабированных признаках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B97C5-B21E-48FE-AE1D-F1A732C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11">
            <a:extLst xmlns:a="http://schemas.openxmlformats.org/drawingml/2006/main">
              <a:ext uri="{FF2B5EF4-FFF2-40B4-BE49-F238E27FC236}">
                <a16:creationId xmlns:a16="http://schemas.microsoft.com/office/drawing/2014/main" id="{9993A5B1-B2F4-4813-8C18-9ACF2FBD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112">
            <a:extLst xmlns:a="http://schemas.openxmlformats.org/drawingml/2006/main">
              <a:ext uri="{FF2B5EF4-FFF2-40B4-BE49-F238E27FC236}">
                <a16:creationId xmlns:a16="http://schemas.microsoft.com/office/drawing/2014/main" id="{CC92970A-4376-40A6-8858-9FFA718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BC31918-DA40-4C02-99E4-9A73E5B79C37}"/>
              </a:ext>
            </a:extLst>
          </p:cNvPr>
          <p:cNvGraphicFramePr/>
          <p:nvPr/>
        </p:nvGraphicFramePr>
        <p:xfrm>
          <a:off xmlns:a="http://schemas.openxmlformats.org/drawingml/2006/main" x="428625" y="2095500"/>
          <a:ext xmlns:a="http://schemas.openxmlformats.org/drawingml/2006/main" cx="7239000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87ddacab8548d4"/>
          </a:graphicData>
        </a:graphic>
      </p:graphicFrame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F16523A4-0DA7-4A7F-BB11-16E5404F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E5B6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E5B64A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E5B64A"/>
                </a:solidFill>
                <a:latin typeface="DejaVu Sans"/>
                <a:ea typeface="DejaVu Sans"/>
                <a:cs typeface="DejaVu Sans"/>
              </a:rPr>
              <a:t>T03, T04, T05, T06</a:t>
            </a:r>
          </a:p>
        </p:txBody>
      </p:sp>
      <p:sp>
        <p:nvSpPr>
          <p:cNvPr id="8" name="text-114">
            <a:extLst xmlns:a="http://schemas.openxmlformats.org/drawingml/2006/main">
              <a:ext uri="{FF2B5EF4-FFF2-40B4-BE49-F238E27FC236}">
                <a16:creationId xmlns:a16="http://schemas.microsoft.com/office/drawing/2014/main" id="{35B945FA-1019-4EEE-B9D4-F32E882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524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Кандидаты на проверку:</a:t>
            </a:r>
          </a:p>
          <a:p xmlns:a="http://schemas.openxmlformats.org/drawingml/2006/main">
            <a: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логи, динамика по окнам,</a:t>
            </a:r>
          </a:p>
          <a:p xmlns:a="http://schemas.openxmlformats.org/drawingml/2006/main">
            <a:pPr>
              <a:def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состояние сервера</a:t>
            </a:r>
          </a:p>
        </p:txBody>
      </p:sp>
      <p:sp>
        <p:nvSpPr>
          <p:cNvPr id="9" name="text-115">
            <a:extLst xmlns:a="http://schemas.openxmlformats.org/drawingml/2006/main">
              <a:ext uri="{FF2B5EF4-FFF2-40B4-BE49-F238E27FC236}">
                <a16:creationId xmlns:a16="http://schemas.microsoft.com/office/drawing/2014/main" id="{51102ED0-EC29-4241-875E-72D50A4E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8162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Малый d встречается</a:t>
            </a:r>
          </a:p>
          <a:p xmlns:a="http://schemas.openxmlformats.org/drawingml/2006/main">
            <a:pPr>
              <a:defRPr sz="187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у обоих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675057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16">
            <a:extLst xmlns:a="http://schemas.openxmlformats.org/drawingml/2006/main">
              <a:ext uri="{FF2B5EF4-FFF2-40B4-BE49-F238E27FC236}">
                <a16:creationId xmlns:a16="http://schemas.microsoft.com/office/drawing/2014/main" id="{261FB7EF-2760-4821-B8E6-5F48C9C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Влияние параметра C</a:t>
            </a:r>
          </a:p>
        </p:txBody>
      </p:sp>
      <p:sp>
        <p:nvSpPr>
          <p:cNvPr id="2" name="text-117">
            <a:extLst xmlns:a="http://schemas.openxmlformats.org/drawingml/2006/main">
              <a:ext uri="{FF2B5EF4-FFF2-40B4-BE49-F238E27FC236}">
                <a16:creationId xmlns:a16="http://schemas.microsoft.com/office/drawing/2014/main" id="{234B8CE4-D70B-4E0D-9C8F-48FA3A0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Меняем C при тех же данных и масштабе признаков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FE889-8451-4C57-9EB6-B3689452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18">
            <a:extLst xmlns:a="http://schemas.openxmlformats.org/drawingml/2006/main">
              <a:ext uri="{FF2B5EF4-FFF2-40B4-BE49-F238E27FC236}">
                <a16:creationId xmlns:a16="http://schemas.microsoft.com/office/drawing/2014/main" id="{F9A1F0BF-2BC9-40FF-B64F-502C3147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[1, 5]; рассчитанные значения</a:t>
            </a:r>
          </a:p>
        </p:txBody>
      </p:sp>
      <p:sp>
        <p:nvSpPr>
          <p:cNvPr id="5" name="text-119">
            <a:extLst xmlns:a="http://schemas.openxmlformats.org/drawingml/2006/main">
              <a:ext uri="{FF2B5EF4-FFF2-40B4-BE49-F238E27FC236}">
                <a16:creationId xmlns:a16="http://schemas.microsoft.com/office/drawing/2014/main" id="{9549A6C6-71B0-4835-8CC2-3C793D8B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1BC77-9351-4D1A-962E-28CB4A6CBF0C}"/>
              </a:ext>
            </a:extLst>
          </p:cNvPr>
          <p:cNvGraphicFramePr/>
          <p:nvPr/>
        </p:nvGraphicFramePr>
        <p:xfrm>
          <a:off xmlns:a="http://schemas.openxmlformats.org/drawingml/2006/main" x="571500" y="2286000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9258"/>
                <a:gridCol w="1782097"/>
                <a:gridCol w="1960306"/>
                <a:gridCol w="1782097"/>
                <a:gridCol w="1782097"/>
                <a:gridCol w="2673145"/>
              </a:tblGrid>
              <a:tr h="595313">
                <a:tc>
                  <a:txBody>
                    <a:bodyPr lIns="114300" tIns="9525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‖w‖₂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2/‖w‖₂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Опорных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 &lt; 1¹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Ошибок train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595313"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2,396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2,441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0,819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595313"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5,290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72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C5EB5945-E2A7-4994-B64B-A9015D6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Меньшее C → слабее штраф за нарушения, обычно шире полоса.</a:t>
            </a:r>
          </a:p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Большее C → сильнее штраф; граница чувствительнее к трудным объектам.</a:t>
            </a:r>
          </a:p>
        </p:txBody>
      </p:sp>
      <p:sp>
        <p:nvSpPr>
          <p:cNvPr id="8" name="text-121">
            <a:extLst xmlns:a="http://schemas.openxmlformats.org/drawingml/2006/main">
              <a:ext uri="{FF2B5EF4-FFF2-40B4-BE49-F238E27FC236}">
                <a16:creationId xmlns:a16="http://schemas.microsoft.com/office/drawing/2014/main" id="{B6A2A447-BD34-4905-8CA8-0A0E695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¹ Число нарушений с допуском 10⁻⁵. C сравним только при одинаковом масштабе и объёме train.</a:t>
            </a:r>
          </a:p>
        </p:txBody>
      </p:sp>
    </p:spTree>
    <p:extLst>
      <p:ext uri="{BB962C8B-B14F-4D97-AF65-F5344CB8AC3E}">
        <p14:creationId xmlns:p14="http://schemas.microsoft.com/office/powerpoint/2010/main" val="18560673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2">
            <a:extLst xmlns:a="http://schemas.openxmlformats.org/drawingml/2006/main">
              <a:ext uri="{FF2B5EF4-FFF2-40B4-BE49-F238E27FC236}">
                <a16:creationId xmlns:a16="http://schemas.microsoft.com/office/drawing/2014/main" id="{52E6E5D9-D7A5-4C5E-A882-1AECD7E3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Отступ как «запас прочности»</a:t>
            </a:r>
          </a:p>
        </p:txBody>
      </p:sp>
      <p:sp>
        <p:nvSpPr>
          <p:cNvPr id="2" name="text-123">
            <a:extLst xmlns:a="http://schemas.openxmlformats.org/drawingml/2006/main">
              <a:ext uri="{FF2B5EF4-FFF2-40B4-BE49-F238E27FC236}">
                <a16:creationId xmlns:a16="http://schemas.microsoft.com/office/drawing/2014/main" id="{9CAA152C-2AEE-4FDA-BCF9-3EA2C9A8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Для фиксированной линейной модели и евклидовой нормы признаков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40456-3A26-40E4-BF9B-6342291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24">
            <a:extLst xmlns:a="http://schemas.openxmlformats.org/drawingml/2006/main">
              <a:ext uri="{FF2B5EF4-FFF2-40B4-BE49-F238E27FC236}">
                <a16:creationId xmlns:a16="http://schemas.microsoft.com/office/drawing/2014/main" id="{5B55DD55-2341-4B2A-B5E8-510F3C8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 [6]; линейный случай</a:t>
            </a:r>
          </a:p>
        </p:txBody>
      </p:sp>
      <p:sp>
        <p:nvSpPr>
          <p:cNvPr id="5" name="text-125">
            <a:extLst xmlns:a="http://schemas.openxmlformats.org/drawingml/2006/main">
              <a:ext uri="{FF2B5EF4-FFF2-40B4-BE49-F238E27FC236}">
                <a16:creationId xmlns:a16="http://schemas.microsoft.com/office/drawing/2014/main" id="{1B6CA145-6C81-41D0-9FFA-B705DA1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text-126">
            <a:extLst xmlns:a="http://schemas.openxmlformats.org/drawingml/2006/main">
              <a:ext uri="{FF2B5EF4-FFF2-40B4-BE49-F238E27FC236}">
                <a16:creationId xmlns:a16="http://schemas.microsoft.com/office/drawing/2014/main" id="{04F7E344-7A92-4BCC-91FD-693951AB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r(x) = |f(x)| / ‖w‖₂</a:t>
            </a:r>
          </a:p>
        </p:txBody>
      </p:sp>
      <p:sp>
        <p:nvSpPr>
          <p:cNvPr id="7" name="text-127">
            <a:extLst xmlns:a="http://schemas.openxmlformats.org/drawingml/2006/main">
              <a:ext uri="{FF2B5EF4-FFF2-40B4-BE49-F238E27FC236}">
                <a16:creationId xmlns:a16="http://schemas.microsoft.com/office/drawing/2014/main" id="{6BB79459-B6AD-4367-8211-7951A17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Если ‖δ‖₂ &lt; r(x), знак f(x + δ) сохраняется.</a:t>
            </a:r>
          </a:p>
        </p:txBody>
      </p:sp>
      <p:sp>
        <p:nvSpPr>
          <p:cNvPr id="8" name="text-128">
            <a:extLst xmlns:a="http://schemas.openxmlformats.org/drawingml/2006/main">
              <a:ext uri="{FF2B5EF4-FFF2-40B4-BE49-F238E27FC236}">
                <a16:creationId xmlns:a16="http://schemas.microsoft.com/office/drawing/2014/main" id="{DD9A741A-5A17-4669-9822-5A9BBAEE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Ближайшая точка границы достигается при</a:t>
            </a:r>
          </a:p>
        </p:txBody>
      </p:sp>
      <p:sp>
        <p:nvSpPr>
          <p:cNvPr id="9" name="text-129">
            <a:extLst xmlns:a="http://schemas.openxmlformats.org/drawingml/2006/main">
              <a:ext uri="{FF2B5EF4-FFF2-40B4-BE49-F238E27FC236}">
                <a16:creationId xmlns:a16="http://schemas.microsoft.com/office/drawing/2014/main" id="{B9523274-022E-4F90-B93F-09A15CE1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δ* = − f(x)w / ‖w‖₂²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97214-CD1B-49C9-A470-F43283C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1" name="text-130">
            <a:extLst xmlns:a="http://schemas.openxmlformats.org/drawingml/2006/main">
              <a:ext uri="{FF2B5EF4-FFF2-40B4-BE49-F238E27FC236}">
                <a16:creationId xmlns:a16="http://schemas.microsoft.com/office/drawing/2014/main" id="{068EE4B5-0A71-4158-8062-876938BE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У T04 запас всего 0,0433; на самой границе решение неоднозначно</a:t>
            </a:r>
          </a:p>
        </p:txBody>
      </p:sp>
    </p:spTree>
    <p:extLst>
      <p:ext uri="{BB962C8B-B14F-4D97-AF65-F5344CB8AC3E}">
        <p14:creationId xmlns:p14="http://schemas.microsoft.com/office/powerpoint/2010/main" val="964096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5729889D-1561-43A3-B6D9-3B912949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Что запас прочности говорит о решении</a:t>
            </a:r>
          </a:p>
        </p:txBody>
      </p:sp>
      <p:sp>
        <p:nvSpPr>
          <p:cNvPr id="2" name="text-132">
            <a:extLst xmlns:a="http://schemas.openxmlformats.org/drawingml/2006/main">
              <a:ext uri="{FF2B5EF4-FFF2-40B4-BE49-F238E27FC236}">
                <a16:creationId xmlns:a16="http://schemas.microsoft.com/office/drawing/2014/main" id="{61BA7D2E-A625-42F8-8039-D53EC364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Геометрическая устойчивость относится к текущему предсказанию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61191-60EA-4EFF-8EC0-31E1944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AE69E8B4-D500-475B-BF6B-8557426F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[2, 5, 6]; интерпретация примера</a:t>
            </a:r>
          </a:p>
        </p:txBody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5BDE6051-A367-48D3-95E5-E4F153D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3A78865C-5817-4F7C-A98A-C0FA63BE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Что означает большой d</a:t>
            </a:r>
          </a:p>
        </p:txBody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8A992BC6-F061-4198-85D9-D65F899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Для смены класса нужно большее</a:t>
            </a:r>
          </a:p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изменение выбранных признаков</a:t>
            </a:r>
          </a:p>
        </p:txBody>
      </p:sp>
      <p:sp>
        <p:nvSpPr>
          <p:cNvPr id="8" name="text-137">
            <a:extLst xmlns:a="http://schemas.openxmlformats.org/drawingml/2006/main">
              <a:ext uri="{FF2B5EF4-FFF2-40B4-BE49-F238E27FC236}">
                <a16:creationId xmlns:a16="http://schemas.microsoft.com/office/drawing/2014/main" id="{AE299D45-3D4C-48A5-86B1-99C284E3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8555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E85555"/>
                </a:solidFill>
                <a:latin typeface="DejaVu Sans"/>
                <a:ea typeface="DejaVu Sans"/>
                <a:cs typeface="DejaVu Sans"/>
              </a:rPr>
              <a:t>Чего одного d недостаточно установить</a:t>
            </a:r>
          </a:p>
        </p:txBody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E651C827-C089-4104-98E9-1DCFBAC7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Правильно ли решение; какова</a:t>
            </a:r>
          </a:p>
          <a:p xmlns:a="http://schemas.openxmlformats.org/drawingml/2006/main">
            <a:pPr>
              <a:def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вероятность атаки; защищён ли 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58925-0AB4-4DAB-90C1-5673CF76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1" name="text-139">
            <a:extLst xmlns:a="http://schemas.openxmlformats.org/drawingml/2006/main">
              <a:ext uri="{FF2B5EF4-FFF2-40B4-BE49-F238E27FC236}">
                <a16:creationId xmlns:a16="http://schemas.microsoft.com/office/drawing/2014/main" id="{EBFAD302-078E-4EA0-81E6-135B3C86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Значение зависит от масштаба признаков. Устойчивая ошибка тоже возможна</a:t>
            </a:r>
          </a:p>
        </p:txBody>
      </p:sp>
    </p:spTree>
    <p:extLst>
      <p:ext uri="{BB962C8B-B14F-4D97-AF65-F5344CB8AC3E}">
        <p14:creationId xmlns:p14="http://schemas.microsoft.com/office/powerpoint/2010/main" val="5851013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9EE202BD-F357-4D6A-9680-BC96F6A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Проверка на реальном трафике</a:t>
            </a:r>
          </a:p>
        </p:txBody>
      </p:sp>
      <p:sp>
        <p:nvSpPr>
          <p:cNvPr id="2" name="text-141">
            <a:extLst xmlns:a="http://schemas.openxmlformats.org/drawingml/2006/main">
              <a:ext uri="{FF2B5EF4-FFF2-40B4-BE49-F238E27FC236}">
                <a16:creationId xmlns:a16="http://schemas.microsoft.com/office/drawing/2014/main" id="{D8EF1809-DDA5-4AA3-B111-5EECCE7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Следующий этап — отдельный эксперимент; в этой работе он не выполнялся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8B5F0-1449-40B6-99E8-4146E84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4DA57349-D107-4608-93F6-B1544F4F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Источники [4, 5, 7]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340817AC-61A2-40F4-B84F-3BAD6FE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B1D416A4-1B6E-4FF8-B437-A0F6202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AB70FB18-CC06-4690-AAC7-1FCEE322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859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Собрать данные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FE2FB6DF-40CD-4968-9F76-B7432072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8602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PCAP и подтверждённые метки SYN-flood / нормы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8B04ADFA-2E0A-4756-9913-B52A3A4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0998A487-6295-4EC9-B5F8-D723E5F2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Разделить по времени и сеансам</a:t>
            </a:r>
          </a:p>
        </p:txBody>
      </p:sp>
      <p:sp>
        <p:nvSpPr>
          <p:cNvPr id="11" name="text-149">
            <a:extLst xmlns:a="http://schemas.openxmlformats.org/drawingml/2006/main">
              <a:ext uri="{FF2B5EF4-FFF2-40B4-BE49-F238E27FC236}">
                <a16:creationId xmlns:a16="http://schemas.microsoft.com/office/drawing/2014/main" id="{6FCEBD8D-19C1-4AC7-AC11-63957FA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Train → validation → test; без соседних копий в разных частях</a:t>
            </a:r>
          </a:p>
        </p:txBody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2FF7E561-F41F-48A7-86D4-C6B5867B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8042F51F-C539-4AC4-BE38-F71A5C09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Выбрать C и порог τ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87F9C651-F599-4A1B-B08C-FC1843DA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5292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На validation учесть цену пропуска атаки и ложной тревоги</a:t>
            </a:r>
          </a:p>
        </p:txBody>
      </p:sp>
      <p:sp>
        <p:nvSpPr>
          <p:cNvPr id="15" name="text-153">
            <a:extLst xmlns:a="http://schemas.openxmlformats.org/drawingml/2006/main">
              <a:ext uri="{FF2B5EF4-FFF2-40B4-BE49-F238E27FC236}">
                <a16:creationId xmlns:a16="http://schemas.microsoft.com/office/drawing/2014/main" id="{D21D97C2-912B-4D1F-88C1-3BD5B87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863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2674EF90-5BC8-4CCE-AC41-F64EE0DA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Проверить ошибки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8AF15DB8-6DBE-4CCE-8983-A506E99A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Precision, recall, FPR; анализ пограничных объектов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4C9F9505-E0BC-4FBF-9D1A-89443A97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CICDDoS2019 содержит SYN-атаки; наши два признака нужно извлекать из PCAP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6184066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57">
            <a:extLst xmlns:a="http://schemas.openxmlformats.org/drawingml/2006/main">
              <a:ext uri="{FF2B5EF4-FFF2-40B4-BE49-F238E27FC236}">
                <a16:creationId xmlns:a16="http://schemas.microsoft.com/office/drawing/2014/main" id="{0EBA57DE-72A3-47DE-836A-BF39389D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Результат выполнения задания</a:t>
            </a:r>
          </a:p>
        </p:txBody>
      </p:sp>
      <p:sp>
        <p:nvSpPr>
          <p:cNvPr id="2" name="text-158">
            <a:extLst xmlns:a="http://schemas.openxmlformats.org/drawingml/2006/main">
              <a:ext uri="{FF2B5EF4-FFF2-40B4-BE49-F238E27FC236}">
                <a16:creationId xmlns:a16="http://schemas.microsoft.com/office/drawing/2014/main" id="{17B9B3E3-AE8A-4A6F-BFF2-1D8B9FBD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Эталоны описывают типичное поведение; SVM определяет разделяющую границу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0C0B-44F3-43F4-AA1E-6B41D6F0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90E57438-9D65-4044-B61C-27670687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D0ED953C-1B9E-43B9-A99C-E99C95F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3DA6BE4B-6036-4801-AB56-B57854A1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Эталоны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2F53496E-D419-4C23-A5B8-B26EDD32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0502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N05 (0,60; 0,15) и A06 (1,30; 0,65)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28A2B677-AF56-4080-ACD2-5432554D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Классификатор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E1542432-EA79-4470-8BE4-4519C8B1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Линейная SVM с мягким зазором, C = 1</a:t>
            </a:r>
          </a:p>
        </p:txBody>
      </p:sp>
      <p:sp>
        <p:nvSpPr>
          <p:cNvPr id="10" name="text-165">
            <a:extLst xmlns:a="http://schemas.openxmlformats.org/drawingml/2006/main">
              <a:ext uri="{FF2B5EF4-FFF2-40B4-BE49-F238E27FC236}">
                <a16:creationId xmlns:a16="http://schemas.microsoft.com/office/drawing/2014/main" id="{31ECD8C9-1F30-47E2-8BEA-24BC35F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Пограничные объекты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8D5E3E2B-4AE6-41B9-8D1F-A8E4C2C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9097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T03, T04, T05, T06 при d &lt; 0,10</a:t>
            </a:r>
          </a:p>
        </p:txBody>
      </p:sp>
      <p:sp>
        <p:nvSpPr>
          <p:cNvPr id="12" name="text-167">
            <a:extLst xmlns:a="http://schemas.openxmlformats.org/drawingml/2006/main">
              <a:ext uri="{FF2B5EF4-FFF2-40B4-BE49-F238E27FC236}">
                <a16:creationId xmlns:a16="http://schemas.microsoft.com/office/drawing/2014/main" id="{279A7608-CAF6-405A-9EE3-DBC74BF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95"/>
                </a:solidFill>
                <a:latin typeface="DejaVu Sans"/>
                <a:ea typeface="DejaVu Sans"/>
                <a:cs typeface="DejaVu Sans"/>
              </a:rPr>
              <a:t>Запас прочности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F5F9868F-38A8-494E-AC85-C9D97AB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3395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Расстояние до смены текущего предсказания</a:t>
            </a:r>
          </a:p>
        </p:txBody>
      </p:sp>
      <p:sp>
        <p:nvSpPr>
          <p:cNvPr id="14" name="text-169">
            <a:extLst xmlns:a="http://schemas.openxmlformats.org/drawingml/2006/main">
              <a:ext uri="{FF2B5EF4-FFF2-40B4-BE49-F238E27FC236}">
                <a16:creationId xmlns:a16="http://schemas.microsoft.com/office/drawing/2014/main" id="{2209E727-0E28-44CD-B30C-93E4934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Числа демонстрируют метод. Для вывода о качестве детектора необходим реальный test.</a:t>
            </a:r>
          </a:p>
        </p:txBody>
      </p:sp>
    </p:spTree>
    <p:extLst>
      <p:ext uri="{BB962C8B-B14F-4D97-AF65-F5344CB8AC3E}">
        <p14:creationId xmlns:p14="http://schemas.microsoft.com/office/powerpoint/2010/main" val="3733263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0">
            <a:extLst xmlns:a="http://schemas.openxmlformats.org/drawingml/2006/main">
              <a:ext uri="{FF2B5EF4-FFF2-40B4-BE49-F238E27FC236}">
                <a16:creationId xmlns:a16="http://schemas.microsoft.com/office/drawing/2014/main" id="{B38C9C66-2D57-4112-92C1-A7F4CBD9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Приложение: обучающие объекты</a:t>
            </a:r>
          </a:p>
        </p:txBody>
      </p:sp>
      <p:sp>
        <p:nvSpPr>
          <p:cNvPr id="2" name="text-171">
            <a:extLst xmlns:a="http://schemas.openxmlformats.org/drawingml/2006/main">
              <a:ext uri="{FF2B5EF4-FFF2-40B4-BE49-F238E27FC236}">
                <a16:creationId xmlns:a16="http://schemas.microsoft.com/office/drawing/2014/main" id="{1A58B8A3-1211-4282-B7EE-A011685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SYN/с = 1000 · x₁; x₂ — доля незавершённых рукопожатий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FF25E-356B-4A3C-83FF-FAA68989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72">
            <a:extLst xmlns:a="http://schemas.openxmlformats.org/drawingml/2006/main">
              <a:ext uri="{FF2B5EF4-FFF2-40B4-BE49-F238E27FC236}">
                <a16:creationId xmlns:a16="http://schemas.microsoft.com/office/drawing/2014/main" id="{A3ED0715-E97E-49BC-A435-2907B45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173">
            <a:extLst xmlns:a="http://schemas.openxmlformats.org/drawingml/2006/main">
              <a:ext uri="{FF2B5EF4-FFF2-40B4-BE49-F238E27FC236}">
                <a16:creationId xmlns:a16="http://schemas.microsoft.com/office/drawing/2014/main" id="{25477A85-85BA-4CF7-8D22-442ABC0F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348D7-9A25-4C59-AE15-57786067A1D2}"/>
              </a:ext>
            </a:extLst>
          </p:cNvPr>
          <p:cNvGraphicFramePr/>
          <p:nvPr/>
        </p:nvGraphicFramePr>
        <p:xfrm>
          <a:off xmlns:a="http://schemas.openxmlformats.org/drawingml/2006/main" x="571500" y="2124075"/>
          <a:ext xmlns:a="http://schemas.openxmlformats.org/drawingml/2006/main" cx="53340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40465"/>
                <a:gridCol w="1240465"/>
                <a:gridCol w="1240465"/>
                <a:gridCol w="1612605"/>
              </a:tblGrid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x₁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Класс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N04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N06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N10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6D847-2A59-4E45-96A1-AE3283C576EF}"/>
              </a:ext>
            </a:extLst>
          </p:cNvPr>
          <p:cNvGraphicFramePr/>
          <p:nvPr/>
        </p:nvGraphicFramePr>
        <p:xfrm>
          <a:off xmlns:a="http://schemas.openxmlformats.org/drawingml/2006/main" x="6286500" y="2124075"/>
          <a:ext xmlns:a="http://schemas.openxmlformats.org/drawingml/2006/main" cx="53340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40465"/>
                <a:gridCol w="1240465"/>
                <a:gridCol w="1240465"/>
                <a:gridCol w="1612605"/>
              </a:tblGrid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x₁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x₂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Класс</a:t>
                      </a:r>
                    </a:p>
                  </a:txBody>
                  <a:tcPr marL="91440" marR="91440" marT="45720" marB="45720" anchor="ctr">
                    <a:solidFill>
                      <a:srgbClr val="101C32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A02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1,20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A04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A06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A08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0,95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889"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A10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0,80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0,56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  <a:tc>
                  <a:txBody>
                    <a:bodyPr lIns="114300" tIns="95250" rIns="95250" bIns="76200"/>
                    <a:lstStyle/>
                    <a:p>
                      <a:r>
                        <a:rPr sz="1575" b="0">
                          <a:solidFill>
                            <a:srgbClr val="101C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Атака</a:t>
                      </a:r>
                    </a:p>
                  </a:txBody>
                  <a:tcPr marL="91440" marR="91440" marT="45720" marB="45720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0264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74">
            <a:extLst xmlns:a="http://schemas.openxmlformats.org/drawingml/2006/main">
              <a:ext uri="{FF2B5EF4-FFF2-40B4-BE49-F238E27FC236}">
                <a16:creationId xmlns:a16="http://schemas.microsoft.com/office/drawing/2014/main" id="{B4BA43A5-B5B1-4741-BF6D-4179054D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1C32"/>
                </a:solidFill>
                <a:latin typeface="DejaVu Sans"/>
                <a:ea typeface="DejaVu Sans"/>
                <a:cs typeface="DejaVu Sans"/>
              </a:rPr>
              <a:t>Источники</a:t>
            </a:r>
          </a:p>
        </p:txBody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223DBD73-77DA-48A8-B786-1754E0B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Первоисточники и официальная документация; проверено 16.10.2026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B7E78-6C85-4941-96F8-98CC18D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</a:ln>
        </p:spPr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006F901F-1C5F-4F3D-A96C-898CB2E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1.13  •  Учебный пример: SYN-flood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309FB19B-A8A2-462E-A92D-EBE5957A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" name="text-178">
            <a:extLst xmlns:a="http://schemas.openxmlformats.org/drawingml/2006/main">
              <a:ext uri="{FF2B5EF4-FFF2-40B4-BE49-F238E27FC236}">
                <a16:creationId xmlns:a16="http://schemas.microsoft.com/office/drawing/2014/main" id="{3B667FA7-A794-4C4E-BCE0-79A54C0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9cbf04112604791"/>
              </a:rPr>
              <a:t>[1] Cortes &amp; Vapnik (1995)</a:t>
            </a:r>
          </a:p>
        </p:txBody>
      </p:sp>
      <p:sp>
        <p:nvSpPr>
          <p:cNvPr id="7" name="text-179">
            <a:extLst xmlns:a="http://schemas.openxmlformats.org/drawingml/2006/main">
              <a:ext uri="{FF2B5EF4-FFF2-40B4-BE49-F238E27FC236}">
                <a16:creationId xmlns:a16="http://schemas.microsoft.com/office/drawing/2014/main" id="{147E5333-3F8C-43C7-87AC-8B670D4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Support-vector networks</a:t>
            </a:r>
          </a:p>
        </p:txBody>
      </p:sp>
      <p:sp>
        <p:nvSpPr>
          <p:cNvPr id="8" name="text-180">
            <a:extLst xmlns:a="http://schemas.openxmlformats.org/drawingml/2006/main">
              <a:ext uri="{FF2B5EF4-FFF2-40B4-BE49-F238E27FC236}">
                <a16:creationId xmlns:a16="http://schemas.microsoft.com/office/drawing/2014/main" id="{21C52C60-013F-45A9-B3BA-91D71528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29f6c36d6cd44d6"/>
              </a:rPr>
              <a:t>[2] Stanford CS229, A. Ng</a:t>
            </a:r>
          </a:p>
        </p:txBody>
      </p:sp>
      <p:sp>
        <p:nvSpPr>
          <p:cNvPr id="9" name="text-181">
            <a:extLst xmlns:a="http://schemas.openxmlformats.org/drawingml/2006/main">
              <a:ext uri="{FF2B5EF4-FFF2-40B4-BE49-F238E27FC236}">
                <a16:creationId xmlns:a16="http://schemas.microsoft.com/office/drawing/2014/main" id="{2ABB1C23-E5CC-45CE-B1D3-1C14677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Functional / geometric margin; soft margin</a:t>
            </a:r>
          </a:p>
        </p:txBody>
      </p:sp>
      <p:sp>
        <p:nvSpPr>
          <p:cNvPr id="10" name="text-182">
            <a:extLst xmlns:a="http://schemas.openxmlformats.org/drawingml/2006/main">
              <a:ext uri="{FF2B5EF4-FFF2-40B4-BE49-F238E27FC236}">
                <a16:creationId xmlns:a16="http://schemas.microsoft.com/office/drawing/2014/main" id="{C8FAFED5-E877-4BF1-B0F3-E6CBE229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d988a36271341db"/>
              </a:rPr>
              <a:t>[3] Schubert &amp; Rousseeuw (2019)</a:t>
            </a:r>
          </a:p>
        </p:txBody>
      </p:sp>
      <p:sp>
        <p:nvSpPr>
          <p:cNvPr id="11" name="text-183">
            <a:extLst xmlns:a="http://schemas.openxmlformats.org/drawingml/2006/main">
              <a:ext uri="{FF2B5EF4-FFF2-40B4-BE49-F238E27FC236}">
                <a16:creationId xmlns:a16="http://schemas.microsoft.com/office/drawing/2014/main" id="{C339D35C-AA0C-4BB2-AF6A-F4A9291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Faster k-Medoids Clustering</a:t>
            </a:r>
          </a:p>
        </p:txBody>
      </p:sp>
      <p:sp>
        <p:nvSpPr>
          <p:cNvPr id="12" name="text-184">
            <a:extLst xmlns:a="http://schemas.openxmlformats.org/drawingml/2006/main">
              <a:ext uri="{FF2B5EF4-FFF2-40B4-BE49-F238E27FC236}">
                <a16:creationId xmlns:a16="http://schemas.microsoft.com/office/drawing/2014/main" id="{F1ECD95A-4D17-4A4A-B0AC-045FCFD7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d3239c2c633408f"/>
              </a:rPr>
              <a:t>[4] Eddy (2007), RFC 4987</a:t>
            </a:r>
          </a:p>
        </p:txBody>
      </p:sp>
      <p:sp>
        <p:nvSpPr>
          <p:cNvPr id="13" name="text-185">
            <a:extLst xmlns:a="http://schemas.openxmlformats.org/drawingml/2006/main">
              <a:ext uri="{FF2B5EF4-FFF2-40B4-BE49-F238E27FC236}">
                <a16:creationId xmlns:a16="http://schemas.microsoft.com/office/drawing/2014/main" id="{09666825-9981-4131-9FB5-EEF1C875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TCP SYN Flooding Attacks and Common Mitigations</a:t>
            </a:r>
          </a:p>
        </p:txBody>
      </p:sp>
      <p:sp>
        <p:nvSpPr>
          <p:cNvPr id="14" name="text-186">
            <a:extLst xmlns:a="http://schemas.openxmlformats.org/drawingml/2006/main">
              <a:ext uri="{FF2B5EF4-FFF2-40B4-BE49-F238E27FC236}">
                <a16:creationId xmlns:a16="http://schemas.microsoft.com/office/drawing/2014/main" id="{854A1A59-2D2A-4687-9AA9-C5CFE85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b0545138c094d30"/>
              </a:rPr>
              <a:t>[5] scikit-learn, официальная документация</a:t>
            </a:r>
          </a:p>
        </p:txBody>
      </p:sp>
      <p:sp>
        <p:nvSpPr>
          <p:cNvPr id="15" name="text-187">
            <a:extLst xmlns:a="http://schemas.openxmlformats.org/drawingml/2006/main">
              <a:ext uri="{FF2B5EF4-FFF2-40B4-BE49-F238E27FC236}">
                <a16:creationId xmlns:a16="http://schemas.microsoft.com/office/drawing/2014/main" id="{F89F1228-25C8-41EE-BA4F-4F6FD02E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SVC, decision_function, масштабирование</a:t>
            </a:r>
          </a:p>
        </p:txBody>
      </p:sp>
      <p:sp>
        <p:nvSpPr>
          <p:cNvPr id="16" name="text-188">
            <a:extLst xmlns:a="http://schemas.openxmlformats.org/drawingml/2006/main">
              <a:ext uri="{FF2B5EF4-FFF2-40B4-BE49-F238E27FC236}">
                <a16:creationId xmlns:a16="http://schemas.microsoft.com/office/drawing/2014/main" id="{4DC3B1E9-8044-48EF-979D-218146B3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c66995b07c444c3"/>
              </a:rPr>
              <a:t>[6] Moosavi-Dezfooli et al. (CVPR 2016)</a:t>
            </a:r>
          </a:p>
        </p:txBody>
      </p:sp>
      <p:sp>
        <p:nvSpPr>
          <p:cNvPr id="17" name="text-189">
            <a:extLst xmlns:a="http://schemas.openxmlformats.org/drawingml/2006/main">
              <a:ext uri="{FF2B5EF4-FFF2-40B4-BE49-F238E27FC236}">
                <a16:creationId xmlns:a16="http://schemas.microsoft.com/office/drawing/2014/main" id="{06901F04-4270-4402-986D-19090B88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DeepFool: линейный случай, расстояние до границы</a:t>
            </a:r>
          </a:p>
        </p:txBody>
      </p:sp>
      <p:sp>
        <p:nvSpPr>
          <p:cNvPr id="18" name="text-190">
            <a:extLst xmlns:a="http://schemas.openxmlformats.org/drawingml/2006/main">
              <a:ext uri="{FF2B5EF4-FFF2-40B4-BE49-F238E27FC236}">
                <a16:creationId xmlns:a16="http://schemas.microsoft.com/office/drawing/2014/main" id="{151D170A-AA05-4362-A024-4C9C133E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8C95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3234eeb98c14cd9"/>
              </a:rPr>
              <a:t>[7] UNB / Canadian Institute for Cybersecurity</a:t>
            </a:r>
          </a:p>
        </p:txBody>
      </p:sp>
      <p:sp>
        <p:nvSpPr>
          <p:cNvPr id="19" name="text-191">
            <a:extLst xmlns:a="http://schemas.openxmlformats.org/drawingml/2006/main">
              <a:ext uri="{FF2B5EF4-FFF2-40B4-BE49-F238E27FC236}">
                <a16:creationId xmlns:a16="http://schemas.microsoft.com/office/drawing/2014/main" id="{71597A64-DCE4-43E5-9D93-ECDB2EF8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7"/>
                </a:solidFill>
                <a:latin typeface="DejaVu Sans"/>
                <a:ea typeface="DejaVu Sans"/>
                <a:cs typeface="DejaVu Sans"/>
              </a:rPr>
              <a:t>CICDDoS2019: источник для следующего этапа</a:t>
            </a:r>
          </a:p>
        </p:txBody>
      </p:sp>
    </p:spTree>
    <p:extLst>
      <p:ext uri="{BB962C8B-B14F-4D97-AF65-F5344CB8AC3E}">
        <p14:creationId xmlns:p14="http://schemas.microsoft.com/office/powerpoint/2010/main" val="1768627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2026-10-16T17:19:38.6880000Z</dcterms:created>
  <dcterms:modified xsi:type="dcterms:W3CDTF">2026-10-16T17:19:38.6880000Z</dcterms:modified>
</coreProperties>
</file>