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fc84ae061e24297" /><Relationship Type="http://schemas.openxmlformats.org/officeDocument/2006/relationships/extended-properties" Target="/docProps/app.xml" Id="R3a7a85889fe44ad3" /><Relationship Type="http://schemas.openxmlformats.org/officeDocument/2006/relationships/officeDocument" Target="/ppt/presentation.xml" Id="R0679694113fe4dae" /></Relationships>
</file>

<file path=ppt/presentation.xml><?xml version="1.0" encoding="utf-8"?>
<p:presentation xmlns:p="http://schemas.openxmlformats.org/presentationml/2006/main">
  <p:sldMasterIdLst>
    <p:sldMasterId xmlns:r="http://schemas.openxmlformats.org/officeDocument/2006/relationships" id="2147483648" r:id="R9d4df98ba8cc4286"/>
  </p:sldMasterIdLst>
  <p:notesMasterIdLst>
    <p:notesMasterId xmlns:r="http://schemas.openxmlformats.org/officeDocument/2006/relationships" r:id="R23585f133a0640e3"/>
  </p:notesMasterIdLst>
  <p:sldIdLst>
    <p:sldId xmlns:r="http://schemas.openxmlformats.org/officeDocument/2006/relationships" id="256" r:id="Rcf5e3ab8d1ab46a1"/>
    <p:sldId xmlns:r="http://schemas.openxmlformats.org/officeDocument/2006/relationships" id="257" r:id="Rd3887c9228b04139"/>
    <p:sldId xmlns:r="http://schemas.openxmlformats.org/officeDocument/2006/relationships" id="258" r:id="R0b1631065d3f4fb4"/>
    <p:sldId xmlns:r="http://schemas.openxmlformats.org/officeDocument/2006/relationships" id="259" r:id="R41bf1ab99c924ba0"/>
    <p:sldId xmlns:r="http://schemas.openxmlformats.org/officeDocument/2006/relationships" id="260" r:id="Ra0d06bf67b334b8d"/>
    <p:sldId xmlns:r="http://schemas.openxmlformats.org/officeDocument/2006/relationships" id="261" r:id="R0890b441bf5b40b1"/>
    <p:sldId xmlns:r="http://schemas.openxmlformats.org/officeDocument/2006/relationships" id="262" r:id="R3433511d757542ca"/>
    <p:sldId xmlns:r="http://schemas.openxmlformats.org/officeDocument/2006/relationships" id="263" r:id="R8a676e32597f4aab"/>
    <p:sldId xmlns:r="http://schemas.openxmlformats.org/officeDocument/2006/relationships" id="264" r:id="Rd676a9e7892a44c5"/>
    <p:sldId xmlns:r="http://schemas.openxmlformats.org/officeDocument/2006/relationships" id="265" r:id="Rf24580063c8a4bf9"/>
    <p:sldId xmlns:r="http://schemas.openxmlformats.org/officeDocument/2006/relationships" id="266" r:id="R7c04347af066436e"/>
    <p:sldId xmlns:r="http://schemas.openxmlformats.org/officeDocument/2006/relationships" id="267" r:id="R5d6bb7e87a0c4ff3"/>
    <p:sldId xmlns:r="http://schemas.openxmlformats.org/officeDocument/2006/relationships" id="268" r:id="R9e8363f2825a4755"/>
    <p:sldId xmlns:r="http://schemas.openxmlformats.org/officeDocument/2006/relationships" id="269" r:id="R3b86fc5670ff4348"/>
    <p:sldId xmlns:r="http://schemas.openxmlformats.org/officeDocument/2006/relationships" id="270" r:id="Rcf2fed21f62446b0"/>
    <p:sldId xmlns:r="http://schemas.openxmlformats.org/officeDocument/2006/relationships" id="271" r:id="R55ec5fb7c1894524"/>
    <p:sldId xmlns:r="http://schemas.openxmlformats.org/officeDocument/2006/relationships" id="272" r:id="Re89f89e0d2d84885"/>
    <p:sldId xmlns:r="http://schemas.openxmlformats.org/officeDocument/2006/relationships" id="273" r:id="Rde328577e3d94136"/>
    <p:sldId xmlns:r="http://schemas.openxmlformats.org/officeDocument/2006/relationships" id="274" r:id="R152b8adfc86349cf"/>
    <p:sldId xmlns:r="http://schemas.openxmlformats.org/officeDocument/2006/relationships" id="275" r:id="Rf4e9a0947e4e4716"/>
    <p:sldId xmlns:r="http://schemas.openxmlformats.org/officeDocument/2006/relationships" id="276" r:id="R2f8be9a99890424d"/>
    <p:sldId xmlns:r="http://schemas.openxmlformats.org/officeDocument/2006/relationships" id="277" r:id="R932ff2a0615941ea"/>
    <p:sldId xmlns:r="http://schemas.openxmlformats.org/officeDocument/2006/relationships" id="278" r:id="R16a6c913c1364de9"/>
    <p:sldId xmlns:r="http://schemas.openxmlformats.org/officeDocument/2006/relationships" id="279" r:id="R46a9f05152144aa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fcd8d98a33c41d3" /><Relationship Type="http://schemas.openxmlformats.org/officeDocument/2006/relationships/slideMaster" Target="/ppt/slideMasters/slideMaster1.xml" Id="R9d4df98ba8cc4286" /><Relationship Type="http://schemas.openxmlformats.org/officeDocument/2006/relationships/notesMaster" Target="/ppt/notesMasters/notesMaster1.xml" Id="R23585f133a0640e3" /><Relationship Type="http://schemas.openxmlformats.org/officeDocument/2006/relationships/presProps" Target="/ppt/presProps.xml" Id="Re73dc8f74b23408a" /><Relationship Type="http://schemas.openxmlformats.org/officeDocument/2006/relationships/tableStyles" Target="/ppt/tableStyles.xml" Id="Reac6a9d93e914c48" /><Relationship Type="http://schemas.openxmlformats.org/officeDocument/2006/relationships/slide" Target="/ppt/slides/slide1.xml" Id="Rcf5e3ab8d1ab46a1" /><Relationship Type="http://schemas.openxmlformats.org/officeDocument/2006/relationships/slide" Target="/ppt/slides/slide2.xml" Id="Rd3887c9228b04139" /><Relationship Type="http://schemas.openxmlformats.org/officeDocument/2006/relationships/slide" Target="/ppt/slides/slide3.xml" Id="R0b1631065d3f4fb4" /><Relationship Type="http://schemas.openxmlformats.org/officeDocument/2006/relationships/slide" Target="/ppt/slides/slide4.xml" Id="R41bf1ab99c924ba0" /><Relationship Type="http://schemas.openxmlformats.org/officeDocument/2006/relationships/slide" Target="/ppt/slides/slide5.xml" Id="Ra0d06bf67b334b8d" /><Relationship Type="http://schemas.openxmlformats.org/officeDocument/2006/relationships/slide" Target="/ppt/slides/slide6.xml" Id="R0890b441bf5b40b1" /><Relationship Type="http://schemas.openxmlformats.org/officeDocument/2006/relationships/slide" Target="/ppt/slides/slide7.xml" Id="R3433511d757542ca" /><Relationship Type="http://schemas.openxmlformats.org/officeDocument/2006/relationships/slide" Target="/ppt/slides/slide8.xml" Id="R8a676e32597f4aab" /><Relationship Type="http://schemas.openxmlformats.org/officeDocument/2006/relationships/slide" Target="/ppt/slides/slide9.xml" Id="Rd676a9e7892a44c5" /><Relationship Type="http://schemas.openxmlformats.org/officeDocument/2006/relationships/slide" Target="/ppt/slides/slide10.xml" Id="Rf24580063c8a4bf9" /><Relationship Type="http://schemas.openxmlformats.org/officeDocument/2006/relationships/slide" Target="/ppt/slides/slide11.xml" Id="R7c04347af066436e" /><Relationship Type="http://schemas.openxmlformats.org/officeDocument/2006/relationships/slide" Target="/ppt/slides/slide12.xml" Id="R5d6bb7e87a0c4ff3" /><Relationship Type="http://schemas.openxmlformats.org/officeDocument/2006/relationships/slide" Target="/ppt/slides/slide13.xml" Id="R9e8363f2825a4755" /><Relationship Type="http://schemas.openxmlformats.org/officeDocument/2006/relationships/slide" Target="/ppt/slides/slide14.xml" Id="R3b86fc5670ff4348" /><Relationship Type="http://schemas.openxmlformats.org/officeDocument/2006/relationships/slide" Target="/ppt/slides/slide15.xml" Id="Rcf2fed21f62446b0" /><Relationship Type="http://schemas.openxmlformats.org/officeDocument/2006/relationships/slide" Target="/ppt/slides/slide16.xml" Id="R55ec5fb7c1894524" /><Relationship Type="http://schemas.openxmlformats.org/officeDocument/2006/relationships/slide" Target="/ppt/slides/slide17.xml" Id="Re89f89e0d2d84885" /><Relationship Type="http://schemas.openxmlformats.org/officeDocument/2006/relationships/slide" Target="/ppt/slides/slide18.xml" Id="Rde328577e3d94136" /><Relationship Type="http://schemas.openxmlformats.org/officeDocument/2006/relationships/slide" Target="/ppt/slides/slide19.xml" Id="R152b8adfc86349cf" /><Relationship Type="http://schemas.openxmlformats.org/officeDocument/2006/relationships/slide" Target="/ppt/slides/slide20.xml" Id="Rf4e9a0947e4e4716" /><Relationship Type="http://schemas.openxmlformats.org/officeDocument/2006/relationships/slide" Target="/ppt/slides/slide21.xml" Id="R2f8be9a99890424d" /><Relationship Type="http://schemas.openxmlformats.org/officeDocument/2006/relationships/slide" Target="/ppt/slides/slide22.xml" Id="R932ff2a0615941ea" /><Relationship Type="http://schemas.openxmlformats.org/officeDocument/2006/relationships/slide" Target="/ppt/slides/slide23.xml" Id="R16a6c913c1364de9" /><Relationship Type="http://schemas.openxmlformats.org/officeDocument/2006/relationships/slide" Target="/ppt/slides/slide24.xml" Id="R46a9f05152144aa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5af9bcfc6bb47e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4c661449e064712" /><Relationship Type="http://schemas.openxmlformats.org/officeDocument/2006/relationships/notesMaster" Target="/ppt/notesMasters/notesMaster1.xml" Id="R591f9fc8776b4843" /></Relationships>
</file>

<file path=ppt/notesSlides/_rels/notesSlide2.xml.rels>&#65279;<?xml version="1.0" encoding="utf-8"?><Relationships xmlns="http://schemas.openxmlformats.org/package/2006/relationships"><Relationship Type="http://schemas.openxmlformats.org/officeDocument/2006/relationships/slide" Target="/ppt/slides/slide2.xml" Id="R522ffd46d4a1466b" /><Relationship Type="http://schemas.openxmlformats.org/officeDocument/2006/relationships/notesMaster" Target="/ppt/notesMasters/notesMaster1.xml" Id="Re6db112879044710" /></Relationships>
</file>

<file path=ppt/notesSlides/_rels/notesSlide3.xml.rels>&#65279;<?xml version="1.0" encoding="utf-8"?><Relationships xmlns="http://schemas.openxmlformats.org/package/2006/relationships"><Relationship Type="http://schemas.openxmlformats.org/officeDocument/2006/relationships/slide" Target="/ppt/slides/slide3.xml" Id="Ra87609c738d9412c" /><Relationship Type="http://schemas.openxmlformats.org/officeDocument/2006/relationships/notesMaster" Target="/ppt/notesMasters/notesMaster1.xml" Id="R1ad52343cf5e4ce7" /></Relationships>
</file>

<file path=ppt/notesSlides/_rels/notesSlide4.xml.rels>&#65279;<?xml version="1.0" encoding="utf-8"?><Relationships xmlns="http://schemas.openxmlformats.org/package/2006/relationships"><Relationship Type="http://schemas.openxmlformats.org/officeDocument/2006/relationships/slide" Target="/ppt/slides/slide4.xml" Id="Rcaf7718d56e74afb" /><Relationship Type="http://schemas.openxmlformats.org/officeDocument/2006/relationships/notesMaster" Target="/ppt/notesMasters/notesMaster1.xml" Id="Rde4412f40a0c4fa0" /></Relationships>
</file>

<file path=ppt/notesSlides/_rels/notesSlide5.xml.rels>&#65279;<?xml version="1.0" encoding="utf-8"?><Relationships xmlns="http://schemas.openxmlformats.org/package/2006/relationships"><Relationship Type="http://schemas.openxmlformats.org/officeDocument/2006/relationships/slide" Target="/ppt/slides/slide5.xml" Id="R5cfd93a90c254123" /><Relationship Type="http://schemas.openxmlformats.org/officeDocument/2006/relationships/notesMaster" Target="/ppt/notesMasters/notesMaster1.xml" Id="Rbb838f3d0abc428b" /></Relationships>
</file>

<file path=ppt/notesSlides/_rels/notesSlide6.xml.rels>&#65279;<?xml version="1.0" encoding="utf-8"?><Relationships xmlns="http://schemas.openxmlformats.org/package/2006/relationships"><Relationship Type="http://schemas.openxmlformats.org/officeDocument/2006/relationships/slide" Target="/ppt/slides/slide6.xml" Id="Rf75dd93cd421431e" /><Relationship Type="http://schemas.openxmlformats.org/officeDocument/2006/relationships/notesMaster" Target="/ppt/notesMasters/notesMaster1.xml" Id="R5bd4c54669c9448b" /></Relationships>
</file>

<file path=ppt/notesSlides/_rels/notesSlide7.xml.rels>&#65279;<?xml version="1.0" encoding="utf-8"?><Relationships xmlns="http://schemas.openxmlformats.org/package/2006/relationships"><Relationship Type="http://schemas.openxmlformats.org/officeDocument/2006/relationships/slide" Target="/ppt/slides/slide7.xml" Id="Re0aacc7d090a4924" /><Relationship Type="http://schemas.openxmlformats.org/officeDocument/2006/relationships/notesMaster" Target="/ppt/notesMasters/notesMaster1.xml" Id="R92b978c5148b40d7" /></Relationships>
</file>

<file path=ppt/notesSlides/_rels/notesSlide8.xml.rels>&#65279;<?xml version="1.0" encoding="utf-8"?><Relationships xmlns="http://schemas.openxmlformats.org/package/2006/relationships"><Relationship Type="http://schemas.openxmlformats.org/officeDocument/2006/relationships/slide" Target="/ppt/slides/slide8.xml" Id="Rba8ad50543a048ef" /><Relationship Type="http://schemas.openxmlformats.org/officeDocument/2006/relationships/notesMaster" Target="/ppt/notesMasters/notesMaster1.xml" Id="R8e5d078848f74d9e" /></Relationships>
</file>

<file path=ppt/notesSlides/_rels/notesSlide9.xml.rels>&#65279;<?xml version="1.0" encoding="utf-8"?><Relationships xmlns="http://schemas.openxmlformats.org/package/2006/relationships"><Relationship Type="http://schemas.openxmlformats.org/officeDocument/2006/relationships/slide" Target="/ppt/slides/slide9.xml" Id="Rde636f9987e34bfe" /><Relationship Type="http://schemas.openxmlformats.org/officeDocument/2006/relationships/notesMaster" Target="/ppt/notesMasters/notesMaster1.xml" Id="R607bcb0b8151474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a58c42e8e474bc7" /><Relationship Type="http://schemas.openxmlformats.org/officeDocument/2006/relationships/notesMaster" Target="/ppt/notesMasters/notesMaster1.xml" Id="R355421670b4f468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ca5a9df1fce41e4" /><Relationship Type="http://schemas.openxmlformats.org/officeDocument/2006/relationships/notesMaster" Target="/ppt/notesMasters/notesMaster1.xml" Id="R1dbf0b824e43414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82bafcbc91e4c29" /><Relationship Type="http://schemas.openxmlformats.org/officeDocument/2006/relationships/notesMaster" Target="/ppt/notesMasters/notesMaster1.xml" Id="Rb1ca9e69a142447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a5f26c01fe146a2" /><Relationship Type="http://schemas.openxmlformats.org/officeDocument/2006/relationships/notesMaster" Target="/ppt/notesMasters/notesMaster1.xml" Id="R76605f5048644cf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0f7312396e045e8" /><Relationship Type="http://schemas.openxmlformats.org/officeDocument/2006/relationships/notesMaster" Target="/ppt/notesMasters/notesMaster1.xml" Id="Rc037477759b94a7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9ed479b84844f1f" /><Relationship Type="http://schemas.openxmlformats.org/officeDocument/2006/relationships/notesMaster" Target="/ppt/notesMasters/notesMaster1.xml" Id="R10ed602b120c4a3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3e8565477fa4614" /><Relationship Type="http://schemas.openxmlformats.org/officeDocument/2006/relationships/notesMaster" Target="/ppt/notesMasters/notesMaster1.xml" Id="R761cf039b344454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0a3bc5b87c04543" /><Relationship Type="http://schemas.openxmlformats.org/officeDocument/2006/relationships/notesMaster" Target="/ppt/notesMasters/notesMaster1.xml" Id="R4add1ad1ac034f5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a37aecb391647fe" /><Relationship Type="http://schemas.openxmlformats.org/officeDocument/2006/relationships/notesMaster" Target="/ppt/notesMasters/notesMaster1.xml" Id="R1e5345da3da8473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756683db2024720" /><Relationship Type="http://schemas.openxmlformats.org/officeDocument/2006/relationships/notesMaster" Target="/ppt/notesMasters/notesMaster1.xml" Id="Re341e1e47af040b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558eb57b05448ac" /><Relationship Type="http://schemas.openxmlformats.org/officeDocument/2006/relationships/notesMaster" Target="/ppt/notesMasters/notesMaster1.xml" Id="Rca4f3a0ba0c84fc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718bfa0c9584ed2" /><Relationship Type="http://schemas.openxmlformats.org/officeDocument/2006/relationships/notesMaster" Target="/ppt/notesMasters/notesMaster1.xml" Id="R8338633371434df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8706865a064465c" /><Relationship Type="http://schemas.openxmlformats.org/officeDocument/2006/relationships/notesMaster" Target="/ppt/notesMasters/notesMaster1.xml" Id="Rd4e3f2af12fb494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535d29100dd4bfb" /><Relationship Type="http://schemas.openxmlformats.org/officeDocument/2006/relationships/notesMaster" Target="/ppt/notesMasters/notesMaster1.xml" Id="Rf73af239687e47c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e65922fdaa34886" /><Relationship Type="http://schemas.openxmlformats.org/officeDocument/2006/relationships/notesMaster" Target="/ppt/notesMasters/notesMaster1.xml" Id="R8f29f58b8d35465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Разберём, как программа относит объекты к разным классам и как можно объяснить её решение. Сначала разберём основные понятия: объект, признаки, модель, эталон и отступ. Потом на одном примере посмотрим, как всё это работает с сетевым трафиком. Будем отличать обычную нагрузку от SYN-flood. Возьмём одно и то же наблюдение, проверим его двумя способами и разберём, почему ответы получились разными. Затем посмотрим на остальные окна и решим, какую информацию стоит передать аналитику ИБ. Для начала договоримся о словах, которые будут встречаться дальше.</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https://www.rfc-editor.org/rfc/rfc4987.html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Объектом называем то, что исследуем. Признаки описывают его через измеримые свойства. Для программы это набор значений, причём у всех объектов должен быть одинаковый набор признаков. Классом называем одну из заданных групп, к которой хотим отнести объект. Классификация как раз и состоит в выборе такой группы по признакам. Здесь важно различать сам объект, его описание и ответ, который мы ищем. Значения признаков ещё не говорят программе, какой класс выбрать. Нужно правило, которое связывает эти значения с ответом. Такое правило можно задать вручную, а можно подобрать по примерам.</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Правило выбора класса называется классификатором, или моделью. Оно получает признаки и возвращает ответ. Чтобы подобрать модель по примерам, собирают обучающую выборку. В ней для каждого объекта уже известен правильный класс. Этот ответ называют меткой. Во время обучения алгоритм подбирает правило по таким размеченным объектам. Потом правило применяют к другим наблюдениям. Известная метка и прогноз модели могут различаться: модель способна ошибиться. Поэтому будем отдельно показывать, какой класс задан в учебных данных и какой класс выбрала программа. Начнём с простого правила, которое опирается на образцы классов.</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Эталоном класса называем образец, который приняли для сравнения с другими объектами. У каждого класса будет свой эталон. Когда приходит новое наблюдение, мы сравниваем его с этими образцами и смотрим, на какой оно больше похоже. Пока мы определили только роль эталона. Само это понятие ещё не указывает, как именно выбрать образец. Можно использовать разные способы, и от способа зависит результат. В нашей работе выбор будет сделан по расстояниям между объектами. Поэтому прежде, чем искать эталон, нужно объяснить, что программа будет считать похожестью.</a:t>
            </a:r>
          </a:p>
          <a:p xmlns:a="http://schemas.openxmlformats.org/drawingml/2006/main">
            <a:r>
              <a:t/>
            </a:r>
          </a:p>
          <a:p xmlns:a="http://schemas.openxmlformats.org/drawingml/2006/main">
            <a:r>
              <a:t>Источники:</a:t>
            </a:r>
          </a:p>
          <a:p xmlns:a="http://schemas.openxmlformats.org/drawingml/2006/main">
            <a:r>
              <a:t>https://arxiv.org/abs/1810.05691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Похожесть будем измерять расстоянием. Чем меньше расстояние между описаниями двух объектов, тем они ближе по выбранному правилу. Такое правило называют метрикой. При двух признаках их значения становятся координатами точки. Евклидово расстояние измеряет прямой отрезок между точками после приведения признаков к выбранному масштабу. Масштаб здесь важен: если значения одного признака намного больше другого, они могут почти целиком определять расстояние. Поэтому заранее выбираем, как привести признаки к согласованным величинам. От этого выбора зависят и расстояния, и дальнейшие решения. В том же масштабе будем искать образцы классов.</a:t>
            </a:r>
          </a:p>
          <a:p xmlns:a="http://schemas.openxmlformats.org/drawingml/2006/main">
            <a:r>
              <a:t/>
            </a:r>
          </a:p>
          <a:p xmlns:a="http://schemas.openxmlformats.org/drawingml/2006/main">
            <a:r>
              <a:t>Источники:</a:t>
            </a:r>
          </a:p>
          <a:p xmlns:a="http://schemas.openxmlformats.org/drawingml/2006/main">
            <a:r>
              <a:t>https://arxiv.org/abs/1810.05691</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каждого класса выберем медоид. Так называют объект, у которого сумма расстояний до остальных объектов своего класса наименьшая. Посчитать его можно по шагам. Берём одного кандидата и складываем расстояния от него до остальных. Повторяем расчёт для всех кандидатов. Тот, у кого сумма меньше всего, становится нашим эталоном. Затем отдельно повторяем процедуру для другого класса. Используем только обучающую выборку. Проверочные объекты пока оставляем в стороне. При таком способе эталон всегда совпадает с существующим примером. Это особенность медоида. Когда оба образца найдены, можно описать правило классификации.</a:t>
            </a:r>
          </a:p>
          <a:p xmlns:a="http://schemas.openxmlformats.org/drawingml/2006/main">
            <a:r>
              <a:t/>
            </a:r>
          </a:p>
          <a:p xmlns:a="http://schemas.openxmlformats.org/drawingml/2006/main">
            <a:r>
              <a:t>Источники:</a:t>
            </a:r>
          </a:p>
          <a:p xmlns:a="http://schemas.openxmlformats.org/drawingml/2006/main">
            <a:r>
              <a:t>https://arxiv.org/abs/1810.05691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Правило ближайшего эталона устроено просто. Для нового объекта считаем расстояние до каждого образца и выбираем класс того, который оказался ближе. При точном равенстве расстояний понадобится заранее оговорённое правило выбора. Уже можно получить ответ, но хочется понять, насколько сильно один класс выигрывает у другого. Иногда один эталон значительно ближе. Иногда расстояния почти одинаковы, и небольшое изменение признаков может поменять результат сравнения. Если сохранять только название выбранного класса, эта разница потеряется. Поэтому к ответу добавим число, которое показывает преимущество правильного класса над конкурирующим. Это число называется отступом.</a:t>
            </a:r>
          </a:p>
          <a:p xmlns:a="http://schemas.openxmlformats.org/drawingml/2006/main">
            <a:r>
              <a:t/>
            </a:r>
          </a:p>
          <a:p xmlns:a="http://schemas.openxmlformats.org/drawingml/2006/main">
            <a:r>
              <a:t>Источники:</a:t>
            </a:r>
          </a:p>
          <a:p xmlns:a="http://schemas.openxmlformats.org/drawingml/2006/main">
            <a:r>
              <a:t>https://arxiv.org/abs/1810.05691</a:t>
            </a:r>
          </a:p>
          <a:p xmlns:a="http://schemas.openxmlformats.org/drawingml/2006/main">
            <a:r>
              <a:t>https://see.stanford.edu/materials/aimlcs229/cs229-notes3.pdf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Отступом называют разность оценок истинного класса и конкурирующего класса. Оценка показывает, насколько правило предпочитает класс. Для двух классов нам нужно сравнить всего две оценки. У ближайшего эталона оценка равна минус расстоянию: близкий образец получает большую оценку. Поэтому отступ получается как расстояние до чужого эталона минус расстояние до своего. При положительном отступе выбран правильный класс, при отрицательном чужой. Ноль означает равенство оценок. Чтобы проверить правильность по знаку, нужна истинная метка объекта. Но один образец не всегда хорошо описывает весь класс. Попробуем другой подход и обучим границу по всей выборке.</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https://arxiv.org/abs/1810.05691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SVM, или машина опорных векторов, помогает обучить такое правило. В линейном варианте с двумя признаками она строит прямую, которая разделяет области выбора классов. Эта прямая называется границей решения. Когда точка пересекает её, меняется прогноз. Линейное правило вычисляет число f. По его знаку выбирается класс, а при нуле точка находится на границе. SVM обучается на всей обучающей выборке. Два эталона нужны для отдельного способа сравнения, они не заменяют эти данные. Возможных разделяющих прямых может быть много. Дальше посмотрим, что учитывает SVM, когда выбирает границу.</a:t>
            </a:r>
          </a:p>
          <a:p xmlns:a="http://schemas.openxmlformats.org/drawingml/2006/main">
            <a:r>
              <a:t/>
            </a:r>
          </a:p>
          <a:p xmlns:a="http://schemas.openxmlformats.org/drawingml/2006/main">
            <a:r>
              <a:t>Источники:</a:t>
            </a:r>
          </a:p>
          <a:p xmlns:a="http://schemas.openxmlformats.org/drawingml/2006/main">
            <a:r>
              <a:t>https://doi.org/10.1007/BF00994018</a:t>
            </a:r>
          </a:p>
          <a:p xmlns:a="http://schemas.openxmlformats.org/drawingml/2006/main">
            <a:r>
              <a:t>https://see.stanford.edu/materials/aimlcs229/cs229-notes3.pdf</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SVM старается оставить вокруг границы широкую полосу. Её называют зазором. Положение ближайших обучающих объектов влияет на то, какой получится эта полоса. В варианте с мягким зазором допускаются трудные случаи: отдельные точки могут находиться внутри полосы и даже на неверной стороне границы. За такие нарушения назначается штраф. Параметр C задаёт, насколько дорого они обходятся при обучении. Опорными векторами называют обучающие объекты, участвующие в определении границы. На схеме они отмечены кольцами. После обучения граница уже построена. Теперь можно измерять, насколько близко к ней находится любое новое наблюдение.</a:t>
            </a:r>
          </a:p>
          <a:p xmlns:a="http://schemas.openxmlformats.org/drawingml/2006/main">
            <a:r>
              <a:t/>
            </a:r>
          </a:p>
          <a:p xmlns:a="http://schemas.openxmlformats.org/drawingml/2006/main">
            <a:r>
              <a:t>Источники:</a:t>
            </a:r>
          </a:p>
          <a:p xmlns:a="http://schemas.openxmlformats.org/drawingml/2006/main">
            <a:r>
              <a:t>https://doi.org/10.1007/BF00994018</a:t>
            </a:r>
          </a:p>
          <a:p xmlns:a="http://schemas.openxmlformats.org/drawingml/2006/main">
            <a:r>
              <a:t>https://see.stanford.edu/materials/aimlcs229/cs229-notes3.pdf</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Геометрический отступ показывает расстояние до границы со знаком. Если известна правильная метка, плюс означает верный ответ, минус ошибку. В таблицах обозначим этот отступ буквой γ. Если взять его модуль, получим расстояние r без знака. Его можно вычислить и для нового объекта, у которого ещё нет известной метки. Для линейной модели это расстояние показывает, насколько нужно изменить признаки, чтобы дойти до границы. Меньшее изменение не пересечёт её. В этом смысле говорим о запасе прочности решения. Он измерен в выбранном масштабе и не является вероятностью. Далеко от границы тоже можно ошибиться. Геометрический отступ считаем по границе, а отступ для эталонов по расстояниям до образцов. Эти значения напрямую не сравниваем. Малое расстояние до границы помогает найти пограничные случаи.</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https://www.cv-foundation.org/openaccess/content_cvpr_2016/papers/Moosavi-Dezfooli_DeepFool_A_Simple_CVPR_2016_paper.pdf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Пограничным называем объект, который находится близко к границе. Его признаки достаточно немного изменить, чтобы модель могла выбрать другой класс. Здесь встречаются оба класса, правильные ответы и ошибки. Для отбора таких случаев после обучения задают отдельный порог расстояния. Важно различать порог перепроверки и зазор SVM. Зазор участвует в обучении и влияет на построение границы. Порог перепроверки используют уже после обучения, когда анализируют готовые ответы. Он не получается автоматически из C. Теперь мы знаем все нужные понятия. Дальше применим их к одной задаче ИБ и будем разбирать только её.</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Разберём обычный трафик и SYN-flood. TCP-соединение начинается с трёх сообщений: клиент отправляет SYN, сервер отвечает SYN-ACK, клиент подтверждает ответ сообщением ACK. Так завершается рукопожатие. При SYN-flood приходит много начатых подключений, которые не завершаются. Если сервер хранит их состояние, очередь незавершённых подключений может занять ресурсы и мешать обычным клиентам. Будем относить окна трафика к нормальной работе или к SYN-flood. Большое число запросов само по себе ещё не доказывает атаку. Так может выглядеть и обычный рост нагрузки. Поэтому посмотрим одновременно на интенсивность SYN и на завершение подключений.</a:t>
            </a:r>
          </a:p>
          <a:p xmlns:a="http://schemas.openxmlformats.org/drawingml/2006/main">
            <a:r>
              <a:t/>
            </a:r>
          </a:p>
          <a:p xmlns:a="http://schemas.openxmlformats.org/drawingml/2006/main">
            <a:r>
              <a:t>Источники:</a:t>
            </a:r>
          </a:p>
          <a:p xmlns:a="http://schemas.openxmlformats.org/drawingml/2006/main">
            <a:r>
              <a:t>https://www.rfc-editor.org/rfc/rfc4987.html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 нашем примере одно окно включает десять секунд трафика к одному IP-адресу и TCP-порту. Каждое такое окно будет отдельным объектом. Берём два признака: среднее число входящих SYN в секунду и долю попыток, у которых рукопожатие не завершилось за три секунды. В скорость входят повторные SYN. Для доли попыток повторы объединяются. Нужны оба направления обмена, а окна без SYN исключаем. Последним попыткам окна даём время завершиться, поэтому результат приходит с задержкой. В расчётах скорость делим на тысячу, проценты на сто. У нас двадцать обучающих окон, поровну нормы и атаки, и восемь проверок. Все значения придуманы для учебного разбора.</a:t>
            </a:r>
          </a:p>
          <a:p xmlns:a="http://schemas.openxmlformats.org/drawingml/2006/main">
            <a:r>
              <a:t/>
            </a:r>
          </a:p>
          <a:p xmlns:a="http://schemas.openxmlformats.org/drawingml/2006/main">
            <a:r>
              <a:t>Источники:</a:t>
            </a:r>
          </a:p>
          <a:p xmlns:a="http://schemas.openxmlformats.org/drawingml/2006/main">
            <a:r>
              <a:t>https://www.rfc-editor.org/rfc/rfc4987.html</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 обучающим окнам нашли два медоида. Для нормы выбран N05: 600 SYN в секунду и 15 процентов незавершённых попыток. Для атаки выбран A06: 1300 SYN в секунду и 65 процентов. В ноутбуке посчитаны суммы расстояний для всех кандидатов. У этих двух объектов получились минимальные суммы внутри своих классов. Так мы получили конкретные эталоны, которые можно показать в исходных единицах. Эти числа описывают нашу учебную таблицу. Они не задают общую границу атаки для любого сервиса, поскольку обычная нагрузка у серверов разная. Проверим правило ближайшего эталона на окне T07.</a:t>
            </a:r>
          </a:p>
          <a:p xmlns:a="http://schemas.openxmlformats.org/drawingml/2006/main">
            <a:r>
              <a:t/>
            </a:r>
          </a:p>
          <a:p xmlns:a="http://schemas.openxmlformats.org/drawingml/2006/main">
            <a:r>
              <a:t>Источники:</a:t>
            </a:r>
          </a:p>
          <a:p xmlns:a="http://schemas.openxmlformats.org/drawingml/2006/main">
            <a:r>
              <a:t>https://arxiv.org/abs/1810.05691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 окне T07 пришло 1200 SYN в секунду, а незавершёнными остались 16 процентов попыток. В учебной таблице это нормальный трафик. После масштабирования получаем 1,20 и 0,16. Расстояние до нормального образца около 0,600, до образца атаки около 0,500. Ближе оказалась атака, и правило дало неправильный ответ. Для известного нормального класса вычитаем своё расстояние из чужого. Получаем отступ примерно минус 0,100. Здесь хорошо видно ограничение одного образца: высокая обычная нагрузка сделала окно ближе к эталону атаки. Оставим те же измерения и проверим, что ответит SVM.</a:t>
            </a:r>
          </a:p>
          <a:p xmlns:a="http://schemas.openxmlformats.org/drawingml/2006/main">
            <a:r>
              <a:t/>
            </a:r>
          </a:p>
          <a:p xmlns:a="http://schemas.openxmlformats.org/drawingml/2006/main">
            <a:r>
              <a:t>Источники:</a:t>
            </a:r>
          </a:p>
          <a:p xmlns:a="http://schemas.openxmlformats.org/drawingml/2006/main">
            <a:r>
              <a:t>https://arxiv.org/abs/1810.05691</a:t>
            </a:r>
          </a:p>
          <a:p xmlns:a="http://schemas.openxmlformats.org/drawingml/2006/main">
            <a:r>
              <a:t>https://see.stanford.edu/materials/aimlcs229/cs229-notes3.pdf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Обучим линейную SVM в библиотеке scikit-learn. В ней используется SVC, готовая реализация этого метода. Берём все двадцать обучающих окон, тот же масштаб признаков и C, равное единице. Все двадцать окон участвуют в обучении, а два эталона остаются для первого способа сравнения. В коде нормальный класс обозначен минус единицей, SYN-flood плюс единицей. В ноутбуке есть отдельная ячейка обучения, а затем ячейка для получения ответа и расстояния. На выступлении достаточно показать, какие данные подаются модели и что получилось. Разбирать код построчно не требуется. Вернёмся к T07: количество SYN и доля незавершённых попыток у него остаются прежними.</a:t>
            </a:r>
          </a:p>
          <a:p xmlns:a="http://schemas.openxmlformats.org/drawingml/2006/main">
            <a:r>
              <a:t/>
            </a:r>
          </a:p>
          <a:p xmlns:a="http://schemas.openxmlformats.org/drawingml/2006/main">
            <a:r>
              <a:t>Источники:</a:t>
            </a:r>
          </a:p>
          <a:p xmlns:a="http://schemas.openxmlformats.org/drawingml/2006/main">
            <a:r>
              <a:t>https://doi.org/10.1007/BF00994018</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SVM относит T07 к нормальному трафику. По условию примера T07 относится к норме, значит, модель ответила правильно. Число f получилось примерно минус 0,249. Минус здесь выбирает норму, как мы договорились при обозначении классов. Геометрический отступ при этом положительный, около 0,102, потому что модель ответила верно. Расстояние r тоже около 0,102. Получается, у оценки f и отступа γ разные задачи: первая выбирает класс, второй позволяет проверить правильность по известной метке. Число отступа у эталонов напрямую с этим расстоянием не сравниваем. Определения разные. На одном примере SVM помогла, но это ещё не доказывает, что она всегда лучше.</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Повторим расчёт для всех восьми проверочных окон. В таблице рядом стоят известный класс, прогноз SVM, геометрический отступ γ и расстояние r. У T04 и T05 отступ отрицательный. Значит, здесь ответы модели разошлись с метками. У остальных отступ положительный. Расстояние во всех строках неотрицательное, потому что это модуль γ. По одному этому столбцу нельзя определить, верно ли выбран класс. Восемь примеров специально подобраны для объяснения метода, поэтому по ним не оцениваем качество готового сетевого детектора. Чтобы легче понять положение окон, перенесём эту же таблицу на график.</a:t>
            </a:r>
          </a:p>
          <a:p xmlns:a="http://schemas.openxmlformats.org/drawingml/2006/main">
            <a:r>
              <a:t/>
            </a:r>
          </a:p>
          <a:p xmlns:a="http://schemas.openxmlformats.org/drawingml/2006/main">
            <a:r>
              <a:t>Источники: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Ту же таблицу теперь видим на рисунке. Здесь все восемь знакомых окон. По горизонтали читаем число SYN в секунду, по вертикали процент незавершённых попыток. Цвет точки показывает известный класс из учебной таблицы: бирюзовым обозначена норма, красным SYN-flood. Чёрная линия разделяет ответы SVM: выше неё модель выбирает атаку, ниже норму. Поэтому видно, где она ошиблась. T04 находится со стороны нормы, хотя это атака. T05 попало со стороны атаки, хотя это обычный трафик. T07 лежит ниже линии, на стороне нормы. Серая полоса выделяет расстояния меньше 0,10. По ней удобно увидеть окна, которые находятся совсем близко к смене ответа.</a:t>
            </a:r>
          </a:p>
          <a:p xmlns:a="http://schemas.openxmlformats.org/drawingml/2006/main">
            <a:r>
              <a:t/>
            </a:r>
          </a:p>
          <a:p xmlns:a="http://schemas.openxmlformats.org/drawingml/2006/main">
            <a:r>
              <a:t>Источники: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перепроверки берём окна с расстоянием меньше 0,10. В этот список попадают T03, T04, T05 и T06. Здесь есть оба класса и оба типа результата. T04 показывает пропуск атаки: модель назвала вредоносное окно нормальным. T05 показывает ложную тревогу: обычное окно названо атакой. Пропуск опасен тем, что атака может остаться без внимания. Ложная тревога отнимает время аналитика, а необоснованная блокировка может помешать пользователям. В наших данных обе ошибки оказались рядом с границей. Рассчитывать, что так будут найдены все реальные ошибки, нельзя. Порог перепроверки выбран отдельно после обучения и не равен зазору SVM.</a:t>
            </a:r>
          </a:p>
          <a:p xmlns:a="http://schemas.openxmlformats.org/drawingml/2006/main">
            <a:r>
              <a:t/>
            </a:r>
          </a:p>
          <a:p xmlns:a="http://schemas.openxmlformats.org/drawingml/2006/main">
            <a:r>
              <a:t>Источники:</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Передадим аналитику два отдельных сигнала. Один сообщает, что модель увидела атаку, при любом расстоянии. Другой просит проверить пограничное окно, какой бы класс ни был выбран. Учебная функция triage делает такую первичную сортировку. При 900 SYN в секунду и 40 процентах она отвечает «норма», но просит перепроверку. При 1550 SYN и 88 процентах сообщает об атаке, хотя окно вне пограничной полосы. Такие сигналы поступают в SOC, команду мониторинга и реагирования ИБ. Аналитик проверит журналы, доступность, очередь подключений, потери и обычную нагрузку. Для внедрения нужны реальные данные и валидация, то есть проверка на отдельно выделенных данных с разделением по времени.</a:t>
            </a:r>
          </a:p>
          <a:p xmlns:a="http://schemas.openxmlformats.org/drawingml/2006/main">
            <a:r>
              <a:t/>
            </a:r>
          </a:p>
          <a:p xmlns:a="http://schemas.openxmlformats.org/drawingml/2006/main">
            <a:r>
              <a:t>Источники:</a:t>
            </a:r>
          </a:p>
          <a:p xmlns:a="http://schemas.openxmlformats.org/drawingml/2006/main">
            <a:r>
              <a:t>https://csrc.nist.gov/pubs/sp/800/94/final</a:t>
            </a:r>
          </a:p>
          <a:p xmlns:a="http://schemas.openxmlformats.org/drawingml/2006/main">
            <a:r>
              <a:t>https://www.rfc-editor.org/rfc/rfc4987.html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 этом примере мы связали все понятия. Нашли эталоны нормы N05 и атаки A06. Сравнили T07 с ними, затем получили для того же окна ответ SVM. После этого проверили все восемь окон и увидели их на графике. По малому расстоянию выделили T03, T04, T05 и T06, включая две известные ошибки. По расстоянию видно, как близко точка к границе. Если она совсем рядом, ответ полезно перепроверить. Большое расстояние до границы само по себе не доказывает, что ответ верный.</a:t>
            </a:r>
          </a:p>
          <a:p xmlns:a="http://schemas.openxmlformats.org/drawingml/2006/main">
            <a:r>
              <a:t/>
            </a:r>
          </a:p>
          <a:p xmlns:a="http://schemas.openxmlformats.org/drawingml/2006/main">
            <a:r>
              <a:t>Источники:</a:t>
            </a:r>
          </a:p>
          <a:p xmlns:a="http://schemas.openxmlformats.org/drawingml/2006/main">
            <a:r>
              <a:t>https://arxiv.org/abs/1810.05691</a:t>
            </a:r>
          </a:p>
          <a:p xmlns:a="http://schemas.openxmlformats.org/drawingml/2006/main">
            <a:r>
              <a:t>https://see.stanford.edu/materials/aimlcs229/cs229-notes3.pdf</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Определения и методы можно проверить по этим источникам. Теория SVM есть в статье Кортеса и Вапника, материалах Stanford CS229 и документации scikit-learn. Медоиды описаны в работе Шуберта и Руссеу. RFC 4987 объясняет SYN-flood, а DeepFool рассматривает связь границы модели с изменением признаков. CICDDoS2019 указан как возможный набор данных для продолжения работы. В наших расчётах он не использован. Руководство NIST помогает разобраться в обнаружении вторжений и проверке тревог. Учебные данные, подробные расчёты и демонстрация доступны в ноутбуке Google Colab.</a:t>
            </a:r>
          </a:p>
          <a:p xmlns:a="http://schemas.openxmlformats.org/drawingml/2006/main">
            <a:r>
              <a:t/>
            </a:r>
          </a:p>
          <a:p xmlns:a="http://schemas.openxmlformats.org/drawingml/2006/main">
            <a:r>
              <a:t>Источники:</a:t>
            </a:r>
          </a:p>
          <a:p xmlns:a="http://schemas.openxmlformats.org/drawingml/2006/main">
            <a:r>
              <a:t>https://doi.org/10.1007/BF00994018</a:t>
            </a:r>
          </a:p>
          <a:p xmlns:a="http://schemas.openxmlformats.org/drawingml/2006/main">
            <a:r>
              <a:t>https://see.stanford.edu/materials/aimlcs229/cs229-notes3.pdf</a:t>
            </a:r>
          </a:p>
          <a:p xmlns:a="http://schemas.openxmlformats.org/drawingml/2006/main">
            <a:r>
              <a:t>https://arxiv.org/abs/1810.05691</a:t>
            </a:r>
          </a:p>
          <a:p xmlns:a="http://schemas.openxmlformats.org/drawingml/2006/main">
            <a:r>
              <a:t>https://www.rfc-editor.org/rfc/rfc4987.html</a:t>
            </a:r>
          </a:p>
          <a:p xmlns:a="http://schemas.openxmlformats.org/drawingml/2006/main">
            <a:r>
              <a:t>https://scikit-learn.org/stable/modules/svm.html</a:t>
            </a:r>
          </a:p>
          <a:p xmlns:a="http://schemas.openxmlformats.org/drawingml/2006/main">
            <a:r>
              <a:t>https://www.cv-foundation.org/openaccess/content_cvpr_2016/papers/Moosavi-Dezfooli_DeepFool_A_Simple_CVPR_2016_paper.pdf</a:t>
            </a:r>
          </a:p>
          <a:p xmlns:a="http://schemas.openxmlformats.org/drawingml/2006/main">
            <a:r>
              <a:t>https://www.unb.ca/cic/datasets/ddos-2019.html</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5576b4e52634a6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86181574ff647f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c3c0f77b68c43e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5648afd4aab4bb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e2306169a40436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ffe47820925442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72C744-CD6B-4F43-9D38-8A825255A9B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19B2316-9FAB-4A1F-8860-8E25DC1D43E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58DDA08-AA9F-419D-8992-E44301B20AF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A440C1D-5AB5-49CF-A07A-669DA29B615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E5D65B3-77FD-4072-A41B-27E91B8194D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CC0121A-B71B-4140-9954-0F0533A7B2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625F4EF-039E-4B9D-856F-E72E0376B85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92F4962-1696-4722-8D7E-BB2506C8EBA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C217E1-8C86-47D2-97A3-ACBE19B05D5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E0C380E-AD83-4F2D-B3EA-D3370892D3C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4f80f400d3c49cb" /><Relationship Type="http://schemas.openxmlformats.org/officeDocument/2006/relationships/slideLayout" Target="/ppt/slideLayouts/slideLayout1.xml" Id="Rb5f1e6b5f2cc4151" /><Relationship Type="http://schemas.openxmlformats.org/officeDocument/2006/relationships/slideLayout" Target="/ppt/slideLayouts/slideLayout2.xml" Id="R1fa468d9ef5744a4" /><Relationship Type="http://schemas.openxmlformats.org/officeDocument/2006/relationships/slideLayout" Target="/ppt/slideLayouts/slideLayout3.xml" Id="Rd917ffb17f8b4e56" /><Relationship Type="http://schemas.openxmlformats.org/officeDocument/2006/relationships/slideLayout" Target="/ppt/slideLayouts/slideLayout4.xml" Id="Re77e545867ae4740" /><Relationship Type="http://schemas.openxmlformats.org/officeDocument/2006/relationships/slideLayout" Target="/ppt/slideLayouts/slideLayout5.xml" Id="R5de4f10393224f41" /><Relationship Type="http://schemas.openxmlformats.org/officeDocument/2006/relationships/slideLayout" Target="/ppt/slideLayouts/slideLayout6.xml" Id="R5d2a443dd99b43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5f1e6b5f2cc4151"/>
    <p:sldLayoutId xmlns:r="http://schemas.openxmlformats.org/officeDocument/2006/relationships" id="2147483650" r:id="R1fa468d9ef5744a4"/>
    <p:sldLayoutId xmlns:r="http://schemas.openxmlformats.org/officeDocument/2006/relationships" id="2147483651" r:id="Rd917ffb17f8b4e56"/>
    <p:sldLayoutId xmlns:r="http://schemas.openxmlformats.org/officeDocument/2006/relationships" id="2147483652" r:id="Re77e545867ae4740"/>
    <p:sldLayoutId xmlns:r="http://schemas.openxmlformats.org/officeDocument/2006/relationships" id="2147483653" r:id="R5de4f10393224f41"/>
    <p:sldLayoutId xmlns:r="http://schemas.openxmlformats.org/officeDocument/2006/relationships" id="2147483654" r:id="R5d2a443dd99b43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11c7575fd324ec7" /><Relationship Type="http://schemas.openxmlformats.org/officeDocument/2006/relationships/notesSlide" Target="/ppt/notesSlides/notesSlide1.xml" Id="R166555e29d2842a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f9ea3489096407b" /><Relationship Type="http://schemas.openxmlformats.org/officeDocument/2006/relationships/notesSlide" Target="/ppt/notesSlides/notesSlide2.xml" Id="R17db4ad4c99f42c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1a5825372704706" /><Relationship Type="http://schemas.openxmlformats.org/officeDocument/2006/relationships/notesSlide" Target="/ppt/notesSlides/notesSlide3.xml" Id="Rc5772f1ac430499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7a8e66af88a47a3" /><Relationship Type="http://schemas.openxmlformats.org/officeDocument/2006/relationships/notesSlide" Target="/ppt/notesSlides/notesSlide4.xml" Id="Ra29269cbf7ea4f5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14142ed6c304640" /><Relationship Type="http://schemas.openxmlformats.org/officeDocument/2006/relationships/notesSlide" Target="/ppt/notesSlides/notesSlide5.xml" Id="Rb317ecb2e86944e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5d1259788cf46d3" /><Relationship Type="http://schemas.openxmlformats.org/officeDocument/2006/relationships/notesSlide" Target="/ppt/notesSlides/notesSlide6.xml" Id="R99b15bea4be14f7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9adfd958f554200" /><Relationship Type="http://schemas.openxmlformats.org/officeDocument/2006/relationships/notesSlide" Target="/ppt/notesSlides/notesSlide7.xml" Id="R528cdd72b8e64f3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88bb782c1c84f13" /><Relationship Type="http://schemas.openxmlformats.org/officeDocument/2006/relationships/notesSlide" Target="/ppt/notesSlides/notesSlide8.xml" Id="R9eaf79015e9c457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94e69c4356f4b4f" /><Relationship Type="http://schemas.openxmlformats.org/officeDocument/2006/relationships/notesSlide" Target="/ppt/notesSlides/notesSlide9.xml" Id="R58ce5c4c10f746e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abff260e88c4578" /><Relationship Type="http://schemas.openxmlformats.org/officeDocument/2006/relationships/notesSlide" Target="/ppt/notesSlides/notesSlide10.xml" Id="R492e25461e2c47d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1f736fdabdc4162" /><Relationship Type="http://schemas.openxmlformats.org/officeDocument/2006/relationships/notesSlide" Target="/ppt/notesSlides/notesSlide11.xml" Id="R7ec9c4c851d54bf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4ab7f22a3704949" /><Relationship Type="http://schemas.openxmlformats.org/officeDocument/2006/relationships/notesSlide" Target="/ppt/notesSlides/notesSlide12.xml" Id="Ree1c55b1e09b46f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3f67a9386064242" /><Relationship Type="http://schemas.openxmlformats.org/officeDocument/2006/relationships/notesSlide" Target="/ppt/notesSlides/notesSlide13.xml" Id="R84e0b3a30b8a458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25fb6487d664cb7" /><Relationship Type="http://schemas.openxmlformats.org/officeDocument/2006/relationships/notesSlide" Target="/ppt/notesSlides/notesSlide14.xml" Id="R341741b5486d411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5681098fcd14e29" /><Relationship Type="http://schemas.openxmlformats.org/officeDocument/2006/relationships/notesSlide" Target="/ppt/notesSlides/notesSlide15.xml" Id="Rb9ebaed25d68417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5daa973d6b84bd3" /><Relationship Type="http://schemas.openxmlformats.org/officeDocument/2006/relationships/notesSlide" Target="/ppt/notesSlides/notesSlide16.xml" Id="Rbc4c15d3d8d549b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a3be2e33e0745ab" /><Relationship Type="http://schemas.openxmlformats.org/officeDocument/2006/relationships/notesSlide" Target="/ppt/notesSlides/notesSlide17.xml" Id="R2df77443760d43f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ee6d39266754e8e" /><Relationship Type="http://schemas.openxmlformats.org/officeDocument/2006/relationships/notesSlide" Target="/ppt/notesSlides/notesSlide18.xml" Id="Rc98dc7082685425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8693b2cc30d45f3" /><Relationship Type="http://schemas.openxmlformats.org/officeDocument/2006/relationships/notesSlide" Target="/ppt/notesSlides/notesSlide19.xml" Id="Racc481fd856e465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0178a1878bb4f66" /><Relationship Type="http://schemas.openxmlformats.org/officeDocument/2006/relationships/image" Target="/ppt/media/image.png" Id="R2b93a33d29414099" /><Relationship Type="http://schemas.openxmlformats.org/officeDocument/2006/relationships/notesSlide" Target="/ppt/notesSlides/notesSlide20.xml" Id="R3979463334dd428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519923f127f48e0" /><Relationship Type="http://schemas.openxmlformats.org/officeDocument/2006/relationships/notesSlide" Target="/ppt/notesSlides/notesSlide21.xml" Id="R33ed1508818e45e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cee90d428c84b99" /><Relationship Type="http://schemas.openxmlformats.org/officeDocument/2006/relationships/notesSlide" Target="/ppt/notesSlides/notesSlide22.xml" Id="R1f41af7029f244c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c2c1f6998a04ade" /><Relationship Type="http://schemas.openxmlformats.org/officeDocument/2006/relationships/notesSlide" Target="/ppt/notesSlides/notesSlide23.xml" Id="R6dcf44a65102435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4a19c7261b14192" /><Relationship Type="http://schemas.openxmlformats.org/officeDocument/2006/relationships/hyperlink" Target="https://doi.org/10.1007/BF00994018" TargetMode="External" Id="R2aeed29e598e4e3e" /><Relationship Type="http://schemas.openxmlformats.org/officeDocument/2006/relationships/hyperlink" Target="https://see.stanford.edu/materials/aimlcs229/cs229-notes3.pdf" TargetMode="External" Id="R04c4886f4b66477e" /><Relationship Type="http://schemas.openxmlformats.org/officeDocument/2006/relationships/hyperlink" Target="https://arxiv.org/abs/1810.05691" TargetMode="External" Id="R85a43466f26d40ef" /><Relationship Type="http://schemas.openxmlformats.org/officeDocument/2006/relationships/hyperlink" Target="https://www.rfc-editor.org/rfc/rfc4987.html" TargetMode="External" Id="R38ec8ddfb9c448c6" /><Relationship Type="http://schemas.openxmlformats.org/officeDocument/2006/relationships/hyperlink" Target="https://scikit-learn.org/stable/modules/svm.html" TargetMode="External" Id="R385c1d1ccc324542" /><Relationship Type="http://schemas.openxmlformats.org/officeDocument/2006/relationships/hyperlink" Target="https://www.cv-foundation.org/openaccess/content_cvpr_2016/papers/Moosavi-Dezfooli_DeepFool_A_Simple_CVPR_2016_paper.pdf" TargetMode="External" Id="R07ed952989344822" /><Relationship Type="http://schemas.openxmlformats.org/officeDocument/2006/relationships/hyperlink" Target="https://www.unb.ca/cic/datasets/ddos-2019.html" TargetMode="External" Id="Rb64a86db994f4252" /><Relationship Type="http://schemas.openxmlformats.org/officeDocument/2006/relationships/hyperlink" Target="https://csrc.nist.gov/pubs/sp/800/94/final" TargetMode="External" Id="R98a419b7c25748f3" /><Relationship Type="http://schemas.openxmlformats.org/officeDocument/2006/relationships/notesSlide" Target="/ppt/notesSlides/notesSlide24.xml" Id="R7012049283e242ba" /></Relationships>
</file>

<file path=ppt/slides/slide1.xml><?xml version="1.0" encoding="utf-8"?>
<p:sld xmlns:p="http://schemas.openxmlformats.org/presentationml/2006/main">
  <p:cSld>
    <p:bg>
      <p:bgPr>
        <a:solidFill xmlns:a="http://schemas.openxmlformats.org/drawingml/2006/main">
          <a:srgbClr val="101C32"/>
        </a:solidFill>
      </p:bgPr>
    </p:bg>
    <p:spTree>
      <p:nvGrpSpPr>
        <p:cNvPr id="1" name=""/>
        <p:cNvGrpSpPr/>
        <p:nvPr/>
      </p:nvGrpSpPr>
      <p:grpSpPr>
        <a:xfrm xmlns:a="http://schemas.openxmlformats.org/drawingml/2006/main"/>
      </p:grpSpPr>
      <p:sp>
        <p:nvSpPr>
          <p:cNvPr id="8" name="text-1">
            <a:extLst xmlns:a="http://schemas.openxmlformats.org/drawingml/2006/main">
              <a:ext uri="{FF2B5EF4-FFF2-40B4-BE49-F238E27FC236}">
                <a16:creationId xmlns:a16="http://schemas.microsoft.com/office/drawing/2014/main" id="{FA5BF94D-3DC6-409A-A2F0-1442169484A0}"/>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r>
              <a:t/>
            </a:r>
          </a:p>
        </p:txBody>
      </p:sp>
      <p:sp>
        <p:nvSpPr>
          <p:cNvPr id="2" name="">
            <a:extLst xmlns:a="http://schemas.openxmlformats.org/drawingml/2006/main">
              <a:ext uri="{FF2B5EF4-FFF2-40B4-BE49-F238E27FC236}">
                <a16:creationId xmlns:a16="http://schemas.microsoft.com/office/drawing/2014/main" id="{C5464F3E-8F4C-4733-B899-B44401692EFA}"/>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3" name="text-2">
            <a:extLst xmlns:a="http://schemas.openxmlformats.org/drawingml/2006/main">
              <a:ext uri="{FF2B5EF4-FFF2-40B4-BE49-F238E27FC236}">
                <a16:creationId xmlns:a16="http://schemas.microsoft.com/office/drawing/2014/main" id="{2D657A2C-25A4-409E-8C46-D4742CA5A116}"/>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4" name="text-3">
            <a:extLst xmlns:a="http://schemas.openxmlformats.org/drawingml/2006/main">
              <a:ext uri="{FF2B5EF4-FFF2-40B4-BE49-F238E27FC236}">
                <a16:creationId xmlns:a16="http://schemas.microsoft.com/office/drawing/2014/main" id="{FEC9ACA3-2402-44F1-B027-B634EE7B3DB3}"/>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01</a:t>
            </a:r>
          </a:p>
        </p:txBody>
      </p:sp>
      <p:sp>
        <p:nvSpPr>
          <p:cNvPr id="5" name="text-4">
            <a:extLst xmlns:a="http://schemas.openxmlformats.org/drawingml/2006/main">
              <a:ext uri="{FF2B5EF4-FFF2-40B4-BE49-F238E27FC236}">
                <a16:creationId xmlns:a16="http://schemas.microsoft.com/office/drawing/2014/main" id="{9E0B6790-D2F0-43BD-B3BA-1140AE884E97}"/>
              </a:ext>
            </a:extLst>
          </p:cNvPr>
          <p:cNvSpPr>
            <a:spLocks xmlns:a="http://schemas.openxmlformats.org/drawingml/2006/main" noGrp="1"/>
          </p:cNvSpPr>
          <p:nvPr/>
        </p:nvSpPr>
        <p:spPr>
          <a:xfrm xmlns:a="http://schemas.openxmlformats.org/drawingml/2006/main">
            <a:off x="609600" y="5238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E5B64A"/>
                </a:solidFill>
                <a:latin typeface="DejaVu Sans"/>
                <a:ea typeface="DejaVu Sans"/>
                <a:cs typeface="DejaVu Sans"/>
              </a:defRPr>
            </a:defPPr>
          </a:lstStyle>
          <a:p xmlns:a="http://schemas.openxmlformats.org/drawingml/2006/main">
            <a:pPr>
              <a:defRPr sz="1650" b="1">
                <a:solidFill>
                  <a:srgbClr val="E5B64A"/>
                </a:solidFill>
                <a:latin typeface="DejaVu Sans"/>
                <a:ea typeface="DejaVu Sans"/>
                <a:cs typeface="DejaVu Sans"/>
              </a:defRPr>
            </a:pPr>
            <a:r>
              <a:rPr sz="1650" b="1">
                <a:solidFill>
                  <a:srgbClr val="E5B64A"/>
                </a:solidFill>
                <a:latin typeface="DejaVu Sans"/>
                <a:ea typeface="DejaVu Sans"/>
                <a:cs typeface="DejaVu Sans"/>
              </a:rPr>
              <a:t>1.13  КЛАССИФИКАЦИЯ В ИНФОРМАЦИОННОЙ БЕЗОПАСНОСТИ</a:t>
            </a:r>
          </a:p>
        </p:txBody>
      </p:sp>
      <p:sp>
        <p:nvSpPr>
          <p:cNvPr id="6" name="text-5">
            <a:extLst xmlns:a="http://schemas.openxmlformats.org/drawingml/2006/main">
              <a:ext uri="{FF2B5EF4-FFF2-40B4-BE49-F238E27FC236}">
                <a16:creationId xmlns:a16="http://schemas.microsoft.com/office/drawing/2014/main" id="{127A8929-29ED-4EC4-857D-83DA24E7868E}"/>
              </a:ext>
            </a:extLst>
          </p:cNvPr>
          <p:cNvSpPr>
            <a:spLocks xmlns:a="http://schemas.openxmlformats.org/drawingml/2006/main" noGrp="1"/>
          </p:cNvSpPr>
          <p:nvPr/>
        </p:nvSpPr>
        <p:spPr>
          <a:xfrm xmlns:a="http://schemas.openxmlformats.org/drawingml/2006/main">
            <a:off x="609600" y="1571625"/>
            <a:ext cx="109537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750" b="1">
                <a:solidFill>
                  <a:srgbClr val="FFFFFF"/>
                </a:solidFill>
                <a:latin typeface="DejaVu Sans"/>
                <a:ea typeface="DejaVu Sans"/>
                <a:cs typeface="DejaVu Sans"/>
              </a:defRPr>
            </a:defPPr>
          </a:lstStyle>
          <a:p xmlns:a="http://schemas.openxmlformats.org/drawingml/2006/main">
            <a:pPr>
              <a:defRPr sz="3750" b="1">
                <a:solidFill>
                  <a:srgbClr val="FFFFFF"/>
                </a:solidFill>
                <a:latin typeface="DejaVu Sans"/>
                <a:ea typeface="DejaVu Sans"/>
                <a:cs typeface="DejaVu Sans"/>
              </a:defRPr>
            </a:pPr>
            <a:r>
              <a:rPr sz="3750" b="1">
                <a:solidFill>
                  <a:srgbClr val="FFFFFF"/>
                </a:solidFill>
                <a:latin typeface="DejaVu Sans"/>
                <a:ea typeface="DejaVu Sans"/>
                <a:cs typeface="DejaVu Sans"/>
              </a:rPr>
              <a:t>Понятие эталона.</a:t>
            </a:r>
          </a:p>
          <a:p xmlns:a="http://schemas.openxmlformats.org/drawingml/2006/main">
            <a:pPr>
              <a:defRPr sz="3750" b="1">
                <a:solidFill>
                  <a:srgbClr val="FFFFFF"/>
                </a:solidFill>
                <a:latin typeface="DejaVu Sans"/>
                <a:ea typeface="DejaVu Sans"/>
                <a:cs typeface="DejaVu Sans"/>
              </a:defRPr>
            </a:pPr>
            <a:r>
              <a:rPr sz="3750" b="1">
                <a:solidFill>
                  <a:srgbClr val="FFFFFF"/>
                </a:solidFill>
                <a:latin typeface="DejaVu Sans"/>
                <a:ea typeface="DejaVu Sans"/>
                <a:cs typeface="DejaVu Sans"/>
              </a:rPr>
              <a:t>Отступы и классификация</a:t>
            </a:r>
          </a:p>
          <a:p xmlns:a="http://schemas.openxmlformats.org/drawingml/2006/main">
            <a:pPr>
              <a:defRPr sz="3750" b="1">
                <a:solidFill>
                  <a:srgbClr val="FFFFFF"/>
                </a:solidFill>
                <a:latin typeface="DejaVu Sans"/>
                <a:ea typeface="DejaVu Sans"/>
                <a:cs typeface="DejaVu Sans"/>
              </a:defRPr>
            </a:pPr>
            <a:r>
              <a:rPr sz="3750" b="1">
                <a:solidFill>
                  <a:srgbClr val="FFFFFF"/>
                </a:solidFill>
                <a:latin typeface="DejaVu Sans"/>
                <a:ea typeface="DejaVu Sans"/>
                <a:cs typeface="DejaVu Sans"/>
              </a:rPr>
              <a:t>объектов качества</a:t>
            </a:r>
          </a:p>
        </p:txBody>
      </p:sp>
      <p:sp>
        <p:nvSpPr>
          <p:cNvPr id="7" name="text-6">
            <a:extLst xmlns:a="http://schemas.openxmlformats.org/drawingml/2006/main">
              <a:ext uri="{FF2B5EF4-FFF2-40B4-BE49-F238E27FC236}">
                <a16:creationId xmlns:a16="http://schemas.microsoft.com/office/drawing/2014/main" id="{0C2B3077-C907-4F63-8F1D-F09FF08AA64A}"/>
              </a:ext>
            </a:extLst>
          </p:cNvPr>
          <p:cNvSpPr>
            <a:spLocks xmlns:a="http://schemas.openxmlformats.org/drawingml/2006/main" noGrp="1"/>
          </p:cNvSpPr>
          <p:nvPr/>
        </p:nvSpPr>
        <p:spPr>
          <a:xfrm xmlns:a="http://schemas.openxmlformats.org/drawingml/2006/main">
            <a:off x="609600" y="4543425"/>
            <a:ext cx="1090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A9DDE0"/>
                </a:solidFill>
                <a:latin typeface="DejaVu Sans"/>
                <a:ea typeface="DejaVu Sans"/>
                <a:cs typeface="DejaVu Sans"/>
              </a:defRPr>
            </a:defPPr>
          </a:lstStyle>
          <a:p xmlns:a="http://schemas.openxmlformats.org/drawingml/2006/main">
            <a:pPr>
              <a:defRPr sz="2250" b="0">
                <a:solidFill>
                  <a:srgbClr val="A9DDE0"/>
                </a:solidFill>
                <a:latin typeface="DejaVu Sans"/>
                <a:ea typeface="DejaVu Sans"/>
                <a:cs typeface="DejaVu Sans"/>
              </a:defRPr>
            </a:pPr>
            <a:r>
              <a:rPr sz="2250" b="0">
                <a:solidFill>
                  <a:srgbClr val="A9DDE0"/>
                </a:solidFill>
                <a:latin typeface="DejaVu Sans"/>
                <a:ea typeface="DejaVu Sans"/>
                <a:cs typeface="DejaVu Sans"/>
              </a:rPr>
              <a:t>Как отличить обычный трафик от SYN-flood</a:t>
            </a:r>
          </a:p>
          <a:p xmlns:a="http://schemas.openxmlformats.org/drawingml/2006/main">
            <a:pPr>
              <a:defRPr sz="2250" b="0">
                <a:solidFill>
                  <a:srgbClr val="A9DDE0"/>
                </a:solidFill>
                <a:latin typeface="DejaVu Sans"/>
                <a:ea typeface="DejaVu Sans"/>
                <a:cs typeface="DejaVu Sans"/>
              </a:defRPr>
            </a:pPr>
            <a:r>
              <a:rPr sz="2250" b="0">
                <a:solidFill>
                  <a:srgbClr val="A9DDE0"/>
                </a:solidFill>
                <a:latin typeface="DejaVu Sans"/>
                <a:ea typeface="DejaVu Sans"/>
                <a:cs typeface="DejaVu Sans"/>
              </a:rPr>
              <a:t>и понять, насколько устойчив ответ модели</a:t>
            </a:r>
          </a:p>
        </p:txBody>
      </p:sp>
    </p:spTree>
    <p:extLst>
      <p:ext uri="{BB962C8B-B14F-4D97-AF65-F5344CB8AC3E}">
        <p14:creationId xmlns:p14="http://schemas.microsoft.com/office/powerpoint/2010/main" val="1063524429"/>
      </p:ext>
    </p:extLst>
  </p:cSld>
</p:sld>
</file>

<file path=ppt/slides/slide2.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8" name="text-7">
            <a:extLst xmlns:a="http://schemas.openxmlformats.org/drawingml/2006/main">
              <a:ext uri="{FF2B5EF4-FFF2-40B4-BE49-F238E27FC236}">
                <a16:creationId xmlns:a16="http://schemas.microsoft.com/office/drawing/2014/main" id="{994F1737-6D4D-4555-BF44-22FFD29F1FE3}"/>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Объект, признаки, класс и классификация</a:t>
            </a:r>
          </a:p>
        </p:txBody>
      </p:sp>
      <p:sp>
        <p:nvSpPr>
          <p:cNvPr id="2" name="">
            <a:extLst xmlns:a="http://schemas.openxmlformats.org/drawingml/2006/main">
              <a:ext uri="{FF2B5EF4-FFF2-40B4-BE49-F238E27FC236}">
                <a16:creationId xmlns:a16="http://schemas.microsoft.com/office/drawing/2014/main" id="{E8B42F8E-F207-444E-B9EB-0F1626341626}"/>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3" name="text-8">
            <a:extLst xmlns:a="http://schemas.openxmlformats.org/drawingml/2006/main">
              <a:ext uri="{FF2B5EF4-FFF2-40B4-BE49-F238E27FC236}">
                <a16:creationId xmlns:a16="http://schemas.microsoft.com/office/drawing/2014/main" id="{8D58C1A9-5D20-40F7-A81E-E9030EFC5399}"/>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4" name="text-9">
            <a:extLst xmlns:a="http://schemas.openxmlformats.org/drawingml/2006/main">
              <a:ext uri="{FF2B5EF4-FFF2-40B4-BE49-F238E27FC236}">
                <a16:creationId xmlns:a16="http://schemas.microsoft.com/office/drawing/2014/main" id="{E8CF72FA-8E60-4FD9-89AF-B9B9B31ACAE7}"/>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02</a:t>
            </a:r>
          </a:p>
        </p:txBody>
      </p:sp>
      <p:graphicFrame>
        <p:nvGraphicFramePr>
          <p:cNvPr id="5" name="">
            <a:extLst xmlns:a="http://schemas.openxmlformats.org/drawingml/2006/main">
              <a:ext uri="{FF2B5EF4-FFF2-40B4-BE49-F238E27FC236}">
                <a16:creationId xmlns:a16="http://schemas.microsoft.com/office/drawing/2014/main" id="{D7E587A7-D4BC-452D-845B-C9A8F829D751}"/>
              </a:ext>
            </a:extLst>
          </p:cNvPr>
          <p:cNvGraphicFramePr/>
          <p:nvPr/>
        </p:nvGraphicFramePr>
        <p:xfrm>
          <a:off xmlns:a="http://schemas.openxmlformats.org/drawingml/2006/main" x="571500" y="1866900"/>
          <a:ext xmlns:a="http://schemas.openxmlformats.org/drawingml/2006/main" cx="11049000" cy="3190875"/>
        </p:xfrm>
        <a:graphic xmlns:a="http://schemas.openxmlformats.org/drawingml/2006/main">
          <a:graphicData uri="http://schemas.openxmlformats.org/drawingml/2006/table">
            <a:tbl>
              <a:tblPr/>
              <a:tblGrid>
                <a:gridCol w="3013364"/>
                <a:gridCol w="8035636"/>
              </a:tblGrid>
              <a:tr h="638175">
                <a:tc>
                  <a:txBody>
                    <a:bodyPr lIns="114300" tIns="95250" rIns="95250" bIns="76200"/>
                    <a:lstStyle/>
                    <a:p>
                      <a:r>
                        <a:rPr sz="2100" b="1">
                          <a:solidFill>
                            <a:srgbClr val="FFFFFF"/>
                          </a:solidFill>
                          <a:latin typeface="DejaVu Sans"/>
                          <a:ea typeface="DejaVu Sans"/>
                          <a:cs typeface="DejaVu Sans"/>
                        </a:rPr>
                        <a:t>Понятие</a:t>
                      </a:r>
                    </a:p>
                  </a:txBody>
                  <a:tcPr marL="91440" marR="91440" marT="45720" marB="45720" anchor="ctr">
                    <a:solidFill>
                      <a:srgbClr val="101C32"/>
                    </a:solidFill>
                  </a:tcPr>
                </a:tc>
                <a:tc>
                  <a:txBody>
                    <a:bodyPr lIns="114300" tIns="95250" rIns="95250" bIns="76200"/>
                    <a:lstStyle/>
                    <a:p>
                      <a:r>
                        <a:rPr sz="2100" b="1">
                          <a:solidFill>
                            <a:srgbClr val="FFFFFF"/>
                          </a:solidFill>
                          <a:latin typeface="DejaVu Sans"/>
                          <a:ea typeface="DejaVu Sans"/>
                          <a:cs typeface="DejaVu Sans"/>
                        </a:rPr>
                        <a:t>Что означает</a:t>
                      </a:r>
                    </a:p>
                  </a:txBody>
                  <a:tcPr marL="91440" marR="91440" marT="45720" marB="45720" anchor="ctr">
                    <a:solidFill>
                      <a:srgbClr val="101C32"/>
                    </a:solidFill>
                  </a:tcPr>
                </a:tc>
              </a:tr>
              <a:tr h="638175">
                <a:tc>
                  <a:txBody>
                    <a:bodyPr lIns="114300" tIns="95250" rIns="95250" bIns="76200"/>
                    <a:lstStyle/>
                    <a:p>
                      <a:r>
                        <a:rPr sz="2100" b="0">
                          <a:solidFill>
                            <a:srgbClr val="101C32"/>
                          </a:solidFill>
                          <a:latin typeface="DejaVu Sans"/>
                          <a:ea typeface="DejaVu Sans"/>
                          <a:cs typeface="DejaVu Sans"/>
                        </a:rPr>
                        <a:t>Объект</a:t>
                      </a:r>
                    </a:p>
                  </a:txBody>
                  <a:tcPr marL="91440" marR="91440" marT="45720" marB="45720" anchor="ctr">
                    <a:solidFill>
                      <a:srgbClr val="FFFFFF"/>
                    </a:solidFill>
                  </a:tcPr>
                </a:tc>
                <a:tc>
                  <a:txBody>
                    <a:bodyPr lIns="114300" tIns="95250" rIns="95250" bIns="76200"/>
                    <a:lstStyle/>
                    <a:p>
                      <a:r>
                        <a:rPr sz="2100" b="0">
                          <a:solidFill>
                            <a:srgbClr val="101C32"/>
                          </a:solidFill>
                          <a:latin typeface="DejaVu Sans"/>
                          <a:ea typeface="DejaVu Sans"/>
                          <a:cs typeface="DejaVu Sans"/>
                        </a:rPr>
                        <a:t>То, что мы исследуем</a:t>
                      </a:r>
                    </a:p>
                  </a:txBody>
                  <a:tcPr marL="91440" marR="91440" marT="45720" marB="45720" anchor="ctr">
                    <a:solidFill>
                      <a:srgbClr val="FFFFFF"/>
                    </a:solidFill>
                  </a:tcPr>
                </a:tc>
              </a:tr>
              <a:tr h="638175">
                <a:tc>
                  <a:txBody>
                    <a:bodyPr lIns="114300" tIns="95250" rIns="95250" bIns="76200"/>
                    <a:lstStyle/>
                    <a:p>
                      <a:r>
                        <a:rPr sz="2100" b="0">
                          <a:solidFill>
                            <a:srgbClr val="101C32"/>
                          </a:solidFill>
                          <a:latin typeface="DejaVu Sans"/>
                          <a:ea typeface="DejaVu Sans"/>
                          <a:cs typeface="DejaVu Sans"/>
                        </a:rPr>
                        <a:t>Признаки</a:t>
                      </a:r>
                    </a:p>
                  </a:txBody>
                  <a:tcPr marL="91440" marR="91440" marT="45720" marB="45720" anchor="ctr">
                    <a:solidFill>
                      <a:srgbClr val="EAF0F4"/>
                    </a:solidFill>
                  </a:tcPr>
                </a:tc>
                <a:tc>
                  <a:txBody>
                    <a:bodyPr lIns="114300" tIns="95250" rIns="95250" bIns="76200"/>
                    <a:lstStyle/>
                    <a:p>
                      <a:r>
                        <a:rPr sz="2100" b="0">
                          <a:solidFill>
                            <a:srgbClr val="101C32"/>
                          </a:solidFill>
                          <a:latin typeface="DejaVu Sans"/>
                          <a:ea typeface="DejaVu Sans"/>
                          <a:cs typeface="DejaVu Sans"/>
                        </a:rPr>
                        <a:t>Измеримые свойства объекта</a:t>
                      </a:r>
                    </a:p>
                  </a:txBody>
                  <a:tcPr marL="91440" marR="91440" marT="45720" marB="45720" anchor="ctr">
                    <a:solidFill>
                      <a:srgbClr val="EAF0F4"/>
                    </a:solidFill>
                  </a:tcPr>
                </a:tc>
              </a:tr>
              <a:tr h="638175">
                <a:tc>
                  <a:txBody>
                    <a:bodyPr lIns="114300" tIns="95250" rIns="95250" bIns="76200"/>
                    <a:lstStyle/>
                    <a:p>
                      <a:r>
                        <a:rPr sz="2100" b="0">
                          <a:solidFill>
                            <a:srgbClr val="101C32"/>
                          </a:solidFill>
                          <a:latin typeface="DejaVu Sans"/>
                          <a:ea typeface="DejaVu Sans"/>
                          <a:cs typeface="DejaVu Sans"/>
                        </a:rPr>
                        <a:t>Класс</a:t>
                      </a:r>
                    </a:p>
                  </a:txBody>
                  <a:tcPr marL="91440" marR="91440" marT="45720" marB="45720" anchor="ctr">
                    <a:solidFill>
                      <a:srgbClr val="FFFFFF"/>
                    </a:solidFill>
                  </a:tcPr>
                </a:tc>
                <a:tc>
                  <a:txBody>
                    <a:bodyPr lIns="114300" tIns="95250" rIns="95250" bIns="76200"/>
                    <a:lstStyle/>
                    <a:p>
                      <a:r>
                        <a:rPr sz="2100" b="0">
                          <a:solidFill>
                            <a:srgbClr val="101C32"/>
                          </a:solidFill>
                          <a:latin typeface="DejaVu Sans"/>
                          <a:ea typeface="DejaVu Sans"/>
                          <a:cs typeface="DejaVu Sans"/>
                        </a:rPr>
                        <a:t>Одна из заранее заданных групп</a:t>
                      </a:r>
                    </a:p>
                  </a:txBody>
                  <a:tcPr marL="91440" marR="91440" marT="45720" marB="45720" anchor="ctr">
                    <a:solidFill>
                      <a:srgbClr val="FFFFFF"/>
                    </a:solidFill>
                  </a:tcPr>
                </a:tc>
              </a:tr>
              <a:tr h="638175">
                <a:tc>
                  <a:txBody>
                    <a:bodyPr lIns="114300" tIns="95250" rIns="95250" bIns="76200"/>
                    <a:lstStyle/>
                    <a:p>
                      <a:r>
                        <a:rPr sz="2100" b="0">
                          <a:solidFill>
                            <a:srgbClr val="101C32"/>
                          </a:solidFill>
                          <a:latin typeface="DejaVu Sans"/>
                          <a:ea typeface="DejaVu Sans"/>
                          <a:cs typeface="DejaVu Sans"/>
                        </a:rPr>
                        <a:t>Классификация</a:t>
                      </a:r>
                    </a:p>
                  </a:txBody>
                  <a:tcPr marL="91440" marR="91440" marT="45720" marB="45720" anchor="ctr">
                    <a:solidFill>
                      <a:srgbClr val="EAF0F4"/>
                    </a:solidFill>
                  </a:tcPr>
                </a:tc>
                <a:tc>
                  <a:txBody>
                    <a:bodyPr lIns="114300" tIns="95250" rIns="95250" bIns="76200"/>
                    <a:lstStyle/>
                    <a:p>
                      <a:r>
                        <a:rPr sz="2100" b="0">
                          <a:solidFill>
                            <a:srgbClr val="101C32"/>
                          </a:solidFill>
                          <a:latin typeface="DejaVu Sans"/>
                          <a:ea typeface="DejaVu Sans"/>
                          <a:cs typeface="DejaVu Sans"/>
                        </a:rPr>
                        <a:t>Выбор класса по признакам объекта</a:t>
                      </a:r>
                    </a:p>
                  </a:txBody>
                  <a:tcPr marL="91440" marR="91440" marT="45720" marB="45720" anchor="ctr">
                    <a:solidFill>
                      <a:srgbClr val="EAF0F4"/>
                    </a:solidFill>
                  </a:tcPr>
                </a:tc>
              </a:tr>
            </a:tbl>
          </a:graphicData>
        </a:graphic>
      </p:graphicFrame>
      <p:sp>
        <p:nvSpPr>
          <p:cNvPr id="6" name="">
            <a:extLst xmlns:a="http://schemas.openxmlformats.org/drawingml/2006/main">
              <a:ext uri="{FF2B5EF4-FFF2-40B4-BE49-F238E27FC236}">
                <a16:creationId xmlns:a16="http://schemas.microsoft.com/office/drawing/2014/main" id="{97847B59-B83F-4BEF-B2E5-9803852E3D9C}"/>
              </a:ext>
            </a:extLst>
          </p:cNvPr>
          <p:cNvSpPr>
            <a:spLocks xmlns:a="http://schemas.openxmlformats.org/drawingml/2006/main" noGrp="1"/>
          </p:cNvSpPr>
          <p:nvPr/>
        </p:nvSpPr>
        <p:spPr>
          <a:xfrm xmlns:a="http://schemas.openxmlformats.org/drawingml/2006/main">
            <a:off x="571500" y="551497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7" name="text-10">
            <a:extLst xmlns:a="http://schemas.openxmlformats.org/drawingml/2006/main">
              <a:ext uri="{FF2B5EF4-FFF2-40B4-BE49-F238E27FC236}">
                <a16:creationId xmlns:a16="http://schemas.microsoft.com/office/drawing/2014/main" id="{C66C1B9C-A4AC-427F-B3F4-243EF5261C63}"/>
              </a:ext>
            </a:extLst>
          </p:cNvPr>
          <p:cNvSpPr>
            <a:spLocks xmlns:a="http://schemas.openxmlformats.org/drawingml/2006/main" noGrp="1"/>
          </p:cNvSpPr>
          <p:nvPr/>
        </p:nvSpPr>
        <p:spPr>
          <a:xfrm xmlns:a="http://schemas.openxmlformats.org/drawingml/2006/main">
            <a:off x="571500" y="567690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Чтобы выбрать класс, нужно задать правило</a:t>
            </a:r>
          </a:p>
        </p:txBody>
      </p:sp>
    </p:spTree>
    <p:extLst>
      <p:ext uri="{BB962C8B-B14F-4D97-AF65-F5344CB8AC3E}">
        <p14:creationId xmlns:p14="http://schemas.microsoft.com/office/powerpoint/2010/main" val="1541858832"/>
      </p:ext>
    </p:extLst>
  </p:cSld>
</p:sld>
</file>

<file path=ppt/slides/slide3.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0" name="text-11">
            <a:extLst xmlns:a="http://schemas.openxmlformats.org/drawingml/2006/main">
              <a:ext uri="{FF2B5EF4-FFF2-40B4-BE49-F238E27FC236}">
                <a16:creationId xmlns:a16="http://schemas.microsoft.com/office/drawing/2014/main" id="{C5B2F2C9-2A42-4412-AF35-47BC5F36B017}"/>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Модель и её обучение</a:t>
            </a:r>
          </a:p>
        </p:txBody>
      </p:sp>
      <p:sp>
        <p:nvSpPr>
          <p:cNvPr id="2" name="text-12">
            <a:extLst xmlns:a="http://schemas.openxmlformats.org/drawingml/2006/main">
              <a:ext uri="{FF2B5EF4-FFF2-40B4-BE49-F238E27FC236}">
                <a16:creationId xmlns:a16="http://schemas.microsoft.com/office/drawing/2014/main" id="{2FCB649A-33D2-4472-B5B9-2FB3669CA422}"/>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Модель получает признаки объекта и по ним выбирает класс</a:t>
            </a:r>
          </a:p>
        </p:txBody>
      </p:sp>
      <p:sp>
        <p:nvSpPr>
          <p:cNvPr id="3" name="">
            <a:extLst xmlns:a="http://schemas.openxmlformats.org/drawingml/2006/main">
              <a:ext uri="{FF2B5EF4-FFF2-40B4-BE49-F238E27FC236}">
                <a16:creationId xmlns:a16="http://schemas.microsoft.com/office/drawing/2014/main" id="{AA248039-6350-4919-B542-97FC7B78641E}"/>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3">
            <a:extLst xmlns:a="http://schemas.openxmlformats.org/drawingml/2006/main">
              <a:ext uri="{FF2B5EF4-FFF2-40B4-BE49-F238E27FC236}">
                <a16:creationId xmlns:a16="http://schemas.microsoft.com/office/drawing/2014/main" id="{1220DDC7-C05D-4605-90D4-53F9C8D61C64}"/>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[2, 5]</a:t>
            </a:r>
          </a:p>
        </p:txBody>
      </p:sp>
      <p:sp>
        <p:nvSpPr>
          <p:cNvPr id="5" name="text-14">
            <a:extLst xmlns:a="http://schemas.openxmlformats.org/drawingml/2006/main">
              <a:ext uri="{FF2B5EF4-FFF2-40B4-BE49-F238E27FC236}">
                <a16:creationId xmlns:a16="http://schemas.microsoft.com/office/drawing/2014/main" id="{02082695-4184-4BD7-9C20-638B8BD322DD}"/>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03</a:t>
            </a:r>
          </a:p>
        </p:txBody>
      </p:sp>
      <p:graphicFrame>
        <p:nvGraphicFramePr>
          <p:cNvPr id="6" name="">
            <a:extLst xmlns:a="http://schemas.openxmlformats.org/drawingml/2006/main">
              <a:ext uri="{FF2B5EF4-FFF2-40B4-BE49-F238E27FC236}">
                <a16:creationId xmlns:a16="http://schemas.microsoft.com/office/drawing/2014/main" id="{60087056-8387-4155-9626-1723E5E15C23}"/>
              </a:ext>
            </a:extLst>
          </p:cNvPr>
          <p:cNvGraphicFramePr/>
          <p:nvPr/>
        </p:nvGraphicFramePr>
        <p:xfrm>
          <a:off xmlns:a="http://schemas.openxmlformats.org/drawingml/2006/main" x="571500" y="2219325"/>
          <a:ext xmlns:a="http://schemas.openxmlformats.org/drawingml/2006/main" cx="11049000" cy="2057400"/>
        </p:xfrm>
        <a:graphic xmlns:a="http://schemas.openxmlformats.org/drawingml/2006/main">
          <a:graphicData uri="http://schemas.openxmlformats.org/drawingml/2006/table">
            <a:tbl>
              <a:tblPr/>
              <a:tblGrid>
                <a:gridCol w="5524500"/>
                <a:gridCol w="5524500"/>
              </a:tblGrid>
              <a:tr h="685800">
                <a:tc>
                  <a:txBody>
                    <a:bodyPr lIns="114300" tIns="95250" rIns="95250" bIns="76200"/>
                    <a:lstStyle/>
                    <a:p>
                      <a:r>
                        <a:rPr sz="2025" b="1">
                          <a:solidFill>
                            <a:srgbClr val="FFFFFF"/>
                          </a:solidFill>
                          <a:latin typeface="DejaVu Sans"/>
                          <a:ea typeface="DejaVu Sans"/>
                          <a:cs typeface="DejaVu Sans"/>
                        </a:rPr>
                        <a:t>Обучение</a:t>
                      </a:r>
                    </a:p>
                  </a:txBody>
                  <a:tcPr marL="91440" marR="91440" marT="45720" marB="45720" anchor="ctr">
                    <a:solidFill>
                      <a:srgbClr val="101C32"/>
                    </a:solidFill>
                  </a:tcPr>
                </a:tc>
                <a:tc>
                  <a:txBody>
                    <a:bodyPr lIns="114300" tIns="95250" rIns="95250" bIns="76200"/>
                    <a:lstStyle/>
                    <a:p>
                      <a:r>
                        <a:rPr sz="2025" b="1">
                          <a:solidFill>
                            <a:srgbClr val="FFFFFF"/>
                          </a:solidFill>
                          <a:latin typeface="DejaVu Sans"/>
                          <a:ea typeface="DejaVu Sans"/>
                          <a:cs typeface="DejaVu Sans"/>
                        </a:rPr>
                        <a:t>После обучения</a:t>
                      </a:r>
                    </a:p>
                  </a:txBody>
                  <a:tcPr marL="91440" marR="91440" marT="45720" marB="45720" anchor="ctr">
                    <a:solidFill>
                      <a:srgbClr val="101C32"/>
                    </a:solidFill>
                  </a:tcPr>
                </a:tc>
              </a:tr>
              <a:tr h="685800">
                <a:tc>
                  <a:txBody>
                    <a:bodyPr lIns="114300" tIns="95250" rIns="95250" bIns="76200"/>
                    <a:lstStyle/>
                    <a:p>
                      <a:r>
                        <a:rPr sz="2025" b="0">
                          <a:solidFill>
                            <a:srgbClr val="101C32"/>
                          </a:solidFill>
                          <a:latin typeface="DejaVu Sans"/>
                          <a:ea typeface="DejaVu Sans"/>
                          <a:cs typeface="DejaVu Sans"/>
                        </a:rPr>
                        <a:t>Примеры с уже известными классами</a:t>
                      </a:r>
                    </a:p>
                  </a:txBody>
                  <a:tcPr marL="91440" marR="91440" marT="45720" marB="45720" anchor="ctr">
                    <a:solidFill>
                      <a:srgbClr val="FFFFFF"/>
                    </a:solidFill>
                  </a:tcPr>
                </a:tc>
                <a:tc>
                  <a:txBody>
                    <a:bodyPr lIns="114300" tIns="95250" rIns="95250" bIns="76200"/>
                    <a:lstStyle/>
                    <a:p>
                      <a:r>
                        <a:rPr sz="2025" b="0">
                          <a:solidFill>
                            <a:srgbClr val="101C32"/>
                          </a:solidFill>
                          <a:latin typeface="DejaVu Sans"/>
                          <a:ea typeface="DejaVu Sans"/>
                          <a:cs typeface="DejaVu Sans"/>
                        </a:rPr>
                        <a:t>Признаки нового объекта</a:t>
                      </a:r>
                    </a:p>
                  </a:txBody>
                  <a:tcPr marL="91440" marR="91440" marT="45720" marB="45720" anchor="ctr">
                    <a:solidFill>
                      <a:srgbClr val="FFFFFF"/>
                    </a:solidFill>
                  </a:tcPr>
                </a:tc>
              </a:tr>
              <a:tr h="685800">
                <a:tc>
                  <a:txBody>
                    <a:bodyPr lIns="114300" tIns="95250" rIns="95250" bIns="76200"/>
                    <a:lstStyle/>
                    <a:p>
                      <a:r>
                        <a:rPr sz="2025" b="0">
                          <a:solidFill>
                            <a:srgbClr val="101C32"/>
                          </a:solidFill>
                          <a:latin typeface="DejaVu Sans"/>
                          <a:ea typeface="DejaVu Sans"/>
                          <a:cs typeface="DejaVu Sans"/>
                        </a:rPr>
                        <a:t>Подбираем правило на этих примерах</a:t>
                      </a:r>
                    </a:p>
                  </a:txBody>
                  <a:tcPr marL="91440" marR="91440" marT="45720" marB="45720" anchor="ctr">
                    <a:solidFill>
                      <a:srgbClr val="EAF0F4"/>
                    </a:solidFill>
                  </a:tcPr>
                </a:tc>
                <a:tc>
                  <a:txBody>
                    <a:bodyPr lIns="114300" tIns="95250" rIns="95250" bIns="76200"/>
                    <a:lstStyle/>
                    <a:p>
                      <a:r>
                        <a:rPr sz="2025" b="0">
                          <a:solidFill>
                            <a:srgbClr val="101C32"/>
                          </a:solidFill>
                          <a:latin typeface="DejaVu Sans"/>
                          <a:ea typeface="DejaVu Sans"/>
                          <a:cs typeface="DejaVu Sans"/>
                        </a:rPr>
                        <a:t>Применяем правило и получаем ответ</a:t>
                      </a:r>
                    </a:p>
                  </a:txBody>
                  <a:tcPr marL="91440" marR="91440" marT="45720" marB="45720" anchor="ctr">
                    <a:solidFill>
                      <a:srgbClr val="EAF0F4"/>
                    </a:solidFill>
                  </a:tcPr>
                </a:tc>
              </a:tr>
            </a:tbl>
          </a:graphicData>
        </a:graphic>
      </p:graphicFrame>
      <p:sp>
        <p:nvSpPr>
          <p:cNvPr id="7" name="text-15">
            <a:extLst xmlns:a="http://schemas.openxmlformats.org/drawingml/2006/main">
              <a:ext uri="{FF2B5EF4-FFF2-40B4-BE49-F238E27FC236}">
                <a16:creationId xmlns:a16="http://schemas.microsoft.com/office/drawing/2014/main" id="{F656CC7F-6945-40B6-BCFD-51E4486A1274}"/>
              </a:ext>
            </a:extLst>
          </p:cNvPr>
          <p:cNvSpPr>
            <a:spLocks xmlns:a="http://schemas.openxmlformats.org/drawingml/2006/main" noGrp="1"/>
          </p:cNvSpPr>
          <p:nvPr/>
        </p:nvSpPr>
        <p:spPr>
          <a:xfrm xmlns:a="http://schemas.openxmlformats.org/drawingml/2006/main">
            <a:off x="571500" y="4619625"/>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Известные классы называют метками, а набор примеров для обучения</a:t>
            </a:r>
          </a:p>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называют обучающей выборкой. Ответ модели может быть ошибочным.</a:t>
            </a:r>
          </a:p>
        </p:txBody>
      </p:sp>
      <p:sp>
        <p:nvSpPr>
          <p:cNvPr id="8" name="">
            <a:extLst xmlns:a="http://schemas.openxmlformats.org/drawingml/2006/main">
              <a:ext uri="{FF2B5EF4-FFF2-40B4-BE49-F238E27FC236}">
                <a16:creationId xmlns:a16="http://schemas.microsoft.com/office/drawing/2014/main" id="{B373E0FC-72AE-4A68-9956-CC57676CA7E4}"/>
              </a:ext>
            </a:extLst>
          </p:cNvPr>
          <p:cNvSpPr>
            <a:spLocks xmlns:a="http://schemas.openxmlformats.org/drawingml/2006/main" noGrp="1"/>
          </p:cNvSpPr>
          <p:nvPr/>
        </p:nvSpPr>
        <p:spPr>
          <a:xfrm xmlns:a="http://schemas.openxmlformats.org/drawingml/2006/main">
            <a:off x="571500" y="565785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9" name="text-16">
            <a:extLst xmlns:a="http://schemas.openxmlformats.org/drawingml/2006/main">
              <a:ext uri="{FF2B5EF4-FFF2-40B4-BE49-F238E27FC236}">
                <a16:creationId xmlns:a16="http://schemas.microsoft.com/office/drawing/2014/main" id="{20945B91-B948-4490-A14A-9F7E297ACC09}"/>
              </a:ext>
            </a:extLst>
          </p:cNvPr>
          <p:cNvSpPr>
            <a:spLocks xmlns:a="http://schemas.openxmlformats.org/drawingml/2006/main" noGrp="1"/>
          </p:cNvSpPr>
          <p:nvPr/>
        </p:nvSpPr>
        <p:spPr>
          <a:xfrm xmlns:a="http://schemas.openxmlformats.org/drawingml/2006/main">
            <a:off x="571500" y="581977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Сначала попробуем выбирать класс по сходству с образцами</a:t>
            </a:r>
          </a:p>
        </p:txBody>
      </p:sp>
    </p:spTree>
    <p:extLst>
      <p:ext uri="{BB962C8B-B14F-4D97-AF65-F5344CB8AC3E}">
        <p14:creationId xmlns:p14="http://schemas.microsoft.com/office/powerpoint/2010/main" val="46888652"/>
      </p:ext>
    </p:extLst>
  </p:cSld>
</p:sld>
</file>

<file path=ppt/slides/slide4.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2" name="text-17">
            <a:extLst xmlns:a="http://schemas.openxmlformats.org/drawingml/2006/main">
              <a:ext uri="{FF2B5EF4-FFF2-40B4-BE49-F238E27FC236}">
                <a16:creationId xmlns:a16="http://schemas.microsoft.com/office/drawing/2014/main" id="{3D19690B-EB14-4CA9-BDF7-4E844637D011}"/>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Что называют эталоном класса</a:t>
            </a:r>
          </a:p>
        </p:txBody>
      </p:sp>
      <p:sp>
        <p:nvSpPr>
          <p:cNvPr id="2" name="">
            <a:extLst xmlns:a="http://schemas.openxmlformats.org/drawingml/2006/main">
              <a:ext uri="{FF2B5EF4-FFF2-40B4-BE49-F238E27FC236}">
                <a16:creationId xmlns:a16="http://schemas.microsoft.com/office/drawing/2014/main" id="{58E24B7C-437D-4F6E-860A-523E23A3D556}"/>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3" name="text-18">
            <a:extLst xmlns:a="http://schemas.openxmlformats.org/drawingml/2006/main">
              <a:ext uri="{FF2B5EF4-FFF2-40B4-BE49-F238E27FC236}">
                <a16:creationId xmlns:a16="http://schemas.microsoft.com/office/drawing/2014/main" id="{19BD6B4E-F753-487D-8085-EB3022E2BEFD}"/>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4" name="text-19">
            <a:extLst xmlns:a="http://schemas.openxmlformats.org/drawingml/2006/main">
              <a:ext uri="{FF2B5EF4-FFF2-40B4-BE49-F238E27FC236}">
                <a16:creationId xmlns:a16="http://schemas.microsoft.com/office/drawing/2014/main" id="{3F7ECB87-76FA-49DE-B25B-09C55D4CEC07}"/>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04</a:t>
            </a:r>
          </a:p>
        </p:txBody>
      </p:sp>
      <p:sp>
        <p:nvSpPr>
          <p:cNvPr id="5" name="text-20">
            <a:extLst xmlns:a="http://schemas.openxmlformats.org/drawingml/2006/main">
              <a:ext uri="{FF2B5EF4-FFF2-40B4-BE49-F238E27FC236}">
                <a16:creationId xmlns:a16="http://schemas.microsoft.com/office/drawing/2014/main" id="{8CCE0F24-475D-49FE-A7BD-563C9E2E682B}"/>
              </a:ext>
            </a:extLst>
          </p:cNvPr>
          <p:cNvSpPr>
            <a:spLocks xmlns:a="http://schemas.openxmlformats.org/drawingml/2006/main" noGrp="1"/>
          </p:cNvSpPr>
          <p:nvPr/>
        </p:nvSpPr>
        <p:spPr>
          <a:xfrm xmlns:a="http://schemas.openxmlformats.org/drawingml/2006/main">
            <a:off x="571500" y="1981200"/>
            <a:ext cx="11049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550" b="1">
                <a:solidFill>
                  <a:srgbClr val="101C32"/>
                </a:solidFill>
                <a:latin typeface="DejaVu Sans"/>
                <a:ea typeface="DejaVu Sans"/>
                <a:cs typeface="DejaVu Sans"/>
              </a:defRPr>
            </a:defPPr>
          </a:lstStyle>
          <a:p xmlns:a="http://schemas.openxmlformats.org/drawingml/2006/main">
            <a:pPr>
              <a:defRPr sz="2550" b="1">
                <a:solidFill>
                  <a:srgbClr val="101C32"/>
                </a:solidFill>
                <a:latin typeface="DejaVu Sans"/>
                <a:ea typeface="DejaVu Sans"/>
                <a:cs typeface="DejaVu Sans"/>
              </a:defRPr>
            </a:pPr>
            <a:r>
              <a:rPr sz="2550" b="1">
                <a:solidFill>
                  <a:srgbClr val="101C32"/>
                </a:solidFill>
                <a:latin typeface="DejaVu Sans"/>
                <a:ea typeface="DejaVu Sans"/>
                <a:cs typeface="DejaVu Sans"/>
              </a:rPr>
              <a:t>Эталоном класса называют образец этого класса,</a:t>
            </a:r>
          </a:p>
          <a:p xmlns:a="http://schemas.openxmlformats.org/drawingml/2006/main">
            <a:pPr>
              <a:defRPr sz="2550" b="1">
                <a:solidFill>
                  <a:srgbClr val="101C32"/>
                </a:solidFill>
                <a:latin typeface="DejaVu Sans"/>
                <a:ea typeface="DejaVu Sans"/>
                <a:cs typeface="DejaVu Sans"/>
              </a:defRPr>
            </a:pPr>
            <a:r>
              <a:rPr sz="2550" b="1">
                <a:solidFill>
                  <a:srgbClr val="101C32"/>
                </a:solidFill>
                <a:latin typeface="DejaVu Sans"/>
                <a:ea typeface="DejaVu Sans"/>
                <a:cs typeface="DejaVu Sans"/>
              </a:rPr>
              <a:t>выбранный для сравнения с другими объектами.</a:t>
            </a:r>
          </a:p>
        </p:txBody>
      </p:sp>
      <p:sp>
        <p:nvSpPr>
          <p:cNvPr id="6" name="text-21">
            <a:extLst xmlns:a="http://schemas.openxmlformats.org/drawingml/2006/main">
              <a:ext uri="{FF2B5EF4-FFF2-40B4-BE49-F238E27FC236}">
                <a16:creationId xmlns:a16="http://schemas.microsoft.com/office/drawing/2014/main" id="{333632B4-B0C6-45E8-9DB5-4FAB436A4253}"/>
              </a:ext>
            </a:extLst>
          </p:cNvPr>
          <p:cNvSpPr>
            <a:spLocks xmlns:a="http://schemas.openxmlformats.org/drawingml/2006/main" noGrp="1"/>
          </p:cNvSpPr>
          <p:nvPr/>
        </p:nvSpPr>
        <p:spPr>
          <a:xfrm xmlns:a="http://schemas.openxmlformats.org/drawingml/2006/main">
            <a:off x="571500" y="371475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Зачем он нужен</a:t>
            </a:r>
          </a:p>
        </p:txBody>
      </p:sp>
      <p:sp>
        <p:nvSpPr>
          <p:cNvPr id="7" name="text-22">
            <a:extLst xmlns:a="http://schemas.openxmlformats.org/drawingml/2006/main">
              <a:ext uri="{FF2B5EF4-FFF2-40B4-BE49-F238E27FC236}">
                <a16:creationId xmlns:a16="http://schemas.microsoft.com/office/drawing/2014/main" id="{17561C19-44DA-497C-B9A4-DFB06A874391}"/>
              </a:ext>
            </a:extLst>
          </p:cNvPr>
          <p:cNvSpPr>
            <a:spLocks xmlns:a="http://schemas.openxmlformats.org/drawingml/2006/main" noGrp="1"/>
          </p:cNvSpPr>
          <p:nvPr/>
        </p:nvSpPr>
        <p:spPr>
          <a:xfrm xmlns:a="http://schemas.openxmlformats.org/drawingml/2006/main">
            <a:off x="571500" y="4248150"/>
            <a:ext cx="5334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Помогает понять, к какому классу</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ближе исследуемый объект</a:t>
            </a:r>
          </a:p>
        </p:txBody>
      </p:sp>
      <p:sp>
        <p:nvSpPr>
          <p:cNvPr id="8" name="text-23">
            <a:extLst xmlns:a="http://schemas.openxmlformats.org/drawingml/2006/main">
              <a:ext uri="{FF2B5EF4-FFF2-40B4-BE49-F238E27FC236}">
                <a16:creationId xmlns:a16="http://schemas.microsoft.com/office/drawing/2014/main" id="{301E7121-5C42-4715-A913-9FEF12863EFF}"/>
              </a:ext>
            </a:extLst>
          </p:cNvPr>
          <p:cNvSpPr>
            <a:spLocks xmlns:a="http://schemas.openxmlformats.org/drawingml/2006/main" noGrp="1"/>
          </p:cNvSpPr>
          <p:nvPr/>
        </p:nvSpPr>
        <p:spPr>
          <a:xfrm xmlns:a="http://schemas.openxmlformats.org/drawingml/2006/main">
            <a:off x="6429375" y="3714750"/>
            <a:ext cx="519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Как с ним сравнивать</a:t>
            </a:r>
          </a:p>
        </p:txBody>
      </p:sp>
      <p:sp>
        <p:nvSpPr>
          <p:cNvPr id="9" name="text-24">
            <a:extLst xmlns:a="http://schemas.openxmlformats.org/drawingml/2006/main">
              <a:ext uri="{FF2B5EF4-FFF2-40B4-BE49-F238E27FC236}">
                <a16:creationId xmlns:a16="http://schemas.microsoft.com/office/drawing/2014/main" id="{F76AFBC1-186D-4F97-810B-B99B02E0B5E3}"/>
              </a:ext>
            </a:extLst>
          </p:cNvPr>
          <p:cNvSpPr>
            <a:spLocks xmlns:a="http://schemas.openxmlformats.org/drawingml/2006/main" noGrp="1"/>
          </p:cNvSpPr>
          <p:nvPr/>
        </p:nvSpPr>
        <p:spPr>
          <a:xfrm xmlns:a="http://schemas.openxmlformats.org/drawingml/2006/main">
            <a:off x="6429375" y="4248150"/>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Берём образец каждого класса</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и ищем, к какому ближе новый объект</a:t>
            </a:r>
          </a:p>
        </p:txBody>
      </p:sp>
      <p:sp>
        <p:nvSpPr>
          <p:cNvPr id="10" name="">
            <a:extLst xmlns:a="http://schemas.openxmlformats.org/drawingml/2006/main">
              <a:ext uri="{FF2B5EF4-FFF2-40B4-BE49-F238E27FC236}">
                <a16:creationId xmlns:a16="http://schemas.microsoft.com/office/drawing/2014/main" id="{F2169B86-8CFC-4459-9932-E6C59AED9D41}"/>
              </a:ext>
            </a:extLst>
          </p:cNvPr>
          <p:cNvSpPr>
            <a:spLocks xmlns:a="http://schemas.openxmlformats.org/drawingml/2006/main" noGrp="1"/>
          </p:cNvSpPr>
          <p:nvPr/>
        </p:nvSpPr>
        <p:spPr>
          <a:xfrm xmlns:a="http://schemas.openxmlformats.org/drawingml/2006/main">
            <a:off x="571500" y="567690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1" name="text-25">
            <a:extLst xmlns:a="http://schemas.openxmlformats.org/drawingml/2006/main">
              <a:ext uri="{FF2B5EF4-FFF2-40B4-BE49-F238E27FC236}">
                <a16:creationId xmlns:a16="http://schemas.microsoft.com/office/drawing/2014/main" id="{95836FE2-77F8-48E1-92EC-54F94CE548D0}"/>
              </a:ext>
            </a:extLst>
          </p:cNvPr>
          <p:cNvSpPr>
            <a:spLocks xmlns:a="http://schemas.openxmlformats.org/drawingml/2006/main" noGrp="1"/>
          </p:cNvSpPr>
          <p:nvPr/>
        </p:nvSpPr>
        <p:spPr>
          <a:xfrm xmlns:a="http://schemas.openxmlformats.org/drawingml/2006/main">
            <a:off x="571500" y="583882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Теперь нужно понять, как измерять сходство и выбирать образцы</a:t>
            </a:r>
          </a:p>
        </p:txBody>
      </p:sp>
    </p:spTree>
    <p:extLst>
      <p:ext uri="{BB962C8B-B14F-4D97-AF65-F5344CB8AC3E}">
        <p14:creationId xmlns:p14="http://schemas.microsoft.com/office/powerpoint/2010/main" val="1101281840"/>
      </p:ext>
    </p:extLst>
  </p:cSld>
</p:sld>
</file>

<file path=ppt/slides/slide5.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3" name="text-26">
            <a:extLst xmlns:a="http://schemas.openxmlformats.org/drawingml/2006/main">
              <a:ext uri="{FF2B5EF4-FFF2-40B4-BE49-F238E27FC236}">
                <a16:creationId xmlns:a16="http://schemas.microsoft.com/office/drawing/2014/main" id="{CDDFF487-5E30-4103-B930-B403DBAB722E}"/>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Как измерить похожесть</a:t>
            </a:r>
          </a:p>
        </p:txBody>
      </p:sp>
      <p:sp>
        <p:nvSpPr>
          <p:cNvPr id="2" name="text-27">
            <a:extLst xmlns:a="http://schemas.openxmlformats.org/drawingml/2006/main">
              <a:ext uri="{FF2B5EF4-FFF2-40B4-BE49-F238E27FC236}">
                <a16:creationId xmlns:a16="http://schemas.microsoft.com/office/drawing/2014/main" id="{414E29FD-5EAF-426C-B210-FF39EA8208B8}"/>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Все объекты описываем одним и тем же набором признаков</a:t>
            </a:r>
          </a:p>
        </p:txBody>
      </p:sp>
      <p:sp>
        <p:nvSpPr>
          <p:cNvPr id="3" name="">
            <a:extLst xmlns:a="http://schemas.openxmlformats.org/drawingml/2006/main">
              <a:ext uri="{FF2B5EF4-FFF2-40B4-BE49-F238E27FC236}">
                <a16:creationId xmlns:a16="http://schemas.microsoft.com/office/drawing/2014/main" id="{6DAC7ECE-E73A-4F83-AC51-4BB9039F6E3C}"/>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28">
            <a:extLst xmlns:a="http://schemas.openxmlformats.org/drawingml/2006/main">
              <a:ext uri="{FF2B5EF4-FFF2-40B4-BE49-F238E27FC236}">
                <a16:creationId xmlns:a16="http://schemas.microsoft.com/office/drawing/2014/main" id="{4BCC66BE-7E62-4B6A-90CC-E39146F016CC}"/>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[3, 5]</a:t>
            </a:r>
          </a:p>
        </p:txBody>
      </p:sp>
      <p:sp>
        <p:nvSpPr>
          <p:cNvPr id="5" name="text-29">
            <a:extLst xmlns:a="http://schemas.openxmlformats.org/drawingml/2006/main">
              <a:ext uri="{FF2B5EF4-FFF2-40B4-BE49-F238E27FC236}">
                <a16:creationId xmlns:a16="http://schemas.microsoft.com/office/drawing/2014/main" id="{B4E14AB1-7C2A-43FC-AF81-30ECC017BC6C}"/>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05</a:t>
            </a:r>
          </a:p>
        </p:txBody>
      </p:sp>
      <p:sp>
        <p:nvSpPr>
          <p:cNvPr id="6" name="text-30">
            <a:extLst xmlns:a="http://schemas.openxmlformats.org/drawingml/2006/main">
              <a:ext uri="{FF2B5EF4-FFF2-40B4-BE49-F238E27FC236}">
                <a16:creationId xmlns:a16="http://schemas.microsoft.com/office/drawing/2014/main" id="{C1B68E0B-AEFE-4107-A2B6-C6DA1594524A}"/>
              </a:ext>
            </a:extLst>
          </p:cNvPr>
          <p:cNvSpPr>
            <a:spLocks xmlns:a="http://schemas.openxmlformats.org/drawingml/2006/main" noGrp="1"/>
          </p:cNvSpPr>
          <p:nvPr/>
        </p:nvSpPr>
        <p:spPr>
          <a:xfrm xmlns:a="http://schemas.openxmlformats.org/drawingml/2006/main">
            <a:off x="571500" y="19907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01C32"/>
                </a:solidFill>
                <a:latin typeface="DejaVu Sans"/>
                <a:ea typeface="DejaVu Sans"/>
                <a:cs typeface="DejaVu Sans"/>
              </a:defRPr>
            </a:defPPr>
          </a:lstStyle>
          <a:p xmlns:a="http://schemas.openxmlformats.org/drawingml/2006/main">
            <a:pPr>
              <a:defRPr sz="2250" b="1">
                <a:solidFill>
                  <a:srgbClr val="101C32"/>
                </a:solidFill>
                <a:latin typeface="DejaVu Sans"/>
                <a:ea typeface="DejaVu Sans"/>
                <a:cs typeface="DejaVu Sans"/>
              </a:defRPr>
            </a:pPr>
            <a:r>
              <a:rPr sz="2250" b="1">
                <a:solidFill>
                  <a:srgbClr val="101C32"/>
                </a:solidFill>
                <a:latin typeface="DejaVu Sans"/>
                <a:ea typeface="DejaVu Sans"/>
                <a:cs typeface="DejaVu Sans"/>
              </a:rPr>
              <a:t>Два признака можно представить как координаты точки.</a:t>
            </a:r>
          </a:p>
          <a:p xmlns:a="http://schemas.openxmlformats.org/drawingml/2006/main">
            <a:pPr>
              <a:defRPr sz="2250" b="1">
                <a:solidFill>
                  <a:srgbClr val="101C32"/>
                </a:solidFill>
                <a:latin typeface="DejaVu Sans"/>
                <a:ea typeface="DejaVu Sans"/>
                <a:cs typeface="DejaVu Sans"/>
              </a:defRPr>
            </a:pPr>
            <a:r>
              <a:rPr sz="2250" b="1">
                <a:solidFill>
                  <a:srgbClr val="101C32"/>
                </a:solidFill>
                <a:latin typeface="DejaVu Sans"/>
                <a:ea typeface="DejaVu Sans"/>
                <a:cs typeface="DejaVu Sans"/>
              </a:rPr>
              <a:t>Расстояние по прямой между такими точками</a:t>
            </a:r>
          </a:p>
          <a:p xmlns:a="http://schemas.openxmlformats.org/drawingml/2006/main">
            <a:pPr>
              <a:defRPr sz="2250" b="1">
                <a:solidFill>
                  <a:srgbClr val="101C32"/>
                </a:solidFill>
                <a:latin typeface="DejaVu Sans"/>
                <a:ea typeface="DejaVu Sans"/>
                <a:cs typeface="DejaVu Sans"/>
              </a:defRPr>
            </a:pPr>
            <a:r>
              <a:rPr sz="2250" b="1">
                <a:solidFill>
                  <a:srgbClr val="101C32"/>
                </a:solidFill>
                <a:latin typeface="DejaVu Sans"/>
                <a:ea typeface="DejaVu Sans"/>
                <a:cs typeface="DejaVu Sans"/>
              </a:rPr>
              <a:t>называют евклидовым расстоянием.</a:t>
            </a:r>
          </a:p>
        </p:txBody>
      </p:sp>
      <p:sp>
        <p:nvSpPr>
          <p:cNvPr id="7" name="text-31">
            <a:extLst xmlns:a="http://schemas.openxmlformats.org/drawingml/2006/main">
              <a:ext uri="{FF2B5EF4-FFF2-40B4-BE49-F238E27FC236}">
                <a16:creationId xmlns:a16="http://schemas.microsoft.com/office/drawing/2014/main" id="{A0223B10-36C2-480B-8902-53CB74A1228C}"/>
              </a:ext>
            </a:extLst>
          </p:cNvPr>
          <p:cNvSpPr>
            <a:spLocks xmlns:a="http://schemas.openxmlformats.org/drawingml/2006/main" noGrp="1"/>
          </p:cNvSpPr>
          <p:nvPr/>
        </p:nvSpPr>
        <p:spPr>
          <a:xfrm xmlns:a="http://schemas.openxmlformats.org/drawingml/2006/main">
            <a:off x="571500" y="3648075"/>
            <a:ext cx="519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Меньше расстояние</a:t>
            </a:r>
          </a:p>
        </p:txBody>
      </p:sp>
      <p:sp>
        <p:nvSpPr>
          <p:cNvPr id="8" name="text-32">
            <a:extLst xmlns:a="http://schemas.openxmlformats.org/drawingml/2006/main">
              <a:ext uri="{FF2B5EF4-FFF2-40B4-BE49-F238E27FC236}">
                <a16:creationId xmlns:a16="http://schemas.microsoft.com/office/drawing/2014/main" id="{85F6C728-3CAA-4080-97B8-A6A7A2455F95}"/>
              </a:ext>
            </a:extLst>
          </p:cNvPr>
          <p:cNvSpPr>
            <a:spLocks xmlns:a="http://schemas.openxmlformats.org/drawingml/2006/main" noGrp="1"/>
          </p:cNvSpPr>
          <p:nvPr/>
        </p:nvSpPr>
        <p:spPr>
          <a:xfrm xmlns:a="http://schemas.openxmlformats.org/drawingml/2006/main">
            <a:off x="571500" y="4181475"/>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Меньше различий в признаках,</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которые мы выбрали для сравнения</a:t>
            </a:r>
          </a:p>
        </p:txBody>
      </p:sp>
      <p:sp>
        <p:nvSpPr>
          <p:cNvPr id="9" name="text-33">
            <a:extLst xmlns:a="http://schemas.openxmlformats.org/drawingml/2006/main">
              <a:ext uri="{FF2B5EF4-FFF2-40B4-BE49-F238E27FC236}">
                <a16:creationId xmlns:a16="http://schemas.microsoft.com/office/drawing/2014/main" id="{D7C1E9C1-8D51-4C09-BA10-D6BC7B8B8D1E}"/>
              </a:ext>
            </a:extLst>
          </p:cNvPr>
          <p:cNvSpPr>
            <a:spLocks xmlns:a="http://schemas.openxmlformats.org/drawingml/2006/main" noGrp="1"/>
          </p:cNvSpPr>
          <p:nvPr/>
        </p:nvSpPr>
        <p:spPr>
          <a:xfrm xmlns:a="http://schemas.openxmlformats.org/drawingml/2006/main">
            <a:off x="6429375" y="3648075"/>
            <a:ext cx="519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01C32"/>
                </a:solidFill>
                <a:latin typeface="DejaVu Sans"/>
                <a:ea typeface="DejaVu Sans"/>
                <a:cs typeface="DejaVu Sans"/>
              </a:defRPr>
            </a:defPPr>
          </a:lstStyle>
          <a:p xmlns:a="http://schemas.openxmlformats.org/drawingml/2006/main">
            <a:pPr>
              <a:defRPr sz="2175" b="1">
                <a:solidFill>
                  <a:srgbClr val="101C32"/>
                </a:solidFill>
                <a:latin typeface="DejaVu Sans"/>
                <a:ea typeface="DejaVu Sans"/>
                <a:cs typeface="DejaVu Sans"/>
              </a:defRPr>
            </a:pPr>
            <a:r>
              <a:rPr sz="2175" b="1">
                <a:solidFill>
                  <a:srgbClr val="101C32"/>
                </a:solidFill>
                <a:latin typeface="DejaVu Sans"/>
                <a:ea typeface="DejaVu Sans"/>
                <a:cs typeface="DejaVu Sans"/>
              </a:rPr>
              <a:t>Сначала задаём масштаб</a:t>
            </a:r>
          </a:p>
        </p:txBody>
      </p:sp>
      <p:sp>
        <p:nvSpPr>
          <p:cNvPr id="10" name="text-34">
            <a:extLst xmlns:a="http://schemas.openxmlformats.org/drawingml/2006/main">
              <a:ext uri="{FF2B5EF4-FFF2-40B4-BE49-F238E27FC236}">
                <a16:creationId xmlns:a16="http://schemas.microsoft.com/office/drawing/2014/main" id="{2ACD9A80-289B-44E1-A36A-C81B9413CCDE}"/>
              </a:ext>
            </a:extLst>
          </p:cNvPr>
          <p:cNvSpPr>
            <a:spLocks xmlns:a="http://schemas.openxmlformats.org/drawingml/2006/main" noGrp="1"/>
          </p:cNvSpPr>
          <p:nvPr/>
        </p:nvSpPr>
        <p:spPr>
          <a:xfrm xmlns:a="http://schemas.openxmlformats.org/drawingml/2006/main">
            <a:off x="6429375" y="4181475"/>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Если числа одного признака крупнее,</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он может слишком влиять на результат</a:t>
            </a:r>
          </a:p>
        </p:txBody>
      </p:sp>
      <p:sp>
        <p:nvSpPr>
          <p:cNvPr id="11" name="">
            <a:extLst xmlns:a="http://schemas.openxmlformats.org/drawingml/2006/main">
              <a:ext uri="{FF2B5EF4-FFF2-40B4-BE49-F238E27FC236}">
                <a16:creationId xmlns:a16="http://schemas.microsoft.com/office/drawing/2014/main" id="{189C3CFF-F1F9-4591-9E7F-3F2DE0E92DBF}"/>
              </a:ext>
            </a:extLst>
          </p:cNvPr>
          <p:cNvSpPr>
            <a:spLocks xmlns:a="http://schemas.openxmlformats.org/drawingml/2006/main" noGrp="1"/>
          </p:cNvSpPr>
          <p:nvPr/>
        </p:nvSpPr>
        <p:spPr>
          <a:xfrm xmlns:a="http://schemas.openxmlformats.org/drawingml/2006/main">
            <a:off x="571500" y="565785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2" name="text-35">
            <a:extLst xmlns:a="http://schemas.openxmlformats.org/drawingml/2006/main">
              <a:ext uri="{FF2B5EF4-FFF2-40B4-BE49-F238E27FC236}">
                <a16:creationId xmlns:a16="http://schemas.microsoft.com/office/drawing/2014/main" id="{6539EAFD-162A-4272-AAEF-54B434C0656A}"/>
              </a:ext>
            </a:extLst>
          </p:cNvPr>
          <p:cNvSpPr>
            <a:spLocks xmlns:a="http://schemas.openxmlformats.org/drawingml/2006/main" noGrp="1"/>
          </p:cNvSpPr>
          <p:nvPr/>
        </p:nvSpPr>
        <p:spPr>
          <a:xfrm xmlns:a="http://schemas.openxmlformats.org/drawingml/2006/main">
            <a:off x="571500" y="581977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Эталоны выбираем и сравниваем в одном масштабе</a:t>
            </a:r>
          </a:p>
        </p:txBody>
      </p:sp>
    </p:spTree>
    <p:extLst>
      <p:ext uri="{BB962C8B-B14F-4D97-AF65-F5344CB8AC3E}">
        <p14:creationId xmlns:p14="http://schemas.microsoft.com/office/powerpoint/2010/main" val="1476976694"/>
      </p:ext>
    </p:extLst>
  </p:cSld>
</p:sld>
</file>

<file path=ppt/slides/slide6.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5" name="text-36">
            <a:extLst xmlns:a="http://schemas.openxmlformats.org/drawingml/2006/main">
              <a:ext uri="{FF2B5EF4-FFF2-40B4-BE49-F238E27FC236}">
                <a16:creationId xmlns:a16="http://schemas.microsoft.com/office/drawing/2014/main" id="{5FCD189B-EE24-4880-BE96-BE4D037C34B1}"/>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Как выбрать эталон внутри класса</a:t>
            </a:r>
          </a:p>
        </p:txBody>
      </p:sp>
      <p:sp>
        <p:nvSpPr>
          <p:cNvPr id="2" name="text-37">
            <a:extLst xmlns:a="http://schemas.openxmlformats.org/drawingml/2006/main">
              <a:ext uri="{FF2B5EF4-FFF2-40B4-BE49-F238E27FC236}">
                <a16:creationId xmlns:a16="http://schemas.microsoft.com/office/drawing/2014/main" id="{C48631A0-03FC-458F-8EA0-08848CBA690A}"/>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В нашей работе таким образцом будет медоид</a:t>
            </a:r>
          </a:p>
        </p:txBody>
      </p:sp>
      <p:sp>
        <p:nvSpPr>
          <p:cNvPr id="3" name="">
            <a:extLst xmlns:a="http://schemas.openxmlformats.org/drawingml/2006/main">
              <a:ext uri="{FF2B5EF4-FFF2-40B4-BE49-F238E27FC236}">
                <a16:creationId xmlns:a16="http://schemas.microsoft.com/office/drawing/2014/main" id="{0060A8A2-463B-4441-A701-79587E467706}"/>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38">
            <a:extLst xmlns:a="http://schemas.openxmlformats.org/drawingml/2006/main">
              <a:ext uri="{FF2B5EF4-FFF2-40B4-BE49-F238E27FC236}">
                <a16:creationId xmlns:a16="http://schemas.microsoft.com/office/drawing/2014/main" id="{09651DAF-09FB-40F0-8C4B-F1364F81B6EA}"/>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[3]</a:t>
            </a:r>
          </a:p>
        </p:txBody>
      </p:sp>
      <p:sp>
        <p:nvSpPr>
          <p:cNvPr id="5" name="text-39">
            <a:extLst xmlns:a="http://schemas.openxmlformats.org/drawingml/2006/main">
              <a:ext uri="{FF2B5EF4-FFF2-40B4-BE49-F238E27FC236}">
                <a16:creationId xmlns:a16="http://schemas.microsoft.com/office/drawing/2014/main" id="{68EA2F37-F038-4D84-911D-6BB65D13DF85}"/>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06</a:t>
            </a:r>
          </a:p>
        </p:txBody>
      </p:sp>
      <p:sp>
        <p:nvSpPr>
          <p:cNvPr id="6" name="text-40">
            <a:extLst xmlns:a="http://schemas.openxmlformats.org/drawingml/2006/main">
              <a:ext uri="{FF2B5EF4-FFF2-40B4-BE49-F238E27FC236}">
                <a16:creationId xmlns:a16="http://schemas.microsoft.com/office/drawing/2014/main" id="{67A1DF0A-19EE-47FB-B1B6-436EB706FDE0}"/>
              </a:ext>
            </a:extLst>
          </p:cNvPr>
          <p:cNvSpPr>
            <a:spLocks xmlns:a="http://schemas.openxmlformats.org/drawingml/2006/main" noGrp="1"/>
          </p:cNvSpPr>
          <p:nvPr/>
        </p:nvSpPr>
        <p:spPr>
          <a:xfrm xmlns:a="http://schemas.openxmlformats.org/drawingml/2006/main">
            <a:off x="571500" y="2057400"/>
            <a:ext cx="11049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01C32"/>
                </a:solidFill>
                <a:latin typeface="DejaVu Sans"/>
                <a:ea typeface="DejaVu Sans"/>
                <a:cs typeface="DejaVu Sans"/>
              </a:defRPr>
            </a:defPPr>
          </a:lstStyle>
          <a:p xmlns:a="http://schemas.openxmlformats.org/drawingml/2006/main">
            <a:pPr>
              <a:defRPr sz="2325" b="1">
                <a:solidFill>
                  <a:srgbClr val="101C32"/>
                </a:solidFill>
                <a:latin typeface="DejaVu Sans"/>
                <a:ea typeface="DejaVu Sans"/>
                <a:cs typeface="DejaVu Sans"/>
              </a:defRPr>
            </a:pPr>
            <a:r>
              <a:rPr sz="2325" b="1">
                <a:solidFill>
                  <a:srgbClr val="101C32"/>
                </a:solidFill>
                <a:latin typeface="DejaVu Sans"/>
                <a:ea typeface="DejaVu Sans"/>
                <a:cs typeface="DejaVu Sans"/>
              </a:rPr>
              <a:t>Медоидом называют объект с наименьшей суммой</a:t>
            </a:r>
          </a:p>
          <a:p xmlns:a="http://schemas.openxmlformats.org/drawingml/2006/main">
            <a:pPr>
              <a:defRPr sz="2325" b="1">
                <a:solidFill>
                  <a:srgbClr val="101C32"/>
                </a:solidFill>
                <a:latin typeface="DejaVu Sans"/>
                <a:ea typeface="DejaVu Sans"/>
                <a:cs typeface="DejaVu Sans"/>
              </a:defRPr>
            </a:pPr>
            <a:r>
              <a:rPr sz="2325" b="1">
                <a:solidFill>
                  <a:srgbClr val="101C32"/>
                </a:solidFill>
                <a:latin typeface="DejaVu Sans"/>
                <a:ea typeface="DejaVu Sans"/>
                <a:cs typeface="DejaVu Sans"/>
              </a:rPr>
              <a:t>расстояний до остальных объектов своего класса.</a:t>
            </a:r>
          </a:p>
        </p:txBody>
      </p:sp>
      <p:sp>
        <p:nvSpPr>
          <p:cNvPr id="7" name="text-41">
            <a:extLst xmlns:a="http://schemas.openxmlformats.org/drawingml/2006/main">
              <a:ext uri="{FF2B5EF4-FFF2-40B4-BE49-F238E27FC236}">
                <a16:creationId xmlns:a16="http://schemas.microsoft.com/office/drawing/2014/main" id="{641676AD-D5A6-4EF0-84A7-A58BA668E725}"/>
              </a:ext>
            </a:extLst>
          </p:cNvPr>
          <p:cNvSpPr>
            <a:spLocks xmlns:a="http://schemas.openxmlformats.org/drawingml/2006/main" noGrp="1"/>
          </p:cNvSpPr>
          <p:nvPr/>
        </p:nvSpPr>
        <p:spPr>
          <a:xfrm xmlns:a="http://schemas.openxmlformats.org/drawingml/2006/main">
            <a:off x="619125" y="3371850"/>
            <a:ext cx="57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1</a:t>
            </a:r>
          </a:p>
        </p:txBody>
      </p:sp>
      <p:sp>
        <p:nvSpPr>
          <p:cNvPr id="8" name="text-42">
            <a:extLst xmlns:a="http://schemas.openxmlformats.org/drawingml/2006/main">
              <a:ext uri="{FF2B5EF4-FFF2-40B4-BE49-F238E27FC236}">
                <a16:creationId xmlns:a16="http://schemas.microsoft.com/office/drawing/2014/main" id="{203FA317-4625-4C43-B281-58345FD766BE}"/>
              </a:ext>
            </a:extLst>
          </p:cNvPr>
          <p:cNvSpPr>
            <a:spLocks xmlns:a="http://schemas.openxmlformats.org/drawingml/2006/main" noGrp="1"/>
          </p:cNvSpPr>
          <p:nvPr/>
        </p:nvSpPr>
        <p:spPr>
          <a:xfrm xmlns:a="http://schemas.openxmlformats.org/drawingml/2006/main">
            <a:off x="1381125" y="3371850"/>
            <a:ext cx="1009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Берём один из обучающих объектов класса</a:t>
            </a:r>
          </a:p>
        </p:txBody>
      </p:sp>
      <p:sp>
        <p:nvSpPr>
          <p:cNvPr id="9" name="text-43">
            <a:extLst xmlns:a="http://schemas.openxmlformats.org/drawingml/2006/main">
              <a:ext uri="{FF2B5EF4-FFF2-40B4-BE49-F238E27FC236}">
                <a16:creationId xmlns:a16="http://schemas.microsoft.com/office/drawing/2014/main" id="{29634822-C4F5-421C-9098-E62637522CF7}"/>
              </a:ext>
            </a:extLst>
          </p:cNvPr>
          <p:cNvSpPr>
            <a:spLocks xmlns:a="http://schemas.openxmlformats.org/drawingml/2006/main" noGrp="1"/>
          </p:cNvSpPr>
          <p:nvPr/>
        </p:nvSpPr>
        <p:spPr>
          <a:xfrm xmlns:a="http://schemas.openxmlformats.org/drawingml/2006/main">
            <a:off x="619125" y="4019550"/>
            <a:ext cx="57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2</a:t>
            </a:r>
          </a:p>
        </p:txBody>
      </p:sp>
      <p:sp>
        <p:nvSpPr>
          <p:cNvPr id="10" name="text-44">
            <a:extLst xmlns:a="http://schemas.openxmlformats.org/drawingml/2006/main">
              <a:ext uri="{FF2B5EF4-FFF2-40B4-BE49-F238E27FC236}">
                <a16:creationId xmlns:a16="http://schemas.microsoft.com/office/drawing/2014/main" id="{7F74A4F0-B769-47F4-93A7-79E9C4ADFDBA}"/>
              </a:ext>
            </a:extLst>
          </p:cNvPr>
          <p:cNvSpPr>
            <a:spLocks xmlns:a="http://schemas.openxmlformats.org/drawingml/2006/main" noGrp="1"/>
          </p:cNvSpPr>
          <p:nvPr/>
        </p:nvSpPr>
        <p:spPr>
          <a:xfrm xmlns:a="http://schemas.openxmlformats.org/drawingml/2006/main">
            <a:off x="1381125" y="4019550"/>
            <a:ext cx="1009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Складываем расстояния от него до остальных</a:t>
            </a:r>
          </a:p>
        </p:txBody>
      </p:sp>
      <p:sp>
        <p:nvSpPr>
          <p:cNvPr id="11" name="text-45">
            <a:extLst xmlns:a="http://schemas.openxmlformats.org/drawingml/2006/main">
              <a:ext uri="{FF2B5EF4-FFF2-40B4-BE49-F238E27FC236}">
                <a16:creationId xmlns:a16="http://schemas.microsoft.com/office/drawing/2014/main" id="{25CEE426-BB97-4383-B925-7B1BF43A6D9F}"/>
              </a:ext>
            </a:extLst>
          </p:cNvPr>
          <p:cNvSpPr>
            <a:spLocks xmlns:a="http://schemas.openxmlformats.org/drawingml/2006/main" noGrp="1"/>
          </p:cNvSpPr>
          <p:nvPr/>
        </p:nvSpPr>
        <p:spPr>
          <a:xfrm xmlns:a="http://schemas.openxmlformats.org/drawingml/2006/main">
            <a:off x="619125" y="4667250"/>
            <a:ext cx="57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3</a:t>
            </a:r>
          </a:p>
        </p:txBody>
      </p:sp>
      <p:sp>
        <p:nvSpPr>
          <p:cNvPr id="12" name="text-46">
            <a:extLst xmlns:a="http://schemas.openxmlformats.org/drawingml/2006/main">
              <a:ext uri="{FF2B5EF4-FFF2-40B4-BE49-F238E27FC236}">
                <a16:creationId xmlns:a16="http://schemas.microsoft.com/office/drawing/2014/main" id="{9D617F48-A83B-431E-84BB-61B98D5B9DA5}"/>
              </a:ext>
            </a:extLst>
          </p:cNvPr>
          <p:cNvSpPr>
            <a:spLocks xmlns:a="http://schemas.openxmlformats.org/drawingml/2006/main" noGrp="1"/>
          </p:cNvSpPr>
          <p:nvPr/>
        </p:nvSpPr>
        <p:spPr>
          <a:xfrm xmlns:a="http://schemas.openxmlformats.org/drawingml/2006/main">
            <a:off x="1381125" y="4667250"/>
            <a:ext cx="1009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Сравниваем суммы и выбираем наименьшую</a:t>
            </a:r>
          </a:p>
        </p:txBody>
      </p:sp>
      <p:sp>
        <p:nvSpPr>
          <p:cNvPr id="13" name="">
            <a:extLst xmlns:a="http://schemas.openxmlformats.org/drawingml/2006/main">
              <a:ext uri="{FF2B5EF4-FFF2-40B4-BE49-F238E27FC236}">
                <a16:creationId xmlns:a16="http://schemas.microsoft.com/office/drawing/2014/main" id="{5D2609B4-DE10-4483-990E-64BA64C3D1E3}"/>
              </a:ext>
            </a:extLst>
          </p:cNvPr>
          <p:cNvSpPr>
            <a:spLocks xmlns:a="http://schemas.openxmlformats.org/drawingml/2006/main" noGrp="1"/>
          </p:cNvSpPr>
          <p:nvPr/>
        </p:nvSpPr>
        <p:spPr>
          <a:xfrm xmlns:a="http://schemas.openxmlformats.org/drawingml/2006/main">
            <a:off x="571500" y="567690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4" name="text-47">
            <a:extLst xmlns:a="http://schemas.openxmlformats.org/drawingml/2006/main">
              <a:ext uri="{FF2B5EF4-FFF2-40B4-BE49-F238E27FC236}">
                <a16:creationId xmlns:a16="http://schemas.microsoft.com/office/drawing/2014/main" id="{3EE500B8-9509-4CA1-8F6F-3366B64528C5}"/>
              </a:ext>
            </a:extLst>
          </p:cNvPr>
          <p:cNvSpPr>
            <a:spLocks xmlns:a="http://schemas.openxmlformats.org/drawingml/2006/main" noGrp="1"/>
          </p:cNvSpPr>
          <p:nvPr/>
        </p:nvSpPr>
        <p:spPr>
          <a:xfrm xmlns:a="http://schemas.openxmlformats.org/drawingml/2006/main">
            <a:off x="571500" y="583882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Выбираем образец для каждого класса только по данным обучения</a:t>
            </a:r>
          </a:p>
        </p:txBody>
      </p:sp>
    </p:spTree>
    <p:extLst>
      <p:ext uri="{BB962C8B-B14F-4D97-AF65-F5344CB8AC3E}">
        <p14:creationId xmlns:p14="http://schemas.microsoft.com/office/powerpoint/2010/main" val="80277562"/>
      </p:ext>
    </p:extLst>
  </p:cSld>
</p:sld>
</file>

<file path=ppt/slides/slide7.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48">
            <a:extLst xmlns:a="http://schemas.openxmlformats.org/drawingml/2006/main">
              <a:ext uri="{FF2B5EF4-FFF2-40B4-BE49-F238E27FC236}">
                <a16:creationId xmlns:a16="http://schemas.microsoft.com/office/drawing/2014/main" id="{CB0E31D9-F3C0-4A7A-93D9-8DD3427DFEFF}"/>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Как выбрать класс по эталонам</a:t>
            </a:r>
          </a:p>
        </p:txBody>
      </p:sp>
      <p:sp>
        <p:nvSpPr>
          <p:cNvPr id="2" name="">
            <a:extLst xmlns:a="http://schemas.openxmlformats.org/drawingml/2006/main">
              <a:ext uri="{FF2B5EF4-FFF2-40B4-BE49-F238E27FC236}">
                <a16:creationId xmlns:a16="http://schemas.microsoft.com/office/drawing/2014/main" id="{EAAF2B9A-7275-438B-8030-BF29499600FB}"/>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3" name="text-49">
            <a:extLst xmlns:a="http://schemas.openxmlformats.org/drawingml/2006/main">
              <a:ext uri="{FF2B5EF4-FFF2-40B4-BE49-F238E27FC236}">
                <a16:creationId xmlns:a16="http://schemas.microsoft.com/office/drawing/2014/main" id="{56A502BB-C2C2-4F28-96E4-4EB0D17CB9AE}"/>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4" name="text-50">
            <a:extLst xmlns:a="http://schemas.openxmlformats.org/drawingml/2006/main">
              <a:ext uri="{FF2B5EF4-FFF2-40B4-BE49-F238E27FC236}">
                <a16:creationId xmlns:a16="http://schemas.microsoft.com/office/drawing/2014/main" id="{CAA30975-00CF-4678-B4D6-1937EDD0B994}"/>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07</a:t>
            </a:r>
          </a:p>
        </p:txBody>
      </p:sp>
      <p:graphicFrame>
        <p:nvGraphicFramePr>
          <p:cNvPr id="5" name="">
            <a:extLst xmlns:a="http://schemas.openxmlformats.org/drawingml/2006/main">
              <a:ext uri="{FF2B5EF4-FFF2-40B4-BE49-F238E27FC236}">
                <a16:creationId xmlns:a16="http://schemas.microsoft.com/office/drawing/2014/main" id="{96F571ED-5C29-4BFD-97A2-4B75AE5FB2E3}"/>
              </a:ext>
            </a:extLst>
          </p:cNvPr>
          <p:cNvGraphicFramePr/>
          <p:nvPr/>
        </p:nvGraphicFramePr>
        <p:xfrm>
          <a:off xmlns:a="http://schemas.openxmlformats.org/drawingml/2006/main" x="571500" y="1971675"/>
          <a:ext xmlns:a="http://schemas.openxmlformats.org/drawingml/2006/main" cx="11049000" cy="2686050"/>
        </p:xfrm>
        <a:graphic xmlns:a="http://schemas.openxmlformats.org/drawingml/2006/main">
          <a:graphicData uri="http://schemas.openxmlformats.org/drawingml/2006/table">
            <a:tbl>
              <a:tblPr/>
              <a:tblGrid>
                <a:gridCol w="3429000"/>
                <a:gridCol w="7620000"/>
              </a:tblGrid>
              <a:tr h="671513">
                <a:tc>
                  <a:txBody>
                    <a:bodyPr lIns="114300" tIns="95250" rIns="95250" bIns="76200"/>
                    <a:lstStyle/>
                    <a:p>
                      <a:r>
                        <a:rPr sz="2100" b="1">
                          <a:solidFill>
                            <a:srgbClr val="FFFFFF"/>
                          </a:solidFill>
                          <a:latin typeface="DejaVu Sans"/>
                          <a:ea typeface="DejaVu Sans"/>
                          <a:cs typeface="DejaVu Sans"/>
                        </a:rPr>
                        <a:t>Шаг</a:t>
                      </a:r>
                    </a:p>
                  </a:txBody>
                  <a:tcPr marL="91440" marR="91440" marT="45720" marB="45720" anchor="ctr">
                    <a:solidFill>
                      <a:srgbClr val="101C32"/>
                    </a:solidFill>
                  </a:tcPr>
                </a:tc>
                <a:tc>
                  <a:txBody>
                    <a:bodyPr lIns="114300" tIns="95250" rIns="95250" bIns="76200"/>
                    <a:lstStyle/>
                    <a:p>
                      <a:r>
                        <a:rPr sz="2100" b="1">
                          <a:solidFill>
                            <a:srgbClr val="FFFFFF"/>
                          </a:solidFill>
                          <a:latin typeface="DejaVu Sans"/>
                          <a:ea typeface="DejaVu Sans"/>
                          <a:cs typeface="DejaVu Sans"/>
                        </a:rPr>
                        <a:t>Действие</a:t>
                      </a:r>
                    </a:p>
                  </a:txBody>
                  <a:tcPr marL="91440" marR="91440" marT="45720" marB="45720" anchor="ctr">
                    <a:solidFill>
                      <a:srgbClr val="101C32"/>
                    </a:solidFill>
                  </a:tcPr>
                </a:tc>
              </a:tr>
              <a:tr h="671513">
                <a:tc>
                  <a:txBody>
                    <a:bodyPr lIns="114300" tIns="95250" rIns="95250" bIns="76200"/>
                    <a:lstStyle/>
                    <a:p>
                      <a:r>
                        <a:rPr sz="2100" b="0">
                          <a:solidFill>
                            <a:srgbClr val="101C32"/>
                          </a:solidFill>
                          <a:latin typeface="DejaVu Sans"/>
                          <a:ea typeface="DejaVu Sans"/>
                          <a:cs typeface="DejaVu Sans"/>
                        </a:rPr>
                        <a:t>1. Описать объект</a:t>
                      </a:r>
                    </a:p>
                  </a:txBody>
                  <a:tcPr marL="91440" marR="91440" marT="45720" marB="45720" anchor="ctr">
                    <a:solidFill>
                      <a:srgbClr val="FFFFFF"/>
                    </a:solidFill>
                  </a:tcPr>
                </a:tc>
                <a:tc>
                  <a:txBody>
                    <a:bodyPr lIns="114300" tIns="95250" rIns="95250" bIns="76200"/>
                    <a:lstStyle/>
                    <a:p>
                      <a:r>
                        <a:rPr sz="2100" b="0">
                          <a:solidFill>
                            <a:srgbClr val="101C32"/>
                          </a:solidFill>
                          <a:latin typeface="DejaVu Sans"/>
                          <a:ea typeface="DejaVu Sans"/>
                          <a:cs typeface="DejaVu Sans"/>
                        </a:rPr>
                        <a:t>Привести признаки к выбранному масштабу</a:t>
                      </a:r>
                    </a:p>
                  </a:txBody>
                  <a:tcPr marL="91440" marR="91440" marT="45720" marB="45720" anchor="ctr">
                    <a:solidFill>
                      <a:srgbClr val="FFFFFF"/>
                    </a:solidFill>
                  </a:tcPr>
                </a:tc>
              </a:tr>
              <a:tr h="671513">
                <a:tc>
                  <a:txBody>
                    <a:bodyPr lIns="114300" tIns="95250" rIns="95250" bIns="76200"/>
                    <a:lstStyle/>
                    <a:p>
                      <a:r>
                        <a:rPr sz="2100" b="0">
                          <a:solidFill>
                            <a:srgbClr val="101C32"/>
                          </a:solidFill>
                          <a:latin typeface="DejaVu Sans"/>
                          <a:ea typeface="DejaVu Sans"/>
                          <a:cs typeface="DejaVu Sans"/>
                        </a:rPr>
                        <a:t>2. Сравнить</a:t>
                      </a:r>
                    </a:p>
                  </a:txBody>
                  <a:tcPr marL="91440" marR="91440" marT="45720" marB="45720" anchor="ctr">
                    <a:solidFill>
                      <a:srgbClr val="EAF0F4"/>
                    </a:solidFill>
                  </a:tcPr>
                </a:tc>
                <a:tc>
                  <a:txBody>
                    <a:bodyPr lIns="114300" tIns="95250" rIns="95250" bIns="76200"/>
                    <a:lstStyle/>
                    <a:p>
                      <a:r>
                        <a:rPr sz="2100" b="0">
                          <a:solidFill>
                            <a:srgbClr val="101C32"/>
                          </a:solidFill>
                          <a:latin typeface="DejaVu Sans"/>
                          <a:ea typeface="DejaVu Sans"/>
                          <a:cs typeface="DejaVu Sans"/>
                        </a:rPr>
                        <a:t>Посчитать расстояние до каждого эталона</a:t>
                      </a:r>
                    </a:p>
                  </a:txBody>
                  <a:tcPr marL="91440" marR="91440" marT="45720" marB="45720" anchor="ctr">
                    <a:solidFill>
                      <a:srgbClr val="EAF0F4"/>
                    </a:solidFill>
                  </a:tcPr>
                </a:tc>
              </a:tr>
              <a:tr h="671513">
                <a:tc>
                  <a:txBody>
                    <a:bodyPr lIns="114300" tIns="95250" rIns="95250" bIns="76200"/>
                    <a:lstStyle/>
                    <a:p>
                      <a:r>
                        <a:rPr sz="2100" b="0">
                          <a:solidFill>
                            <a:srgbClr val="101C32"/>
                          </a:solidFill>
                          <a:latin typeface="DejaVu Sans"/>
                          <a:ea typeface="DejaVu Sans"/>
                          <a:cs typeface="DejaVu Sans"/>
                        </a:rPr>
                        <a:t>3. Классифицировать</a:t>
                      </a:r>
                    </a:p>
                  </a:txBody>
                  <a:tcPr marL="91440" marR="91440" marT="45720" marB="45720" anchor="ctr">
                    <a:solidFill>
                      <a:srgbClr val="FFFFFF"/>
                    </a:solidFill>
                  </a:tcPr>
                </a:tc>
                <a:tc>
                  <a:txBody>
                    <a:bodyPr lIns="114300" tIns="95250" rIns="95250" bIns="76200"/>
                    <a:lstStyle/>
                    <a:p>
                      <a:r>
                        <a:rPr sz="2100" b="0">
                          <a:solidFill>
                            <a:srgbClr val="101C32"/>
                          </a:solidFill>
                          <a:latin typeface="DejaVu Sans"/>
                          <a:ea typeface="DejaVu Sans"/>
                          <a:cs typeface="DejaVu Sans"/>
                        </a:rPr>
                        <a:t>Выбрать класс ближайшего эталона</a:t>
                      </a:r>
                    </a:p>
                  </a:txBody>
                  <a:tcPr marL="91440" marR="91440" marT="45720" marB="45720" anchor="ctr">
                    <a:solidFill>
                      <a:srgbClr val="FFFFFF"/>
                    </a:solidFill>
                  </a:tcPr>
                </a:tc>
              </a:tr>
            </a:tbl>
          </a:graphicData>
        </a:graphic>
      </p:graphicFrame>
      <p:sp>
        <p:nvSpPr>
          <p:cNvPr id="6" name="text-51">
            <a:extLst xmlns:a="http://schemas.openxmlformats.org/drawingml/2006/main">
              <a:ext uri="{FF2B5EF4-FFF2-40B4-BE49-F238E27FC236}">
                <a16:creationId xmlns:a16="http://schemas.microsoft.com/office/drawing/2014/main" id="{DFBD2887-5529-410B-8BE9-E2C8AA91E790}"/>
              </a:ext>
            </a:extLst>
          </p:cNvPr>
          <p:cNvSpPr>
            <a:spLocks xmlns:a="http://schemas.openxmlformats.org/drawingml/2006/main" noGrp="1"/>
          </p:cNvSpPr>
          <p:nvPr/>
        </p:nvSpPr>
        <p:spPr>
          <a:xfrm xmlns:a="http://schemas.openxmlformats.org/drawingml/2006/main">
            <a:off x="571500" y="5019675"/>
            <a:ext cx="1104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01C32"/>
                </a:solidFill>
                <a:latin typeface="DejaVu Sans"/>
                <a:ea typeface="DejaVu Sans"/>
                <a:cs typeface="DejaVu Sans"/>
              </a:defRPr>
            </a:defPPr>
          </a:lstStyle>
          <a:p xmlns:a="http://schemas.openxmlformats.org/drawingml/2006/main">
            <a:pPr>
              <a:defRPr sz="2100" b="1">
                <a:solidFill>
                  <a:srgbClr val="101C32"/>
                </a:solidFill>
                <a:latin typeface="DejaVu Sans"/>
                <a:ea typeface="DejaVu Sans"/>
                <a:cs typeface="DejaVu Sans"/>
              </a:defRPr>
            </a:pPr>
            <a:r>
              <a:rPr sz="2100" b="1">
                <a:solidFill>
                  <a:srgbClr val="101C32"/>
                </a:solidFill>
                <a:latin typeface="DejaVu Sans"/>
                <a:ea typeface="DejaVu Sans"/>
                <a:cs typeface="DejaVu Sans"/>
              </a:rPr>
              <a:t>Если расстояния почти равны, ни один класс заметно не выигрывает.</a:t>
            </a:r>
          </a:p>
        </p:txBody>
      </p:sp>
      <p:sp>
        <p:nvSpPr>
          <p:cNvPr id="7" name="">
            <a:extLst xmlns:a="http://schemas.openxmlformats.org/drawingml/2006/main">
              <a:ext uri="{FF2B5EF4-FFF2-40B4-BE49-F238E27FC236}">
                <a16:creationId xmlns:a16="http://schemas.microsoft.com/office/drawing/2014/main" id="{B43F0B96-488D-41C3-BA71-0C5CDBC3EFC9}"/>
              </a:ext>
            </a:extLst>
          </p:cNvPr>
          <p:cNvSpPr>
            <a:spLocks xmlns:a="http://schemas.openxmlformats.org/drawingml/2006/main" noGrp="1"/>
          </p:cNvSpPr>
          <p:nvPr/>
        </p:nvSpPr>
        <p:spPr>
          <a:xfrm xmlns:a="http://schemas.openxmlformats.org/drawingml/2006/main">
            <a:off x="571500" y="573405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8" name="text-52">
            <a:extLst xmlns:a="http://schemas.openxmlformats.org/drawingml/2006/main">
              <a:ext uri="{FF2B5EF4-FFF2-40B4-BE49-F238E27FC236}">
                <a16:creationId xmlns:a16="http://schemas.microsoft.com/office/drawing/2014/main" id="{3FB4A058-31CB-4C67-9347-41F3F9051F51}"/>
              </a:ext>
            </a:extLst>
          </p:cNvPr>
          <p:cNvSpPr>
            <a:spLocks xmlns:a="http://schemas.openxmlformats.org/drawingml/2006/main" noGrp="1"/>
          </p:cNvSpPr>
          <p:nvPr/>
        </p:nvSpPr>
        <p:spPr>
          <a:xfrm xmlns:a="http://schemas.openxmlformats.org/drawingml/2006/main">
            <a:off x="571500" y="589597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Это преимущество можно выразить числом. Его называют отступом.</a:t>
            </a:r>
          </a:p>
        </p:txBody>
      </p:sp>
    </p:spTree>
    <p:extLst>
      <p:ext uri="{BB962C8B-B14F-4D97-AF65-F5344CB8AC3E}">
        <p14:creationId xmlns:p14="http://schemas.microsoft.com/office/powerpoint/2010/main" val="71618737"/>
      </p:ext>
    </p:extLst>
  </p:cSld>
</p:sld>
</file>

<file path=ppt/slides/slide8.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1" name="text-53">
            <a:extLst xmlns:a="http://schemas.openxmlformats.org/drawingml/2006/main">
              <a:ext uri="{FF2B5EF4-FFF2-40B4-BE49-F238E27FC236}">
                <a16:creationId xmlns:a16="http://schemas.microsoft.com/office/drawing/2014/main" id="{E050F34A-8BAA-473D-A58E-1C171A1277A5}"/>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Что показывает отступ</a:t>
            </a:r>
          </a:p>
        </p:txBody>
      </p:sp>
      <p:sp>
        <p:nvSpPr>
          <p:cNvPr id="2" name="text-54">
            <a:extLst xmlns:a="http://schemas.openxmlformats.org/drawingml/2006/main">
              <a:ext uri="{FF2B5EF4-FFF2-40B4-BE49-F238E27FC236}">
                <a16:creationId xmlns:a16="http://schemas.microsoft.com/office/drawing/2014/main" id="{EFE64566-ADCC-42A0-BFBE-168F81DD7B89}"/>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Отступ сравнивает оценку правильного класса с оценкой другого класса</a:t>
            </a:r>
          </a:p>
        </p:txBody>
      </p:sp>
      <p:sp>
        <p:nvSpPr>
          <p:cNvPr id="3" name="">
            <a:extLst xmlns:a="http://schemas.openxmlformats.org/drawingml/2006/main">
              <a:ext uri="{FF2B5EF4-FFF2-40B4-BE49-F238E27FC236}">
                <a16:creationId xmlns:a16="http://schemas.microsoft.com/office/drawing/2014/main" id="{371CB2CC-5947-4CEA-91B1-B3CEA5506FE7}"/>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55">
            <a:extLst xmlns:a="http://schemas.openxmlformats.org/drawingml/2006/main">
              <a:ext uri="{FF2B5EF4-FFF2-40B4-BE49-F238E27FC236}">
                <a16:creationId xmlns:a16="http://schemas.microsoft.com/office/drawing/2014/main" id="{964824BC-FC2E-44C7-B721-214DF765FBDA}"/>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[2]. Правило для эталонов принято в этой работе</a:t>
            </a:r>
          </a:p>
        </p:txBody>
      </p:sp>
      <p:sp>
        <p:nvSpPr>
          <p:cNvPr id="5" name="text-56">
            <a:extLst xmlns:a="http://schemas.openxmlformats.org/drawingml/2006/main">
              <a:ext uri="{FF2B5EF4-FFF2-40B4-BE49-F238E27FC236}">
                <a16:creationId xmlns:a16="http://schemas.microsoft.com/office/drawing/2014/main" id="{1F2F2DFD-4B23-452E-8887-C2DA339CECF8}"/>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08</a:t>
            </a:r>
          </a:p>
        </p:txBody>
      </p:sp>
      <p:sp>
        <p:nvSpPr>
          <p:cNvPr id="6" name="text-57">
            <a:extLst xmlns:a="http://schemas.openxmlformats.org/drawingml/2006/main">
              <a:ext uri="{FF2B5EF4-FFF2-40B4-BE49-F238E27FC236}">
                <a16:creationId xmlns:a16="http://schemas.microsoft.com/office/drawing/2014/main" id="{87047E16-B749-4B01-AD8B-90779536B599}"/>
              </a:ext>
            </a:extLst>
          </p:cNvPr>
          <p:cNvSpPr>
            <a:spLocks xmlns:a="http://schemas.openxmlformats.org/drawingml/2006/main" noGrp="1"/>
          </p:cNvSpPr>
          <p:nvPr/>
        </p:nvSpPr>
        <p:spPr>
          <a:xfrm xmlns:a="http://schemas.openxmlformats.org/drawingml/2006/main">
            <a:off x="571500" y="20859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Из оценки правильного класса вычитаем оценку другого.</a:t>
            </a:r>
          </a:p>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Для эталона берём расстояние с минусом: ближе значит лучше.</a:t>
            </a:r>
          </a:p>
        </p:txBody>
      </p:sp>
      <p:sp>
        <p:nvSpPr>
          <p:cNvPr id="7" name="text-58">
            <a:extLst xmlns:a="http://schemas.openxmlformats.org/drawingml/2006/main">
              <a:ext uri="{FF2B5EF4-FFF2-40B4-BE49-F238E27FC236}">
                <a16:creationId xmlns:a16="http://schemas.microsoft.com/office/drawing/2014/main" id="{3B10745B-086A-46FC-94C3-9BF2DB3674B7}"/>
              </a:ext>
            </a:extLst>
          </p:cNvPr>
          <p:cNvSpPr>
            <a:spLocks xmlns:a="http://schemas.openxmlformats.org/drawingml/2006/main" noGrp="1"/>
          </p:cNvSpPr>
          <p:nvPr/>
        </p:nvSpPr>
        <p:spPr>
          <a:xfrm xmlns:a="http://schemas.openxmlformats.org/drawingml/2006/main">
            <a:off x="571500" y="3152775"/>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1">
                <a:solidFill>
                  <a:srgbClr val="101C32"/>
                </a:solidFill>
                <a:latin typeface="DejaVu Sans"/>
                <a:ea typeface="DejaVu Sans"/>
                <a:cs typeface="DejaVu Sans"/>
              </a:defRPr>
            </a:defPPr>
          </a:lstStyle>
          <a:p xmlns:a="http://schemas.openxmlformats.org/drawingml/2006/main">
            <a:pPr>
              <a:defRPr sz="2475" b="1">
                <a:solidFill>
                  <a:srgbClr val="101C32"/>
                </a:solidFill>
                <a:latin typeface="DejaVu Sans"/>
                <a:ea typeface="DejaVu Sans"/>
                <a:cs typeface="DejaVu Sans"/>
              </a:defRPr>
            </a:pPr>
            <a:r>
              <a:rPr sz="2475" b="1">
                <a:solidFill>
                  <a:srgbClr val="101C32"/>
                </a:solidFill>
                <a:latin typeface="DejaVu Sans"/>
                <a:ea typeface="DejaVu Sans"/>
                <a:cs typeface="DejaVu Sans"/>
              </a:rPr>
              <a:t>отступ = расстояние до чужого − до своего</a:t>
            </a:r>
          </a:p>
        </p:txBody>
      </p:sp>
      <p:graphicFrame>
        <p:nvGraphicFramePr>
          <p:cNvPr id="8" name="">
            <a:extLst xmlns:a="http://schemas.openxmlformats.org/drawingml/2006/main">
              <a:ext uri="{FF2B5EF4-FFF2-40B4-BE49-F238E27FC236}">
                <a16:creationId xmlns:a16="http://schemas.microsoft.com/office/drawing/2014/main" id="{DB606DD7-3C33-4397-A657-DABD89D1D79B}"/>
              </a:ext>
            </a:extLst>
          </p:cNvPr>
          <p:cNvGraphicFramePr/>
          <p:nvPr/>
        </p:nvGraphicFramePr>
        <p:xfrm>
          <a:off xmlns:a="http://schemas.openxmlformats.org/drawingml/2006/main" x="571500" y="4210050"/>
          <a:ext xmlns:a="http://schemas.openxmlformats.org/drawingml/2006/main" cx="11049000" cy="1095375"/>
        </p:xfrm>
        <a:graphic xmlns:a="http://schemas.openxmlformats.org/drawingml/2006/main">
          <a:graphicData uri="http://schemas.openxmlformats.org/drawingml/2006/table">
            <a:tbl>
              <a:tblPr/>
              <a:tblGrid>
                <a:gridCol w="3683000"/>
                <a:gridCol w="3683000"/>
                <a:gridCol w="3683000"/>
              </a:tblGrid>
              <a:tr h="547688">
                <a:tc>
                  <a:txBody>
                    <a:bodyPr lIns="114300" tIns="95250" rIns="95250" bIns="76200"/>
                    <a:lstStyle/>
                    <a:p>
                      <a:r>
                        <a:rPr sz="1875" b="1">
                          <a:solidFill>
                            <a:srgbClr val="FFFFFF"/>
                          </a:solidFill>
                          <a:latin typeface="DejaVu Sans"/>
                          <a:ea typeface="DejaVu Sans"/>
                          <a:cs typeface="DejaVu Sans"/>
                        </a:rPr>
                        <a:t>Положительный</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Нулевой</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Отрицательный</a:t>
                      </a:r>
                    </a:p>
                  </a:txBody>
                  <a:tcPr marL="91440" marR="91440" marT="45720" marB="45720" anchor="ctr">
                    <a:solidFill>
                      <a:srgbClr val="101C32"/>
                    </a:solidFill>
                  </a:tcPr>
                </a:tc>
              </a:tr>
              <a:tr h="547688">
                <a:tc>
                  <a:txBody>
                    <a:bodyPr lIns="114300" tIns="95250" rIns="95250" bIns="76200"/>
                    <a:lstStyle/>
                    <a:p>
                      <a:r>
                        <a:rPr sz="1875" b="0">
                          <a:solidFill>
                            <a:srgbClr val="101C32"/>
                          </a:solidFill>
                          <a:latin typeface="DejaVu Sans"/>
                          <a:ea typeface="DejaVu Sans"/>
                          <a:cs typeface="DejaVu Sans"/>
                        </a:rPr>
                        <a:t>Свой класс ближе</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Расстояния равны</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Чужой класс ближе</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C01DAF30-D572-4767-86D4-08045195B5F4}"/>
              </a:ext>
            </a:extLst>
          </p:cNvPr>
          <p:cNvSpPr>
            <a:spLocks xmlns:a="http://schemas.openxmlformats.org/drawingml/2006/main" noGrp="1"/>
          </p:cNvSpPr>
          <p:nvPr/>
        </p:nvSpPr>
        <p:spPr>
          <a:xfrm xmlns:a="http://schemas.openxmlformats.org/drawingml/2006/main">
            <a:off x="571500" y="564832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0" name="text-59">
            <a:extLst xmlns:a="http://schemas.openxmlformats.org/drawingml/2006/main">
              <a:ext uri="{FF2B5EF4-FFF2-40B4-BE49-F238E27FC236}">
                <a16:creationId xmlns:a16="http://schemas.microsoft.com/office/drawing/2014/main" id="{AAC9E560-9C55-4B2A-AE42-5915D44C8FCB}"/>
              </a:ext>
            </a:extLst>
          </p:cNvPr>
          <p:cNvSpPr>
            <a:spLocks xmlns:a="http://schemas.openxmlformats.org/drawingml/2006/main" noGrp="1"/>
          </p:cNvSpPr>
          <p:nvPr/>
        </p:nvSpPr>
        <p:spPr>
          <a:xfrm xmlns:a="http://schemas.openxmlformats.org/drawingml/2006/main">
            <a:off x="571500" y="581025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Чтобы проверить ответ по знаку отступа, нужен правильный класс</a:t>
            </a:r>
          </a:p>
        </p:txBody>
      </p:sp>
    </p:spTree>
    <p:extLst>
      <p:ext uri="{BB962C8B-B14F-4D97-AF65-F5344CB8AC3E}">
        <p14:creationId xmlns:p14="http://schemas.microsoft.com/office/powerpoint/2010/main" val="1699463626"/>
      </p:ext>
    </p:extLst>
  </p:cSld>
</p:sld>
</file>

<file path=ppt/slides/slide9.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29" name="text-60">
            <a:extLst xmlns:a="http://schemas.openxmlformats.org/drawingml/2006/main">
              <a:ext uri="{FF2B5EF4-FFF2-40B4-BE49-F238E27FC236}">
                <a16:creationId xmlns:a16="http://schemas.microsoft.com/office/drawing/2014/main" id="{6C5CC823-296B-4C94-B1D0-8531AAF99FB8}"/>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Как работает SVM</a:t>
            </a:r>
          </a:p>
        </p:txBody>
      </p:sp>
      <p:sp>
        <p:nvSpPr>
          <p:cNvPr id="2" name="text-61">
            <a:extLst xmlns:a="http://schemas.openxmlformats.org/drawingml/2006/main">
              <a:ext uri="{FF2B5EF4-FFF2-40B4-BE49-F238E27FC236}">
                <a16:creationId xmlns:a16="http://schemas.microsoft.com/office/drawing/2014/main" id="{88F18209-140C-4082-92EA-F68B647D8C9E}"/>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Линейная SVM (метод опорных векторов) строит границу в виде прямой.</a:t>
            </a:r>
          </a:p>
        </p:txBody>
      </p:sp>
      <p:sp>
        <p:nvSpPr>
          <p:cNvPr id="3" name="">
            <a:extLst xmlns:a="http://schemas.openxmlformats.org/drawingml/2006/main">
              <a:ext uri="{FF2B5EF4-FFF2-40B4-BE49-F238E27FC236}">
                <a16:creationId xmlns:a16="http://schemas.microsoft.com/office/drawing/2014/main" id="{6DCE5FC6-E6EE-405E-82E5-1C02DFE0B2F6}"/>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62">
            <a:extLst xmlns:a="http://schemas.openxmlformats.org/drawingml/2006/main">
              <a:ext uri="{FF2B5EF4-FFF2-40B4-BE49-F238E27FC236}">
                <a16:creationId xmlns:a16="http://schemas.microsoft.com/office/drawing/2014/main" id="{62BA356F-C004-4484-B2DF-AF1A72D817EB}"/>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[1, 2, 5]</a:t>
            </a:r>
          </a:p>
        </p:txBody>
      </p:sp>
      <p:sp>
        <p:nvSpPr>
          <p:cNvPr id="5" name="text-63">
            <a:extLst xmlns:a="http://schemas.openxmlformats.org/drawingml/2006/main">
              <a:ext uri="{FF2B5EF4-FFF2-40B4-BE49-F238E27FC236}">
                <a16:creationId xmlns:a16="http://schemas.microsoft.com/office/drawing/2014/main" id="{BB2D785B-DFD7-4022-B8B8-654BC20938C9}"/>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09</a:t>
            </a:r>
          </a:p>
        </p:txBody>
      </p:sp>
      <p:sp>
        <p:nvSpPr>
          <p:cNvPr id="6" name="">
            <a:extLst xmlns:a="http://schemas.openxmlformats.org/drawingml/2006/main">
              <a:ext uri="{FF2B5EF4-FFF2-40B4-BE49-F238E27FC236}">
                <a16:creationId xmlns:a16="http://schemas.microsoft.com/office/drawing/2014/main" id="{A6177701-3E16-498D-AB11-D92B80543F24}"/>
              </a:ext>
            </a:extLst>
          </p:cNvPr>
          <p:cNvSpPr>
            <a:spLocks xmlns:a="http://schemas.openxmlformats.org/drawingml/2006/main" noGrp="1"/>
          </p:cNvSpPr>
          <p:nvPr/>
        </p:nvSpPr>
        <p:spPr>
          <a:xfrm xmlns:a="http://schemas.openxmlformats.org/drawingml/2006/main">
            <a:off x="857250" y="5238750"/>
            <a:ext cx="5715000" cy="9525"/>
          </a:xfrm>
          <a:custGeom xmlns:a="http://schemas.openxmlformats.org/drawingml/2006/main">
            <a:pathLst>
              <a:path w="5715000" h="9525">
                <a:moveTo>
                  <a:pt x="0" y="0"/>
                </a:moveTo>
                <a:lnTo>
                  <a:pt x="5715000" y="0"/>
                </a:lnTo>
              </a:path>
            </a:pathLst>
          </a:custGeom>
          <a:noFill xmlns:a="http://schemas.openxmlformats.org/drawingml/2006/main"/>
          <a:ln xmlns:a="http://schemas.openxmlformats.org/drawingml/2006/main" w="19050">
            <a:solidFill>
              <a:srgbClr val="536377"/>
            </a:solidFill>
            <a:prstDash val="solid"/>
          </a:ln>
        </p:spPr>
      </p:sp>
      <p:sp>
        <p:nvSpPr>
          <p:cNvPr id="7" name="">
            <a:extLst xmlns:a="http://schemas.openxmlformats.org/drawingml/2006/main">
              <a:ext uri="{FF2B5EF4-FFF2-40B4-BE49-F238E27FC236}">
                <a16:creationId xmlns:a16="http://schemas.microsoft.com/office/drawing/2014/main" id="{9F24C2CC-DF27-4589-9A3D-C51EDF1D1680}"/>
              </a:ext>
            </a:extLst>
          </p:cNvPr>
          <p:cNvSpPr>
            <a:spLocks xmlns:a="http://schemas.openxmlformats.org/drawingml/2006/main" noGrp="1"/>
          </p:cNvSpPr>
          <p:nvPr/>
        </p:nvSpPr>
        <p:spPr>
          <a:xfrm xmlns:a="http://schemas.openxmlformats.org/drawingml/2006/main">
            <a:off x="857250" y="2190750"/>
            <a:ext cx="9525" cy="3048000"/>
          </a:xfrm>
          <a:custGeom xmlns:a="http://schemas.openxmlformats.org/drawingml/2006/main">
            <a:pathLst>
              <a:path w="9525" h="3048000">
                <a:moveTo>
                  <a:pt x="0" y="3048000"/>
                </a:moveTo>
                <a:lnTo>
                  <a:pt x="0" y="0"/>
                </a:lnTo>
              </a:path>
            </a:pathLst>
          </a:custGeom>
          <a:noFill xmlns:a="http://schemas.openxmlformats.org/drawingml/2006/main"/>
          <a:ln xmlns:a="http://schemas.openxmlformats.org/drawingml/2006/main" w="19050">
            <a:solidFill>
              <a:srgbClr val="536377"/>
            </a:solidFill>
            <a:prstDash val="solid"/>
          </a:ln>
        </p:spPr>
      </p:sp>
      <p:sp>
        <p:nvSpPr>
          <p:cNvPr id="8" name="text-64">
            <a:extLst xmlns:a="http://schemas.openxmlformats.org/drawingml/2006/main">
              <a:ext uri="{FF2B5EF4-FFF2-40B4-BE49-F238E27FC236}">
                <a16:creationId xmlns:a16="http://schemas.microsoft.com/office/drawing/2014/main" id="{C84DC534-DA48-4920-B60B-9B7B5CC69EF1}"/>
              </a:ext>
            </a:extLst>
          </p:cNvPr>
          <p:cNvSpPr>
            <a:spLocks xmlns:a="http://schemas.openxmlformats.org/drawingml/2006/main" noGrp="1"/>
          </p:cNvSpPr>
          <p:nvPr/>
        </p:nvSpPr>
        <p:spPr>
          <a:xfrm xmlns:a="http://schemas.openxmlformats.org/drawingml/2006/main">
            <a:off x="3048000" y="542925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Признак 1</a:t>
            </a:r>
          </a:p>
        </p:txBody>
      </p:sp>
      <p:sp>
        <p:nvSpPr>
          <p:cNvPr id="9" name="text-65">
            <a:extLst xmlns:a="http://schemas.openxmlformats.org/drawingml/2006/main">
              <a:ext uri="{FF2B5EF4-FFF2-40B4-BE49-F238E27FC236}">
                <a16:creationId xmlns:a16="http://schemas.microsoft.com/office/drawing/2014/main" id="{EC119A55-96E9-4861-A65E-DEBB6A52C686}"/>
              </a:ext>
            </a:extLst>
          </p:cNvPr>
          <p:cNvSpPr>
            <a:spLocks xmlns:a="http://schemas.openxmlformats.org/drawingml/2006/main" noGrp="1"/>
          </p:cNvSpPr>
          <p:nvPr/>
        </p:nvSpPr>
        <p:spPr>
          <a:xfrm xmlns:a="http://schemas.openxmlformats.org/drawingml/2006/main">
            <a:off x="857250" y="183832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Признак 2</a:t>
            </a:r>
          </a:p>
        </p:txBody>
      </p:sp>
      <p:sp>
        <p:nvSpPr>
          <p:cNvPr id="10" name="">
            <a:extLst xmlns:a="http://schemas.openxmlformats.org/drawingml/2006/main">
              <a:ext uri="{FF2B5EF4-FFF2-40B4-BE49-F238E27FC236}">
                <a16:creationId xmlns:a16="http://schemas.microsoft.com/office/drawing/2014/main" id="{9BD90537-006B-4F51-A09B-559103779547}"/>
              </a:ext>
            </a:extLst>
          </p:cNvPr>
          <p:cNvSpPr>
            <a:spLocks xmlns:a="http://schemas.openxmlformats.org/drawingml/2006/main" noGrp="1"/>
          </p:cNvSpPr>
          <p:nvPr/>
        </p:nvSpPr>
        <p:spPr>
          <a:xfrm xmlns:a="http://schemas.openxmlformats.org/drawingml/2006/main">
            <a:off x="2905125" y="2190750"/>
            <a:ext cx="2190750" cy="3048000"/>
          </a:xfrm>
          <a:custGeom xmlns:a="http://schemas.openxmlformats.org/drawingml/2006/main">
            <a:pathLst>
              <a:path w="2190750" h="3048000">
                <a:moveTo>
                  <a:pt x="0" y="3048000"/>
                </a:moveTo>
                <a:lnTo>
                  <a:pt x="2190750" y="0"/>
                </a:lnTo>
              </a:path>
            </a:pathLst>
          </a:custGeom>
          <a:noFill xmlns:a="http://schemas.openxmlformats.org/drawingml/2006/main"/>
          <a:ln xmlns:a="http://schemas.openxmlformats.org/drawingml/2006/main" w="28575">
            <a:solidFill>
              <a:srgbClr val="101C32"/>
            </a:solidFill>
            <a:prstDash val="solid"/>
          </a:ln>
        </p:spPr>
      </p:sp>
      <p:sp>
        <p:nvSpPr>
          <p:cNvPr id="11" name="">
            <a:extLst xmlns:a="http://schemas.openxmlformats.org/drawingml/2006/main">
              <a:ext uri="{FF2B5EF4-FFF2-40B4-BE49-F238E27FC236}">
                <a16:creationId xmlns:a16="http://schemas.microsoft.com/office/drawing/2014/main" id="{356AC33A-A99B-48F8-9778-BA861A1BFBE1}"/>
              </a:ext>
            </a:extLst>
          </p:cNvPr>
          <p:cNvSpPr>
            <a:spLocks xmlns:a="http://schemas.openxmlformats.org/drawingml/2006/main" noGrp="1"/>
          </p:cNvSpPr>
          <p:nvPr/>
        </p:nvSpPr>
        <p:spPr>
          <a:xfrm xmlns:a="http://schemas.openxmlformats.org/drawingml/2006/main">
            <a:off x="1390650" y="429577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2" name="">
            <a:extLst xmlns:a="http://schemas.openxmlformats.org/drawingml/2006/main">
              <a:ext uri="{FF2B5EF4-FFF2-40B4-BE49-F238E27FC236}">
                <a16:creationId xmlns:a16="http://schemas.microsoft.com/office/drawing/2014/main" id="{7395419B-0308-4C5D-8BCA-7ECF8860C3EC}"/>
              </a:ext>
            </a:extLst>
          </p:cNvPr>
          <p:cNvSpPr>
            <a:spLocks xmlns:a="http://schemas.openxmlformats.org/drawingml/2006/main" noGrp="1"/>
          </p:cNvSpPr>
          <p:nvPr/>
        </p:nvSpPr>
        <p:spPr>
          <a:xfrm xmlns:a="http://schemas.openxmlformats.org/drawingml/2006/main">
            <a:off x="1724025" y="315277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3" name="">
            <a:extLst xmlns:a="http://schemas.openxmlformats.org/drawingml/2006/main">
              <a:ext uri="{FF2B5EF4-FFF2-40B4-BE49-F238E27FC236}">
                <a16:creationId xmlns:a16="http://schemas.microsoft.com/office/drawing/2014/main" id="{BBC2C4A7-D498-4B97-8BB4-58816496C768}"/>
              </a:ext>
            </a:extLst>
          </p:cNvPr>
          <p:cNvSpPr>
            <a:spLocks xmlns:a="http://schemas.openxmlformats.org/drawingml/2006/main" noGrp="1"/>
          </p:cNvSpPr>
          <p:nvPr/>
        </p:nvSpPr>
        <p:spPr>
          <a:xfrm xmlns:a="http://schemas.openxmlformats.org/drawingml/2006/main">
            <a:off x="2009775" y="372427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4" name="">
            <a:extLst xmlns:a="http://schemas.openxmlformats.org/drawingml/2006/main">
              <a:ext uri="{FF2B5EF4-FFF2-40B4-BE49-F238E27FC236}">
                <a16:creationId xmlns:a16="http://schemas.microsoft.com/office/drawing/2014/main" id="{18A23945-B556-4EE1-B5ED-42587337F280}"/>
              </a:ext>
            </a:extLst>
          </p:cNvPr>
          <p:cNvSpPr>
            <a:spLocks xmlns:a="http://schemas.openxmlformats.org/drawingml/2006/main" noGrp="1"/>
          </p:cNvSpPr>
          <p:nvPr/>
        </p:nvSpPr>
        <p:spPr>
          <a:xfrm xmlns:a="http://schemas.openxmlformats.org/drawingml/2006/main">
            <a:off x="2486025" y="286702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5" name="">
            <a:extLst xmlns:a="http://schemas.openxmlformats.org/drawingml/2006/main">
              <a:ext uri="{FF2B5EF4-FFF2-40B4-BE49-F238E27FC236}">
                <a16:creationId xmlns:a16="http://schemas.microsoft.com/office/drawing/2014/main" id="{3D6E724B-09F4-40C3-993F-D4C7E9712197}"/>
              </a:ext>
            </a:extLst>
          </p:cNvPr>
          <p:cNvSpPr>
            <a:spLocks xmlns:a="http://schemas.openxmlformats.org/drawingml/2006/main" noGrp="1"/>
          </p:cNvSpPr>
          <p:nvPr/>
        </p:nvSpPr>
        <p:spPr>
          <a:xfrm xmlns:a="http://schemas.openxmlformats.org/drawingml/2006/main">
            <a:off x="2700338" y="439102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6" name="">
            <a:extLst xmlns:a="http://schemas.openxmlformats.org/drawingml/2006/main">
              <a:ext uri="{FF2B5EF4-FFF2-40B4-BE49-F238E27FC236}">
                <a16:creationId xmlns:a16="http://schemas.microsoft.com/office/drawing/2014/main" id="{DC8FE551-48BC-494C-A7FA-BD1D6E21C059}"/>
              </a:ext>
            </a:extLst>
          </p:cNvPr>
          <p:cNvSpPr>
            <a:spLocks xmlns:a="http://schemas.openxmlformats.org/drawingml/2006/main" noGrp="1"/>
          </p:cNvSpPr>
          <p:nvPr/>
        </p:nvSpPr>
        <p:spPr>
          <a:xfrm xmlns:a="http://schemas.openxmlformats.org/drawingml/2006/main">
            <a:off x="3105150" y="248602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7" name="">
            <a:extLst xmlns:a="http://schemas.openxmlformats.org/drawingml/2006/main">
              <a:ext uri="{FF2B5EF4-FFF2-40B4-BE49-F238E27FC236}">
                <a16:creationId xmlns:a16="http://schemas.microsoft.com/office/drawing/2014/main" id="{E9E505F0-3A79-4E21-ADE1-4CCE153BDF8C}"/>
              </a:ext>
            </a:extLst>
          </p:cNvPr>
          <p:cNvSpPr>
            <a:spLocks xmlns:a="http://schemas.openxmlformats.org/drawingml/2006/main" noGrp="1"/>
          </p:cNvSpPr>
          <p:nvPr/>
        </p:nvSpPr>
        <p:spPr>
          <a:xfrm xmlns:a="http://schemas.openxmlformats.org/drawingml/2006/main">
            <a:off x="3965377" y="4486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18" name="">
            <a:extLst xmlns:a="http://schemas.openxmlformats.org/drawingml/2006/main">
              <a:ext uri="{FF2B5EF4-FFF2-40B4-BE49-F238E27FC236}">
                <a16:creationId xmlns:a16="http://schemas.microsoft.com/office/drawing/2014/main" id="{C4AD2822-C376-47F6-A0A2-51CD155DE1BB}"/>
              </a:ext>
            </a:extLst>
          </p:cNvPr>
          <p:cNvSpPr>
            <a:spLocks xmlns:a="http://schemas.openxmlformats.org/drawingml/2006/main" noGrp="1"/>
          </p:cNvSpPr>
          <p:nvPr/>
        </p:nvSpPr>
        <p:spPr>
          <a:xfrm xmlns:a="http://schemas.openxmlformats.org/drawingml/2006/main">
            <a:off x="4867275" y="3724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19" name="">
            <a:extLst xmlns:a="http://schemas.openxmlformats.org/drawingml/2006/main">
              <a:ext uri="{FF2B5EF4-FFF2-40B4-BE49-F238E27FC236}">
                <a16:creationId xmlns:a16="http://schemas.microsoft.com/office/drawing/2014/main" id="{A6BF4B8A-3221-4068-A09D-FFAB563B99A3}"/>
              </a:ext>
            </a:extLst>
          </p:cNvPr>
          <p:cNvSpPr>
            <a:spLocks xmlns:a="http://schemas.openxmlformats.org/drawingml/2006/main" noGrp="1"/>
          </p:cNvSpPr>
          <p:nvPr/>
        </p:nvSpPr>
        <p:spPr>
          <a:xfrm xmlns:a="http://schemas.openxmlformats.org/drawingml/2006/main">
            <a:off x="5486400" y="3343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0" name="">
            <a:extLst xmlns:a="http://schemas.openxmlformats.org/drawingml/2006/main">
              <a:ext uri="{FF2B5EF4-FFF2-40B4-BE49-F238E27FC236}">
                <a16:creationId xmlns:a16="http://schemas.microsoft.com/office/drawing/2014/main" id="{2A8940DA-054A-4207-99AD-8538D7341EA5}"/>
              </a:ext>
            </a:extLst>
          </p:cNvPr>
          <p:cNvSpPr>
            <a:spLocks xmlns:a="http://schemas.openxmlformats.org/drawingml/2006/main" noGrp="1"/>
          </p:cNvSpPr>
          <p:nvPr/>
        </p:nvSpPr>
        <p:spPr>
          <a:xfrm xmlns:a="http://schemas.openxmlformats.org/drawingml/2006/main">
            <a:off x="5819775" y="248602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1" name="">
            <a:extLst xmlns:a="http://schemas.openxmlformats.org/drawingml/2006/main">
              <a:ext uri="{FF2B5EF4-FFF2-40B4-BE49-F238E27FC236}">
                <a16:creationId xmlns:a16="http://schemas.microsoft.com/office/drawing/2014/main" id="{1D9401D3-2119-48C5-8151-416BC078AC08}"/>
              </a:ext>
            </a:extLst>
          </p:cNvPr>
          <p:cNvSpPr>
            <a:spLocks xmlns:a="http://schemas.openxmlformats.org/drawingml/2006/main" noGrp="1"/>
          </p:cNvSpPr>
          <p:nvPr/>
        </p:nvSpPr>
        <p:spPr>
          <a:xfrm xmlns:a="http://schemas.openxmlformats.org/drawingml/2006/main">
            <a:off x="6105525" y="4105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2" name="">
            <a:extLst xmlns:a="http://schemas.openxmlformats.org/drawingml/2006/main">
              <a:ext uri="{FF2B5EF4-FFF2-40B4-BE49-F238E27FC236}">
                <a16:creationId xmlns:a16="http://schemas.microsoft.com/office/drawing/2014/main" id="{0E5CC31E-C885-4ED0-8FF3-85738143217D}"/>
              </a:ext>
            </a:extLst>
          </p:cNvPr>
          <p:cNvSpPr>
            <a:spLocks xmlns:a="http://schemas.openxmlformats.org/drawingml/2006/main" noGrp="1"/>
          </p:cNvSpPr>
          <p:nvPr/>
        </p:nvSpPr>
        <p:spPr>
          <a:xfrm xmlns:a="http://schemas.openxmlformats.org/drawingml/2006/main">
            <a:off x="5153025" y="4914900"/>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3" name="text-66">
            <a:extLst xmlns:a="http://schemas.openxmlformats.org/drawingml/2006/main">
              <a:ext uri="{FF2B5EF4-FFF2-40B4-BE49-F238E27FC236}">
                <a16:creationId xmlns:a16="http://schemas.microsoft.com/office/drawing/2014/main" id="{4CD057BE-782A-47F6-BB69-1EA5887A90B1}"/>
              </a:ext>
            </a:extLst>
          </p:cNvPr>
          <p:cNvSpPr>
            <a:spLocks xmlns:a="http://schemas.openxmlformats.org/drawingml/2006/main" noGrp="1"/>
          </p:cNvSpPr>
          <p:nvPr/>
        </p:nvSpPr>
        <p:spPr>
          <a:xfrm xmlns:a="http://schemas.openxmlformats.org/drawingml/2006/main">
            <a:off x="1047750" y="5619750"/>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008C95"/>
                </a:solidFill>
                <a:latin typeface="DejaVu Sans"/>
                <a:ea typeface="DejaVu Sans"/>
                <a:cs typeface="DejaVu Sans"/>
              </a:defRPr>
            </a:defPPr>
          </a:lstStyle>
          <a:p xmlns:a="http://schemas.openxmlformats.org/drawingml/2006/main">
            <a:pPr>
              <a:defRPr sz="1650" b="1">
                <a:solidFill>
                  <a:srgbClr val="008C95"/>
                </a:solidFill>
                <a:latin typeface="DejaVu Sans"/>
                <a:ea typeface="DejaVu Sans"/>
                <a:cs typeface="DejaVu Sans"/>
              </a:defRPr>
            </a:pPr>
            <a:r>
              <a:rPr sz="1650" b="1">
                <a:solidFill>
                  <a:srgbClr val="008C95"/>
                </a:solidFill>
                <a:latin typeface="DejaVu Sans"/>
                <a:ea typeface="DejaVu Sans"/>
                <a:cs typeface="DejaVu Sans"/>
              </a:rPr>
              <a:t>Класс 1</a:t>
            </a:r>
          </a:p>
        </p:txBody>
      </p:sp>
      <p:sp>
        <p:nvSpPr>
          <p:cNvPr id="24" name="text-67">
            <a:extLst xmlns:a="http://schemas.openxmlformats.org/drawingml/2006/main">
              <a:ext uri="{FF2B5EF4-FFF2-40B4-BE49-F238E27FC236}">
                <a16:creationId xmlns:a16="http://schemas.microsoft.com/office/drawing/2014/main" id="{ACDC7C7B-6394-4EC3-82BA-9B88685CE17A}"/>
              </a:ext>
            </a:extLst>
          </p:cNvPr>
          <p:cNvSpPr>
            <a:spLocks xmlns:a="http://schemas.openxmlformats.org/drawingml/2006/main" noGrp="1"/>
          </p:cNvSpPr>
          <p:nvPr/>
        </p:nvSpPr>
        <p:spPr>
          <a:xfrm xmlns:a="http://schemas.openxmlformats.org/drawingml/2006/main">
            <a:off x="4191000" y="5619750"/>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E85555"/>
                </a:solidFill>
                <a:latin typeface="DejaVu Sans"/>
                <a:ea typeface="DejaVu Sans"/>
                <a:cs typeface="DejaVu Sans"/>
              </a:defRPr>
            </a:defPPr>
          </a:lstStyle>
          <a:p xmlns:a="http://schemas.openxmlformats.org/drawingml/2006/main">
            <a:pPr>
              <a:defRPr sz="1650" b="1">
                <a:solidFill>
                  <a:srgbClr val="E85555"/>
                </a:solidFill>
                <a:latin typeface="DejaVu Sans"/>
                <a:ea typeface="DejaVu Sans"/>
                <a:cs typeface="DejaVu Sans"/>
              </a:defRPr>
            </a:pPr>
            <a:r>
              <a:rPr sz="1650" b="1">
                <a:solidFill>
                  <a:srgbClr val="E85555"/>
                </a:solidFill>
                <a:latin typeface="DejaVu Sans"/>
                <a:ea typeface="DejaVu Sans"/>
                <a:cs typeface="DejaVu Sans"/>
              </a:rPr>
              <a:t>Класс 2</a:t>
            </a:r>
          </a:p>
        </p:txBody>
      </p:sp>
      <p:sp>
        <p:nvSpPr>
          <p:cNvPr id="25" name="text-68">
            <a:extLst xmlns:a="http://schemas.openxmlformats.org/drawingml/2006/main">
              <a:ext uri="{FF2B5EF4-FFF2-40B4-BE49-F238E27FC236}">
                <a16:creationId xmlns:a16="http://schemas.microsoft.com/office/drawing/2014/main" id="{A276E459-9BE0-41ED-9F52-24BFD3C2AD4F}"/>
              </a:ext>
            </a:extLst>
          </p:cNvPr>
          <p:cNvSpPr>
            <a:spLocks xmlns:a="http://schemas.openxmlformats.org/drawingml/2006/main" noGrp="1"/>
          </p:cNvSpPr>
          <p:nvPr/>
        </p:nvSpPr>
        <p:spPr>
          <a:xfrm xmlns:a="http://schemas.openxmlformats.org/drawingml/2006/main">
            <a:off x="7143750" y="2171700"/>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01C32"/>
                </a:solidFill>
                <a:latin typeface="DejaVu Sans"/>
                <a:ea typeface="DejaVu Sans"/>
                <a:cs typeface="DejaVu Sans"/>
              </a:defRPr>
            </a:defPPr>
          </a:lstStyle>
          <a:p xmlns:a="http://schemas.openxmlformats.org/drawingml/2006/main">
            <a:pPr>
              <a:defRPr sz="2250" b="1">
                <a:solidFill>
                  <a:srgbClr val="101C32"/>
                </a:solidFill>
                <a:latin typeface="DejaVu Sans"/>
                <a:ea typeface="DejaVu Sans"/>
                <a:cs typeface="DejaVu Sans"/>
              </a:defRPr>
            </a:pPr>
            <a:r>
              <a:rPr sz="2250" b="1">
                <a:solidFill>
                  <a:srgbClr val="101C32"/>
                </a:solidFill>
                <a:latin typeface="DejaVu Sans"/>
                <a:ea typeface="DejaVu Sans"/>
                <a:cs typeface="DejaVu Sans"/>
              </a:rPr>
              <a:t>Граница решения</a:t>
            </a:r>
          </a:p>
        </p:txBody>
      </p:sp>
      <p:sp>
        <p:nvSpPr>
          <p:cNvPr id="26" name="text-69">
            <a:extLst xmlns:a="http://schemas.openxmlformats.org/drawingml/2006/main">
              <a:ext uri="{FF2B5EF4-FFF2-40B4-BE49-F238E27FC236}">
                <a16:creationId xmlns:a16="http://schemas.microsoft.com/office/drawing/2014/main" id="{63192E8A-3165-4198-BD16-BC35152A56BC}"/>
              </a:ext>
            </a:extLst>
          </p:cNvPr>
          <p:cNvSpPr>
            <a:spLocks xmlns:a="http://schemas.openxmlformats.org/drawingml/2006/main" noGrp="1"/>
          </p:cNvSpPr>
          <p:nvPr/>
        </p:nvSpPr>
        <p:spPr>
          <a:xfrm xmlns:a="http://schemas.openxmlformats.org/drawingml/2006/main">
            <a:off x="7143750" y="2714625"/>
            <a:ext cx="428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При переходе через неё</a:t>
            </a:r>
          </a:p>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меняется ответ модели.</a:t>
            </a:r>
          </a:p>
        </p:txBody>
      </p:sp>
      <p:sp>
        <p:nvSpPr>
          <p:cNvPr id="27" name="text-70">
            <a:extLst xmlns:a="http://schemas.openxmlformats.org/drawingml/2006/main">
              <a:ext uri="{FF2B5EF4-FFF2-40B4-BE49-F238E27FC236}">
                <a16:creationId xmlns:a16="http://schemas.microsoft.com/office/drawing/2014/main" id="{B25F19E1-0D27-4877-A01B-D74EC3C9E7B7}"/>
              </a:ext>
            </a:extLst>
          </p:cNvPr>
          <p:cNvSpPr>
            <a:spLocks xmlns:a="http://schemas.openxmlformats.org/drawingml/2006/main" noGrp="1"/>
          </p:cNvSpPr>
          <p:nvPr/>
        </p:nvSpPr>
        <p:spPr>
          <a:xfrm xmlns:a="http://schemas.openxmlformats.org/drawingml/2006/main">
            <a:off x="7143750" y="3724275"/>
            <a:ext cx="42862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Модель вычисляет число f.</a:t>
            </a:r>
          </a:p>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По его знаку выбираем класс.</a:t>
            </a:r>
          </a:p>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На границе f = 0.</a:t>
            </a:r>
          </a:p>
        </p:txBody>
      </p:sp>
      <p:sp>
        <p:nvSpPr>
          <p:cNvPr id="28" name="text-71">
            <a:extLst xmlns:a="http://schemas.openxmlformats.org/drawingml/2006/main">
              <a:ext uri="{FF2B5EF4-FFF2-40B4-BE49-F238E27FC236}">
                <a16:creationId xmlns:a16="http://schemas.microsoft.com/office/drawing/2014/main" id="{129B91F8-8B43-4133-A817-B12A9746D799}"/>
              </a:ext>
            </a:extLst>
          </p:cNvPr>
          <p:cNvSpPr>
            <a:spLocks xmlns:a="http://schemas.openxmlformats.org/drawingml/2006/main" noGrp="1"/>
          </p:cNvSpPr>
          <p:nvPr/>
        </p:nvSpPr>
        <p:spPr>
          <a:xfrm xmlns:a="http://schemas.openxmlformats.org/drawingml/2006/main">
            <a:off x="7143750" y="5257800"/>
            <a:ext cx="42862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008C95"/>
                </a:solidFill>
                <a:latin typeface="DejaVu Sans"/>
                <a:ea typeface="DejaVu Sans"/>
                <a:cs typeface="DejaVu Sans"/>
              </a:defRPr>
            </a:defPPr>
          </a:lstStyle>
          <a:p xmlns:a="http://schemas.openxmlformats.org/drawingml/2006/main">
            <a:pPr>
              <a:defRPr sz="1800" b="1">
                <a:solidFill>
                  <a:srgbClr val="008C95"/>
                </a:solidFill>
                <a:latin typeface="DejaVu Sans"/>
                <a:ea typeface="DejaVu Sans"/>
                <a:cs typeface="DejaVu Sans"/>
              </a:defRPr>
            </a:pPr>
            <a:r>
              <a:rPr sz="1800" b="1">
                <a:solidFill>
                  <a:srgbClr val="008C95"/>
                </a:solidFill>
                <a:latin typeface="DejaVu Sans"/>
                <a:ea typeface="DejaVu Sans"/>
                <a:cs typeface="DejaVu Sans"/>
              </a:rPr>
              <a:t>Для обучения SVM используем</a:t>
            </a:r>
          </a:p>
          <a:p xmlns:a="http://schemas.openxmlformats.org/drawingml/2006/main">
            <a:pPr>
              <a:defRPr sz="1800" b="1">
                <a:solidFill>
                  <a:srgbClr val="008C95"/>
                </a:solidFill>
                <a:latin typeface="DejaVu Sans"/>
                <a:ea typeface="DejaVu Sans"/>
                <a:cs typeface="DejaVu Sans"/>
              </a:defRPr>
            </a:pPr>
            <a:r>
              <a:rPr sz="1800" b="1">
                <a:solidFill>
                  <a:srgbClr val="008C95"/>
                </a:solidFill>
                <a:latin typeface="DejaVu Sans"/>
                <a:ea typeface="DejaVu Sans"/>
                <a:cs typeface="DejaVu Sans"/>
              </a:rPr>
              <a:t>все обучающие примеры.</a:t>
            </a:r>
          </a:p>
        </p:txBody>
      </p:sp>
    </p:spTree>
    <p:extLst>
      <p:ext uri="{BB962C8B-B14F-4D97-AF65-F5344CB8AC3E}">
        <p14:creationId xmlns:p14="http://schemas.microsoft.com/office/powerpoint/2010/main" val="1788882710"/>
      </p:ext>
    </p:extLst>
  </p:cSld>
</p:sld>
</file>

<file path=ppt/slides/slide10.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37" name="text-72">
            <a:extLst xmlns:a="http://schemas.openxmlformats.org/drawingml/2006/main">
              <a:ext uri="{FF2B5EF4-FFF2-40B4-BE49-F238E27FC236}">
                <a16:creationId xmlns:a16="http://schemas.microsoft.com/office/drawing/2014/main" id="{437E29FB-F59A-4E83-97A2-2AB1E9DB0C00}"/>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Зачем SVM нужен мягкий зазор</a:t>
            </a:r>
          </a:p>
        </p:txBody>
      </p:sp>
      <p:sp>
        <p:nvSpPr>
          <p:cNvPr id="2" name="text-73">
            <a:extLst xmlns:a="http://schemas.openxmlformats.org/drawingml/2006/main">
              <a:ext uri="{FF2B5EF4-FFF2-40B4-BE49-F238E27FC236}">
                <a16:creationId xmlns:a16="http://schemas.microsoft.com/office/drawing/2014/main" id="{9DD8DE9A-7C2C-44EE-BD36-47ACB7DC6AD1}"/>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Полосу вокруг границы называют зазором. SVM стремится сделать её широкой.</a:t>
            </a:r>
          </a:p>
        </p:txBody>
      </p:sp>
      <p:sp>
        <p:nvSpPr>
          <p:cNvPr id="3" name="">
            <a:extLst xmlns:a="http://schemas.openxmlformats.org/drawingml/2006/main">
              <a:ext uri="{FF2B5EF4-FFF2-40B4-BE49-F238E27FC236}">
                <a16:creationId xmlns:a16="http://schemas.microsoft.com/office/drawing/2014/main" id="{C3AF34C2-24B5-4C28-8238-822FADB0C7F3}"/>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74">
            <a:extLst xmlns:a="http://schemas.openxmlformats.org/drawingml/2006/main">
              <a:ext uri="{FF2B5EF4-FFF2-40B4-BE49-F238E27FC236}">
                <a16:creationId xmlns:a16="http://schemas.microsoft.com/office/drawing/2014/main" id="{27A8A751-A70D-4BB3-955F-010AE1C8E910}"/>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[1, 2, 5]</a:t>
            </a:r>
          </a:p>
        </p:txBody>
      </p:sp>
      <p:sp>
        <p:nvSpPr>
          <p:cNvPr id="5" name="text-75">
            <a:extLst xmlns:a="http://schemas.openxmlformats.org/drawingml/2006/main">
              <a:ext uri="{FF2B5EF4-FFF2-40B4-BE49-F238E27FC236}">
                <a16:creationId xmlns:a16="http://schemas.microsoft.com/office/drawing/2014/main" id="{B44E5B3C-DEAC-4DB1-9493-325B44241AD4}"/>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10</a:t>
            </a:r>
          </a:p>
        </p:txBody>
      </p:sp>
      <p:sp>
        <p:nvSpPr>
          <p:cNvPr id="6" name="">
            <a:extLst xmlns:a="http://schemas.openxmlformats.org/drawingml/2006/main">
              <a:ext uri="{FF2B5EF4-FFF2-40B4-BE49-F238E27FC236}">
                <a16:creationId xmlns:a16="http://schemas.microsoft.com/office/drawing/2014/main" id="{AF4560F2-3E8B-466D-9808-96A238429057}"/>
              </a:ext>
            </a:extLst>
          </p:cNvPr>
          <p:cNvSpPr>
            <a:spLocks xmlns:a="http://schemas.openxmlformats.org/drawingml/2006/main" noGrp="1"/>
          </p:cNvSpPr>
          <p:nvPr/>
        </p:nvSpPr>
        <p:spPr>
          <a:xfrm xmlns:a="http://schemas.openxmlformats.org/drawingml/2006/main">
            <a:off x="857250" y="5238750"/>
            <a:ext cx="5715000" cy="9525"/>
          </a:xfrm>
          <a:custGeom xmlns:a="http://schemas.openxmlformats.org/drawingml/2006/main">
            <a:pathLst>
              <a:path w="5715000" h="9525">
                <a:moveTo>
                  <a:pt x="0" y="0"/>
                </a:moveTo>
                <a:lnTo>
                  <a:pt x="5715000" y="0"/>
                </a:lnTo>
              </a:path>
            </a:pathLst>
          </a:custGeom>
          <a:noFill xmlns:a="http://schemas.openxmlformats.org/drawingml/2006/main"/>
          <a:ln xmlns:a="http://schemas.openxmlformats.org/drawingml/2006/main" w="19050">
            <a:solidFill>
              <a:srgbClr val="536377"/>
            </a:solidFill>
            <a:prstDash val="solid"/>
          </a:ln>
        </p:spPr>
      </p:sp>
      <p:sp>
        <p:nvSpPr>
          <p:cNvPr id="7" name="">
            <a:extLst xmlns:a="http://schemas.openxmlformats.org/drawingml/2006/main">
              <a:ext uri="{FF2B5EF4-FFF2-40B4-BE49-F238E27FC236}">
                <a16:creationId xmlns:a16="http://schemas.microsoft.com/office/drawing/2014/main" id="{193B1EDE-A661-4507-8A28-953FA567F349}"/>
              </a:ext>
            </a:extLst>
          </p:cNvPr>
          <p:cNvSpPr>
            <a:spLocks xmlns:a="http://schemas.openxmlformats.org/drawingml/2006/main" noGrp="1"/>
          </p:cNvSpPr>
          <p:nvPr/>
        </p:nvSpPr>
        <p:spPr>
          <a:xfrm xmlns:a="http://schemas.openxmlformats.org/drawingml/2006/main">
            <a:off x="857250" y="2190750"/>
            <a:ext cx="9525" cy="3048000"/>
          </a:xfrm>
          <a:custGeom xmlns:a="http://schemas.openxmlformats.org/drawingml/2006/main">
            <a:pathLst>
              <a:path w="9525" h="3048000">
                <a:moveTo>
                  <a:pt x="0" y="3048000"/>
                </a:moveTo>
                <a:lnTo>
                  <a:pt x="0" y="0"/>
                </a:lnTo>
              </a:path>
            </a:pathLst>
          </a:custGeom>
          <a:noFill xmlns:a="http://schemas.openxmlformats.org/drawingml/2006/main"/>
          <a:ln xmlns:a="http://schemas.openxmlformats.org/drawingml/2006/main" w="19050">
            <a:solidFill>
              <a:srgbClr val="536377"/>
            </a:solidFill>
            <a:prstDash val="solid"/>
          </a:ln>
        </p:spPr>
      </p:sp>
      <p:sp>
        <p:nvSpPr>
          <p:cNvPr id="8" name="text-76">
            <a:extLst xmlns:a="http://schemas.openxmlformats.org/drawingml/2006/main">
              <a:ext uri="{FF2B5EF4-FFF2-40B4-BE49-F238E27FC236}">
                <a16:creationId xmlns:a16="http://schemas.microsoft.com/office/drawing/2014/main" id="{F63826A4-F751-4D7C-8878-F536C924867C}"/>
              </a:ext>
            </a:extLst>
          </p:cNvPr>
          <p:cNvSpPr>
            <a:spLocks xmlns:a="http://schemas.openxmlformats.org/drawingml/2006/main" noGrp="1"/>
          </p:cNvSpPr>
          <p:nvPr/>
        </p:nvSpPr>
        <p:spPr>
          <a:xfrm xmlns:a="http://schemas.openxmlformats.org/drawingml/2006/main">
            <a:off x="3048000" y="542925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Признак 1</a:t>
            </a:r>
          </a:p>
        </p:txBody>
      </p:sp>
      <p:sp>
        <p:nvSpPr>
          <p:cNvPr id="9" name="text-77">
            <a:extLst xmlns:a="http://schemas.openxmlformats.org/drawingml/2006/main">
              <a:ext uri="{FF2B5EF4-FFF2-40B4-BE49-F238E27FC236}">
                <a16:creationId xmlns:a16="http://schemas.microsoft.com/office/drawing/2014/main" id="{FA518532-C5D0-4422-A4C5-49833F7AD07C}"/>
              </a:ext>
            </a:extLst>
          </p:cNvPr>
          <p:cNvSpPr>
            <a:spLocks xmlns:a="http://schemas.openxmlformats.org/drawingml/2006/main" noGrp="1"/>
          </p:cNvSpPr>
          <p:nvPr/>
        </p:nvSpPr>
        <p:spPr>
          <a:xfrm xmlns:a="http://schemas.openxmlformats.org/drawingml/2006/main">
            <a:off x="857250" y="183832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Признак 2</a:t>
            </a:r>
          </a:p>
        </p:txBody>
      </p:sp>
      <p:sp>
        <p:nvSpPr>
          <p:cNvPr id="10" name="">
            <a:extLst xmlns:a="http://schemas.openxmlformats.org/drawingml/2006/main">
              <a:ext uri="{FF2B5EF4-FFF2-40B4-BE49-F238E27FC236}">
                <a16:creationId xmlns:a16="http://schemas.microsoft.com/office/drawing/2014/main" id="{4FD68380-3C34-4013-8168-BBA0907AB6CB}"/>
              </a:ext>
            </a:extLst>
          </p:cNvPr>
          <p:cNvSpPr>
            <a:spLocks xmlns:a="http://schemas.openxmlformats.org/drawingml/2006/main" noGrp="1"/>
          </p:cNvSpPr>
          <p:nvPr/>
        </p:nvSpPr>
        <p:spPr>
          <a:xfrm xmlns:a="http://schemas.openxmlformats.org/drawingml/2006/main">
            <a:off x="2238375" y="2190750"/>
            <a:ext cx="3524250" cy="3048000"/>
          </a:xfrm>
          <a:custGeom xmlns:a="http://schemas.openxmlformats.org/drawingml/2006/main">
            <a:pathLst>
              <a:path w="3524250" h="3048000">
                <a:moveTo>
                  <a:pt x="0" y="3048000"/>
                </a:moveTo>
                <a:lnTo>
                  <a:pt x="1333500" y="3048000"/>
                </a:lnTo>
                <a:lnTo>
                  <a:pt x="3524250" y="0"/>
                </a:lnTo>
                <a:lnTo>
                  <a:pt x="2190750" y="0"/>
                </a:lnTo>
                <a:close/>
              </a:path>
            </a:pathLst>
          </a:custGeom>
          <a:solidFill xmlns:a="http://schemas.openxmlformats.org/drawingml/2006/main">
            <a:srgbClr val="E1E7ED"/>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E1465CB-AADD-4028-B5CF-A2552B265EF0}"/>
              </a:ext>
            </a:extLst>
          </p:cNvPr>
          <p:cNvSpPr>
            <a:spLocks xmlns:a="http://schemas.openxmlformats.org/drawingml/2006/main" noGrp="1"/>
          </p:cNvSpPr>
          <p:nvPr/>
        </p:nvSpPr>
        <p:spPr>
          <a:xfrm xmlns:a="http://schemas.openxmlformats.org/drawingml/2006/main">
            <a:off x="2238375" y="2190750"/>
            <a:ext cx="2190750" cy="3048000"/>
          </a:xfrm>
          <a:custGeom xmlns:a="http://schemas.openxmlformats.org/drawingml/2006/main">
            <a:pathLst>
              <a:path w="2190750" h="3048000">
                <a:moveTo>
                  <a:pt x="0" y="3048000"/>
                </a:moveTo>
                <a:lnTo>
                  <a:pt x="2190750" y="0"/>
                </a:lnTo>
              </a:path>
            </a:pathLst>
          </a:custGeom>
          <a:noFill xmlns:a="http://schemas.openxmlformats.org/drawingml/2006/main"/>
          <a:ln xmlns:a="http://schemas.openxmlformats.org/drawingml/2006/main" w="17145">
            <a:solidFill>
              <a:srgbClr val="536377"/>
            </a:solidFill>
            <a:prstDash val="dash"/>
          </a:ln>
        </p:spPr>
      </p:sp>
      <p:sp>
        <p:nvSpPr>
          <p:cNvPr id="12" name="">
            <a:extLst xmlns:a="http://schemas.openxmlformats.org/drawingml/2006/main">
              <a:ext uri="{FF2B5EF4-FFF2-40B4-BE49-F238E27FC236}">
                <a16:creationId xmlns:a16="http://schemas.microsoft.com/office/drawing/2014/main" id="{7F278BD6-D59E-4B5A-9DDD-BCB354EC537E}"/>
              </a:ext>
            </a:extLst>
          </p:cNvPr>
          <p:cNvSpPr>
            <a:spLocks xmlns:a="http://schemas.openxmlformats.org/drawingml/2006/main" noGrp="1"/>
          </p:cNvSpPr>
          <p:nvPr/>
        </p:nvSpPr>
        <p:spPr>
          <a:xfrm xmlns:a="http://schemas.openxmlformats.org/drawingml/2006/main">
            <a:off x="3571875" y="2190750"/>
            <a:ext cx="2190750" cy="3048000"/>
          </a:xfrm>
          <a:custGeom xmlns:a="http://schemas.openxmlformats.org/drawingml/2006/main">
            <a:pathLst>
              <a:path w="2190750" h="3048000">
                <a:moveTo>
                  <a:pt x="0" y="3048000"/>
                </a:moveTo>
                <a:lnTo>
                  <a:pt x="2190750" y="0"/>
                </a:lnTo>
              </a:path>
            </a:pathLst>
          </a:custGeom>
          <a:noFill xmlns:a="http://schemas.openxmlformats.org/drawingml/2006/main"/>
          <a:ln xmlns:a="http://schemas.openxmlformats.org/drawingml/2006/main" w="17145">
            <a:solidFill>
              <a:srgbClr val="536377"/>
            </a:solidFill>
            <a:prstDash val="dash"/>
          </a:ln>
        </p:spPr>
      </p:sp>
      <p:sp>
        <p:nvSpPr>
          <p:cNvPr id="13" name="">
            <a:extLst xmlns:a="http://schemas.openxmlformats.org/drawingml/2006/main">
              <a:ext uri="{FF2B5EF4-FFF2-40B4-BE49-F238E27FC236}">
                <a16:creationId xmlns:a16="http://schemas.microsoft.com/office/drawing/2014/main" id="{50A55EF8-981A-4926-B532-F8F3E3AB8632}"/>
              </a:ext>
            </a:extLst>
          </p:cNvPr>
          <p:cNvSpPr>
            <a:spLocks xmlns:a="http://schemas.openxmlformats.org/drawingml/2006/main" noGrp="1"/>
          </p:cNvSpPr>
          <p:nvPr/>
        </p:nvSpPr>
        <p:spPr>
          <a:xfrm xmlns:a="http://schemas.openxmlformats.org/drawingml/2006/main">
            <a:off x="2905125" y="2190750"/>
            <a:ext cx="2190750" cy="3048000"/>
          </a:xfrm>
          <a:custGeom xmlns:a="http://schemas.openxmlformats.org/drawingml/2006/main">
            <a:pathLst>
              <a:path w="2190750" h="3048000">
                <a:moveTo>
                  <a:pt x="0" y="3048000"/>
                </a:moveTo>
                <a:lnTo>
                  <a:pt x="2190750" y="0"/>
                </a:lnTo>
              </a:path>
            </a:pathLst>
          </a:custGeom>
          <a:noFill xmlns:a="http://schemas.openxmlformats.org/drawingml/2006/main"/>
          <a:ln xmlns:a="http://schemas.openxmlformats.org/drawingml/2006/main" w="28575">
            <a:solidFill>
              <a:srgbClr val="101C32"/>
            </a:solidFill>
            <a:prstDash val="solid"/>
          </a:ln>
        </p:spPr>
      </p:sp>
      <p:sp>
        <p:nvSpPr>
          <p:cNvPr id="14" name="">
            <a:extLst xmlns:a="http://schemas.openxmlformats.org/drawingml/2006/main">
              <a:ext uri="{FF2B5EF4-FFF2-40B4-BE49-F238E27FC236}">
                <a16:creationId xmlns:a16="http://schemas.microsoft.com/office/drawing/2014/main" id="{A291EEE5-AB34-49FD-A4F3-6BB711C0A522}"/>
              </a:ext>
            </a:extLst>
          </p:cNvPr>
          <p:cNvSpPr>
            <a:spLocks xmlns:a="http://schemas.openxmlformats.org/drawingml/2006/main" noGrp="1"/>
          </p:cNvSpPr>
          <p:nvPr/>
        </p:nvSpPr>
        <p:spPr>
          <a:xfrm xmlns:a="http://schemas.openxmlformats.org/drawingml/2006/main">
            <a:off x="1390650" y="429577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5" name="">
            <a:extLst xmlns:a="http://schemas.openxmlformats.org/drawingml/2006/main">
              <a:ext uri="{FF2B5EF4-FFF2-40B4-BE49-F238E27FC236}">
                <a16:creationId xmlns:a16="http://schemas.microsoft.com/office/drawing/2014/main" id="{0AF3485A-A486-43D1-BEC0-77CC347E07FB}"/>
              </a:ext>
            </a:extLst>
          </p:cNvPr>
          <p:cNvSpPr>
            <a:spLocks xmlns:a="http://schemas.openxmlformats.org/drawingml/2006/main" noGrp="1"/>
          </p:cNvSpPr>
          <p:nvPr/>
        </p:nvSpPr>
        <p:spPr>
          <a:xfrm xmlns:a="http://schemas.openxmlformats.org/drawingml/2006/main">
            <a:off x="1724025" y="315277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6" name="">
            <a:extLst xmlns:a="http://schemas.openxmlformats.org/drawingml/2006/main">
              <a:ext uri="{FF2B5EF4-FFF2-40B4-BE49-F238E27FC236}">
                <a16:creationId xmlns:a16="http://schemas.microsoft.com/office/drawing/2014/main" id="{4742687D-249C-4AB2-9BB9-04956C68FD4D}"/>
              </a:ext>
            </a:extLst>
          </p:cNvPr>
          <p:cNvSpPr>
            <a:spLocks xmlns:a="http://schemas.openxmlformats.org/drawingml/2006/main" noGrp="1"/>
          </p:cNvSpPr>
          <p:nvPr/>
        </p:nvSpPr>
        <p:spPr>
          <a:xfrm xmlns:a="http://schemas.openxmlformats.org/drawingml/2006/main">
            <a:off x="2009775" y="372427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7" name="">
            <a:extLst xmlns:a="http://schemas.openxmlformats.org/drawingml/2006/main">
              <a:ext uri="{FF2B5EF4-FFF2-40B4-BE49-F238E27FC236}">
                <a16:creationId xmlns:a16="http://schemas.microsoft.com/office/drawing/2014/main" id="{834AEACA-4EFC-4715-B188-03B1B30F80AF}"/>
              </a:ext>
            </a:extLst>
          </p:cNvPr>
          <p:cNvSpPr>
            <a:spLocks xmlns:a="http://schemas.openxmlformats.org/drawingml/2006/main" noGrp="1"/>
          </p:cNvSpPr>
          <p:nvPr/>
        </p:nvSpPr>
        <p:spPr>
          <a:xfrm xmlns:a="http://schemas.openxmlformats.org/drawingml/2006/main">
            <a:off x="2486025" y="286702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8" name="">
            <a:extLst xmlns:a="http://schemas.openxmlformats.org/drawingml/2006/main">
              <a:ext uri="{FF2B5EF4-FFF2-40B4-BE49-F238E27FC236}">
                <a16:creationId xmlns:a16="http://schemas.microsoft.com/office/drawing/2014/main" id="{706D169D-35ED-4E55-B2EE-BEEC3CA6B7D1}"/>
              </a:ext>
            </a:extLst>
          </p:cNvPr>
          <p:cNvSpPr>
            <a:spLocks xmlns:a="http://schemas.openxmlformats.org/drawingml/2006/main" noGrp="1"/>
          </p:cNvSpPr>
          <p:nvPr/>
        </p:nvSpPr>
        <p:spPr>
          <a:xfrm xmlns:a="http://schemas.openxmlformats.org/drawingml/2006/main">
            <a:off x="2700338" y="439102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9" name="">
            <a:extLst xmlns:a="http://schemas.openxmlformats.org/drawingml/2006/main">
              <a:ext uri="{FF2B5EF4-FFF2-40B4-BE49-F238E27FC236}">
                <a16:creationId xmlns:a16="http://schemas.microsoft.com/office/drawing/2014/main" id="{6475AEA5-9D52-45A0-BBAE-4CB2B6B195B0}"/>
              </a:ext>
            </a:extLst>
          </p:cNvPr>
          <p:cNvSpPr>
            <a:spLocks xmlns:a="http://schemas.openxmlformats.org/drawingml/2006/main" noGrp="1"/>
          </p:cNvSpPr>
          <p:nvPr/>
        </p:nvSpPr>
        <p:spPr>
          <a:xfrm xmlns:a="http://schemas.openxmlformats.org/drawingml/2006/main">
            <a:off x="3105150" y="248602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20" name="">
            <a:extLst xmlns:a="http://schemas.openxmlformats.org/drawingml/2006/main">
              <a:ext uri="{FF2B5EF4-FFF2-40B4-BE49-F238E27FC236}">
                <a16:creationId xmlns:a16="http://schemas.microsoft.com/office/drawing/2014/main" id="{C2C690B5-3460-4951-A3FA-10B0F333B274}"/>
              </a:ext>
            </a:extLst>
          </p:cNvPr>
          <p:cNvSpPr>
            <a:spLocks xmlns:a="http://schemas.openxmlformats.org/drawingml/2006/main" noGrp="1"/>
          </p:cNvSpPr>
          <p:nvPr/>
        </p:nvSpPr>
        <p:spPr>
          <a:xfrm xmlns:a="http://schemas.openxmlformats.org/drawingml/2006/main">
            <a:off x="3965377" y="4486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1" name="">
            <a:extLst xmlns:a="http://schemas.openxmlformats.org/drawingml/2006/main">
              <a:ext uri="{FF2B5EF4-FFF2-40B4-BE49-F238E27FC236}">
                <a16:creationId xmlns:a16="http://schemas.microsoft.com/office/drawing/2014/main" id="{0CA221F1-2978-4984-ACA1-4802CCD2C2D5}"/>
              </a:ext>
            </a:extLst>
          </p:cNvPr>
          <p:cNvSpPr>
            <a:spLocks xmlns:a="http://schemas.openxmlformats.org/drawingml/2006/main" noGrp="1"/>
          </p:cNvSpPr>
          <p:nvPr/>
        </p:nvSpPr>
        <p:spPr>
          <a:xfrm xmlns:a="http://schemas.openxmlformats.org/drawingml/2006/main">
            <a:off x="4867275" y="3724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2" name="">
            <a:extLst xmlns:a="http://schemas.openxmlformats.org/drawingml/2006/main">
              <a:ext uri="{FF2B5EF4-FFF2-40B4-BE49-F238E27FC236}">
                <a16:creationId xmlns:a16="http://schemas.microsoft.com/office/drawing/2014/main" id="{41962E7D-4BBC-4391-8B6D-ED0345429460}"/>
              </a:ext>
            </a:extLst>
          </p:cNvPr>
          <p:cNvSpPr>
            <a:spLocks xmlns:a="http://schemas.openxmlformats.org/drawingml/2006/main" noGrp="1"/>
          </p:cNvSpPr>
          <p:nvPr/>
        </p:nvSpPr>
        <p:spPr>
          <a:xfrm xmlns:a="http://schemas.openxmlformats.org/drawingml/2006/main">
            <a:off x="5486400" y="3343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3" name="">
            <a:extLst xmlns:a="http://schemas.openxmlformats.org/drawingml/2006/main">
              <a:ext uri="{FF2B5EF4-FFF2-40B4-BE49-F238E27FC236}">
                <a16:creationId xmlns:a16="http://schemas.microsoft.com/office/drawing/2014/main" id="{2219E717-49F7-4B2A-B58C-972417749A0D}"/>
              </a:ext>
            </a:extLst>
          </p:cNvPr>
          <p:cNvSpPr>
            <a:spLocks xmlns:a="http://schemas.openxmlformats.org/drawingml/2006/main" noGrp="1"/>
          </p:cNvSpPr>
          <p:nvPr/>
        </p:nvSpPr>
        <p:spPr>
          <a:xfrm xmlns:a="http://schemas.openxmlformats.org/drawingml/2006/main">
            <a:off x="5819775" y="248602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4" name="">
            <a:extLst xmlns:a="http://schemas.openxmlformats.org/drawingml/2006/main">
              <a:ext uri="{FF2B5EF4-FFF2-40B4-BE49-F238E27FC236}">
                <a16:creationId xmlns:a16="http://schemas.microsoft.com/office/drawing/2014/main" id="{699A7F14-A0FD-4E17-93DD-DB6733C023BB}"/>
              </a:ext>
            </a:extLst>
          </p:cNvPr>
          <p:cNvSpPr>
            <a:spLocks xmlns:a="http://schemas.openxmlformats.org/drawingml/2006/main" noGrp="1"/>
          </p:cNvSpPr>
          <p:nvPr/>
        </p:nvSpPr>
        <p:spPr>
          <a:xfrm xmlns:a="http://schemas.openxmlformats.org/drawingml/2006/main">
            <a:off x="6105525" y="4105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5" name="">
            <a:extLst xmlns:a="http://schemas.openxmlformats.org/drawingml/2006/main">
              <a:ext uri="{FF2B5EF4-FFF2-40B4-BE49-F238E27FC236}">
                <a16:creationId xmlns:a16="http://schemas.microsoft.com/office/drawing/2014/main" id="{35A9365A-072B-4975-8F59-ECA8684A995C}"/>
              </a:ext>
            </a:extLst>
          </p:cNvPr>
          <p:cNvSpPr>
            <a:spLocks xmlns:a="http://schemas.openxmlformats.org/drawingml/2006/main" noGrp="1"/>
          </p:cNvSpPr>
          <p:nvPr/>
        </p:nvSpPr>
        <p:spPr>
          <a:xfrm xmlns:a="http://schemas.openxmlformats.org/drawingml/2006/main">
            <a:off x="5153025" y="4914900"/>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6" name="">
            <a:extLst xmlns:a="http://schemas.openxmlformats.org/drawingml/2006/main">
              <a:ext uri="{FF2B5EF4-FFF2-40B4-BE49-F238E27FC236}">
                <a16:creationId xmlns:a16="http://schemas.microsoft.com/office/drawing/2014/main" id="{6FBAF025-B78F-427B-831D-C9866D00191B}"/>
              </a:ext>
            </a:extLst>
          </p:cNvPr>
          <p:cNvSpPr>
            <a:spLocks xmlns:a="http://schemas.openxmlformats.org/drawingml/2006/main" noGrp="1"/>
          </p:cNvSpPr>
          <p:nvPr/>
        </p:nvSpPr>
        <p:spPr>
          <a:xfrm xmlns:a="http://schemas.openxmlformats.org/drawingml/2006/main">
            <a:off x="2633663" y="4324350"/>
            <a:ext cx="304800" cy="304800"/>
          </a:xfrm>
          <a:prstGeom xmlns:a="http://schemas.openxmlformats.org/drawingml/2006/main" prst="ellipse">
            <a:avLst/>
          </a:prstGeom>
          <a:noFill xmlns:a="http://schemas.openxmlformats.org/drawingml/2006/main"/>
          <a:ln xmlns:a="http://schemas.openxmlformats.org/drawingml/2006/main" w="28575">
            <a:solidFill>
              <a:srgbClr val="101C32"/>
            </a:solidFill>
          </a:ln>
        </p:spPr>
      </p:sp>
      <p:sp>
        <p:nvSpPr>
          <p:cNvPr id="27" name="">
            <a:extLst xmlns:a="http://schemas.openxmlformats.org/drawingml/2006/main">
              <a:ext uri="{FF2B5EF4-FFF2-40B4-BE49-F238E27FC236}">
                <a16:creationId xmlns:a16="http://schemas.microsoft.com/office/drawing/2014/main" id="{E4349780-70C8-4C3D-B5FB-E9E8B4295D51}"/>
              </a:ext>
            </a:extLst>
          </p:cNvPr>
          <p:cNvSpPr>
            <a:spLocks xmlns:a="http://schemas.openxmlformats.org/drawingml/2006/main" noGrp="1"/>
          </p:cNvSpPr>
          <p:nvPr/>
        </p:nvSpPr>
        <p:spPr>
          <a:xfrm xmlns:a="http://schemas.openxmlformats.org/drawingml/2006/main">
            <a:off x="3898702" y="4419600"/>
            <a:ext cx="304800" cy="304800"/>
          </a:xfrm>
          <a:prstGeom xmlns:a="http://schemas.openxmlformats.org/drawingml/2006/main" prst="ellipse">
            <a:avLst/>
          </a:prstGeom>
          <a:noFill xmlns:a="http://schemas.openxmlformats.org/drawingml/2006/main"/>
          <a:ln xmlns:a="http://schemas.openxmlformats.org/drawingml/2006/main" w="28575">
            <a:solidFill>
              <a:srgbClr val="101C32"/>
            </a:solidFill>
          </a:ln>
        </p:spPr>
      </p:sp>
      <p:sp>
        <p:nvSpPr>
          <p:cNvPr id="28" name="">
            <a:extLst xmlns:a="http://schemas.openxmlformats.org/drawingml/2006/main">
              <a:ext uri="{FF2B5EF4-FFF2-40B4-BE49-F238E27FC236}">
                <a16:creationId xmlns:a16="http://schemas.microsoft.com/office/drawing/2014/main" id="{3D9050D4-3B89-4584-B705-2A31D8B55F4E}"/>
              </a:ext>
            </a:extLst>
          </p:cNvPr>
          <p:cNvSpPr>
            <a:spLocks xmlns:a="http://schemas.openxmlformats.org/drawingml/2006/main" noGrp="1"/>
          </p:cNvSpPr>
          <p:nvPr/>
        </p:nvSpPr>
        <p:spPr>
          <a:xfrm xmlns:a="http://schemas.openxmlformats.org/drawingml/2006/main">
            <a:off x="3390900" y="381952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9" name="">
            <a:extLst xmlns:a="http://schemas.openxmlformats.org/drawingml/2006/main">
              <a:ext uri="{FF2B5EF4-FFF2-40B4-BE49-F238E27FC236}">
                <a16:creationId xmlns:a16="http://schemas.microsoft.com/office/drawing/2014/main" id="{1FD1C41E-146A-436E-BD99-E836FF0006C9}"/>
              </a:ext>
            </a:extLst>
          </p:cNvPr>
          <p:cNvSpPr>
            <a:spLocks xmlns:a="http://schemas.openxmlformats.org/drawingml/2006/main" noGrp="1"/>
          </p:cNvSpPr>
          <p:nvPr/>
        </p:nvSpPr>
        <p:spPr>
          <a:xfrm xmlns:a="http://schemas.openxmlformats.org/drawingml/2006/main">
            <a:off x="3324225" y="3752850"/>
            <a:ext cx="304800" cy="304800"/>
          </a:xfrm>
          <a:prstGeom xmlns:a="http://schemas.openxmlformats.org/drawingml/2006/main" prst="ellipse">
            <a:avLst/>
          </a:prstGeom>
          <a:noFill xmlns:a="http://schemas.openxmlformats.org/drawingml/2006/main"/>
          <a:ln xmlns:a="http://schemas.openxmlformats.org/drawingml/2006/main" w="28575">
            <a:solidFill>
              <a:srgbClr val="101C32"/>
            </a:solidFill>
          </a:ln>
        </p:spPr>
      </p:sp>
      <p:sp>
        <p:nvSpPr>
          <p:cNvPr id="30" name="text-78">
            <a:extLst xmlns:a="http://schemas.openxmlformats.org/drawingml/2006/main">
              <a:ext uri="{FF2B5EF4-FFF2-40B4-BE49-F238E27FC236}">
                <a16:creationId xmlns:a16="http://schemas.microsoft.com/office/drawing/2014/main" id="{1002839D-1893-4A10-83B0-9A198D0B7CE4}"/>
              </a:ext>
            </a:extLst>
          </p:cNvPr>
          <p:cNvSpPr>
            <a:spLocks xmlns:a="http://schemas.openxmlformats.org/drawingml/2006/main" noGrp="1"/>
          </p:cNvSpPr>
          <p:nvPr/>
        </p:nvSpPr>
        <p:spPr>
          <a:xfrm xmlns:a="http://schemas.openxmlformats.org/drawingml/2006/main">
            <a:off x="1047750" y="5619750"/>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008C95"/>
                </a:solidFill>
                <a:latin typeface="DejaVu Sans"/>
                <a:ea typeface="DejaVu Sans"/>
                <a:cs typeface="DejaVu Sans"/>
              </a:defRPr>
            </a:defPPr>
          </a:lstStyle>
          <a:p xmlns:a="http://schemas.openxmlformats.org/drawingml/2006/main">
            <a:pPr>
              <a:defRPr sz="1650" b="1">
                <a:solidFill>
                  <a:srgbClr val="008C95"/>
                </a:solidFill>
                <a:latin typeface="DejaVu Sans"/>
                <a:ea typeface="DejaVu Sans"/>
                <a:cs typeface="DejaVu Sans"/>
              </a:defRPr>
            </a:pPr>
            <a:r>
              <a:rPr sz="1650" b="1">
                <a:solidFill>
                  <a:srgbClr val="008C95"/>
                </a:solidFill>
                <a:latin typeface="DejaVu Sans"/>
                <a:ea typeface="DejaVu Sans"/>
                <a:cs typeface="DejaVu Sans"/>
              </a:rPr>
              <a:t>Класс 1</a:t>
            </a:r>
          </a:p>
        </p:txBody>
      </p:sp>
      <p:sp>
        <p:nvSpPr>
          <p:cNvPr id="31" name="text-79">
            <a:extLst xmlns:a="http://schemas.openxmlformats.org/drawingml/2006/main">
              <a:ext uri="{FF2B5EF4-FFF2-40B4-BE49-F238E27FC236}">
                <a16:creationId xmlns:a16="http://schemas.microsoft.com/office/drawing/2014/main" id="{D91A3E85-883A-4303-BB26-8E6FD8AD16CF}"/>
              </a:ext>
            </a:extLst>
          </p:cNvPr>
          <p:cNvSpPr>
            <a:spLocks xmlns:a="http://schemas.openxmlformats.org/drawingml/2006/main" noGrp="1"/>
          </p:cNvSpPr>
          <p:nvPr/>
        </p:nvSpPr>
        <p:spPr>
          <a:xfrm xmlns:a="http://schemas.openxmlformats.org/drawingml/2006/main">
            <a:off x="4191000" y="5619750"/>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E85555"/>
                </a:solidFill>
                <a:latin typeface="DejaVu Sans"/>
                <a:ea typeface="DejaVu Sans"/>
                <a:cs typeface="DejaVu Sans"/>
              </a:defRPr>
            </a:defPPr>
          </a:lstStyle>
          <a:p xmlns:a="http://schemas.openxmlformats.org/drawingml/2006/main">
            <a:pPr>
              <a:defRPr sz="1650" b="1">
                <a:solidFill>
                  <a:srgbClr val="E85555"/>
                </a:solidFill>
                <a:latin typeface="DejaVu Sans"/>
                <a:ea typeface="DejaVu Sans"/>
                <a:cs typeface="DejaVu Sans"/>
              </a:defRPr>
            </a:pPr>
            <a:r>
              <a:rPr sz="1650" b="1">
                <a:solidFill>
                  <a:srgbClr val="E85555"/>
                </a:solidFill>
                <a:latin typeface="DejaVu Sans"/>
                <a:ea typeface="DejaVu Sans"/>
                <a:cs typeface="DejaVu Sans"/>
              </a:rPr>
              <a:t>Класс 2</a:t>
            </a:r>
          </a:p>
        </p:txBody>
      </p:sp>
      <p:sp>
        <p:nvSpPr>
          <p:cNvPr id="32" name="text-80">
            <a:extLst xmlns:a="http://schemas.openxmlformats.org/drawingml/2006/main">
              <a:ext uri="{FF2B5EF4-FFF2-40B4-BE49-F238E27FC236}">
                <a16:creationId xmlns:a16="http://schemas.microsoft.com/office/drawing/2014/main" id="{4CE99752-3FB4-47A9-93E9-661D80F126FC}"/>
              </a:ext>
            </a:extLst>
          </p:cNvPr>
          <p:cNvSpPr>
            <a:spLocks xmlns:a="http://schemas.openxmlformats.org/drawingml/2006/main" noGrp="1"/>
          </p:cNvSpPr>
          <p:nvPr/>
        </p:nvSpPr>
        <p:spPr>
          <a:xfrm xmlns:a="http://schemas.openxmlformats.org/drawingml/2006/main">
            <a:off x="7143750" y="2095500"/>
            <a:ext cx="4286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008C95"/>
                </a:solidFill>
                <a:latin typeface="DejaVu Sans"/>
                <a:ea typeface="DejaVu Sans"/>
                <a:cs typeface="DejaVu Sans"/>
              </a:defRPr>
            </a:defPPr>
          </a:lstStyle>
          <a:p xmlns:a="http://schemas.openxmlformats.org/drawingml/2006/main">
            <a:pPr>
              <a:defRPr sz="2250" b="1">
                <a:solidFill>
                  <a:srgbClr val="008C95"/>
                </a:solidFill>
                <a:latin typeface="DejaVu Sans"/>
                <a:ea typeface="DejaVu Sans"/>
                <a:cs typeface="DejaVu Sans"/>
              </a:defRPr>
            </a:pPr>
            <a:r>
              <a:rPr sz="2250" b="1">
                <a:solidFill>
                  <a:srgbClr val="008C95"/>
                </a:solidFill>
                <a:latin typeface="DejaVu Sans"/>
                <a:ea typeface="DejaVu Sans"/>
                <a:cs typeface="DejaVu Sans"/>
              </a:rPr>
              <a:t>Мягкий зазор</a:t>
            </a:r>
          </a:p>
        </p:txBody>
      </p:sp>
      <p:sp>
        <p:nvSpPr>
          <p:cNvPr id="33" name="text-81">
            <a:extLst xmlns:a="http://schemas.openxmlformats.org/drawingml/2006/main">
              <a:ext uri="{FF2B5EF4-FFF2-40B4-BE49-F238E27FC236}">
                <a16:creationId xmlns:a16="http://schemas.microsoft.com/office/drawing/2014/main" id="{D2F0D4F1-9A48-4DB4-B8F0-878F9F7E006D}"/>
              </a:ext>
            </a:extLst>
          </p:cNvPr>
          <p:cNvSpPr>
            <a:spLocks xmlns:a="http://schemas.openxmlformats.org/drawingml/2006/main" noGrp="1"/>
          </p:cNvSpPr>
          <p:nvPr/>
        </p:nvSpPr>
        <p:spPr>
          <a:xfrm xmlns:a="http://schemas.openxmlformats.org/drawingml/2006/main">
            <a:off x="7143750" y="2600325"/>
            <a:ext cx="4286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101C32"/>
                </a:solidFill>
                <a:latin typeface="DejaVu Sans"/>
                <a:ea typeface="DejaVu Sans"/>
                <a:cs typeface="DejaVu Sans"/>
              </a:defRPr>
            </a:defPPr>
          </a:lstStyle>
          <a:p xmlns:a="http://schemas.openxmlformats.org/drawingml/2006/main">
            <a:pPr>
              <a:defRPr sz="1950" b="0">
                <a:solidFill>
                  <a:srgbClr val="101C32"/>
                </a:solidFill>
                <a:latin typeface="DejaVu Sans"/>
                <a:ea typeface="DejaVu Sans"/>
                <a:cs typeface="DejaVu Sans"/>
              </a:defRPr>
            </a:pPr>
            <a:r>
              <a:rPr sz="1950" b="0">
                <a:solidFill>
                  <a:srgbClr val="101C32"/>
                </a:solidFill>
                <a:latin typeface="DejaVu Sans"/>
                <a:ea typeface="DejaVu Sans"/>
                <a:cs typeface="DejaVu Sans"/>
              </a:rPr>
              <a:t>Точки бывают в полосе</a:t>
            </a:r>
          </a:p>
          <a:p xmlns:a="http://schemas.openxmlformats.org/drawingml/2006/main">
            <a:pPr>
              <a:defRPr sz="1950" b="0">
                <a:solidFill>
                  <a:srgbClr val="101C32"/>
                </a:solidFill>
                <a:latin typeface="DejaVu Sans"/>
                <a:ea typeface="DejaVu Sans"/>
                <a:cs typeface="DejaVu Sans"/>
              </a:defRPr>
            </a:pPr>
            <a:r>
              <a:rPr sz="1950" b="0">
                <a:solidFill>
                  <a:srgbClr val="101C32"/>
                </a:solidFill>
                <a:latin typeface="DejaVu Sans"/>
                <a:ea typeface="DejaVu Sans"/>
                <a:cs typeface="DejaVu Sans"/>
              </a:rPr>
              <a:t>и на неверной стороне.</a:t>
            </a:r>
          </a:p>
          <a:p xmlns:a="http://schemas.openxmlformats.org/drawingml/2006/main">
            <a:pPr>
              <a:defRPr sz="1950" b="0">
                <a:solidFill>
                  <a:srgbClr val="101C32"/>
                </a:solidFill>
                <a:latin typeface="DejaVu Sans"/>
                <a:ea typeface="DejaVu Sans"/>
                <a:cs typeface="DejaVu Sans"/>
              </a:defRPr>
            </a:pPr>
            <a:r>
              <a:rPr sz="1950" b="0">
                <a:solidFill>
                  <a:srgbClr val="101C32"/>
                </a:solidFill>
                <a:latin typeface="DejaVu Sans"/>
                <a:ea typeface="DejaVu Sans"/>
                <a:cs typeface="DejaVu Sans"/>
              </a:rPr>
              <a:t>За это есть штраф.</a:t>
            </a:r>
          </a:p>
        </p:txBody>
      </p:sp>
      <p:sp>
        <p:nvSpPr>
          <p:cNvPr id="34" name="text-82">
            <a:extLst xmlns:a="http://schemas.openxmlformats.org/drawingml/2006/main">
              <a:ext uri="{FF2B5EF4-FFF2-40B4-BE49-F238E27FC236}">
                <a16:creationId xmlns:a16="http://schemas.microsoft.com/office/drawing/2014/main" id="{AB76E6A9-F1F6-479C-B354-C5C11D053B91}"/>
              </a:ext>
            </a:extLst>
          </p:cNvPr>
          <p:cNvSpPr>
            <a:spLocks xmlns:a="http://schemas.openxmlformats.org/drawingml/2006/main" noGrp="1"/>
          </p:cNvSpPr>
          <p:nvPr/>
        </p:nvSpPr>
        <p:spPr>
          <a:xfrm xmlns:a="http://schemas.openxmlformats.org/drawingml/2006/main">
            <a:off x="7143750" y="4048125"/>
            <a:ext cx="4286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01C32"/>
                </a:solidFill>
                <a:latin typeface="DejaVu Sans"/>
                <a:ea typeface="DejaVu Sans"/>
                <a:cs typeface="DejaVu Sans"/>
              </a:defRPr>
            </a:defPPr>
          </a:lstStyle>
          <a:p xmlns:a="http://schemas.openxmlformats.org/drawingml/2006/main">
            <a:pPr>
              <a:defRPr sz="2025" b="1">
                <a:solidFill>
                  <a:srgbClr val="101C32"/>
                </a:solidFill>
                <a:latin typeface="DejaVu Sans"/>
                <a:ea typeface="DejaVu Sans"/>
                <a:cs typeface="DejaVu Sans"/>
              </a:defRPr>
            </a:pPr>
            <a:r>
              <a:rPr sz="2025" b="1">
                <a:solidFill>
                  <a:srgbClr val="101C32"/>
                </a:solidFill>
                <a:latin typeface="DejaVu Sans"/>
                <a:ea typeface="DejaVu Sans"/>
                <a:cs typeface="DejaVu Sans"/>
              </a:rPr>
              <a:t>C задаёт цену нарушений.</a:t>
            </a:r>
          </a:p>
        </p:txBody>
      </p:sp>
      <p:sp>
        <p:nvSpPr>
          <p:cNvPr id="35" name="text-83">
            <a:extLst xmlns:a="http://schemas.openxmlformats.org/drawingml/2006/main">
              <a:ext uri="{FF2B5EF4-FFF2-40B4-BE49-F238E27FC236}">
                <a16:creationId xmlns:a16="http://schemas.microsoft.com/office/drawing/2014/main" id="{999D7529-62EF-41FA-9A96-759AF848C336}"/>
              </a:ext>
            </a:extLst>
          </p:cNvPr>
          <p:cNvSpPr>
            <a:spLocks xmlns:a="http://schemas.openxmlformats.org/drawingml/2006/main" noGrp="1"/>
          </p:cNvSpPr>
          <p:nvPr/>
        </p:nvSpPr>
        <p:spPr>
          <a:xfrm xmlns:a="http://schemas.openxmlformats.org/drawingml/2006/main">
            <a:off x="7143750" y="4667250"/>
            <a:ext cx="4286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Опорные векторы участвуют</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в выборе границы. На рисунке</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эти точки обведены кольцами.</a:t>
            </a:r>
          </a:p>
        </p:txBody>
      </p:sp>
      <p:sp>
        <p:nvSpPr>
          <p:cNvPr id="36" name="text-84">
            <a:extLst xmlns:a="http://schemas.openxmlformats.org/drawingml/2006/main">
              <a:ext uri="{FF2B5EF4-FFF2-40B4-BE49-F238E27FC236}">
                <a16:creationId xmlns:a16="http://schemas.microsoft.com/office/drawing/2014/main" id="{8903E885-76AF-4CB4-BFA8-C1962E99BB17}"/>
              </a:ext>
            </a:extLst>
          </p:cNvPr>
          <p:cNvSpPr>
            <a:spLocks xmlns:a="http://schemas.openxmlformats.org/drawingml/2006/main" noGrp="1"/>
          </p:cNvSpPr>
          <p:nvPr/>
        </p:nvSpPr>
        <p:spPr>
          <a:xfrm xmlns:a="http://schemas.openxmlformats.org/drawingml/2006/main">
            <a:off x="857250" y="60769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377"/>
                </a:solidFill>
                <a:latin typeface="DejaVu Sans"/>
                <a:ea typeface="DejaVu Sans"/>
                <a:cs typeface="DejaVu Sans"/>
              </a:defRPr>
            </a:defPPr>
          </a:lstStyle>
          <a:p xmlns:a="http://schemas.openxmlformats.org/drawingml/2006/main">
            <a:pPr>
              <a:defRPr sz="1350" b="0">
                <a:solidFill>
                  <a:srgbClr val="536377"/>
                </a:solidFill>
                <a:latin typeface="DejaVu Sans"/>
                <a:ea typeface="DejaVu Sans"/>
                <a:cs typeface="DejaVu Sans"/>
              </a:defRPr>
            </a:pPr>
            <a:r>
              <a:rPr sz="1350" b="0">
                <a:solidFill>
                  <a:srgbClr val="536377"/>
                </a:solidFill>
                <a:latin typeface="DejaVu Sans"/>
                <a:ea typeface="DejaVu Sans"/>
                <a:cs typeface="DejaVu Sans"/>
              </a:rPr>
              <a:t>Схема показывает идею обучения. Два класса обозначены условно.</a:t>
            </a:r>
          </a:p>
        </p:txBody>
      </p:sp>
    </p:spTree>
    <p:extLst>
      <p:ext uri="{BB962C8B-B14F-4D97-AF65-F5344CB8AC3E}">
        <p14:creationId xmlns:p14="http://schemas.microsoft.com/office/powerpoint/2010/main" val="1826328517"/>
      </p:ext>
    </p:extLst>
  </p:cSld>
</p:sld>
</file>

<file path=ppt/slides/slide11.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85">
            <a:extLst xmlns:a="http://schemas.openxmlformats.org/drawingml/2006/main">
              <a:ext uri="{FF2B5EF4-FFF2-40B4-BE49-F238E27FC236}">
                <a16:creationId xmlns:a16="http://schemas.microsoft.com/office/drawing/2014/main" id="{2D315CB7-0807-4FC0-A1F5-7237F856274F}"/>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Геометрический отступ и запас прочности</a:t>
            </a:r>
          </a:p>
        </p:txBody>
      </p:sp>
      <p:sp>
        <p:nvSpPr>
          <p:cNvPr id="2" name="text-86">
            <a:extLst xmlns:a="http://schemas.openxmlformats.org/drawingml/2006/main">
              <a:ext uri="{FF2B5EF4-FFF2-40B4-BE49-F238E27FC236}">
                <a16:creationId xmlns:a16="http://schemas.microsoft.com/office/drawing/2014/main" id="{44BF2C36-5169-4C0E-88AD-95D7628E37D1}"/>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Теперь измеряем расстояние до уже готовой границы</a:t>
            </a:r>
          </a:p>
        </p:txBody>
      </p:sp>
      <p:sp>
        <p:nvSpPr>
          <p:cNvPr id="3" name="">
            <a:extLst xmlns:a="http://schemas.openxmlformats.org/drawingml/2006/main">
              <a:ext uri="{FF2B5EF4-FFF2-40B4-BE49-F238E27FC236}">
                <a16:creationId xmlns:a16="http://schemas.microsoft.com/office/drawing/2014/main" id="{3BF5F579-83BD-4163-92A1-E903CA7B5BA5}"/>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87">
            <a:extLst xmlns:a="http://schemas.openxmlformats.org/drawingml/2006/main">
              <a:ext uri="{FF2B5EF4-FFF2-40B4-BE49-F238E27FC236}">
                <a16:creationId xmlns:a16="http://schemas.microsoft.com/office/drawing/2014/main" id="{A0C87B9C-A7AB-472F-BF34-4D2C49F17351}"/>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[2, 6]</a:t>
            </a:r>
          </a:p>
        </p:txBody>
      </p:sp>
      <p:sp>
        <p:nvSpPr>
          <p:cNvPr id="5" name="text-88">
            <a:extLst xmlns:a="http://schemas.openxmlformats.org/drawingml/2006/main">
              <a:ext uri="{FF2B5EF4-FFF2-40B4-BE49-F238E27FC236}">
                <a16:creationId xmlns:a16="http://schemas.microsoft.com/office/drawing/2014/main" id="{A81B2C9A-DB6E-479F-BC8F-2A17578A6D65}"/>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a:t>
            </a:r>
          </a:p>
        </p:txBody>
      </p:sp>
      <p:graphicFrame>
        <p:nvGraphicFramePr>
          <p:cNvPr id="6" name="">
            <a:extLst xmlns:a="http://schemas.openxmlformats.org/drawingml/2006/main">
              <a:ext uri="{FF2B5EF4-FFF2-40B4-BE49-F238E27FC236}">
                <a16:creationId xmlns:a16="http://schemas.microsoft.com/office/drawing/2014/main" id="{E91092B7-6CBE-408C-A504-EBB091B22241}"/>
              </a:ext>
            </a:extLst>
          </p:cNvPr>
          <p:cNvGraphicFramePr/>
          <p:nvPr/>
        </p:nvGraphicFramePr>
        <p:xfrm>
          <a:off xmlns:a="http://schemas.openxmlformats.org/drawingml/2006/main" x="571500" y="2124075"/>
          <a:ext xmlns:a="http://schemas.openxmlformats.org/drawingml/2006/main" cx="11049000" cy="2505075"/>
        </p:xfrm>
        <a:graphic xmlns:a="http://schemas.openxmlformats.org/drawingml/2006/main">
          <a:graphicData uri="http://schemas.openxmlformats.org/drawingml/2006/table">
            <a:tbl>
              <a:tblPr/>
              <a:tblGrid>
                <a:gridCol w="5524500"/>
                <a:gridCol w="5524500"/>
              </a:tblGrid>
              <a:tr h="835025">
                <a:tc>
                  <a:txBody>
                    <a:bodyPr lIns="114300" tIns="95250" rIns="95250" bIns="76200"/>
                    <a:lstStyle/>
                    <a:p>
                      <a:r>
                        <a:rPr sz="1950" b="1">
                          <a:solidFill>
                            <a:srgbClr val="FFFFFF"/>
                          </a:solidFill>
                          <a:latin typeface="DejaVu Sans"/>
                          <a:ea typeface="DejaVu Sans"/>
                          <a:cs typeface="DejaVu Sans"/>
                        </a:rPr>
                        <a:t>Что измеряем</a:t>
                      </a:r>
                    </a:p>
                  </a:txBody>
                  <a:tcPr marL="91440" marR="91440" marT="45720" marB="45720" anchor="ctr">
                    <a:solidFill>
                      <a:srgbClr val="101C32"/>
                    </a:solidFill>
                  </a:tcPr>
                </a:tc>
                <a:tc>
                  <a:txBody>
                    <a:bodyPr lIns="114300" tIns="95250" rIns="95250" bIns="76200"/>
                    <a:lstStyle/>
                    <a:p>
                      <a:r>
                        <a:rPr sz="1950" b="1">
                          <a:solidFill>
                            <a:srgbClr val="FFFFFF"/>
                          </a:solidFill>
                          <a:latin typeface="DejaVu Sans"/>
                          <a:ea typeface="DejaVu Sans"/>
                          <a:cs typeface="DejaVu Sans"/>
                        </a:rPr>
                        <a:t>Как читаем</a:t>
                      </a:r>
                    </a:p>
                  </a:txBody>
                  <a:tcPr marL="91440" marR="91440" marT="45720" marB="45720" anchor="ctr">
                    <a:solidFill>
                      <a:srgbClr val="101C32"/>
                    </a:solidFill>
                  </a:tcPr>
                </a:tc>
              </a:tr>
              <a:tr h="835025">
                <a:tc>
                  <a:txBody>
                    <a:bodyPr lIns="114300" tIns="95250" rIns="95250" bIns="76200"/>
                    <a:lstStyle/>
                    <a:p>
                      <a:r>
                        <a:rPr sz="1950" b="0">
                          <a:solidFill>
                            <a:srgbClr val="101C32"/>
                          </a:solidFill>
                          <a:latin typeface="DejaVu Sans"/>
                          <a:ea typeface="DejaVu Sans"/>
                          <a:cs typeface="DejaVu Sans"/>
                        </a:rPr>
                        <a:t>Геометрический отступ γ</a:t>
                      </a:r>
                    </a:p>
                    <a:p>
                      <a:r>
                        <a:rPr sz="1950" b="0">
                          <a:solidFill>
                            <a:srgbClr val="101C32"/>
                          </a:solidFill>
                          <a:latin typeface="DejaVu Sans"/>
                          <a:ea typeface="DejaVu Sans"/>
                          <a:cs typeface="DejaVu Sans"/>
                        </a:rPr>
                        <a:t>Расстояние со знаком</a:t>
                      </a:r>
                    </a:p>
                  </a:txBody>
                  <a:tcPr marL="91440" marR="91440" marT="45720" marB="45720" anchor="ctr">
                    <a:solidFill>
                      <a:srgbClr val="FFFFFF"/>
                    </a:solidFill>
                  </a:tcPr>
                </a:tc>
                <a:tc>
                  <a:txBody>
                    <a:bodyPr lIns="114300" tIns="95250" rIns="95250" bIns="76200"/>
                    <a:lstStyle/>
                    <a:p>
                      <a:r>
                        <a:rPr sz="1950" b="0">
                          <a:solidFill>
                            <a:srgbClr val="101C32"/>
                          </a:solidFill>
                          <a:latin typeface="DejaVu Sans"/>
                          <a:ea typeface="DejaVu Sans"/>
                          <a:cs typeface="DejaVu Sans"/>
                        </a:rPr>
                        <a:t>+ при верном ответе, − при ошибке</a:t>
                      </a:r>
                    </a:p>
                    <a:p>
                      <a:r>
                        <a:rPr sz="1950" b="0">
                          <a:solidFill>
                            <a:srgbClr val="101C32"/>
                          </a:solidFill>
                          <a:latin typeface="DejaVu Sans"/>
                          <a:ea typeface="DejaVu Sans"/>
                          <a:cs typeface="DejaVu Sans"/>
                        </a:rPr>
                        <a:t>Для проверки нужна метка</a:t>
                      </a:r>
                    </a:p>
                  </a:txBody>
                  <a:tcPr marL="91440" marR="91440" marT="45720" marB="45720" anchor="ctr">
                    <a:solidFill>
                      <a:srgbClr val="FFFFFF"/>
                    </a:solidFill>
                  </a:tcPr>
                </a:tc>
              </a:tr>
              <a:tr h="835025">
                <a:tc>
                  <a:txBody>
                    <a:bodyPr lIns="114300" tIns="95250" rIns="95250" bIns="76200"/>
                    <a:lstStyle/>
                    <a:p>
                      <a:r>
                        <a:rPr sz="1950" b="0">
                          <a:solidFill>
                            <a:srgbClr val="101C32"/>
                          </a:solidFill>
                          <a:latin typeface="DejaVu Sans"/>
                          <a:ea typeface="DejaVu Sans"/>
                          <a:cs typeface="DejaVu Sans"/>
                        </a:rPr>
                        <a:t>Запас прочности r = |γ|</a:t>
                      </a:r>
                    </a:p>
                    <a:p>
                      <a:r>
                        <a:rPr sz="1950" b="0">
                          <a:solidFill>
                            <a:srgbClr val="101C32"/>
                          </a:solidFill>
                          <a:latin typeface="DejaVu Sans"/>
                          <a:ea typeface="DejaVu Sans"/>
                          <a:cs typeface="DejaVu Sans"/>
                        </a:rPr>
                        <a:t>Расстояние без знака</a:t>
                      </a:r>
                    </a:p>
                  </a:txBody>
                  <a:tcPr marL="91440" marR="91440" marT="45720" marB="45720" anchor="ctr">
                    <a:solidFill>
                      <a:srgbClr val="EAF0F4"/>
                    </a:solidFill>
                  </a:tcPr>
                </a:tc>
                <a:tc>
                  <a:txBody>
                    <a:bodyPr lIns="114300" tIns="95250" rIns="95250" bIns="76200"/>
                    <a:lstStyle/>
                    <a:p>
                      <a:r>
                        <a:rPr sz="1950" b="0">
                          <a:solidFill>
                            <a:srgbClr val="101C32"/>
                          </a:solidFill>
                          <a:latin typeface="DejaVu Sans"/>
                          <a:ea typeface="DejaVu Sans"/>
                          <a:cs typeface="DejaVu Sans"/>
                        </a:rPr>
                        <a:t>Какой сдвиг точки нужен,</a:t>
                      </a:r>
                    </a:p>
                    <a:p>
                      <a:r>
                        <a:rPr sz="1950" b="0">
                          <a:solidFill>
                            <a:srgbClr val="101C32"/>
                          </a:solidFill>
                          <a:latin typeface="DejaVu Sans"/>
                          <a:ea typeface="DejaVu Sans"/>
                          <a:cs typeface="DejaVu Sans"/>
                        </a:rPr>
                        <a:t>чтобы дойти до границы</a:t>
                      </a:r>
                    </a:p>
                  </a:txBody>
                  <a:tcPr marL="91440" marR="91440" marT="45720" marB="45720" anchor="ctr">
                    <a:solidFill>
                      <a:srgbClr val="EAF0F4"/>
                    </a:solidFill>
                  </a:tcPr>
                </a:tc>
              </a:tr>
            </a:tbl>
          </a:graphicData>
        </a:graphic>
      </p:graphicFrame>
      <p:sp>
        <p:nvSpPr>
          <p:cNvPr id="7" name="text-89">
            <a:extLst xmlns:a="http://schemas.openxmlformats.org/drawingml/2006/main">
              <a:ext uri="{FF2B5EF4-FFF2-40B4-BE49-F238E27FC236}">
                <a16:creationId xmlns:a16="http://schemas.microsoft.com/office/drawing/2014/main" id="{3BFB7E62-681D-4769-9545-401F1361A61C}"/>
              </a:ext>
            </a:extLst>
          </p:cNvPr>
          <p:cNvSpPr>
            <a:spLocks xmlns:a="http://schemas.openxmlformats.org/drawingml/2006/main" noGrp="1"/>
          </p:cNvSpPr>
          <p:nvPr/>
        </p:nvSpPr>
        <p:spPr>
          <a:xfrm xmlns:a="http://schemas.openxmlformats.org/drawingml/2006/main">
            <a:off x="571500" y="4953000"/>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01C32"/>
                </a:solidFill>
                <a:latin typeface="DejaVu Sans"/>
                <a:ea typeface="DejaVu Sans"/>
                <a:cs typeface="DejaVu Sans"/>
              </a:defRPr>
            </a:defPPr>
          </a:lstStyle>
          <a:p xmlns:a="http://schemas.openxmlformats.org/drawingml/2006/main">
            <a:pPr>
              <a:defRPr sz="2025" b="1">
                <a:solidFill>
                  <a:srgbClr val="101C32"/>
                </a:solidFill>
                <a:latin typeface="DejaVu Sans"/>
                <a:ea typeface="DejaVu Sans"/>
                <a:cs typeface="DejaVu Sans"/>
              </a:defRPr>
            </a:pPr>
            <a:r>
              <a:rPr sz="2025" b="1">
                <a:solidFill>
                  <a:srgbClr val="101C32"/>
                </a:solidFill>
                <a:latin typeface="DejaVu Sans"/>
                <a:ea typeface="DejaVu Sans"/>
                <a:cs typeface="DejaVu Sans"/>
              </a:rPr>
              <a:t>Пока сдвиг меньше r, линейная модель сохраняет свой ответ.</a:t>
            </a:r>
          </a:p>
          <a:p xmlns:a="http://schemas.openxmlformats.org/drawingml/2006/main">
            <a:pPr>
              <a:defRPr sz="2025" b="1">
                <a:solidFill>
                  <a:srgbClr val="101C32"/>
                </a:solidFill>
                <a:latin typeface="DejaVu Sans"/>
                <a:ea typeface="DejaVu Sans"/>
                <a:cs typeface="DejaVu Sans"/>
              </a:defRPr>
            </a:pPr>
            <a:r>
              <a:rPr sz="2025" b="1">
                <a:solidFill>
                  <a:srgbClr val="101C32"/>
                </a:solidFill>
                <a:latin typeface="DejaVu Sans"/>
                <a:ea typeface="DejaVu Sans"/>
                <a:cs typeface="DejaVu Sans"/>
              </a:rPr>
              <a:t>Даже далеко от границы ответ может оказаться ошибочным.</a:t>
            </a:r>
          </a:p>
        </p:txBody>
      </p:sp>
      <p:sp>
        <p:nvSpPr>
          <p:cNvPr id="8" name="text-90">
            <a:extLst xmlns:a="http://schemas.openxmlformats.org/drawingml/2006/main">
              <a:ext uri="{FF2B5EF4-FFF2-40B4-BE49-F238E27FC236}">
                <a16:creationId xmlns:a16="http://schemas.microsoft.com/office/drawing/2014/main" id="{7BF61797-C149-488B-98C3-C604D7A0A435}"/>
              </a:ext>
            </a:extLst>
          </p:cNvPr>
          <p:cNvSpPr>
            <a:spLocks xmlns:a="http://schemas.openxmlformats.org/drawingml/2006/main" noGrp="1"/>
          </p:cNvSpPr>
          <p:nvPr/>
        </p:nvSpPr>
        <p:spPr>
          <a:xfrm xmlns:a="http://schemas.openxmlformats.org/drawingml/2006/main">
            <a:off x="571500" y="6010275"/>
            <a:ext cx="1104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Здесь измеряем расстояние в масштабе признаков. Это не вероятность атаки.</a:t>
            </a:r>
          </a:p>
        </p:txBody>
      </p:sp>
    </p:spTree>
    <p:extLst>
      <p:ext uri="{BB962C8B-B14F-4D97-AF65-F5344CB8AC3E}">
        <p14:creationId xmlns:p14="http://schemas.microsoft.com/office/powerpoint/2010/main" val="2041808894"/>
      </p:ext>
    </p:extLst>
  </p:cSld>
</p:sld>
</file>

<file path=ppt/slides/slide12.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91">
            <a:extLst xmlns:a="http://schemas.openxmlformats.org/drawingml/2006/main">
              <a:ext uri="{FF2B5EF4-FFF2-40B4-BE49-F238E27FC236}">
                <a16:creationId xmlns:a16="http://schemas.microsoft.com/office/drawing/2014/main" id="{F85BAD27-A57C-4FE9-9C0F-D717B4893099}"/>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Что такое пограничный объект</a:t>
            </a:r>
          </a:p>
        </p:txBody>
      </p:sp>
      <p:sp>
        <p:nvSpPr>
          <p:cNvPr id="2" name="">
            <a:extLst xmlns:a="http://schemas.openxmlformats.org/drawingml/2006/main">
              <a:ext uri="{FF2B5EF4-FFF2-40B4-BE49-F238E27FC236}">
                <a16:creationId xmlns:a16="http://schemas.microsoft.com/office/drawing/2014/main" id="{0734BC35-75DB-42F3-8D9A-CD267BBB3306}"/>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3" name="text-92">
            <a:extLst xmlns:a="http://schemas.openxmlformats.org/drawingml/2006/main">
              <a:ext uri="{FF2B5EF4-FFF2-40B4-BE49-F238E27FC236}">
                <a16:creationId xmlns:a16="http://schemas.microsoft.com/office/drawing/2014/main" id="{5A1F734A-7169-4861-824C-ABEB2A0EA128}"/>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4" name="text-93">
            <a:extLst xmlns:a="http://schemas.openxmlformats.org/drawingml/2006/main">
              <a:ext uri="{FF2B5EF4-FFF2-40B4-BE49-F238E27FC236}">
                <a16:creationId xmlns:a16="http://schemas.microsoft.com/office/drawing/2014/main" id="{199C3616-94C6-4FA7-A0BA-5C742730121E}"/>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12</a:t>
            </a:r>
          </a:p>
        </p:txBody>
      </p:sp>
      <p:sp>
        <p:nvSpPr>
          <p:cNvPr id="5" name="text-94">
            <a:extLst xmlns:a="http://schemas.openxmlformats.org/drawingml/2006/main">
              <a:ext uri="{FF2B5EF4-FFF2-40B4-BE49-F238E27FC236}">
                <a16:creationId xmlns:a16="http://schemas.microsoft.com/office/drawing/2014/main" id="{96B005A5-C2ED-403A-BC95-E7F4A287F1BE}"/>
              </a:ext>
            </a:extLst>
          </p:cNvPr>
          <p:cNvSpPr>
            <a:spLocks xmlns:a="http://schemas.openxmlformats.org/drawingml/2006/main" noGrp="1"/>
          </p:cNvSpPr>
          <p:nvPr/>
        </p:nvSpPr>
        <p:spPr>
          <a:xfrm xmlns:a="http://schemas.openxmlformats.org/drawingml/2006/main">
            <a:off x="571500" y="1924050"/>
            <a:ext cx="11049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01C32"/>
                </a:solidFill>
                <a:latin typeface="DejaVu Sans"/>
                <a:ea typeface="DejaVu Sans"/>
                <a:cs typeface="DejaVu Sans"/>
              </a:defRPr>
            </a:defPPr>
          </a:lstStyle>
          <a:p xmlns:a="http://schemas.openxmlformats.org/drawingml/2006/main">
            <a:pPr>
              <a:defRPr sz="2400" b="1">
                <a:solidFill>
                  <a:srgbClr val="101C32"/>
                </a:solidFill>
                <a:latin typeface="DejaVu Sans"/>
                <a:ea typeface="DejaVu Sans"/>
                <a:cs typeface="DejaVu Sans"/>
              </a:defRPr>
            </a:pPr>
            <a:r>
              <a:rPr sz="2400" b="1">
                <a:solidFill>
                  <a:srgbClr val="101C32"/>
                </a:solidFill>
                <a:latin typeface="DejaVu Sans"/>
                <a:ea typeface="DejaVu Sans"/>
                <a:cs typeface="DejaVu Sans"/>
              </a:rPr>
              <a:t>Если точка близка к границе, достаточно немного изменить</a:t>
            </a:r>
          </a:p>
          <a:p xmlns:a="http://schemas.openxmlformats.org/drawingml/2006/main">
            <a:pPr>
              <a:defRPr sz="2400" b="1">
                <a:solidFill>
                  <a:srgbClr val="101C32"/>
                </a:solidFill>
                <a:latin typeface="DejaVu Sans"/>
                <a:ea typeface="DejaVu Sans"/>
                <a:cs typeface="DejaVu Sans"/>
              </a:defRPr>
            </a:pPr>
            <a:r>
              <a:rPr sz="2400" b="1">
                <a:solidFill>
                  <a:srgbClr val="101C32"/>
                </a:solidFill>
                <a:latin typeface="DejaVu Sans"/>
                <a:ea typeface="DejaVu Sans"/>
                <a:cs typeface="DejaVu Sans"/>
              </a:rPr>
              <a:t>признаки, чтобы модель выбрала другой класс.</a:t>
            </a:r>
          </a:p>
        </p:txBody>
      </p:sp>
      <p:graphicFrame>
        <p:nvGraphicFramePr>
          <p:cNvPr id="6" name="">
            <a:extLst xmlns:a="http://schemas.openxmlformats.org/drawingml/2006/main">
              <a:ext uri="{FF2B5EF4-FFF2-40B4-BE49-F238E27FC236}">
                <a16:creationId xmlns:a16="http://schemas.microsoft.com/office/drawing/2014/main" id="{86A858CA-517F-4334-86FB-9960F72C9074}"/>
              </a:ext>
            </a:extLst>
          </p:cNvPr>
          <p:cNvGraphicFramePr/>
          <p:nvPr/>
        </p:nvGraphicFramePr>
        <p:xfrm>
          <a:off xmlns:a="http://schemas.openxmlformats.org/drawingml/2006/main" x="571500" y="3343275"/>
          <a:ext xmlns:a="http://schemas.openxmlformats.org/drawingml/2006/main" cx="11049000" cy="2000250"/>
        </p:xfrm>
        <a:graphic xmlns:a="http://schemas.openxmlformats.org/drawingml/2006/main">
          <a:graphicData uri="http://schemas.openxmlformats.org/drawingml/2006/table">
            <a:tbl>
              <a:tblPr/>
              <a:tblGrid>
                <a:gridCol w="5524500"/>
                <a:gridCol w="5524500"/>
              </a:tblGrid>
              <a:tr h="666750">
                <a:tc>
                  <a:txBody>
                    <a:bodyPr lIns="114300" tIns="95250" rIns="95250" bIns="76200"/>
                    <a:lstStyle/>
                    <a:p>
                      <a:r>
                        <a:rPr sz="2025" b="1">
                          <a:solidFill>
                            <a:srgbClr val="FFFFFF"/>
                          </a:solidFill>
                          <a:latin typeface="DejaVu Sans"/>
                          <a:ea typeface="DejaVu Sans"/>
                          <a:cs typeface="DejaVu Sans"/>
                        </a:rPr>
                        <a:t>Зазор SVM</a:t>
                      </a:r>
                    </a:p>
                  </a:txBody>
                  <a:tcPr marL="91440" marR="91440" marT="45720" marB="45720" anchor="ctr">
                    <a:solidFill>
                      <a:srgbClr val="101C32"/>
                    </a:solidFill>
                  </a:tcPr>
                </a:tc>
                <a:tc>
                  <a:txBody>
                    <a:bodyPr lIns="114300" tIns="95250" rIns="95250" bIns="76200"/>
                    <a:lstStyle/>
                    <a:p>
                      <a:r>
                        <a:rPr sz="2025" b="1">
                          <a:solidFill>
                            <a:srgbClr val="FFFFFF"/>
                          </a:solidFill>
                          <a:latin typeface="DejaVu Sans"/>
                          <a:ea typeface="DejaVu Sans"/>
                          <a:cs typeface="DejaVu Sans"/>
                        </a:rPr>
                        <a:t>Полоса для перепроверки</a:t>
                      </a:r>
                    </a:p>
                  </a:txBody>
                  <a:tcPr marL="91440" marR="91440" marT="45720" marB="45720" anchor="ctr">
                    <a:solidFill>
                      <a:srgbClr val="101C32"/>
                    </a:solidFill>
                  </a:tcPr>
                </a:tc>
              </a:tr>
              <a:tr h="666750">
                <a:tc>
                  <a:txBody>
                    <a:bodyPr lIns="114300" tIns="95250" rIns="95250" bIns="76200"/>
                    <a:lstStyle/>
                    <a:p>
                      <a:r>
                        <a:rPr sz="2025" b="0">
                          <a:solidFill>
                            <a:srgbClr val="101C32"/>
                          </a:solidFill>
                          <a:latin typeface="DejaVu Sans"/>
                          <a:ea typeface="DejaVu Sans"/>
                          <a:cs typeface="DejaVu Sans"/>
                        </a:rPr>
                        <a:t>Используется во время обучения</a:t>
                      </a:r>
                    </a:p>
                  </a:txBody>
                  <a:tcPr marL="91440" marR="91440" marT="45720" marB="45720" anchor="ctr">
                    <a:solidFill>
                      <a:srgbClr val="FFFFFF"/>
                    </a:solidFill>
                  </a:tcPr>
                </a:tc>
                <a:tc>
                  <a:txBody>
                    <a:bodyPr lIns="114300" tIns="95250" rIns="95250" bIns="76200"/>
                    <a:lstStyle/>
                    <a:p>
                      <a:r>
                        <a:rPr sz="2025" b="0">
                          <a:solidFill>
                            <a:srgbClr val="101C32"/>
                          </a:solidFill>
                          <a:latin typeface="DejaVu Sans"/>
                          <a:ea typeface="DejaVu Sans"/>
                          <a:cs typeface="DejaVu Sans"/>
                        </a:rPr>
                        <a:t>Выделяет ответы, которые стоит проверить</a:t>
                      </a:r>
                    </a:p>
                  </a:txBody>
                  <a:tcPr marL="91440" marR="91440" marT="45720" marB="45720" anchor="ctr">
                    <a:solidFill>
                      <a:srgbClr val="FFFFFF"/>
                    </a:solidFill>
                  </a:tcPr>
                </a:tc>
              </a:tr>
              <a:tr h="666750">
                <a:tc>
                  <a:txBody>
                    <a:bodyPr lIns="114300" tIns="95250" rIns="95250" bIns="76200"/>
                    <a:lstStyle/>
                    <a:p>
                      <a:r>
                        <a:rPr sz="2025" b="0">
                          <a:solidFill>
                            <a:srgbClr val="101C32"/>
                          </a:solidFill>
                          <a:latin typeface="DejaVu Sans"/>
                          <a:ea typeface="DejaVu Sans"/>
                          <a:cs typeface="DejaVu Sans"/>
                        </a:rPr>
                        <a:t>Цену нарушений задаёт C</a:t>
                      </a:r>
                    </a:p>
                  </a:txBody>
                  <a:tcPr marL="91440" marR="91440" marT="45720" marB="45720" anchor="ctr">
                    <a:solidFill>
                      <a:srgbClr val="EAF0F4"/>
                    </a:solidFill>
                  </a:tcPr>
                </a:tc>
                <a:tc>
                  <a:txBody>
                    <a:bodyPr lIns="114300" tIns="95250" rIns="95250" bIns="76200"/>
                    <a:lstStyle/>
                    <a:p>
                      <a:r>
                        <a:rPr sz="2025" b="0">
                          <a:solidFill>
                            <a:srgbClr val="101C32"/>
                          </a:solidFill>
                          <a:latin typeface="DejaVu Sans"/>
                          <a:ea typeface="DejaVu Sans"/>
                          <a:cs typeface="DejaVu Sans"/>
                        </a:rPr>
                        <a:t>Порог выбираем отдельно</a:t>
                      </a:r>
                    </a:p>
                  </a:txBody>
                  <a:tcPr marL="91440" marR="91440" marT="45720" marB="45720" anchor="ctr">
                    <a:solidFill>
                      <a:srgbClr val="EAF0F4"/>
                    </a:solidFill>
                  </a:tcPr>
                </a:tc>
              </a:tr>
            </a:tbl>
          </a:graphicData>
        </a:graphic>
      </p:graphicFrame>
      <p:sp>
        <p:nvSpPr>
          <p:cNvPr id="7" name="">
            <a:extLst xmlns:a="http://schemas.openxmlformats.org/drawingml/2006/main">
              <a:ext uri="{FF2B5EF4-FFF2-40B4-BE49-F238E27FC236}">
                <a16:creationId xmlns:a16="http://schemas.microsoft.com/office/drawing/2014/main" id="{A20F08DB-2416-4766-81AF-4F3205639AF1}"/>
              </a:ext>
            </a:extLst>
          </p:cNvPr>
          <p:cNvSpPr>
            <a:spLocks xmlns:a="http://schemas.openxmlformats.org/drawingml/2006/main" noGrp="1"/>
          </p:cNvSpPr>
          <p:nvPr/>
        </p:nvSpPr>
        <p:spPr>
          <a:xfrm xmlns:a="http://schemas.openxmlformats.org/drawingml/2006/main">
            <a:off x="571500" y="569595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8" name="text-95">
            <a:extLst xmlns:a="http://schemas.openxmlformats.org/drawingml/2006/main">
              <a:ext uri="{FF2B5EF4-FFF2-40B4-BE49-F238E27FC236}">
                <a16:creationId xmlns:a16="http://schemas.microsoft.com/office/drawing/2014/main" id="{9DBC0F9D-1D3E-4A86-ACF4-E7D3BB8DD130}"/>
              </a:ext>
            </a:extLst>
          </p:cNvPr>
          <p:cNvSpPr>
            <a:spLocks xmlns:a="http://schemas.openxmlformats.org/drawingml/2006/main" noGrp="1"/>
          </p:cNvSpPr>
          <p:nvPr/>
        </p:nvSpPr>
        <p:spPr>
          <a:xfrm xmlns:a="http://schemas.openxmlformats.org/drawingml/2006/main">
            <a:off x="571500" y="585787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Пограничный ответ может быть и верным, и ошибочным</a:t>
            </a:r>
          </a:p>
        </p:txBody>
      </p:sp>
    </p:spTree>
    <p:extLst>
      <p:ext uri="{BB962C8B-B14F-4D97-AF65-F5344CB8AC3E}">
        <p14:creationId xmlns:p14="http://schemas.microsoft.com/office/powerpoint/2010/main" val="774386806"/>
      </p:ext>
    </p:extLst>
  </p:cSld>
</p:sld>
</file>

<file path=ppt/slides/slide13.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3" name="text-96">
            <a:extLst xmlns:a="http://schemas.openxmlformats.org/drawingml/2006/main">
              <a:ext uri="{FF2B5EF4-FFF2-40B4-BE49-F238E27FC236}">
                <a16:creationId xmlns:a16="http://schemas.microsoft.com/office/drawing/2014/main" id="{FA931A8D-AEF0-4BE5-8A04-9B9C399CB2FD}"/>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Пример: обычный трафик или SYN-flood</a:t>
            </a:r>
          </a:p>
        </p:txBody>
      </p:sp>
      <p:sp>
        <p:nvSpPr>
          <p:cNvPr id="2" name="text-97">
            <a:extLst xmlns:a="http://schemas.openxmlformats.org/drawingml/2006/main">
              <a:ext uri="{FF2B5EF4-FFF2-40B4-BE49-F238E27FC236}">
                <a16:creationId xmlns:a16="http://schemas.microsoft.com/office/drawing/2014/main" id="{3D99A379-CD8F-4CC7-BBF9-D95AB99500DB}"/>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Попробуем отличить обычный трафик сервера от SYN-flood</a:t>
            </a:r>
          </a:p>
        </p:txBody>
      </p:sp>
      <p:sp>
        <p:nvSpPr>
          <p:cNvPr id="3" name="">
            <a:extLst xmlns:a="http://schemas.openxmlformats.org/drawingml/2006/main">
              <a:ext uri="{FF2B5EF4-FFF2-40B4-BE49-F238E27FC236}">
                <a16:creationId xmlns:a16="http://schemas.microsoft.com/office/drawing/2014/main" id="{09E9BB3D-F288-4B29-82AC-28CF93335966}"/>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98">
            <a:extLst xmlns:a="http://schemas.openxmlformats.org/drawingml/2006/main">
              <a:ext uri="{FF2B5EF4-FFF2-40B4-BE49-F238E27FC236}">
                <a16:creationId xmlns:a16="http://schemas.microsoft.com/office/drawing/2014/main" id="{7542BDB2-D168-4472-A5D5-3AFB86D9121A}"/>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[4]</a:t>
            </a:r>
          </a:p>
        </p:txBody>
      </p:sp>
      <p:sp>
        <p:nvSpPr>
          <p:cNvPr id="5" name="text-99">
            <a:extLst xmlns:a="http://schemas.openxmlformats.org/drawingml/2006/main">
              <a:ext uri="{FF2B5EF4-FFF2-40B4-BE49-F238E27FC236}">
                <a16:creationId xmlns:a16="http://schemas.microsoft.com/office/drawing/2014/main" id="{26F008C6-951E-4D1A-8FBE-3793AE5FC6E1}"/>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13</a:t>
            </a:r>
          </a:p>
        </p:txBody>
      </p:sp>
      <p:sp>
        <p:nvSpPr>
          <p:cNvPr id="6" name="text-100">
            <a:extLst xmlns:a="http://schemas.openxmlformats.org/drawingml/2006/main">
              <a:ext uri="{FF2B5EF4-FFF2-40B4-BE49-F238E27FC236}">
                <a16:creationId xmlns:a16="http://schemas.microsoft.com/office/drawing/2014/main" id="{E876456C-7F6A-4B76-A651-90428EB43ECC}"/>
              </a:ext>
            </a:extLst>
          </p:cNvPr>
          <p:cNvSpPr>
            <a:spLocks xmlns:a="http://schemas.openxmlformats.org/drawingml/2006/main" noGrp="1"/>
          </p:cNvSpPr>
          <p:nvPr/>
        </p:nvSpPr>
        <p:spPr>
          <a:xfrm xmlns:a="http://schemas.openxmlformats.org/drawingml/2006/main">
            <a:off x="571500" y="215265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Обычное TCP-подключение</a:t>
            </a:r>
          </a:p>
        </p:txBody>
      </p:sp>
      <p:sp>
        <p:nvSpPr>
          <p:cNvPr id="7" name="text-101">
            <a:extLst xmlns:a="http://schemas.openxmlformats.org/drawingml/2006/main">
              <a:ext uri="{FF2B5EF4-FFF2-40B4-BE49-F238E27FC236}">
                <a16:creationId xmlns:a16="http://schemas.microsoft.com/office/drawing/2014/main" id="{1DB11294-C283-433F-9DE0-8C9420A683C1}"/>
              </a:ext>
            </a:extLst>
          </p:cNvPr>
          <p:cNvSpPr>
            <a:spLocks xmlns:a="http://schemas.openxmlformats.org/drawingml/2006/main" noGrp="1"/>
          </p:cNvSpPr>
          <p:nvPr/>
        </p:nvSpPr>
        <p:spPr>
          <a:xfrm xmlns:a="http://schemas.openxmlformats.org/drawingml/2006/main">
            <a:off x="571500" y="2686050"/>
            <a:ext cx="5238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Клиент отправляет SYN.</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Сервер отвечает SYN-ACK.</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Клиент подтверждает: ACK.</a:t>
            </a:r>
          </a:p>
        </p:txBody>
      </p:sp>
      <p:sp>
        <p:nvSpPr>
          <p:cNvPr id="8" name="text-102">
            <a:extLst xmlns:a="http://schemas.openxmlformats.org/drawingml/2006/main">
              <a:ext uri="{FF2B5EF4-FFF2-40B4-BE49-F238E27FC236}">
                <a16:creationId xmlns:a16="http://schemas.microsoft.com/office/drawing/2014/main" id="{D79D1827-5AFE-4305-A95B-7E63694DFD6B}"/>
              </a:ext>
            </a:extLst>
          </p:cNvPr>
          <p:cNvSpPr>
            <a:spLocks xmlns:a="http://schemas.openxmlformats.org/drawingml/2006/main" noGrp="1"/>
          </p:cNvSpPr>
          <p:nvPr/>
        </p:nvSpPr>
        <p:spPr>
          <a:xfrm xmlns:a="http://schemas.openxmlformats.org/drawingml/2006/main">
            <a:off x="6381750" y="215265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E85555"/>
                </a:solidFill>
                <a:latin typeface="DejaVu Sans"/>
                <a:ea typeface="DejaVu Sans"/>
                <a:cs typeface="DejaVu Sans"/>
              </a:defRPr>
            </a:defPPr>
          </a:lstStyle>
          <a:p xmlns:a="http://schemas.openxmlformats.org/drawingml/2006/main">
            <a:pPr>
              <a:defRPr sz="2175" b="1">
                <a:solidFill>
                  <a:srgbClr val="E85555"/>
                </a:solidFill>
                <a:latin typeface="DejaVu Sans"/>
                <a:ea typeface="DejaVu Sans"/>
                <a:cs typeface="DejaVu Sans"/>
              </a:defRPr>
            </a:pPr>
            <a:r>
              <a:rPr sz="2175" b="1">
                <a:solidFill>
                  <a:srgbClr val="E85555"/>
                </a:solidFill>
                <a:latin typeface="DejaVu Sans"/>
                <a:ea typeface="DejaVu Sans"/>
                <a:cs typeface="DejaVu Sans"/>
              </a:rPr>
              <a:t>SYN-flood</a:t>
            </a:r>
          </a:p>
        </p:txBody>
      </p:sp>
      <p:sp>
        <p:nvSpPr>
          <p:cNvPr id="9" name="text-103">
            <a:extLst xmlns:a="http://schemas.openxmlformats.org/drawingml/2006/main">
              <a:ext uri="{FF2B5EF4-FFF2-40B4-BE49-F238E27FC236}">
                <a16:creationId xmlns:a16="http://schemas.microsoft.com/office/drawing/2014/main" id="{E1F51570-9751-44FF-B613-0C1C94642CFE}"/>
              </a:ext>
            </a:extLst>
          </p:cNvPr>
          <p:cNvSpPr>
            <a:spLocks xmlns:a="http://schemas.openxmlformats.org/drawingml/2006/main" noGrp="1"/>
          </p:cNvSpPr>
          <p:nvPr/>
        </p:nvSpPr>
        <p:spPr>
          <a:xfrm xmlns:a="http://schemas.openxmlformats.org/drawingml/2006/main">
            <a:off x="6381750" y="2686050"/>
            <a:ext cx="5238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Сервер получает много SYN,</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но рукопожатия не завершаются.</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Очередь может заполниться.</a:t>
            </a:r>
          </a:p>
        </p:txBody>
      </p:sp>
      <p:sp>
        <p:nvSpPr>
          <p:cNvPr id="10" name="text-104">
            <a:extLst xmlns:a="http://schemas.openxmlformats.org/drawingml/2006/main">
              <a:ext uri="{FF2B5EF4-FFF2-40B4-BE49-F238E27FC236}">
                <a16:creationId xmlns:a16="http://schemas.microsoft.com/office/drawing/2014/main" id="{8CB519CE-C491-4572-91BF-569732F5B7B8}"/>
              </a:ext>
            </a:extLst>
          </p:cNvPr>
          <p:cNvSpPr>
            <a:spLocks xmlns:a="http://schemas.openxmlformats.org/drawingml/2006/main" noGrp="1"/>
          </p:cNvSpPr>
          <p:nvPr/>
        </p:nvSpPr>
        <p:spPr>
          <a:xfrm xmlns:a="http://schemas.openxmlformats.org/drawingml/2006/main">
            <a:off x="571500" y="4600575"/>
            <a:ext cx="11049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01C32"/>
                </a:solidFill>
                <a:latin typeface="DejaVu Sans"/>
                <a:ea typeface="DejaVu Sans"/>
                <a:cs typeface="DejaVu Sans"/>
              </a:defRPr>
            </a:defPPr>
          </a:lstStyle>
          <a:p xmlns:a="http://schemas.openxmlformats.org/drawingml/2006/main">
            <a:pPr>
              <a:defRPr sz="2175" b="1">
                <a:solidFill>
                  <a:srgbClr val="101C32"/>
                </a:solidFill>
                <a:latin typeface="DejaVu Sans"/>
                <a:ea typeface="DejaVu Sans"/>
                <a:cs typeface="DejaVu Sans"/>
              </a:defRPr>
            </a:pPr>
            <a:r>
              <a:rPr sz="2175" b="1">
                <a:solidFill>
                  <a:srgbClr val="101C32"/>
                </a:solidFill>
                <a:latin typeface="DejaVu Sans"/>
                <a:ea typeface="DejaVu Sans"/>
                <a:cs typeface="DejaVu Sans"/>
              </a:rPr>
              <a:t>Из-за заполненной очереди обычным клиентам труднее подключиться.</a:t>
            </a:r>
          </a:p>
          <a:p xmlns:a="http://schemas.openxmlformats.org/drawingml/2006/main">
            <a:pPr>
              <a:defRPr sz="2175" b="1">
                <a:solidFill>
                  <a:srgbClr val="101C32"/>
                </a:solidFill>
                <a:latin typeface="DejaVu Sans"/>
                <a:ea typeface="DejaVu Sans"/>
                <a:cs typeface="DejaVu Sans"/>
              </a:defRPr>
            </a:pPr>
            <a:r>
              <a:rPr sz="2175" b="1">
                <a:solidFill>
                  <a:srgbClr val="101C32"/>
                </a:solidFill>
                <a:latin typeface="DejaVu Sans"/>
                <a:ea typeface="DejaVu Sans"/>
                <a:cs typeface="DejaVu Sans"/>
              </a:rPr>
              <a:t>Но большое число SYN бывает и при легитимной нагрузке.</a:t>
            </a:r>
          </a:p>
        </p:txBody>
      </p:sp>
      <p:sp>
        <p:nvSpPr>
          <p:cNvPr id="11" name="">
            <a:extLst xmlns:a="http://schemas.openxmlformats.org/drawingml/2006/main">
              <a:ext uri="{FF2B5EF4-FFF2-40B4-BE49-F238E27FC236}">
                <a16:creationId xmlns:a16="http://schemas.microsoft.com/office/drawing/2014/main" id="{5409D5A7-978E-4C56-B678-924B878127DC}"/>
              </a:ext>
            </a:extLst>
          </p:cNvPr>
          <p:cNvSpPr>
            <a:spLocks xmlns:a="http://schemas.openxmlformats.org/drawingml/2006/main" noGrp="1"/>
          </p:cNvSpPr>
          <p:nvPr/>
        </p:nvSpPr>
        <p:spPr>
          <a:xfrm xmlns:a="http://schemas.openxmlformats.org/drawingml/2006/main">
            <a:off x="571500" y="572452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2" name="text-105">
            <a:extLst xmlns:a="http://schemas.openxmlformats.org/drawingml/2006/main">
              <a:ext uri="{FF2B5EF4-FFF2-40B4-BE49-F238E27FC236}">
                <a16:creationId xmlns:a16="http://schemas.microsoft.com/office/drawing/2014/main" id="{9CD5084C-FA7C-4FA2-A91D-082E3F5C34A8}"/>
              </a:ext>
            </a:extLst>
          </p:cNvPr>
          <p:cNvSpPr>
            <a:spLocks xmlns:a="http://schemas.openxmlformats.org/drawingml/2006/main" noGrp="1"/>
          </p:cNvSpPr>
          <p:nvPr/>
        </p:nvSpPr>
        <p:spPr>
          <a:xfrm xmlns:a="http://schemas.openxmlformats.org/drawingml/2006/main">
            <a:off x="571500" y="588645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Для решения возьмём два признака трафика</a:t>
            </a:r>
          </a:p>
        </p:txBody>
      </p:sp>
    </p:spTree>
    <p:extLst>
      <p:ext uri="{BB962C8B-B14F-4D97-AF65-F5344CB8AC3E}">
        <p14:creationId xmlns:p14="http://schemas.microsoft.com/office/powerpoint/2010/main" val="724770808"/>
      </p:ext>
    </p:extLst>
  </p:cSld>
</p:sld>
</file>

<file path=ppt/slides/slide14.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106">
            <a:extLst xmlns:a="http://schemas.openxmlformats.org/drawingml/2006/main">
              <a:ext uri="{FF2B5EF4-FFF2-40B4-BE49-F238E27FC236}">
                <a16:creationId xmlns:a16="http://schemas.microsoft.com/office/drawing/2014/main" id="{E6559989-B76C-49EA-8A7F-68E940A335DE}"/>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Из трафика получаем признаки</a:t>
            </a:r>
          </a:p>
        </p:txBody>
      </p:sp>
      <p:sp>
        <p:nvSpPr>
          <p:cNvPr id="2" name="text-107">
            <a:extLst xmlns:a="http://schemas.openxmlformats.org/drawingml/2006/main">
              <a:ext uri="{FF2B5EF4-FFF2-40B4-BE49-F238E27FC236}">
                <a16:creationId xmlns:a16="http://schemas.microsoft.com/office/drawing/2014/main" id="{49E47AD7-E35B-48DA-81D8-7FBD278D7DB4}"/>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Наблюдаем трафик к одному IP и порту 10 секунд. Этот отрезок называем окном.</a:t>
            </a:r>
          </a:p>
        </p:txBody>
      </p:sp>
      <p:sp>
        <p:nvSpPr>
          <p:cNvPr id="3" name="">
            <a:extLst xmlns:a="http://schemas.openxmlformats.org/drawingml/2006/main">
              <a:ext uri="{FF2B5EF4-FFF2-40B4-BE49-F238E27FC236}">
                <a16:creationId xmlns:a16="http://schemas.microsoft.com/office/drawing/2014/main" id="{DA8907C6-DE1F-4ED1-8F3B-30E311E58ADE}"/>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08">
            <a:extLst xmlns:a="http://schemas.openxmlformats.org/drawingml/2006/main">
              <a:ext uri="{FF2B5EF4-FFF2-40B4-BE49-F238E27FC236}">
                <a16:creationId xmlns:a16="http://schemas.microsoft.com/office/drawing/2014/main" id="{242AA251-FAB3-42A2-A7AC-D078734B2F16}"/>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[4]. Измерения и данные учебного примера</a:t>
            </a:r>
          </a:p>
        </p:txBody>
      </p:sp>
      <p:sp>
        <p:nvSpPr>
          <p:cNvPr id="5" name="text-109">
            <a:extLst xmlns:a="http://schemas.openxmlformats.org/drawingml/2006/main">
              <a:ext uri="{FF2B5EF4-FFF2-40B4-BE49-F238E27FC236}">
                <a16:creationId xmlns:a16="http://schemas.microsoft.com/office/drawing/2014/main" id="{7B061884-1133-4BB6-BFFF-2295F811CFE4}"/>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14</a:t>
            </a:r>
          </a:p>
        </p:txBody>
      </p:sp>
      <p:graphicFrame>
        <p:nvGraphicFramePr>
          <p:cNvPr id="6" name="">
            <a:extLst xmlns:a="http://schemas.openxmlformats.org/drawingml/2006/main">
              <a:ext uri="{FF2B5EF4-FFF2-40B4-BE49-F238E27FC236}">
                <a16:creationId xmlns:a16="http://schemas.microsoft.com/office/drawing/2014/main" id="{AFEF1A72-85C9-4B86-8F36-8DB99ABA51A0}"/>
              </a:ext>
            </a:extLst>
          </p:cNvPr>
          <p:cNvGraphicFramePr/>
          <p:nvPr/>
        </p:nvGraphicFramePr>
        <p:xfrm>
          <a:off xmlns:a="http://schemas.openxmlformats.org/drawingml/2006/main" x="571500" y="2124075"/>
          <a:ext xmlns:a="http://schemas.openxmlformats.org/drawingml/2006/main" cx="11049000" cy="1905000"/>
        </p:xfrm>
        <a:graphic xmlns:a="http://schemas.openxmlformats.org/drawingml/2006/main">
          <a:graphicData uri="http://schemas.openxmlformats.org/drawingml/2006/table">
            <a:tbl>
              <a:tblPr/>
              <a:tblGrid>
                <a:gridCol w="3370881"/>
                <a:gridCol w="5243593"/>
                <a:gridCol w="2434525"/>
              </a:tblGrid>
              <a:tr h="635000">
                <a:tc>
                  <a:txBody>
                    <a:bodyPr lIns="114300" tIns="95250" rIns="95250" bIns="76200"/>
                    <a:lstStyle/>
                    <a:p>
                      <a:r>
                        <a:rPr sz="1875" b="1">
                          <a:solidFill>
                            <a:srgbClr val="FFFFFF"/>
                          </a:solidFill>
                          <a:latin typeface="DejaVu Sans"/>
                          <a:ea typeface="DejaVu Sans"/>
                          <a:cs typeface="DejaVu Sans"/>
                        </a:rPr>
                        <a:t>Признак</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Смысл</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Масштаб в коде</a:t>
                      </a:r>
                    </a:p>
                  </a:txBody>
                  <a:tcPr marL="91440" marR="91440" marT="45720" marB="45720" anchor="ctr">
                    <a:solidFill>
                      <a:srgbClr val="101C32"/>
                    </a:solidFill>
                  </a:tcPr>
                </a:tc>
              </a:tr>
              <a:tr h="635000">
                <a:tc>
                  <a:txBody>
                    <a:bodyPr lIns="114300" tIns="95250" rIns="95250" bIns="76200"/>
                    <a:lstStyle/>
                    <a:p>
                      <a:r>
                        <a:rPr sz="1875" b="0">
                          <a:solidFill>
                            <a:srgbClr val="101C32"/>
                          </a:solidFill>
                          <a:latin typeface="DejaVu Sans"/>
                          <a:ea typeface="DejaVu Sans"/>
                          <a:cs typeface="DejaVu Sans"/>
                        </a:rPr>
                        <a:t>Входящие SYN/с</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Сколько SYN приходит за секунду</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 1000</a:t>
                      </a:r>
                    </a:p>
                  </a:txBody>
                  <a:tcPr marL="91440" marR="91440" marT="45720" marB="45720" anchor="ctr">
                    <a:solidFill>
                      <a:srgbClr val="FFFFFF"/>
                    </a:solidFill>
                  </a:tcPr>
                </a:tc>
              </a:tr>
              <a:tr h="635000">
                <a:tc>
                  <a:txBody>
                    <a:bodyPr lIns="114300" tIns="95250" rIns="95250" bIns="76200"/>
                    <a:lstStyle/>
                    <a:p>
                      <a:r>
                        <a:rPr sz="1875" b="0">
                          <a:solidFill>
                            <a:srgbClr val="101C32"/>
                          </a:solidFill>
                          <a:latin typeface="DejaVu Sans"/>
                          <a:ea typeface="DejaVu Sans"/>
                          <a:cs typeface="DejaVu Sans"/>
                        </a:rPr>
                        <a:t>Незавершённые попытки, %</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Какая доля попыток не завершилась за 3 с</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 100</a:t>
                      </a:r>
                    </a:p>
                  </a:txBody>
                  <a:tcPr marL="91440" marR="91440" marT="45720" marB="45720" anchor="ctr">
                    <a:solidFill>
                      <a:srgbClr val="EAF0F4"/>
                    </a:solidFill>
                  </a:tcPr>
                </a:tc>
              </a:tr>
            </a:tbl>
          </a:graphicData>
        </a:graphic>
      </p:graphicFrame>
      <p:sp>
        <p:nvSpPr>
          <p:cNvPr id="7" name="text-110">
            <a:extLst xmlns:a="http://schemas.openxmlformats.org/drawingml/2006/main">
              <a:ext uri="{FF2B5EF4-FFF2-40B4-BE49-F238E27FC236}">
                <a16:creationId xmlns:a16="http://schemas.microsoft.com/office/drawing/2014/main" id="{6897EF0B-7D5A-4AE4-AE98-4D5863BC3D25}"/>
              </a:ext>
            </a:extLst>
          </p:cNvPr>
          <p:cNvSpPr>
            <a:spLocks xmlns:a="http://schemas.openxmlformats.org/drawingml/2006/main" noGrp="1"/>
          </p:cNvSpPr>
          <p:nvPr/>
        </p:nvSpPr>
        <p:spPr>
          <a:xfrm xmlns:a="http://schemas.openxmlformats.org/drawingml/2006/main">
            <a:off x="571500" y="4371975"/>
            <a:ext cx="1104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01C32"/>
                </a:solidFill>
                <a:latin typeface="DejaVu Sans"/>
                <a:ea typeface="DejaVu Sans"/>
                <a:cs typeface="DejaVu Sans"/>
              </a:defRPr>
            </a:defPPr>
          </a:lstStyle>
          <a:p xmlns:a="http://schemas.openxmlformats.org/drawingml/2006/main">
            <a:pPr>
              <a:defRPr sz="2100" b="1">
                <a:solidFill>
                  <a:srgbClr val="101C32"/>
                </a:solidFill>
                <a:latin typeface="DejaVu Sans"/>
                <a:ea typeface="DejaVu Sans"/>
                <a:cs typeface="DejaVu Sans"/>
              </a:defRPr>
            </a:pPr>
            <a:r>
              <a:rPr sz="2100" b="1">
                <a:solidFill>
                  <a:srgbClr val="101C32"/>
                </a:solidFill>
                <a:latin typeface="DejaVu Sans"/>
                <a:ea typeface="DejaVu Sans"/>
                <a:cs typeface="DejaVu Sans"/>
              </a:rPr>
              <a:t>Вручную задаём 20 примеров для обучения: 10 нормы и 10 атаки.</a:t>
            </a:r>
          </a:p>
          <a:p xmlns:a="http://schemas.openxmlformats.org/drawingml/2006/main">
            <a:pPr>
              <a:defRPr sz="2100" b="1">
                <a:solidFill>
                  <a:srgbClr val="101C32"/>
                </a:solidFill>
                <a:latin typeface="DejaVu Sans"/>
                <a:ea typeface="DejaVu Sans"/>
                <a:cs typeface="DejaVu Sans"/>
              </a:defRPr>
            </a:pPr>
            <a:r>
              <a:rPr sz="2100" b="1">
                <a:solidFill>
                  <a:srgbClr val="101C32"/>
                </a:solidFill>
                <a:latin typeface="DejaVu Sans"/>
                <a:ea typeface="DejaVu Sans"/>
                <a:cs typeface="DejaVu Sans"/>
              </a:rPr>
              <a:t>Ещё 8 берём для разбора результатов. Реальный трафик не используем.</a:t>
            </a:r>
          </a:p>
        </p:txBody>
      </p:sp>
      <p:sp>
        <p:nvSpPr>
          <p:cNvPr id="8" name="text-111">
            <a:extLst xmlns:a="http://schemas.openxmlformats.org/drawingml/2006/main">
              <a:ext uri="{FF2B5EF4-FFF2-40B4-BE49-F238E27FC236}">
                <a16:creationId xmlns:a16="http://schemas.microsoft.com/office/drawing/2014/main" id="{76345DAA-A639-4E8F-82AF-5E12F081BEDC}"/>
              </a:ext>
            </a:extLst>
          </p:cNvPr>
          <p:cNvSpPr>
            <a:spLocks xmlns:a="http://schemas.openxmlformats.org/drawingml/2006/main" noGrp="1"/>
          </p:cNvSpPr>
          <p:nvPr/>
        </p:nvSpPr>
        <p:spPr>
          <a:xfrm xmlns:a="http://schemas.openxmlformats.org/drawingml/2006/main">
            <a:off x="571500" y="55721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Для таких измерений нужно видеть оба направления трафика. Повторы учитываем</a:t>
            </a:r>
          </a:p>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в скорости, но объединяем в одну попытку при расчёте доли. Окна без SYN исключаем.</a:t>
            </a:r>
          </a:p>
        </p:txBody>
      </p:sp>
    </p:spTree>
    <p:extLst>
      <p:ext uri="{BB962C8B-B14F-4D97-AF65-F5344CB8AC3E}">
        <p14:creationId xmlns:p14="http://schemas.microsoft.com/office/powerpoint/2010/main" val="1180940678"/>
      </p:ext>
    </p:extLst>
  </p:cSld>
</p:sld>
</file>

<file path=ppt/slides/slide15.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0" name="text-112">
            <a:extLst xmlns:a="http://schemas.openxmlformats.org/drawingml/2006/main">
              <a:ext uri="{FF2B5EF4-FFF2-40B4-BE49-F238E27FC236}">
                <a16:creationId xmlns:a16="http://schemas.microsoft.com/office/drawing/2014/main" id="{D77C54B7-B7EB-4A4A-8A1F-D9E9B5D683BB}"/>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Выбираем два эталона трафика</a:t>
            </a:r>
          </a:p>
        </p:txBody>
      </p:sp>
      <p:sp>
        <p:nvSpPr>
          <p:cNvPr id="2" name="text-113">
            <a:extLst xmlns:a="http://schemas.openxmlformats.org/drawingml/2006/main">
              <a:ext uri="{FF2B5EF4-FFF2-40B4-BE49-F238E27FC236}">
                <a16:creationId xmlns:a16="http://schemas.microsoft.com/office/drawing/2014/main" id="{D897DA4F-DFCE-48C6-A2B1-A14093F34071}"/>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Среди обучающих окон ищем медоид каждого класса</a:t>
            </a:r>
          </a:p>
        </p:txBody>
      </p:sp>
      <p:sp>
        <p:nvSpPr>
          <p:cNvPr id="3" name="">
            <a:extLst xmlns:a="http://schemas.openxmlformats.org/drawingml/2006/main">
              <a:ext uri="{FF2B5EF4-FFF2-40B4-BE49-F238E27FC236}">
                <a16:creationId xmlns:a16="http://schemas.microsoft.com/office/drawing/2014/main" id="{3B0F1475-2C89-4F2D-B5CD-974DD42BC683}"/>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14">
            <a:extLst xmlns:a="http://schemas.openxmlformats.org/drawingml/2006/main">
              <a:ext uri="{FF2B5EF4-FFF2-40B4-BE49-F238E27FC236}">
                <a16:creationId xmlns:a16="http://schemas.microsoft.com/office/drawing/2014/main" id="{199C44B2-1CD9-4727-B2CC-5B2F49726AD0}"/>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[3]. Расчёт в Colab</a:t>
            </a:r>
          </a:p>
        </p:txBody>
      </p:sp>
      <p:sp>
        <p:nvSpPr>
          <p:cNvPr id="5" name="text-115">
            <a:extLst xmlns:a="http://schemas.openxmlformats.org/drawingml/2006/main">
              <a:ext uri="{FF2B5EF4-FFF2-40B4-BE49-F238E27FC236}">
                <a16:creationId xmlns:a16="http://schemas.microsoft.com/office/drawing/2014/main" id="{E53D0174-1442-4ACC-8448-0E6F06973E88}"/>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15</a:t>
            </a:r>
          </a:p>
        </p:txBody>
      </p:sp>
      <p:graphicFrame>
        <p:nvGraphicFramePr>
          <p:cNvPr id="6" name="">
            <a:extLst xmlns:a="http://schemas.openxmlformats.org/drawingml/2006/main">
              <a:ext uri="{FF2B5EF4-FFF2-40B4-BE49-F238E27FC236}">
                <a16:creationId xmlns:a16="http://schemas.microsoft.com/office/drawing/2014/main" id="{91C0E2D4-4D02-4863-8DFA-BA255669B4C0}"/>
              </a:ext>
            </a:extLst>
          </p:cNvPr>
          <p:cNvGraphicFramePr/>
          <p:nvPr/>
        </p:nvGraphicFramePr>
        <p:xfrm>
          <a:off xmlns:a="http://schemas.openxmlformats.org/drawingml/2006/main" x="571500" y="2257425"/>
          <a:ext xmlns:a="http://schemas.openxmlformats.org/drawingml/2006/main" cx="11049000" cy="2076450"/>
        </p:xfrm>
        <a:graphic xmlns:a="http://schemas.openxmlformats.org/drawingml/2006/main">
          <a:graphicData uri="http://schemas.openxmlformats.org/drawingml/2006/table">
            <a:tbl>
              <a:tblPr/>
              <a:tblGrid>
                <a:gridCol w="3069167"/>
                <a:gridCol w="2455333"/>
                <a:gridCol w="2455333"/>
                <a:gridCol w="3069167"/>
              </a:tblGrid>
              <a:tr h="692150">
                <a:tc>
                  <a:txBody>
                    <a:bodyPr lIns="114300" tIns="95250" rIns="95250" bIns="76200"/>
                    <a:lstStyle/>
                    <a:p>
                      <a:r>
                        <a:rPr sz="2175" b="1">
                          <a:solidFill>
                            <a:srgbClr val="FFFFFF"/>
                          </a:solidFill>
                          <a:latin typeface="DejaVu Sans"/>
                          <a:ea typeface="DejaVu Sans"/>
                          <a:cs typeface="DejaVu Sans"/>
                        </a:rPr>
                        <a:t>Класс</a:t>
                      </a:r>
                    </a:p>
                  </a:txBody>
                  <a:tcPr marL="91440" marR="91440" marT="45720" marB="45720" anchor="ctr">
                    <a:solidFill>
                      <a:srgbClr val="101C32"/>
                    </a:solidFill>
                  </a:tcPr>
                </a:tc>
                <a:tc>
                  <a:txBody>
                    <a:bodyPr lIns="114300" tIns="95250" rIns="95250" bIns="76200"/>
                    <a:lstStyle/>
                    <a:p>
                      <a:r>
                        <a:rPr sz="2175" b="1">
                          <a:solidFill>
                            <a:srgbClr val="FFFFFF"/>
                          </a:solidFill>
                          <a:latin typeface="DejaVu Sans"/>
                          <a:ea typeface="DejaVu Sans"/>
                          <a:cs typeface="DejaVu Sans"/>
                        </a:rPr>
                        <a:t>Эталон</a:t>
                      </a:r>
                    </a:p>
                  </a:txBody>
                  <a:tcPr marL="91440" marR="91440" marT="45720" marB="45720" anchor="ctr">
                    <a:solidFill>
                      <a:srgbClr val="101C32"/>
                    </a:solidFill>
                  </a:tcPr>
                </a:tc>
                <a:tc>
                  <a:txBody>
                    <a:bodyPr lIns="114300" tIns="95250" rIns="95250" bIns="76200"/>
                    <a:lstStyle/>
                    <a:p>
                      <a:r>
                        <a:rPr sz="2175" b="1">
                          <a:solidFill>
                            <a:srgbClr val="FFFFFF"/>
                          </a:solidFill>
                          <a:latin typeface="DejaVu Sans"/>
                          <a:ea typeface="DejaVu Sans"/>
                          <a:cs typeface="DejaVu Sans"/>
                        </a:rPr>
                        <a:t>SYN/с</a:t>
                      </a:r>
                    </a:p>
                  </a:txBody>
                  <a:tcPr marL="91440" marR="91440" marT="45720" marB="45720" anchor="ctr">
                    <a:solidFill>
                      <a:srgbClr val="101C32"/>
                    </a:solidFill>
                  </a:tcPr>
                </a:tc>
                <a:tc>
                  <a:txBody>
                    <a:bodyPr lIns="114300" tIns="95250" rIns="95250" bIns="76200"/>
                    <a:lstStyle/>
                    <a:p>
                      <a:r>
                        <a:rPr sz="2175" b="1">
                          <a:solidFill>
                            <a:srgbClr val="FFFFFF"/>
                          </a:solidFill>
                          <a:latin typeface="DejaVu Sans"/>
                          <a:ea typeface="DejaVu Sans"/>
                          <a:cs typeface="DejaVu Sans"/>
                        </a:rPr>
                        <a:t>Не завершены</a:t>
                      </a:r>
                    </a:p>
                  </a:txBody>
                  <a:tcPr marL="91440" marR="91440" marT="45720" marB="45720" anchor="ctr">
                    <a:solidFill>
                      <a:srgbClr val="101C32"/>
                    </a:solidFill>
                  </a:tcPr>
                </a:tc>
              </a:tr>
              <a:tr h="692150">
                <a:tc>
                  <a:txBody>
                    <a:bodyPr lIns="114300" tIns="95250" rIns="95250" bIns="76200"/>
                    <a:lstStyle/>
                    <a:p>
                      <a:r>
                        <a:rPr sz="2175"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2175" b="0">
                          <a:solidFill>
                            <a:srgbClr val="101C32"/>
                          </a:solidFill>
                          <a:latin typeface="DejaVu Sans"/>
                          <a:ea typeface="DejaVu Sans"/>
                          <a:cs typeface="DejaVu Sans"/>
                        </a:rPr>
                        <a:t>N05</a:t>
                      </a:r>
                    </a:p>
                  </a:txBody>
                  <a:tcPr marL="91440" marR="91440" marT="45720" marB="45720" anchor="ctr">
                    <a:solidFill>
                      <a:srgbClr val="FFFFFF"/>
                    </a:solidFill>
                  </a:tcPr>
                </a:tc>
                <a:tc>
                  <a:txBody>
                    <a:bodyPr lIns="114300" tIns="95250" rIns="95250" bIns="76200"/>
                    <a:lstStyle/>
                    <a:p>
                      <a:r>
                        <a:rPr sz="2175" b="0">
                          <a:solidFill>
                            <a:srgbClr val="101C32"/>
                          </a:solidFill>
                          <a:latin typeface="DejaVu Sans"/>
                          <a:ea typeface="DejaVu Sans"/>
                          <a:cs typeface="DejaVu Sans"/>
                        </a:rPr>
                        <a:t>600</a:t>
                      </a:r>
                    </a:p>
                  </a:txBody>
                  <a:tcPr marL="91440" marR="91440" marT="45720" marB="45720" anchor="ctr">
                    <a:solidFill>
                      <a:srgbClr val="FFFFFF"/>
                    </a:solidFill>
                  </a:tcPr>
                </a:tc>
                <a:tc>
                  <a:txBody>
                    <a:bodyPr lIns="114300" tIns="95250" rIns="95250" bIns="76200"/>
                    <a:lstStyle/>
                    <a:p>
                      <a:r>
                        <a:rPr sz="2175" b="0">
                          <a:solidFill>
                            <a:srgbClr val="101C32"/>
                          </a:solidFill>
                          <a:latin typeface="DejaVu Sans"/>
                          <a:ea typeface="DejaVu Sans"/>
                          <a:cs typeface="DejaVu Sans"/>
                        </a:rPr>
                        <a:t>15%</a:t>
                      </a:r>
                    </a:p>
                  </a:txBody>
                  <a:tcPr marL="91440" marR="91440" marT="45720" marB="45720" anchor="ctr">
                    <a:solidFill>
                      <a:srgbClr val="FFFFFF"/>
                    </a:solidFill>
                  </a:tcPr>
                </a:tc>
              </a:tr>
              <a:tr h="692150">
                <a:tc>
                  <a:txBody>
                    <a:bodyPr lIns="114300" tIns="95250" rIns="95250" bIns="76200"/>
                    <a:lstStyle/>
                    <a:p>
                      <a:r>
                        <a:rPr sz="2175" b="0">
                          <a:solidFill>
                            <a:srgbClr val="101C32"/>
                          </a:solidFill>
                          <a:latin typeface="DejaVu Sans"/>
                          <a:ea typeface="DejaVu Sans"/>
                          <a:cs typeface="DejaVu Sans"/>
                        </a:rPr>
                        <a:t>SYN-flood</a:t>
                      </a:r>
                    </a:p>
                  </a:txBody>
                  <a:tcPr marL="91440" marR="91440" marT="45720" marB="45720" anchor="ctr">
                    <a:solidFill>
                      <a:srgbClr val="EAF0F4"/>
                    </a:solidFill>
                  </a:tcPr>
                </a:tc>
                <a:tc>
                  <a:txBody>
                    <a:bodyPr lIns="114300" tIns="95250" rIns="95250" bIns="76200"/>
                    <a:lstStyle/>
                    <a:p>
                      <a:r>
                        <a:rPr sz="2175" b="0">
                          <a:solidFill>
                            <a:srgbClr val="101C32"/>
                          </a:solidFill>
                          <a:latin typeface="DejaVu Sans"/>
                          <a:ea typeface="DejaVu Sans"/>
                          <a:cs typeface="DejaVu Sans"/>
                        </a:rPr>
                        <a:t>A06</a:t>
                      </a:r>
                    </a:p>
                  </a:txBody>
                  <a:tcPr marL="91440" marR="91440" marT="45720" marB="45720" anchor="ctr">
                    <a:solidFill>
                      <a:srgbClr val="EAF0F4"/>
                    </a:solidFill>
                  </a:tcPr>
                </a:tc>
                <a:tc>
                  <a:txBody>
                    <a:bodyPr lIns="114300" tIns="95250" rIns="95250" bIns="76200"/>
                    <a:lstStyle/>
                    <a:p>
                      <a:r>
                        <a:rPr sz="2175" b="0">
                          <a:solidFill>
                            <a:srgbClr val="101C32"/>
                          </a:solidFill>
                          <a:latin typeface="DejaVu Sans"/>
                          <a:ea typeface="DejaVu Sans"/>
                          <a:cs typeface="DejaVu Sans"/>
                        </a:rPr>
                        <a:t>1300</a:t>
                      </a:r>
                    </a:p>
                  </a:txBody>
                  <a:tcPr marL="91440" marR="91440" marT="45720" marB="45720" anchor="ctr">
                    <a:solidFill>
                      <a:srgbClr val="EAF0F4"/>
                    </a:solidFill>
                  </a:tcPr>
                </a:tc>
                <a:tc>
                  <a:txBody>
                    <a:bodyPr lIns="114300" tIns="95250" rIns="95250" bIns="76200"/>
                    <a:lstStyle/>
                    <a:p>
                      <a:r>
                        <a:rPr sz="2175" b="0">
                          <a:solidFill>
                            <a:srgbClr val="101C32"/>
                          </a:solidFill>
                          <a:latin typeface="DejaVu Sans"/>
                          <a:ea typeface="DejaVu Sans"/>
                          <a:cs typeface="DejaVu Sans"/>
                        </a:rPr>
                        <a:t>65%</a:t>
                      </a:r>
                    </a:p>
                  </a:txBody>
                  <a:tcPr marL="91440" marR="91440" marT="45720" marB="45720" anchor="ctr">
                    <a:solidFill>
                      <a:srgbClr val="EAF0F4"/>
                    </a:solidFill>
                  </a:tcPr>
                </a:tc>
              </a:tr>
            </a:tbl>
          </a:graphicData>
        </a:graphic>
      </p:graphicFrame>
      <p:sp>
        <p:nvSpPr>
          <p:cNvPr id="7" name="text-116">
            <a:extLst xmlns:a="http://schemas.openxmlformats.org/drawingml/2006/main">
              <a:ext uri="{FF2B5EF4-FFF2-40B4-BE49-F238E27FC236}">
                <a16:creationId xmlns:a16="http://schemas.microsoft.com/office/drawing/2014/main" id="{7F6C5C11-09B8-48B1-BED4-61762B063C0E}"/>
              </a:ext>
            </a:extLst>
          </p:cNvPr>
          <p:cNvSpPr>
            <a:spLocks xmlns:a="http://schemas.openxmlformats.org/drawingml/2006/main" noGrp="1"/>
          </p:cNvSpPr>
          <p:nvPr/>
        </p:nvSpPr>
        <p:spPr>
          <a:xfrm xmlns:a="http://schemas.openxmlformats.org/drawingml/2006/main">
            <a:off x="571500" y="4695825"/>
            <a:ext cx="11049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01C32"/>
                </a:solidFill>
                <a:latin typeface="DejaVu Sans"/>
                <a:ea typeface="DejaVu Sans"/>
                <a:cs typeface="DejaVu Sans"/>
              </a:defRPr>
            </a:defPPr>
          </a:lstStyle>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Код перебирает обучающие окна и складывает расстояния.</a:t>
            </a:r>
          </a:p>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Наименьшие суммы получились у N05 и A06.</a:t>
            </a:r>
          </a:p>
        </p:txBody>
      </p:sp>
      <p:sp>
        <p:nvSpPr>
          <p:cNvPr id="8" name="">
            <a:extLst xmlns:a="http://schemas.openxmlformats.org/drawingml/2006/main">
              <a:ext uri="{FF2B5EF4-FFF2-40B4-BE49-F238E27FC236}">
                <a16:creationId xmlns:a16="http://schemas.microsoft.com/office/drawing/2014/main" id="{8B83AF5B-5D11-44F5-B155-47043E1F15BA}"/>
              </a:ext>
            </a:extLst>
          </p:cNvPr>
          <p:cNvSpPr>
            <a:spLocks xmlns:a="http://schemas.openxmlformats.org/drawingml/2006/main" noGrp="1"/>
          </p:cNvSpPr>
          <p:nvPr/>
        </p:nvSpPr>
        <p:spPr>
          <a:xfrm xmlns:a="http://schemas.openxmlformats.org/drawingml/2006/main">
            <a:off x="571500" y="573405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9" name="text-117">
            <a:extLst xmlns:a="http://schemas.openxmlformats.org/drawingml/2006/main">
              <a:ext uri="{FF2B5EF4-FFF2-40B4-BE49-F238E27FC236}">
                <a16:creationId xmlns:a16="http://schemas.microsoft.com/office/drawing/2014/main" id="{855DA472-CCDF-4262-BFE0-5C0982EF4F3E}"/>
              </a:ext>
            </a:extLst>
          </p:cNvPr>
          <p:cNvSpPr>
            <a:spLocks xmlns:a="http://schemas.openxmlformats.org/drawingml/2006/main" noGrp="1"/>
          </p:cNvSpPr>
          <p:nvPr/>
        </p:nvSpPr>
        <p:spPr>
          <a:xfrm xmlns:a="http://schemas.openxmlformats.org/drawingml/2006/main">
            <a:off x="571500" y="589597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Для другой сети эталоны могут получиться другими.</a:t>
            </a:r>
          </a:p>
        </p:txBody>
      </p:sp>
    </p:spTree>
    <p:extLst>
      <p:ext uri="{BB962C8B-B14F-4D97-AF65-F5344CB8AC3E}">
        <p14:creationId xmlns:p14="http://schemas.microsoft.com/office/powerpoint/2010/main" val="1143742802"/>
      </p:ext>
    </p:extLst>
  </p:cSld>
</p:sld>
</file>

<file path=ppt/slides/slide16.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1" name="text-118">
            <a:extLst xmlns:a="http://schemas.openxmlformats.org/drawingml/2006/main">
              <a:ext uri="{FF2B5EF4-FFF2-40B4-BE49-F238E27FC236}">
                <a16:creationId xmlns:a16="http://schemas.microsoft.com/office/drawing/2014/main" id="{F145BD80-EA51-4A15-9ABD-1820157012A3}"/>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Что эталоны скажут об окне T07</a:t>
            </a:r>
          </a:p>
        </p:txBody>
      </p:sp>
      <p:sp>
        <p:nvSpPr>
          <p:cNvPr id="2" name="text-119">
            <a:extLst xmlns:a="http://schemas.openxmlformats.org/drawingml/2006/main">
              <a:ext uri="{FF2B5EF4-FFF2-40B4-BE49-F238E27FC236}">
                <a16:creationId xmlns:a16="http://schemas.microsoft.com/office/drawing/2014/main" id="{B5E0651E-6142-45D9-A0EC-B851EC73719B}"/>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В T07 приходит 1200 SYN/с, 16% попыток не завершены. По условию это норма.</a:t>
            </a:r>
          </a:p>
        </p:txBody>
      </p:sp>
      <p:sp>
        <p:nvSpPr>
          <p:cNvPr id="3" name="">
            <a:extLst xmlns:a="http://schemas.openxmlformats.org/drawingml/2006/main">
              <a:ext uri="{FF2B5EF4-FFF2-40B4-BE49-F238E27FC236}">
                <a16:creationId xmlns:a16="http://schemas.microsoft.com/office/drawing/2014/main" id="{83D93A60-ED5F-40DB-A5C0-06272223FC8A}"/>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20">
            <a:extLst xmlns:a="http://schemas.openxmlformats.org/drawingml/2006/main">
              <a:ext uri="{FF2B5EF4-FFF2-40B4-BE49-F238E27FC236}">
                <a16:creationId xmlns:a16="http://schemas.microsoft.com/office/drawing/2014/main" id="{6932FBC9-780C-43BD-8995-0B9028D5DBE0}"/>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5" name="text-121">
            <a:extLst xmlns:a="http://schemas.openxmlformats.org/drawingml/2006/main">
              <a:ext uri="{FF2B5EF4-FFF2-40B4-BE49-F238E27FC236}">
                <a16:creationId xmlns:a16="http://schemas.microsoft.com/office/drawing/2014/main" id="{83334771-4420-4273-AF46-AFC0BC3E37C4}"/>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16</a:t>
            </a:r>
          </a:p>
        </p:txBody>
      </p:sp>
      <p:sp>
        <p:nvSpPr>
          <p:cNvPr id="6" name="text-122">
            <a:extLst xmlns:a="http://schemas.openxmlformats.org/drawingml/2006/main">
              <a:ext uri="{FF2B5EF4-FFF2-40B4-BE49-F238E27FC236}">
                <a16:creationId xmlns:a16="http://schemas.microsoft.com/office/drawing/2014/main" id="{A659F34D-BEB8-4406-98B3-30CEB6231269}"/>
              </a:ext>
            </a:extLst>
          </p:cNvPr>
          <p:cNvSpPr>
            <a:spLocks xmlns:a="http://schemas.openxmlformats.org/drawingml/2006/main" noGrp="1"/>
          </p:cNvSpPr>
          <p:nvPr/>
        </p:nvSpPr>
        <p:spPr>
          <a:xfrm xmlns:a="http://schemas.openxmlformats.org/drawingml/2006/main">
            <a:off x="571500" y="2076450"/>
            <a:ext cx="11049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01C32"/>
                </a:solidFill>
                <a:latin typeface="DejaVu Sans"/>
                <a:ea typeface="DejaVu Sans"/>
                <a:cs typeface="DejaVu Sans"/>
              </a:defRPr>
            </a:defPPr>
          </a:lstStyle>
          <a:p xmlns:a="http://schemas.openxmlformats.org/drawingml/2006/main">
            <a:pPr>
              <a:defRPr sz="2175" b="1">
                <a:solidFill>
                  <a:srgbClr val="101C32"/>
                </a:solidFill>
                <a:latin typeface="DejaVu Sans"/>
                <a:ea typeface="DejaVu Sans"/>
                <a:cs typeface="DejaVu Sans"/>
              </a:defRPr>
            </a:pPr>
            <a:r>
              <a:rPr sz="2175" b="1">
                <a:solidFill>
                  <a:srgbClr val="101C32"/>
                </a:solidFill>
                <a:latin typeface="DejaVu Sans"/>
                <a:ea typeface="DejaVu Sans"/>
                <a:cs typeface="DejaVu Sans"/>
              </a:rPr>
              <a:t>Делим 1200 на 1000, а 16 на 100. Получаем (1,20; 0,16).</a:t>
            </a:r>
          </a:p>
        </p:txBody>
      </p:sp>
      <p:graphicFrame>
        <p:nvGraphicFramePr>
          <p:cNvPr id="7" name="">
            <a:extLst xmlns:a="http://schemas.openxmlformats.org/drawingml/2006/main">
              <a:ext uri="{FF2B5EF4-FFF2-40B4-BE49-F238E27FC236}">
                <a16:creationId xmlns:a16="http://schemas.microsoft.com/office/drawing/2014/main" id="{A47C74C9-3E3A-488E-B0C7-4CBFD0F929B3}"/>
              </a:ext>
            </a:extLst>
          </p:cNvPr>
          <p:cNvGraphicFramePr/>
          <p:nvPr/>
        </p:nvGraphicFramePr>
        <p:xfrm>
          <a:off xmlns:a="http://schemas.openxmlformats.org/drawingml/2006/main" x="571500" y="2809875"/>
          <a:ext xmlns:a="http://schemas.openxmlformats.org/drawingml/2006/main" cx="11049000" cy="1200150"/>
        </p:xfrm>
        <a:graphic xmlns:a="http://schemas.openxmlformats.org/drawingml/2006/main">
          <a:graphicData uri="http://schemas.openxmlformats.org/drawingml/2006/table">
            <a:tbl>
              <a:tblPr/>
              <a:tblGrid>
                <a:gridCol w="5524500"/>
                <a:gridCol w="5524500"/>
              </a:tblGrid>
              <a:tr h="600075">
                <a:tc>
                  <a:txBody>
                    <a:bodyPr lIns="114300" tIns="95250" rIns="95250" bIns="76200"/>
                    <a:lstStyle/>
                    <a:p>
                      <a:r>
                        <a:rPr sz="2175" b="1">
                          <a:solidFill>
                            <a:srgbClr val="FFFFFF"/>
                          </a:solidFill>
                          <a:latin typeface="DejaVu Sans"/>
                          <a:ea typeface="DejaVu Sans"/>
                          <a:cs typeface="DejaVu Sans"/>
                        </a:rPr>
                        <a:t>До эталона нормы N05</a:t>
                      </a:r>
                    </a:p>
                  </a:txBody>
                  <a:tcPr marL="91440" marR="91440" marT="45720" marB="45720" anchor="ctr">
                    <a:solidFill>
                      <a:srgbClr val="101C32"/>
                    </a:solidFill>
                  </a:tcPr>
                </a:tc>
                <a:tc>
                  <a:txBody>
                    <a:bodyPr lIns="114300" tIns="95250" rIns="95250" bIns="76200"/>
                    <a:lstStyle/>
                    <a:p>
                      <a:r>
                        <a:rPr sz="2175" b="1">
                          <a:solidFill>
                            <a:srgbClr val="FFFFFF"/>
                          </a:solidFill>
                          <a:latin typeface="DejaVu Sans"/>
                          <a:ea typeface="DejaVu Sans"/>
                          <a:cs typeface="DejaVu Sans"/>
                        </a:rPr>
                        <a:t>До эталона атаки A06</a:t>
                      </a:r>
                    </a:p>
                  </a:txBody>
                  <a:tcPr marL="91440" marR="91440" marT="45720" marB="45720" anchor="ctr">
                    <a:solidFill>
                      <a:srgbClr val="101C32"/>
                    </a:solidFill>
                  </a:tcPr>
                </a:tc>
              </a:tr>
              <a:tr h="600075">
                <a:tc>
                  <a:txBody>
                    <a:bodyPr lIns="114300" tIns="95250" rIns="95250" bIns="76200"/>
                    <a:lstStyle/>
                    <a:p>
                      <a:r>
                        <a:rPr sz="2175" b="0">
                          <a:solidFill>
                            <a:srgbClr val="101C32"/>
                          </a:solidFill>
                          <a:latin typeface="DejaVu Sans"/>
                          <a:ea typeface="DejaVu Sans"/>
                          <a:cs typeface="DejaVu Sans"/>
                        </a:rPr>
                        <a:t>0,600</a:t>
                      </a:r>
                    </a:p>
                  </a:txBody>
                  <a:tcPr marL="91440" marR="91440" marT="45720" marB="45720" anchor="ctr">
                    <a:solidFill>
                      <a:srgbClr val="FFFFFF"/>
                    </a:solidFill>
                  </a:tcPr>
                </a:tc>
                <a:tc>
                  <a:txBody>
                    <a:bodyPr lIns="114300" tIns="95250" rIns="95250" bIns="76200"/>
                    <a:lstStyle/>
                    <a:p>
                      <a:r>
                        <a:rPr sz="2175" b="0">
                          <a:solidFill>
                            <a:srgbClr val="101C32"/>
                          </a:solidFill>
                          <a:latin typeface="DejaVu Sans"/>
                          <a:ea typeface="DejaVu Sans"/>
                          <a:cs typeface="DejaVu Sans"/>
                        </a:rPr>
                        <a:t>0,500</a:t>
                      </a:r>
                    </a:p>
                  </a:txBody>
                  <a:tcPr marL="91440" marR="91440" marT="45720" marB="45720" anchor="ctr">
                    <a:solidFill>
                      <a:srgbClr val="FFFFFF"/>
                    </a:solidFill>
                  </a:tcPr>
                </a:tc>
              </a:tr>
            </a:tbl>
          </a:graphicData>
        </a:graphic>
      </p:graphicFrame>
      <p:sp>
        <p:nvSpPr>
          <p:cNvPr id="8" name="text-123">
            <a:extLst xmlns:a="http://schemas.openxmlformats.org/drawingml/2006/main">
              <a:ext uri="{FF2B5EF4-FFF2-40B4-BE49-F238E27FC236}">
                <a16:creationId xmlns:a16="http://schemas.microsoft.com/office/drawing/2014/main" id="{918D8135-FAA7-4632-9BD4-63CF2F0492C5}"/>
              </a:ext>
            </a:extLst>
          </p:cNvPr>
          <p:cNvSpPr>
            <a:spLocks xmlns:a="http://schemas.openxmlformats.org/drawingml/2006/main" noGrp="1"/>
          </p:cNvSpPr>
          <p:nvPr/>
        </p:nvSpPr>
        <p:spPr>
          <a:xfrm xmlns:a="http://schemas.openxmlformats.org/drawingml/2006/main">
            <a:off x="571500" y="4410075"/>
            <a:ext cx="11049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E85555"/>
                </a:solidFill>
                <a:latin typeface="DejaVu Sans"/>
                <a:ea typeface="DejaVu Sans"/>
                <a:cs typeface="DejaVu Sans"/>
              </a:defRPr>
            </a:defPPr>
          </a:lstStyle>
          <a:p xmlns:a="http://schemas.openxmlformats.org/drawingml/2006/main">
            <a:pPr>
              <a:defRPr sz="2250" b="1">
                <a:solidFill>
                  <a:srgbClr val="E85555"/>
                </a:solidFill>
                <a:latin typeface="DejaVu Sans"/>
                <a:ea typeface="DejaVu Sans"/>
                <a:cs typeface="DejaVu Sans"/>
              </a:defRPr>
            </a:pPr>
            <a:r>
              <a:rPr sz="2250" b="1">
                <a:solidFill>
                  <a:srgbClr val="E85555"/>
                </a:solidFill>
                <a:latin typeface="DejaVu Sans"/>
                <a:ea typeface="DejaVu Sans"/>
                <a:cs typeface="DejaVu Sans"/>
              </a:rPr>
              <a:t>Ближе оказался эталон атаки. Правило ошиблось.</a:t>
            </a:r>
          </a:p>
          <a:p xmlns:a="http://schemas.openxmlformats.org/drawingml/2006/main">
            <a:pPr>
              <a:defRPr sz="2250" b="1">
                <a:solidFill>
                  <a:srgbClr val="E85555"/>
                </a:solidFill>
                <a:latin typeface="DejaVu Sans"/>
                <a:ea typeface="DejaVu Sans"/>
                <a:cs typeface="DejaVu Sans"/>
              </a:defRPr>
            </a:pPr>
            <a:r>
              <a:rPr sz="2250" b="1">
                <a:solidFill>
                  <a:srgbClr val="E85555"/>
                </a:solidFill>
                <a:latin typeface="DejaVu Sans"/>
                <a:ea typeface="DejaVu Sans"/>
                <a:cs typeface="DejaVu Sans"/>
              </a:rPr>
              <a:t>Отступ ≈ 0,500 − 0,600 = −0,100</a:t>
            </a:r>
          </a:p>
        </p:txBody>
      </p:sp>
      <p:sp>
        <p:nvSpPr>
          <p:cNvPr id="9" name="">
            <a:extLst xmlns:a="http://schemas.openxmlformats.org/drawingml/2006/main">
              <a:ext uri="{FF2B5EF4-FFF2-40B4-BE49-F238E27FC236}">
                <a16:creationId xmlns:a16="http://schemas.microsoft.com/office/drawing/2014/main" id="{CE584D60-7DFD-4A36-8CB7-E01A0257FD3B}"/>
              </a:ext>
            </a:extLst>
          </p:cNvPr>
          <p:cNvSpPr>
            <a:spLocks xmlns:a="http://schemas.openxmlformats.org/drawingml/2006/main" noGrp="1"/>
          </p:cNvSpPr>
          <p:nvPr/>
        </p:nvSpPr>
        <p:spPr>
          <a:xfrm xmlns:a="http://schemas.openxmlformats.org/drawingml/2006/main">
            <a:off x="571500" y="571500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0" name="text-124">
            <a:extLst xmlns:a="http://schemas.openxmlformats.org/drawingml/2006/main">
              <a:ext uri="{FF2B5EF4-FFF2-40B4-BE49-F238E27FC236}">
                <a16:creationId xmlns:a16="http://schemas.microsoft.com/office/drawing/2014/main" id="{1ACB6896-54C8-4AE7-9D53-9D4D5AF37405}"/>
              </a:ext>
            </a:extLst>
          </p:cNvPr>
          <p:cNvSpPr>
            <a:spLocks xmlns:a="http://schemas.openxmlformats.org/drawingml/2006/main" noGrp="1"/>
          </p:cNvSpPr>
          <p:nvPr/>
        </p:nvSpPr>
        <p:spPr>
          <a:xfrm xmlns:a="http://schemas.openxmlformats.org/drawingml/2006/main">
            <a:off x="571500" y="587692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В этом примере высокая обычная нагрузка оказалась похожа на атаку</a:t>
            </a:r>
          </a:p>
        </p:txBody>
      </p:sp>
    </p:spTree>
    <p:extLst>
      <p:ext uri="{BB962C8B-B14F-4D97-AF65-F5344CB8AC3E}">
        <p14:creationId xmlns:p14="http://schemas.microsoft.com/office/powerpoint/2010/main" val="18917047"/>
      </p:ext>
    </p:extLst>
  </p:cSld>
</p:sld>
</file>

<file path=ppt/slides/slide17.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0" name="text-125">
            <a:extLst xmlns:a="http://schemas.openxmlformats.org/drawingml/2006/main">
              <a:ext uri="{FF2B5EF4-FFF2-40B4-BE49-F238E27FC236}">
                <a16:creationId xmlns:a16="http://schemas.microsoft.com/office/drawing/2014/main" id="{8A637259-BE99-42B6-AF25-09730BBBBE98}"/>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Теперь обучим SVM на тех же данных</a:t>
            </a:r>
          </a:p>
        </p:txBody>
      </p:sp>
      <p:sp>
        <p:nvSpPr>
          <p:cNvPr id="2" name="text-126">
            <a:extLst xmlns:a="http://schemas.openxmlformats.org/drawingml/2006/main">
              <a:ext uri="{FF2B5EF4-FFF2-40B4-BE49-F238E27FC236}">
                <a16:creationId xmlns:a16="http://schemas.microsoft.com/office/drawing/2014/main" id="{6A193BEA-F824-4154-9074-CFCDB8C9914C}"/>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В библиотеке scikit-learn этот алгоритм реализует класс SVC</a:t>
            </a:r>
          </a:p>
        </p:txBody>
      </p:sp>
      <p:sp>
        <p:nvSpPr>
          <p:cNvPr id="3" name="">
            <a:extLst xmlns:a="http://schemas.openxmlformats.org/drawingml/2006/main">
              <a:ext uri="{FF2B5EF4-FFF2-40B4-BE49-F238E27FC236}">
                <a16:creationId xmlns:a16="http://schemas.microsoft.com/office/drawing/2014/main" id="{66BA1136-C994-4607-B50A-07F0F814538C}"/>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27">
            <a:extLst xmlns:a="http://schemas.openxmlformats.org/drawingml/2006/main">
              <a:ext uri="{FF2B5EF4-FFF2-40B4-BE49-F238E27FC236}">
                <a16:creationId xmlns:a16="http://schemas.microsoft.com/office/drawing/2014/main" id="{55A220C0-1428-4651-9A15-991E20E61E58}"/>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[5]. Расчёт в Colab</a:t>
            </a:r>
          </a:p>
        </p:txBody>
      </p:sp>
      <p:sp>
        <p:nvSpPr>
          <p:cNvPr id="5" name="text-128">
            <a:extLst xmlns:a="http://schemas.openxmlformats.org/drawingml/2006/main">
              <a:ext uri="{FF2B5EF4-FFF2-40B4-BE49-F238E27FC236}">
                <a16:creationId xmlns:a16="http://schemas.microsoft.com/office/drawing/2014/main" id="{9CB83D84-F845-4915-908D-FD1C2F4621A2}"/>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17</a:t>
            </a:r>
          </a:p>
        </p:txBody>
      </p:sp>
      <p:sp>
        <p:nvSpPr>
          <p:cNvPr id="6" name="text-129">
            <a:extLst xmlns:a="http://schemas.openxmlformats.org/drawingml/2006/main">
              <a:ext uri="{FF2B5EF4-FFF2-40B4-BE49-F238E27FC236}">
                <a16:creationId xmlns:a16="http://schemas.microsoft.com/office/drawing/2014/main" id="{5E3E9EDC-1779-4325-A0DE-1305E55B8DFC}"/>
              </a:ext>
            </a:extLst>
          </p:cNvPr>
          <p:cNvSpPr>
            <a:spLocks xmlns:a="http://schemas.openxmlformats.org/drawingml/2006/main" noGrp="1"/>
          </p:cNvSpPr>
          <p:nvPr/>
        </p:nvSpPr>
        <p:spPr>
          <a:xfrm xmlns:a="http://schemas.openxmlformats.org/drawingml/2006/main">
            <a:off x="571500" y="2152650"/>
            <a:ext cx="11049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01C32"/>
                </a:solidFill>
                <a:latin typeface="DejaVu Sans Mono"/>
                <a:ea typeface="DejaVu Sans Mono"/>
                <a:cs typeface="DejaVu Sans Mono"/>
              </a:defRPr>
            </a:defPPr>
          </a:lstStyle>
          <a:p xmlns:a="http://schemas.openxmlformats.org/drawingml/2006/main">
            <a:pPr>
              <a:defRPr sz="2175" b="0">
                <a:solidFill>
                  <a:srgbClr val="101C32"/>
                </a:solidFill>
                <a:latin typeface="DejaVu Sans Mono"/>
                <a:ea typeface="DejaVu Sans Mono"/>
                <a:cs typeface="DejaVu Sans Mono"/>
              </a:defRPr>
            </a:pPr>
            <a:r>
              <a:rPr sz="2175" b="0">
                <a:solidFill>
                  <a:srgbClr val="101C32"/>
                </a:solidFill>
                <a:latin typeface="DejaVu Sans Mono"/>
                <a:ea typeface="DejaVu Sans Mono"/>
                <a:cs typeface="DejaVu Sans Mono"/>
              </a:rPr>
              <a:t>model = SVC(kernel="linear", C=1,</a:t>
            </a:r>
          </a:p>
          <a:p xmlns:a="http://schemas.openxmlformats.org/drawingml/2006/main">
            <a:pPr>
              <a:defRPr sz="2175" b="0">
                <a:solidFill>
                  <a:srgbClr val="101C32"/>
                </a:solidFill>
                <a:latin typeface="DejaVu Sans Mono"/>
                <a:ea typeface="DejaVu Sans Mono"/>
                <a:cs typeface="DejaVu Sans Mono"/>
              </a:defRPr>
            </a:pPr>
            <a:r>
              <a:rPr sz="2175" b="0">
                <a:solidFill>
                  <a:srgbClr val="101C32"/>
                </a:solidFill>
                <a:latin typeface="DejaVu Sans Mono"/>
                <a:ea typeface="DejaVu Sans Mono"/>
                <a:cs typeface="DejaVu Sans Mono"/>
              </a:rPr>
              <a:t>            tol=1e-10, shrinking=False)</a:t>
            </a:r>
          </a:p>
          <a:p xmlns:a="http://schemas.openxmlformats.org/drawingml/2006/main">
            <a:pPr>
              <a:defRPr sz="2175" b="0">
                <a:solidFill>
                  <a:srgbClr val="101C32"/>
                </a:solidFill>
                <a:latin typeface="DejaVu Sans Mono"/>
                <a:ea typeface="DejaVu Sans Mono"/>
                <a:cs typeface="DejaVu Sans Mono"/>
              </a:defRPr>
            </a:pPr>
            <a:r>
              <a:rPr sz="2175" b="0">
                <a:solidFill>
                  <a:srgbClr val="101C32"/>
                </a:solidFill>
                <a:latin typeface="DejaVu Sans Mono"/>
                <a:ea typeface="DejaVu Sans Mono"/>
                <a:cs typeface="DejaVu Sans Mono"/>
              </a:rPr>
              <a:t>model.fit(X_train, y_train)</a:t>
            </a:r>
          </a:p>
        </p:txBody>
      </p:sp>
      <p:sp>
        <p:nvSpPr>
          <p:cNvPr id="7" name="text-130">
            <a:extLst xmlns:a="http://schemas.openxmlformats.org/drawingml/2006/main">
              <a:ext uri="{FF2B5EF4-FFF2-40B4-BE49-F238E27FC236}">
                <a16:creationId xmlns:a16="http://schemas.microsoft.com/office/drawing/2014/main" id="{ACFA8C8E-70D8-4407-AB82-9D323F257330}"/>
              </a:ext>
            </a:extLst>
          </p:cNvPr>
          <p:cNvSpPr>
            <a:spLocks xmlns:a="http://schemas.openxmlformats.org/drawingml/2006/main" noGrp="1"/>
          </p:cNvSpPr>
          <p:nvPr/>
        </p:nvSpPr>
        <p:spPr>
          <a:xfrm xmlns:a="http://schemas.openxmlformats.org/drawingml/2006/main">
            <a:off x="571500" y="4038600"/>
            <a:ext cx="11049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01C32"/>
                </a:solidFill>
                <a:latin typeface="DejaVu Sans"/>
                <a:ea typeface="DejaVu Sans"/>
                <a:cs typeface="DejaVu Sans"/>
              </a:defRPr>
            </a:defPPr>
          </a:lstStyle>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В X_train записаны признаки всех 20 обучающих окон.</a:t>
            </a:r>
          </a:p>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В y_train хранятся метки: −1 для нормы и +1 для атаки.</a:t>
            </a:r>
          </a:p>
        </p:txBody>
      </p:sp>
      <p:sp>
        <p:nvSpPr>
          <p:cNvPr id="8" name="">
            <a:extLst xmlns:a="http://schemas.openxmlformats.org/drawingml/2006/main">
              <a:ext uri="{FF2B5EF4-FFF2-40B4-BE49-F238E27FC236}">
                <a16:creationId xmlns:a16="http://schemas.microsoft.com/office/drawing/2014/main" id="{EA8304BC-4A31-402C-B43B-779265C47469}"/>
              </a:ext>
            </a:extLst>
          </p:cNvPr>
          <p:cNvSpPr>
            <a:spLocks xmlns:a="http://schemas.openxmlformats.org/drawingml/2006/main" noGrp="1"/>
          </p:cNvSpPr>
          <p:nvPr/>
        </p:nvSpPr>
        <p:spPr>
          <a:xfrm xmlns:a="http://schemas.openxmlformats.org/drawingml/2006/main">
            <a:off x="571500" y="564832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9" name="text-131">
            <a:extLst xmlns:a="http://schemas.openxmlformats.org/drawingml/2006/main">
              <a:ext uri="{FF2B5EF4-FFF2-40B4-BE49-F238E27FC236}">
                <a16:creationId xmlns:a16="http://schemas.microsoft.com/office/drawing/2014/main" id="{188E9063-383B-4EC8-8EDC-AAEFB0906739}"/>
              </a:ext>
            </a:extLst>
          </p:cNvPr>
          <p:cNvSpPr>
            <a:spLocks xmlns:a="http://schemas.openxmlformats.org/drawingml/2006/main" noGrp="1"/>
          </p:cNvSpPr>
          <p:nvPr/>
        </p:nvSpPr>
        <p:spPr>
          <a:xfrm xmlns:a="http://schemas.openxmlformats.org/drawingml/2006/main">
            <a:off x="571500" y="581025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Подадим в SVM те же измерения T07: 1200 SYN/с и 16%</a:t>
            </a:r>
          </a:p>
        </p:txBody>
      </p:sp>
    </p:spTree>
    <p:extLst>
      <p:ext uri="{BB962C8B-B14F-4D97-AF65-F5344CB8AC3E}">
        <p14:creationId xmlns:p14="http://schemas.microsoft.com/office/powerpoint/2010/main" val="48918184"/>
      </p:ext>
    </p:extLst>
  </p:cSld>
</p:sld>
</file>

<file path=ppt/slides/slide18.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132">
            <a:extLst xmlns:a="http://schemas.openxmlformats.org/drawingml/2006/main">
              <a:ext uri="{FF2B5EF4-FFF2-40B4-BE49-F238E27FC236}">
                <a16:creationId xmlns:a16="http://schemas.microsoft.com/office/drawing/2014/main" id="{FD6BE90E-9B35-44B7-B6B4-62C7E6C17C4A}"/>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Как SVM распознаёт то же окно T07</a:t>
            </a:r>
          </a:p>
        </p:txBody>
      </p:sp>
      <p:sp>
        <p:nvSpPr>
          <p:cNvPr id="2" name="text-133">
            <a:extLst xmlns:a="http://schemas.openxmlformats.org/drawingml/2006/main">
              <a:ext uri="{FF2B5EF4-FFF2-40B4-BE49-F238E27FC236}">
                <a16:creationId xmlns:a16="http://schemas.microsoft.com/office/drawing/2014/main" id="{CA3139DB-41D8-453B-9CE9-F56BD1EF2D09}"/>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SVM выбирает норму. Для T07 этот ответ совпадает с условием примера.</a:t>
            </a:r>
          </a:p>
        </p:txBody>
      </p:sp>
      <p:sp>
        <p:nvSpPr>
          <p:cNvPr id="3" name="">
            <a:extLst xmlns:a="http://schemas.openxmlformats.org/drawingml/2006/main">
              <a:ext uri="{FF2B5EF4-FFF2-40B4-BE49-F238E27FC236}">
                <a16:creationId xmlns:a16="http://schemas.microsoft.com/office/drawing/2014/main" id="{F3C4AE19-7270-49AB-945A-DBE53875F870}"/>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34">
            <a:extLst xmlns:a="http://schemas.openxmlformats.org/drawingml/2006/main">
              <a:ext uri="{FF2B5EF4-FFF2-40B4-BE49-F238E27FC236}">
                <a16:creationId xmlns:a16="http://schemas.microsoft.com/office/drawing/2014/main" id="{B07D3231-835A-40D6-99A0-697E660A977D}"/>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5" name="text-135">
            <a:extLst xmlns:a="http://schemas.openxmlformats.org/drawingml/2006/main">
              <a:ext uri="{FF2B5EF4-FFF2-40B4-BE49-F238E27FC236}">
                <a16:creationId xmlns:a16="http://schemas.microsoft.com/office/drawing/2014/main" id="{46EF8727-3B47-47F4-B3BB-4DE2D3EB5AF2}"/>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18</a:t>
            </a:r>
          </a:p>
        </p:txBody>
      </p:sp>
      <p:graphicFrame>
        <p:nvGraphicFramePr>
          <p:cNvPr id="6" name="">
            <a:extLst xmlns:a="http://schemas.openxmlformats.org/drawingml/2006/main">
              <a:ext uri="{FF2B5EF4-FFF2-40B4-BE49-F238E27FC236}">
                <a16:creationId xmlns:a16="http://schemas.microsoft.com/office/drawing/2014/main" id="{75DB102E-A6B4-4F1F-8655-CFD0B90ACA74}"/>
              </a:ext>
            </a:extLst>
          </p:cNvPr>
          <p:cNvGraphicFramePr/>
          <p:nvPr/>
        </p:nvGraphicFramePr>
        <p:xfrm>
          <a:off xmlns:a="http://schemas.openxmlformats.org/drawingml/2006/main" x="571500" y="2181225"/>
          <a:ext xmlns:a="http://schemas.openxmlformats.org/drawingml/2006/main" cx="11049000" cy="1285875"/>
        </p:xfrm>
        <a:graphic xmlns:a="http://schemas.openxmlformats.org/drawingml/2006/main">
          <a:graphicData uri="http://schemas.openxmlformats.org/drawingml/2006/table">
            <a:tbl>
              <a:tblPr/>
              <a:tblGrid>
                <a:gridCol w="3683000"/>
                <a:gridCol w="3683000"/>
                <a:gridCol w="3683000"/>
              </a:tblGrid>
              <a:tr h="642938">
                <a:tc>
                  <a:txBody>
                    <a:bodyPr lIns="114300" tIns="95250" rIns="95250" bIns="76200"/>
                    <a:lstStyle/>
                    <a:p>
                      <a:r>
                        <a:rPr sz="2175" b="1">
                          <a:solidFill>
                            <a:srgbClr val="FFFFFF"/>
                          </a:solidFill>
                          <a:latin typeface="DejaVu Sans"/>
                          <a:ea typeface="DejaVu Sans"/>
                          <a:cs typeface="DejaVu Sans"/>
                        </a:rPr>
                        <a:t>Оценка модели f</a:t>
                      </a:r>
                    </a:p>
                  </a:txBody>
                  <a:tcPr marL="91440" marR="91440" marT="45720" marB="45720" anchor="ctr">
                    <a:solidFill>
                      <a:srgbClr val="101C32"/>
                    </a:solidFill>
                  </a:tcPr>
                </a:tc>
                <a:tc>
                  <a:txBody>
                    <a:bodyPr lIns="114300" tIns="95250" rIns="95250" bIns="76200"/>
                    <a:lstStyle/>
                    <a:p>
                      <a:r>
                        <a:rPr sz="2175" b="1">
                          <a:solidFill>
                            <a:srgbClr val="FFFFFF"/>
                          </a:solidFill>
                          <a:latin typeface="DejaVu Sans"/>
                          <a:ea typeface="DejaVu Sans"/>
                          <a:cs typeface="DejaVu Sans"/>
                        </a:rPr>
                        <a:t>Отступ со знаком γ</a:t>
                      </a:r>
                    </a:p>
                  </a:txBody>
                  <a:tcPr marL="91440" marR="91440" marT="45720" marB="45720" anchor="ctr">
                    <a:solidFill>
                      <a:srgbClr val="101C32"/>
                    </a:solidFill>
                  </a:tcPr>
                </a:tc>
                <a:tc>
                  <a:txBody>
                    <a:bodyPr lIns="114300" tIns="95250" rIns="95250" bIns="76200"/>
                    <a:lstStyle/>
                    <a:p>
                      <a:r>
                        <a:rPr sz="2175" b="1">
                          <a:solidFill>
                            <a:srgbClr val="FFFFFF"/>
                          </a:solidFill>
                          <a:latin typeface="DejaVu Sans"/>
                          <a:ea typeface="DejaVu Sans"/>
                          <a:cs typeface="DejaVu Sans"/>
                        </a:rPr>
                        <a:t>Запас r</a:t>
                      </a:r>
                    </a:p>
                  </a:txBody>
                  <a:tcPr marL="91440" marR="91440" marT="45720" marB="45720" anchor="ctr">
                    <a:solidFill>
                      <a:srgbClr val="101C32"/>
                    </a:solidFill>
                  </a:tcPr>
                </a:tc>
              </a:tr>
              <a:tr h="642938">
                <a:tc>
                  <a:txBody>
                    <a:bodyPr lIns="114300" tIns="95250" rIns="95250" bIns="76200"/>
                    <a:lstStyle/>
                    <a:p>
                      <a:r>
                        <a:rPr sz="2175" b="0">
                          <a:solidFill>
                            <a:srgbClr val="101C32"/>
                          </a:solidFill>
                          <a:latin typeface="DejaVu Sans"/>
                          <a:ea typeface="DejaVu Sans"/>
                          <a:cs typeface="DejaVu Sans"/>
                        </a:rPr>
                        <a:t>−0,249</a:t>
                      </a:r>
                    </a:p>
                  </a:txBody>
                  <a:tcPr marL="91440" marR="91440" marT="45720" marB="45720" anchor="ctr">
                    <a:solidFill>
                      <a:srgbClr val="FFFFFF"/>
                    </a:solidFill>
                  </a:tcPr>
                </a:tc>
                <a:tc>
                  <a:txBody>
                    <a:bodyPr lIns="114300" tIns="95250" rIns="95250" bIns="76200"/>
                    <a:lstStyle/>
                    <a:p>
                      <a:r>
                        <a:rPr sz="2175" b="0">
                          <a:solidFill>
                            <a:srgbClr val="101C32"/>
                          </a:solidFill>
                          <a:latin typeface="DejaVu Sans"/>
                          <a:ea typeface="DejaVu Sans"/>
                          <a:cs typeface="DejaVu Sans"/>
                        </a:rPr>
                        <a:t>+0,102</a:t>
                      </a:r>
                    </a:p>
                  </a:txBody>
                  <a:tcPr marL="91440" marR="91440" marT="45720" marB="45720" anchor="ctr">
                    <a:solidFill>
                      <a:srgbClr val="FFFFFF"/>
                    </a:solidFill>
                  </a:tcPr>
                </a:tc>
                <a:tc>
                  <a:txBody>
                    <a:bodyPr lIns="114300" tIns="95250" rIns="95250" bIns="76200"/>
                    <a:lstStyle/>
                    <a:p>
                      <a:r>
                        <a:rPr sz="2175" b="0">
                          <a:solidFill>
                            <a:srgbClr val="101C32"/>
                          </a:solidFill>
                          <a:latin typeface="DejaVu Sans"/>
                          <a:ea typeface="DejaVu Sans"/>
                          <a:cs typeface="DejaVu Sans"/>
                        </a:rPr>
                        <a:t>0,102</a:t>
                      </a:r>
                    </a:p>
                  </a:txBody>
                  <a:tcPr marL="91440" marR="91440" marT="45720" marB="45720" anchor="ctr">
                    <a:solidFill>
                      <a:srgbClr val="FFFFFF"/>
                    </a:solidFill>
                  </a:tcPr>
                </a:tc>
              </a:tr>
            </a:tbl>
          </a:graphicData>
        </a:graphic>
      </p:graphicFrame>
      <p:sp>
        <p:nvSpPr>
          <p:cNvPr id="7" name="text-136">
            <a:extLst xmlns:a="http://schemas.openxmlformats.org/drawingml/2006/main">
              <a:ext uri="{FF2B5EF4-FFF2-40B4-BE49-F238E27FC236}">
                <a16:creationId xmlns:a16="http://schemas.microsoft.com/office/drawing/2014/main" id="{58A6F16E-0A02-46BF-86FD-EFFA23D42616}"/>
              </a:ext>
            </a:extLst>
          </p:cNvPr>
          <p:cNvSpPr>
            <a:spLocks xmlns:a="http://schemas.openxmlformats.org/drawingml/2006/main" noGrp="1"/>
          </p:cNvSpPr>
          <p:nvPr/>
        </p:nvSpPr>
        <p:spPr>
          <a:xfrm xmlns:a="http://schemas.openxmlformats.org/drawingml/2006/main">
            <a:off x="571500" y="3876675"/>
            <a:ext cx="110490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Mono"/>
                <a:ea typeface="DejaVu Sans Mono"/>
                <a:cs typeface="DejaVu Sans Mono"/>
              </a:defRPr>
            </a:defPPr>
          </a:lstStyle>
          <a:p xmlns:a="http://schemas.openxmlformats.org/drawingml/2006/main">
            <a:pPr>
              <a:defRPr sz="1875" b="0">
                <a:solidFill>
                  <a:srgbClr val="101C32"/>
                </a:solidFill>
                <a:latin typeface="DejaVu Sans Mono"/>
                <a:ea typeface="DejaVu Sans Mono"/>
                <a:cs typeface="DejaVu Sans Mono"/>
              </a:defRPr>
            </a:pPr>
            <a:r>
              <a:rPr sz="1875" b="0">
                <a:solidFill>
                  <a:srgbClr val="101C32"/>
                </a:solidFill>
                <a:latin typeface="DejaVu Sans Mono"/>
                <a:ea typeface="DejaVu Sans Mono"/>
                <a:cs typeface="DejaVu Sans Mono"/>
              </a:rPr>
              <a:t>f = model.decision_function(X_check)</a:t>
            </a:r>
          </a:p>
          <a:p xmlns:a="http://schemas.openxmlformats.org/drawingml/2006/main">
            <a:pPr>
              <a:defRPr sz="1875" b="0">
                <a:solidFill>
                  <a:srgbClr val="101C32"/>
                </a:solidFill>
                <a:latin typeface="DejaVu Sans Mono"/>
                <a:ea typeface="DejaVu Sans Mono"/>
                <a:cs typeface="DejaVu Sans Mono"/>
              </a:defRPr>
            </a:pPr>
            <a:r>
              <a:rPr sz="1875" b="0">
                <a:solidFill>
                  <a:srgbClr val="101C32"/>
                </a:solidFill>
                <a:latin typeface="DejaVu Sans Mono"/>
                <a:ea typeface="DejaVu Sans Mono"/>
                <a:cs typeface="DejaVu Sans Mono"/>
              </a:rPr>
              <a:t>r = np.abs(f) / np.linalg.norm(model.coef_)</a:t>
            </a:r>
          </a:p>
          <a:p xmlns:a="http://schemas.openxmlformats.org/drawingml/2006/main">
            <a:pPr>
              <a:defRPr sz="1875" b="0">
                <a:solidFill>
                  <a:srgbClr val="101C32"/>
                </a:solidFill>
                <a:latin typeface="DejaVu Sans Mono"/>
                <a:ea typeface="DejaVu Sans Mono"/>
                <a:cs typeface="DejaVu Sans Mono"/>
              </a:defRPr>
            </a:pPr>
            <a:r>
              <a:rPr sz="1875" b="0">
                <a:solidFill>
                  <a:srgbClr val="101C32"/>
                </a:solidFill>
                <a:latin typeface="DejaVu Sans Mono"/>
                <a:ea typeface="DejaVu Sans Mono"/>
                <a:cs typeface="DejaVu Sans Mono"/>
              </a:rPr>
              <a:t>gamma = y_check * f / np.linalg.norm(model.coef_)</a:t>
            </a:r>
          </a:p>
        </p:txBody>
      </p:sp>
      <p:sp>
        <p:nvSpPr>
          <p:cNvPr id="8" name="text-137">
            <a:extLst xmlns:a="http://schemas.openxmlformats.org/drawingml/2006/main">
              <a:ext uri="{FF2B5EF4-FFF2-40B4-BE49-F238E27FC236}">
                <a16:creationId xmlns:a16="http://schemas.microsoft.com/office/drawing/2014/main" id="{D36544A9-960F-408F-9AC2-8590C36FE698}"/>
              </a:ext>
            </a:extLst>
          </p:cNvPr>
          <p:cNvSpPr>
            <a:spLocks xmlns:a="http://schemas.openxmlformats.org/drawingml/2006/main" noGrp="1"/>
          </p:cNvSpPr>
          <p:nvPr/>
        </p:nvSpPr>
        <p:spPr>
          <a:xfrm xmlns:a="http://schemas.openxmlformats.org/drawingml/2006/main">
            <a:off x="571500" y="5667375"/>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rPr>
              <a:t>Отступ γ положительный, потому что ответ верный. Запас r ≈ 0,102.</a:t>
            </a:r>
          </a:p>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rPr>
              <a:t>По одному исправленному примеру нельзя судить, какой метод лучше в целом.</a:t>
            </a:r>
          </a:p>
        </p:txBody>
      </p:sp>
    </p:spTree>
    <p:extLst>
      <p:ext uri="{BB962C8B-B14F-4D97-AF65-F5344CB8AC3E}">
        <p14:creationId xmlns:p14="http://schemas.microsoft.com/office/powerpoint/2010/main" val="1116797058"/>
      </p:ext>
    </p:extLst>
  </p:cSld>
</p:sld>
</file>

<file path=ppt/slides/slide19.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8" name="text-138">
            <a:extLst xmlns:a="http://schemas.openxmlformats.org/drawingml/2006/main">
              <a:ext uri="{FF2B5EF4-FFF2-40B4-BE49-F238E27FC236}">
                <a16:creationId xmlns:a16="http://schemas.microsoft.com/office/drawing/2014/main" id="{BF2341D4-7AB3-4C96-ACC1-E3558D1DF6C7}"/>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Что получилось для всех восьми окон</a:t>
            </a:r>
          </a:p>
        </p:txBody>
      </p:sp>
      <p:sp>
        <p:nvSpPr>
          <p:cNvPr id="2" name="text-139">
            <a:extLst xmlns:a="http://schemas.openxmlformats.org/drawingml/2006/main">
              <a:ext uri="{FF2B5EF4-FFF2-40B4-BE49-F238E27FC236}">
                <a16:creationId xmlns:a16="http://schemas.microsoft.com/office/drawing/2014/main" id="{323A26A9-5396-4F07-9E5B-1FDA576FEB2B}"/>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Сравним ответы модели с классами, которые мы задали в учебной таблице</a:t>
            </a:r>
          </a:p>
        </p:txBody>
      </p:sp>
      <p:sp>
        <p:nvSpPr>
          <p:cNvPr id="3" name="">
            <a:extLst xmlns:a="http://schemas.openxmlformats.org/drawingml/2006/main">
              <a:ext uri="{FF2B5EF4-FFF2-40B4-BE49-F238E27FC236}">
                <a16:creationId xmlns:a16="http://schemas.microsoft.com/office/drawing/2014/main" id="{F5142409-8318-4B4E-9DD7-7DBFF34ED6D7}"/>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40">
            <a:extLst xmlns:a="http://schemas.openxmlformats.org/drawingml/2006/main">
              <a:ext uri="{FF2B5EF4-FFF2-40B4-BE49-F238E27FC236}">
                <a16:creationId xmlns:a16="http://schemas.microsoft.com/office/drawing/2014/main" id="{66065485-1F47-453D-8883-526565E48659}"/>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5" name="text-141">
            <a:extLst xmlns:a="http://schemas.openxmlformats.org/drawingml/2006/main">
              <a:ext uri="{FF2B5EF4-FFF2-40B4-BE49-F238E27FC236}">
                <a16:creationId xmlns:a16="http://schemas.microsoft.com/office/drawing/2014/main" id="{8EC1A4DC-9CD8-46E2-862E-3A88504E3B33}"/>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19</a:t>
            </a:r>
          </a:p>
        </p:txBody>
      </p:sp>
      <p:graphicFrame>
        <p:nvGraphicFramePr>
          <p:cNvPr id="6" name="">
            <a:extLst xmlns:a="http://schemas.openxmlformats.org/drawingml/2006/main">
              <a:ext uri="{FF2B5EF4-FFF2-40B4-BE49-F238E27FC236}">
                <a16:creationId xmlns:a16="http://schemas.microsoft.com/office/drawing/2014/main" id="{89D43362-A026-4EAA-8CD5-6C08126B7955}"/>
              </a:ext>
            </a:extLst>
          </p:cNvPr>
          <p:cNvGraphicFramePr/>
          <p:nvPr/>
        </p:nvGraphicFramePr>
        <p:xfrm>
          <a:off xmlns:a="http://schemas.openxmlformats.org/drawingml/2006/main" x="571500" y="1952625"/>
          <a:ext xmlns:a="http://schemas.openxmlformats.org/drawingml/2006/main" cx="11049000" cy="3609975"/>
        </p:xfrm>
        <a:graphic xmlns:a="http://schemas.openxmlformats.org/drawingml/2006/main">
          <a:graphicData uri="http://schemas.openxmlformats.org/drawingml/2006/table">
            <a:tbl>
              <a:tblPr/>
              <a:tblGrid>
                <a:gridCol w="1189892"/>
                <a:gridCol w="2889738"/>
                <a:gridCol w="2889738"/>
                <a:gridCol w="2039815"/>
                <a:gridCol w="2039815"/>
              </a:tblGrid>
              <a:tr h="401108">
                <a:tc>
                  <a:txBody>
                    <a:bodyPr lIns="114300" tIns="95250" rIns="95250" bIns="76200"/>
                    <a:lstStyle/>
                    <a:p>
                      <a:r>
                        <a:rPr sz="1800" b="1">
                          <a:solidFill>
                            <a:srgbClr val="FFFFFF"/>
                          </a:solidFill>
                          <a:latin typeface="DejaVu Sans"/>
                          <a:ea typeface="DejaVu Sans"/>
                          <a:cs typeface="DejaVu Sans"/>
                        </a:rPr>
                        <a:t>ID</a:t>
                      </a:r>
                    </a:p>
                  </a:txBody>
                  <a:tcPr marL="91440" marR="91440" marT="45720" marB="45720" anchor="ctr">
                    <a:solidFill>
                      <a:srgbClr val="101C32"/>
                    </a:solidFill>
                  </a:tcPr>
                </a:tc>
                <a:tc>
                  <a:txBody>
                    <a:bodyPr lIns="114300" tIns="95250" rIns="95250" bIns="76200"/>
                    <a:lstStyle/>
                    <a:p>
                      <a:r>
                        <a:rPr sz="1800" b="1">
                          <a:solidFill>
                            <a:srgbClr val="FFFFFF"/>
                          </a:solidFill>
                          <a:latin typeface="DejaVu Sans"/>
                          <a:ea typeface="DejaVu Sans"/>
                          <a:cs typeface="DejaVu Sans"/>
                        </a:rPr>
                        <a:t>Истинный класс</a:t>
                      </a:r>
                    </a:p>
                  </a:txBody>
                  <a:tcPr marL="91440" marR="91440" marT="45720" marB="45720" anchor="ctr">
                    <a:solidFill>
                      <a:srgbClr val="101C32"/>
                    </a:solidFill>
                  </a:tcPr>
                </a:tc>
                <a:tc>
                  <a:txBody>
                    <a:bodyPr lIns="114300" tIns="95250" rIns="95250" bIns="76200"/>
                    <a:lstStyle/>
                    <a:p>
                      <a:r>
                        <a:rPr sz="1800" b="1">
                          <a:solidFill>
                            <a:srgbClr val="FFFFFF"/>
                          </a:solidFill>
                          <a:latin typeface="DejaVu Sans"/>
                          <a:ea typeface="DejaVu Sans"/>
                          <a:cs typeface="DejaVu Sans"/>
                        </a:rPr>
                        <a:t>Прогноз SVM</a:t>
                      </a:r>
                    </a:p>
                  </a:txBody>
                  <a:tcPr marL="91440" marR="91440" marT="45720" marB="45720" anchor="ctr">
                    <a:solidFill>
                      <a:srgbClr val="101C32"/>
                    </a:solidFill>
                  </a:tcPr>
                </a:tc>
                <a:tc>
                  <a:txBody>
                    <a:bodyPr lIns="114300" tIns="95250" rIns="95250" bIns="76200"/>
                    <a:lstStyle/>
                    <a:p>
                      <a:r>
                        <a:rPr sz="1800" b="1">
                          <a:solidFill>
                            <a:srgbClr val="FFFFFF"/>
                          </a:solidFill>
                          <a:latin typeface="DejaVu Sans"/>
                          <a:ea typeface="DejaVu Sans"/>
                          <a:cs typeface="DejaVu Sans"/>
                        </a:rPr>
                        <a:t>Отступ γ</a:t>
                      </a:r>
                    </a:p>
                  </a:txBody>
                  <a:tcPr marL="91440" marR="91440" marT="45720" marB="45720" anchor="ctr">
                    <a:solidFill>
                      <a:srgbClr val="101C32"/>
                    </a:solidFill>
                  </a:tcPr>
                </a:tc>
                <a:tc>
                  <a:txBody>
                    <a:bodyPr lIns="114300" tIns="95250" rIns="95250" bIns="76200"/>
                    <a:lstStyle/>
                    <a:p>
                      <a:r>
                        <a:rPr sz="1800" b="1">
                          <a:solidFill>
                            <a:srgbClr val="FFFFFF"/>
                          </a:solidFill>
                          <a:latin typeface="DejaVu Sans"/>
                          <a:ea typeface="DejaVu Sans"/>
                          <a:cs typeface="DejaVu Sans"/>
                        </a:rPr>
                        <a:t>Запас r</a:t>
                      </a:r>
                    </a:p>
                  </a:txBody>
                  <a:tcPr marL="91440" marR="91440" marT="45720" marB="45720" anchor="ctr">
                    <a:solidFill>
                      <a:srgbClr val="101C32"/>
                    </a:solidFill>
                  </a:tcPr>
                </a:tc>
              </a:tr>
              <a:tr h="401108">
                <a:tc>
                  <a:txBody>
                    <a:bodyPr lIns="114300" tIns="95250" rIns="95250" bIns="76200"/>
                    <a:lstStyle/>
                    <a:p>
                      <a:r>
                        <a:rPr sz="1800" b="0">
                          <a:solidFill>
                            <a:srgbClr val="101C32"/>
                          </a:solidFill>
                          <a:latin typeface="DejaVu Sans"/>
                          <a:ea typeface="DejaVu Sans"/>
                          <a:cs typeface="DejaVu Sans"/>
                        </a:rPr>
                        <a:t>T01</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0,551</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0,551</a:t>
                      </a:r>
                    </a:p>
                  </a:txBody>
                  <a:tcPr marL="91440" marR="91440" marT="45720" marB="45720" anchor="ctr">
                    <a:solidFill>
                      <a:srgbClr val="FFFFFF"/>
                    </a:solidFill>
                  </a:tcPr>
                </a:tc>
              </a:tr>
              <a:tr h="401108">
                <a:tc>
                  <a:txBody>
                    <a:bodyPr lIns="114300" tIns="95250" rIns="95250" bIns="76200"/>
                    <a:lstStyle/>
                    <a:p>
                      <a:r>
                        <a:rPr sz="1800" b="0">
                          <a:solidFill>
                            <a:srgbClr val="101C32"/>
                          </a:solidFill>
                          <a:latin typeface="DejaVu Sans"/>
                          <a:ea typeface="DejaVu Sans"/>
                          <a:cs typeface="DejaVu Sans"/>
                        </a:rPr>
                        <a:t>T02</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0,697</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0,697</a:t>
                      </a:r>
                    </a:p>
                  </a:txBody>
                  <a:tcPr marL="91440" marR="91440" marT="45720" marB="45720" anchor="ctr">
                    <a:solidFill>
                      <a:srgbClr val="EAF0F4"/>
                    </a:solidFill>
                  </a:tcPr>
                </a:tc>
              </a:tr>
              <a:tr h="401108">
                <a:tc>
                  <a:txBody>
                    <a:bodyPr lIns="114300" tIns="95250" rIns="95250" bIns="76200"/>
                    <a:lstStyle/>
                    <a:p>
                      <a:r>
                        <a:rPr sz="1800" b="0">
                          <a:solidFill>
                            <a:srgbClr val="101C32"/>
                          </a:solidFill>
                          <a:latin typeface="DejaVu Sans"/>
                          <a:ea typeface="DejaVu Sans"/>
                          <a:cs typeface="DejaVu Sans"/>
                        </a:rPr>
                        <a:t>T03</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0,018</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0,018</a:t>
                      </a:r>
                    </a:p>
                  </a:txBody>
                  <a:tcPr marL="91440" marR="91440" marT="45720" marB="45720" anchor="ctr">
                    <a:solidFill>
                      <a:srgbClr val="FFFFFF"/>
                    </a:solidFill>
                  </a:tcPr>
                </a:tc>
              </a:tr>
              <a:tr h="401108">
                <a:tc>
                  <a:txBody>
                    <a:bodyPr lIns="114300" tIns="95250" rIns="95250" bIns="76200"/>
                    <a:lstStyle/>
                    <a:p>
                      <a:r>
                        <a:rPr sz="1800" b="0">
                          <a:solidFill>
                            <a:srgbClr val="101C32"/>
                          </a:solidFill>
                          <a:latin typeface="DejaVu Sans"/>
                          <a:ea typeface="DejaVu Sans"/>
                          <a:cs typeface="DejaVu Sans"/>
                        </a:rPr>
                        <a:t>T04</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−0,043</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0,043</a:t>
                      </a:r>
                    </a:p>
                  </a:txBody>
                  <a:tcPr marL="91440" marR="91440" marT="45720" marB="45720" anchor="ctr">
                    <a:solidFill>
                      <a:srgbClr val="FBE4E4"/>
                    </a:solidFill>
                  </a:tcPr>
                </a:tc>
              </a:tr>
              <a:tr h="401108">
                <a:tc>
                  <a:txBody>
                    <a:bodyPr lIns="114300" tIns="95250" rIns="95250" bIns="76200"/>
                    <a:lstStyle/>
                    <a:p>
                      <a:r>
                        <a:rPr sz="1800" b="0">
                          <a:solidFill>
                            <a:srgbClr val="101C32"/>
                          </a:solidFill>
                          <a:latin typeface="DejaVu Sans"/>
                          <a:ea typeface="DejaVu Sans"/>
                          <a:cs typeface="DejaVu Sans"/>
                        </a:rPr>
                        <a:t>T05</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−0,024</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0,024</a:t>
                      </a:r>
                    </a:p>
                  </a:txBody>
                  <a:tcPr marL="91440" marR="91440" marT="45720" marB="45720" anchor="ctr">
                    <a:solidFill>
                      <a:srgbClr val="FBE4E4"/>
                    </a:solidFill>
                  </a:tcPr>
                </a:tc>
              </a:tr>
              <a:tr h="401108">
                <a:tc>
                  <a:txBody>
                    <a:bodyPr lIns="114300" tIns="95250" rIns="95250" bIns="76200"/>
                    <a:lstStyle/>
                    <a:p>
                      <a:r>
                        <a:rPr sz="1800" b="0">
                          <a:solidFill>
                            <a:srgbClr val="101C32"/>
                          </a:solidFill>
                          <a:latin typeface="DejaVu Sans"/>
                          <a:ea typeface="DejaVu Sans"/>
                          <a:cs typeface="DejaVu Sans"/>
                        </a:rPr>
                        <a:t>T06</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0,034</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0,034</a:t>
                      </a:r>
                    </a:p>
                  </a:txBody>
                  <a:tcPr marL="91440" marR="91440" marT="45720" marB="45720" anchor="ctr">
                    <a:solidFill>
                      <a:srgbClr val="EAF0F4"/>
                    </a:solidFill>
                  </a:tcPr>
                </a:tc>
              </a:tr>
              <a:tr h="401108">
                <a:tc>
                  <a:txBody>
                    <a:bodyPr lIns="114300" tIns="95250" rIns="95250" bIns="76200"/>
                    <a:lstStyle/>
                    <a:p>
                      <a:r>
                        <a:rPr sz="1800" b="0">
                          <a:solidFill>
                            <a:srgbClr val="101C32"/>
                          </a:solidFill>
                          <a:latin typeface="DejaVu Sans"/>
                          <a:ea typeface="DejaVu Sans"/>
                          <a:cs typeface="DejaVu Sans"/>
                        </a:rPr>
                        <a:t>T07</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0,102</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0,102</a:t>
                      </a:r>
                    </a:p>
                  </a:txBody>
                  <a:tcPr marL="91440" marR="91440" marT="45720" marB="45720" anchor="ctr">
                    <a:solidFill>
                      <a:srgbClr val="FFFFFF"/>
                    </a:solidFill>
                  </a:tcPr>
                </a:tc>
              </a:tr>
              <a:tr h="401108">
                <a:tc>
                  <a:txBody>
                    <a:bodyPr lIns="114300" tIns="95250" rIns="95250" bIns="76200"/>
                    <a:lstStyle/>
                    <a:p>
                      <a:r>
                        <a:rPr sz="1800" b="0">
                          <a:solidFill>
                            <a:srgbClr val="101C32"/>
                          </a:solidFill>
                          <a:latin typeface="DejaVu Sans"/>
                          <a:ea typeface="DejaVu Sans"/>
                          <a:cs typeface="DejaVu Sans"/>
                        </a:rPr>
                        <a:t>T08</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0,285</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0,285</a:t>
                      </a:r>
                    </a:p>
                  </a:txBody>
                  <a:tcPr marL="91440" marR="91440" marT="45720" marB="45720" anchor="ctr">
                    <a:solidFill>
                      <a:srgbClr val="EAF0F4"/>
                    </a:solidFill>
                  </a:tcPr>
                </a:tc>
              </a:tr>
            </a:tbl>
          </a:graphicData>
        </a:graphic>
      </p:graphicFrame>
      <p:sp>
        <p:nvSpPr>
          <p:cNvPr id="7" name="text-142">
            <a:extLst xmlns:a="http://schemas.openxmlformats.org/drawingml/2006/main">
              <a:ext uri="{FF2B5EF4-FFF2-40B4-BE49-F238E27FC236}">
                <a16:creationId xmlns:a16="http://schemas.microsoft.com/office/drawing/2014/main" id="{1CBFFE22-FE34-4230-A9D2-FB8F518E203E}"/>
              </a:ext>
            </a:extLst>
          </p:cNvPr>
          <p:cNvSpPr>
            <a:spLocks xmlns:a="http://schemas.openxmlformats.org/drawingml/2006/main" noGrp="1"/>
          </p:cNvSpPr>
          <p:nvPr/>
        </p:nvSpPr>
        <p:spPr>
          <a:xfrm xmlns:a="http://schemas.openxmlformats.org/drawingml/2006/main">
            <a:off x="571500" y="5886450"/>
            <a:ext cx="11049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rPr>
              <a:t>У T04 и T05 отступ γ &lt; 0: модель ошиблась. Запас r = |γ| всегда без минуса.</a:t>
            </a:r>
          </a:p>
        </p:txBody>
      </p:sp>
    </p:spTree>
    <p:extLst>
      <p:ext uri="{BB962C8B-B14F-4D97-AF65-F5344CB8AC3E}">
        <p14:creationId xmlns:p14="http://schemas.microsoft.com/office/powerpoint/2010/main" val="710587091"/>
      </p:ext>
    </p:extLst>
  </p:cSld>
</p:sld>
</file>

<file path=ppt/slides/slide20.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8" name="text-143">
            <a:extLst xmlns:a="http://schemas.openxmlformats.org/drawingml/2006/main">
              <a:ext uri="{FF2B5EF4-FFF2-40B4-BE49-F238E27FC236}">
                <a16:creationId xmlns:a16="http://schemas.microsoft.com/office/drawing/2014/main" id="{A5FF35D4-F155-488C-840C-D4E50162CAC8}"/>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Те же восемь окон на графике</a:t>
            </a:r>
          </a:p>
        </p:txBody>
      </p:sp>
      <p:sp>
        <p:nvSpPr>
          <p:cNvPr id="2" name="text-144">
            <a:extLst xmlns:a="http://schemas.openxmlformats.org/drawingml/2006/main">
              <a:ext uri="{FF2B5EF4-FFF2-40B4-BE49-F238E27FC236}">
                <a16:creationId xmlns:a16="http://schemas.microsoft.com/office/drawing/2014/main" id="{7DDBAAFF-A8A3-4CC3-AAE6-ED22E4CD7F41}"/>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Выше линии модель выбирает атаку, ниже норму.</a:t>
            </a:r>
          </a:p>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Цвет точки показывает класс из условия.</a:t>
            </a:r>
          </a:p>
        </p:txBody>
      </p:sp>
      <p:sp>
        <p:nvSpPr>
          <p:cNvPr id="3" name="">
            <a:extLst xmlns:a="http://schemas.openxmlformats.org/drawingml/2006/main">
              <a:ext uri="{FF2B5EF4-FFF2-40B4-BE49-F238E27FC236}">
                <a16:creationId xmlns:a16="http://schemas.microsoft.com/office/drawing/2014/main" id="{BD00AB0F-E9A1-4CB1-956C-260872D7D0FB}"/>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45">
            <a:extLst xmlns:a="http://schemas.openxmlformats.org/drawingml/2006/main">
              <a:ext uri="{FF2B5EF4-FFF2-40B4-BE49-F238E27FC236}">
                <a16:creationId xmlns:a16="http://schemas.microsoft.com/office/drawing/2014/main" id="{BC7431D0-04A2-4AD9-A392-7A2C40209E64}"/>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Расчёт и график из Colab</a:t>
            </a:r>
          </a:p>
        </p:txBody>
      </p:sp>
      <p:sp>
        <p:nvSpPr>
          <p:cNvPr id="5" name="text-146">
            <a:extLst xmlns:a="http://schemas.openxmlformats.org/drawingml/2006/main">
              <a:ext uri="{FF2B5EF4-FFF2-40B4-BE49-F238E27FC236}">
                <a16:creationId xmlns:a16="http://schemas.microsoft.com/office/drawing/2014/main" id="{DE73E1D4-3561-4818-90FE-A1DDE83D8C4B}"/>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20</a:t>
            </a:r>
          </a:p>
        </p:txBody>
      </p:sp>
      <p:pic>
        <p:nvPicPr>
          <p:cNvPr id="6" name="">
            <a:extLst xmlns:a="http://schemas.openxmlformats.org/drawingml/2006/main">
              <a:ext uri="{FF2B5EF4-FFF2-40B4-BE49-F238E27FC236}">
                <a16:creationId xmlns:a16="http://schemas.microsoft.com/office/drawing/2014/main" id="{25860CA5-3CBC-4BC2-99BD-EB393E541CC9}"/>
              </a:ext>
            </a:extLst>
          </p:cNvPr>
          <p:cNvPicPr>
            <a:picLocks xmlns:a="http://schemas.openxmlformats.org/drawingml/2006/main" noChangeAspect="1"/>
          </p:cNvPicPr>
          <p:nvPr/>
        </p:nvPicPr>
        <p:blipFill>
          <a:blip xmlns:r="http://schemas.openxmlformats.org/officeDocument/2006/relationships" xmlns:a="http://schemas.openxmlformats.org/drawingml/2006/main" r:embed="R2b93a33d29414099"/>
          <a:stretch xmlns:a="http://schemas.openxmlformats.org/drawingml/2006/main"/>
        </p:blipFill>
        <p:spPr>
          <a:xfrm xmlns:a="http://schemas.openxmlformats.org/drawingml/2006/main">
            <a:off x="575151" y="1895475"/>
            <a:ext cx="11041698" cy="3990975"/>
          </a:xfrm>
          <a:prstGeom xmlns:a="http://schemas.openxmlformats.org/drawingml/2006/main" prst="rect">
            <a:avLst/>
          </a:prstGeom>
        </p:spPr>
      </p:pic>
      <p:sp>
        <p:nvSpPr>
          <p:cNvPr id="7" name="text-147">
            <a:extLst xmlns:a="http://schemas.openxmlformats.org/drawingml/2006/main">
              <a:ext uri="{FF2B5EF4-FFF2-40B4-BE49-F238E27FC236}">
                <a16:creationId xmlns:a16="http://schemas.microsoft.com/office/drawing/2014/main" id="{0ABD0F9D-6990-4249-BC7F-34F9996C8BD4}"/>
              </a:ext>
            </a:extLst>
          </p:cNvPr>
          <p:cNvSpPr>
            <a:spLocks xmlns:a="http://schemas.openxmlformats.org/drawingml/2006/main" noGrp="1"/>
          </p:cNvSpPr>
          <p:nvPr/>
        </p:nvSpPr>
        <p:spPr>
          <a:xfrm xmlns:a="http://schemas.openxmlformats.org/drawingml/2006/main">
            <a:off x="571500" y="59912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1">
                <a:solidFill>
                  <a:srgbClr val="008C95"/>
                </a:solidFill>
                <a:latin typeface="DejaVu Sans"/>
                <a:ea typeface="DejaVu Sans"/>
                <a:cs typeface="DejaVu Sans"/>
              </a:defRPr>
            </a:defPPr>
          </a:lstStyle>
          <a:p xmlns:a="http://schemas.openxmlformats.org/drawingml/2006/main">
            <a:pPr>
              <a:defRPr sz="1575" b="1">
                <a:solidFill>
                  <a:srgbClr val="008C95"/>
                </a:solidFill>
                <a:latin typeface="DejaVu Sans"/>
                <a:ea typeface="DejaVu Sans"/>
                <a:cs typeface="DejaVu Sans"/>
              </a:defRPr>
            </a:pPr>
            <a:r>
              <a:rPr sz="1575" b="1">
                <a:solidFill>
                  <a:srgbClr val="008C95"/>
                </a:solidFill>
                <a:latin typeface="DejaVu Sans"/>
                <a:ea typeface="DejaVu Sans"/>
                <a:cs typeface="DejaVu Sans"/>
              </a:rPr>
              <a:t>Серая полоса выделяет окна с r &lt; 0,10. Их ответ легче меняется при сдвиге точки.</a:t>
            </a:r>
          </a:p>
        </p:txBody>
      </p:sp>
    </p:spTree>
    <p:extLst>
      <p:ext uri="{BB962C8B-B14F-4D97-AF65-F5344CB8AC3E}">
        <p14:creationId xmlns:p14="http://schemas.microsoft.com/office/powerpoint/2010/main" val="657912735"/>
      </p:ext>
    </p:extLst>
  </p:cSld>
</p:sld>
</file>

<file path=ppt/slides/slide21.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2" name="text-148">
            <a:extLst xmlns:a="http://schemas.openxmlformats.org/drawingml/2006/main">
              <a:ext uri="{FF2B5EF4-FFF2-40B4-BE49-F238E27FC236}">
                <a16:creationId xmlns:a16="http://schemas.microsoft.com/office/drawing/2014/main" id="{002707BE-5DE7-4979-8AB0-C42B67644669}"/>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Какие ответы стоит перепроверить</a:t>
            </a:r>
          </a:p>
        </p:txBody>
      </p:sp>
      <p:sp>
        <p:nvSpPr>
          <p:cNvPr id="2" name="text-149">
            <a:extLst xmlns:a="http://schemas.openxmlformats.org/drawingml/2006/main">
              <a:ext uri="{FF2B5EF4-FFF2-40B4-BE49-F238E27FC236}">
                <a16:creationId xmlns:a16="http://schemas.microsoft.com/office/drawing/2014/main" id="{F6D77234-70D5-4443-AA50-CA0629590E3E}"/>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В нашем примере отправляем на перепроверку окна с r &lt; 0,10</a:t>
            </a:r>
          </a:p>
        </p:txBody>
      </p:sp>
      <p:sp>
        <p:nvSpPr>
          <p:cNvPr id="3" name="">
            <a:extLst xmlns:a="http://schemas.openxmlformats.org/drawingml/2006/main">
              <a:ext uri="{FF2B5EF4-FFF2-40B4-BE49-F238E27FC236}">
                <a16:creationId xmlns:a16="http://schemas.microsoft.com/office/drawing/2014/main" id="{8436B995-514B-4852-82C1-BEF0497B6737}"/>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50">
            <a:extLst xmlns:a="http://schemas.openxmlformats.org/drawingml/2006/main">
              <a:ext uri="{FF2B5EF4-FFF2-40B4-BE49-F238E27FC236}">
                <a16:creationId xmlns:a16="http://schemas.microsoft.com/office/drawing/2014/main" id="{87C6F22D-712D-40B9-9AA0-36A040A4BDA4}"/>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5" name="text-151">
            <a:extLst xmlns:a="http://schemas.openxmlformats.org/drawingml/2006/main">
              <a:ext uri="{FF2B5EF4-FFF2-40B4-BE49-F238E27FC236}">
                <a16:creationId xmlns:a16="http://schemas.microsoft.com/office/drawing/2014/main" id="{E3896432-BDAF-4C46-8AD7-8CBDE2821196}"/>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21</a:t>
            </a:r>
          </a:p>
        </p:txBody>
      </p:sp>
      <p:sp>
        <p:nvSpPr>
          <p:cNvPr id="6" name="text-152">
            <a:extLst xmlns:a="http://schemas.openxmlformats.org/drawingml/2006/main">
              <a:ext uri="{FF2B5EF4-FFF2-40B4-BE49-F238E27FC236}">
                <a16:creationId xmlns:a16="http://schemas.microsoft.com/office/drawing/2014/main" id="{AE631797-1F69-4F16-B0A6-44A011AEE68D}"/>
              </a:ext>
            </a:extLst>
          </p:cNvPr>
          <p:cNvSpPr>
            <a:spLocks xmlns:a="http://schemas.openxmlformats.org/drawingml/2006/main" noGrp="1"/>
          </p:cNvSpPr>
          <p:nvPr/>
        </p:nvSpPr>
        <p:spPr>
          <a:xfrm xmlns:a="http://schemas.openxmlformats.org/drawingml/2006/main">
            <a:off x="571500" y="2057400"/>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550" b="1">
                <a:solidFill>
                  <a:srgbClr val="9C700C"/>
                </a:solidFill>
                <a:latin typeface="DejaVu Sans"/>
                <a:ea typeface="DejaVu Sans"/>
                <a:cs typeface="DejaVu Sans"/>
              </a:defRPr>
            </a:defPPr>
          </a:lstStyle>
          <a:p xmlns:a="http://schemas.openxmlformats.org/drawingml/2006/main">
            <a:pPr>
              <a:defRPr sz="2550" b="1">
                <a:solidFill>
                  <a:srgbClr val="9C700C"/>
                </a:solidFill>
                <a:latin typeface="DejaVu Sans"/>
                <a:ea typeface="DejaVu Sans"/>
                <a:cs typeface="DejaVu Sans"/>
              </a:defRPr>
            </a:pPr>
            <a:r>
              <a:rPr sz="2550" b="1">
                <a:solidFill>
                  <a:srgbClr val="9C700C"/>
                </a:solidFill>
                <a:latin typeface="DejaVu Sans"/>
                <a:ea typeface="DejaVu Sans"/>
                <a:cs typeface="DejaVu Sans"/>
              </a:rPr>
              <a:t>Малый запас: T03, T04, T05, T06</a:t>
            </a:r>
          </a:p>
        </p:txBody>
      </p:sp>
      <p:sp>
        <p:nvSpPr>
          <p:cNvPr id="7" name="text-153">
            <a:extLst xmlns:a="http://schemas.openxmlformats.org/drawingml/2006/main">
              <a:ext uri="{FF2B5EF4-FFF2-40B4-BE49-F238E27FC236}">
                <a16:creationId xmlns:a16="http://schemas.microsoft.com/office/drawing/2014/main" id="{D937D014-40A1-4F94-BDA5-DBFD841CFC82}"/>
              </a:ext>
            </a:extLst>
          </p:cNvPr>
          <p:cNvSpPr>
            <a:spLocks xmlns:a="http://schemas.openxmlformats.org/drawingml/2006/main" noGrp="1"/>
          </p:cNvSpPr>
          <p:nvPr/>
        </p:nvSpPr>
        <p:spPr>
          <a:xfrm xmlns:a="http://schemas.openxmlformats.org/drawingml/2006/main">
            <a:off x="571500" y="31242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E85555"/>
                </a:solidFill>
                <a:latin typeface="DejaVu Sans"/>
                <a:ea typeface="DejaVu Sans"/>
                <a:cs typeface="DejaVu Sans"/>
              </a:defRPr>
            </a:defPPr>
          </a:lstStyle>
          <a:p xmlns:a="http://schemas.openxmlformats.org/drawingml/2006/main">
            <a:pPr>
              <a:defRPr sz="2175" b="1">
                <a:solidFill>
                  <a:srgbClr val="E85555"/>
                </a:solidFill>
                <a:latin typeface="DejaVu Sans"/>
                <a:ea typeface="DejaVu Sans"/>
                <a:cs typeface="DejaVu Sans"/>
              </a:defRPr>
            </a:pPr>
            <a:r>
              <a:rPr sz="2175" b="1">
                <a:solidFill>
                  <a:srgbClr val="E85555"/>
                </a:solidFill>
                <a:latin typeface="DejaVu Sans"/>
                <a:ea typeface="DejaVu Sans"/>
                <a:cs typeface="DejaVu Sans"/>
              </a:rPr>
              <a:t>T04: пропуск атаки</a:t>
            </a:r>
          </a:p>
        </p:txBody>
      </p:sp>
      <p:sp>
        <p:nvSpPr>
          <p:cNvPr id="8" name="text-154">
            <a:extLst xmlns:a="http://schemas.openxmlformats.org/drawingml/2006/main">
              <a:ext uri="{FF2B5EF4-FFF2-40B4-BE49-F238E27FC236}">
                <a16:creationId xmlns:a16="http://schemas.microsoft.com/office/drawing/2014/main" id="{B365A90D-6B11-40FB-8B48-3CFCB3B5CEB7}"/>
              </a:ext>
            </a:extLst>
          </p:cNvPr>
          <p:cNvSpPr>
            <a:spLocks xmlns:a="http://schemas.openxmlformats.org/drawingml/2006/main" noGrp="1"/>
          </p:cNvSpPr>
          <p:nvPr/>
        </p:nvSpPr>
        <p:spPr>
          <a:xfrm xmlns:a="http://schemas.openxmlformats.org/drawingml/2006/main">
            <a:off x="571500" y="3657600"/>
            <a:ext cx="5238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В примере это атака,</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но модель сказала «норма».</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Так можно не заметить угрозу.</a:t>
            </a:r>
          </a:p>
        </p:txBody>
      </p:sp>
      <p:sp>
        <p:nvSpPr>
          <p:cNvPr id="9" name="text-155">
            <a:extLst xmlns:a="http://schemas.openxmlformats.org/drawingml/2006/main">
              <a:ext uri="{FF2B5EF4-FFF2-40B4-BE49-F238E27FC236}">
                <a16:creationId xmlns:a16="http://schemas.microsoft.com/office/drawing/2014/main" id="{1A2B2FC3-DAC3-47BF-A556-6D4B3B3924FA}"/>
              </a:ext>
            </a:extLst>
          </p:cNvPr>
          <p:cNvSpPr>
            <a:spLocks xmlns:a="http://schemas.openxmlformats.org/drawingml/2006/main" noGrp="1"/>
          </p:cNvSpPr>
          <p:nvPr/>
        </p:nvSpPr>
        <p:spPr>
          <a:xfrm xmlns:a="http://schemas.openxmlformats.org/drawingml/2006/main">
            <a:off x="6381750" y="31242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9C700C"/>
                </a:solidFill>
                <a:latin typeface="DejaVu Sans"/>
                <a:ea typeface="DejaVu Sans"/>
                <a:cs typeface="DejaVu Sans"/>
              </a:defRPr>
            </a:defPPr>
          </a:lstStyle>
          <a:p xmlns:a="http://schemas.openxmlformats.org/drawingml/2006/main">
            <a:pPr>
              <a:defRPr sz="2175" b="1">
                <a:solidFill>
                  <a:srgbClr val="9C700C"/>
                </a:solidFill>
                <a:latin typeface="DejaVu Sans"/>
                <a:ea typeface="DejaVu Sans"/>
                <a:cs typeface="DejaVu Sans"/>
              </a:defRPr>
            </a:pPr>
            <a:r>
              <a:rPr sz="2175" b="1">
                <a:solidFill>
                  <a:srgbClr val="9C700C"/>
                </a:solidFill>
                <a:latin typeface="DejaVu Sans"/>
                <a:ea typeface="DejaVu Sans"/>
                <a:cs typeface="DejaVu Sans"/>
              </a:rPr>
              <a:t>T05: ложная тревога</a:t>
            </a:r>
          </a:p>
        </p:txBody>
      </p:sp>
      <p:sp>
        <p:nvSpPr>
          <p:cNvPr id="10" name="text-156">
            <a:extLst xmlns:a="http://schemas.openxmlformats.org/drawingml/2006/main">
              <a:ext uri="{FF2B5EF4-FFF2-40B4-BE49-F238E27FC236}">
                <a16:creationId xmlns:a16="http://schemas.microsoft.com/office/drawing/2014/main" id="{F7BDF165-E23D-4727-874B-1E831E349B06}"/>
              </a:ext>
            </a:extLst>
          </p:cNvPr>
          <p:cNvSpPr>
            <a:spLocks xmlns:a="http://schemas.openxmlformats.org/drawingml/2006/main" noGrp="1"/>
          </p:cNvSpPr>
          <p:nvPr/>
        </p:nvSpPr>
        <p:spPr>
          <a:xfrm xmlns:a="http://schemas.openxmlformats.org/drawingml/2006/main">
            <a:off x="6381750" y="3657600"/>
            <a:ext cx="5238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В примере это обычный трафик,</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но модель сказала «атака».</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Блокировка помешает клиентам.</a:t>
            </a:r>
          </a:p>
        </p:txBody>
      </p:sp>
      <p:sp>
        <p:nvSpPr>
          <p:cNvPr id="11" name="text-157">
            <a:extLst xmlns:a="http://schemas.openxmlformats.org/drawingml/2006/main">
              <a:ext uri="{FF2B5EF4-FFF2-40B4-BE49-F238E27FC236}">
                <a16:creationId xmlns:a16="http://schemas.microsoft.com/office/drawing/2014/main" id="{A1A3CB51-AF3B-4E5F-BC82-2EA546B2AADB}"/>
              </a:ext>
            </a:extLst>
          </p:cNvPr>
          <p:cNvSpPr>
            <a:spLocks xmlns:a="http://schemas.openxmlformats.org/drawingml/2006/main" noGrp="1"/>
          </p:cNvSpPr>
          <p:nvPr/>
        </p:nvSpPr>
        <p:spPr>
          <a:xfrm xmlns:a="http://schemas.openxmlformats.org/drawingml/2006/main">
            <a:off x="571500" y="5534025"/>
            <a:ext cx="11049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01C32"/>
                </a:solidFill>
                <a:latin typeface="DejaVu Sans"/>
                <a:ea typeface="DejaVu Sans"/>
                <a:cs typeface="DejaVu Sans"/>
              </a:defRPr>
            </a:defPPr>
          </a:lstStyle>
          <a:p xmlns:a="http://schemas.openxmlformats.org/drawingml/2006/main">
            <a:pPr>
              <a:defRPr sz="1800" b="1">
                <a:solidFill>
                  <a:srgbClr val="101C32"/>
                </a:solidFill>
                <a:latin typeface="DejaVu Sans"/>
                <a:ea typeface="DejaVu Sans"/>
                <a:cs typeface="DejaVu Sans"/>
              </a:defRPr>
            </a:pPr>
            <a:r>
              <a:rPr sz="1800" b="1">
                <a:solidFill>
                  <a:srgbClr val="101C32"/>
                </a:solidFill>
                <a:latin typeface="DejaVu Sans"/>
                <a:ea typeface="DejaVu Sans"/>
                <a:cs typeface="DejaVu Sans"/>
              </a:rPr>
              <a:t>Здесь обе ошибки попали в перепроверку. Так бывает не всегда.</a:t>
            </a:r>
          </a:p>
          <a:p xmlns:a="http://schemas.openxmlformats.org/drawingml/2006/main">
            <a:pPr>
              <a:defRPr sz="1800" b="1">
                <a:solidFill>
                  <a:srgbClr val="101C32"/>
                </a:solidFill>
                <a:latin typeface="DejaVu Sans"/>
                <a:ea typeface="DejaVu Sans"/>
                <a:cs typeface="DejaVu Sans"/>
              </a:defRPr>
            </a:pPr>
            <a:r>
              <a:rPr sz="1800" b="1">
                <a:solidFill>
                  <a:srgbClr val="101C32"/>
                </a:solidFill>
                <a:latin typeface="DejaVu Sans"/>
                <a:ea typeface="DejaVu Sans"/>
                <a:cs typeface="DejaVu Sans"/>
              </a:rPr>
              <a:t>Порог 0,10 выбираем после обучения, отдельно от зазора SVM.</a:t>
            </a:r>
          </a:p>
        </p:txBody>
      </p:sp>
    </p:spTree>
    <p:extLst>
      <p:ext uri="{BB962C8B-B14F-4D97-AF65-F5344CB8AC3E}">
        <p14:creationId xmlns:p14="http://schemas.microsoft.com/office/powerpoint/2010/main" val="2124189158"/>
      </p:ext>
    </p:extLst>
  </p:cSld>
</p:sld>
</file>

<file path=ppt/slides/slide22.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158">
            <a:extLst xmlns:a="http://schemas.openxmlformats.org/drawingml/2006/main">
              <a:ext uri="{FF2B5EF4-FFF2-40B4-BE49-F238E27FC236}">
                <a16:creationId xmlns:a16="http://schemas.microsoft.com/office/drawing/2014/main" id="{7307EDA8-D92D-40BB-B0BE-7F37B9A942AA}"/>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Что с этими результатами делать в ИБ</a:t>
            </a:r>
          </a:p>
        </p:txBody>
      </p:sp>
      <p:sp>
        <p:nvSpPr>
          <p:cNvPr id="2" name="text-159">
            <a:extLst xmlns:a="http://schemas.openxmlformats.org/drawingml/2006/main">
              <a:ext uri="{FF2B5EF4-FFF2-40B4-BE49-F238E27FC236}">
                <a16:creationId xmlns:a16="http://schemas.microsoft.com/office/drawing/2014/main" id="{0EEF900D-0D0A-4777-81F5-317FEDB85BE2}"/>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Функция triage помогает разобрать ответы модели. SOC занимается мониторингом ИБ.</a:t>
            </a:r>
          </a:p>
        </p:txBody>
      </p:sp>
      <p:sp>
        <p:nvSpPr>
          <p:cNvPr id="3" name="">
            <a:extLst xmlns:a="http://schemas.openxmlformats.org/drawingml/2006/main">
              <a:ext uri="{FF2B5EF4-FFF2-40B4-BE49-F238E27FC236}">
                <a16:creationId xmlns:a16="http://schemas.microsoft.com/office/drawing/2014/main" id="{3642B8A7-9827-445E-8B5F-51430448381E}"/>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60">
            <a:extLst xmlns:a="http://schemas.openxmlformats.org/drawingml/2006/main">
              <a:ext uri="{FF2B5EF4-FFF2-40B4-BE49-F238E27FC236}">
                <a16:creationId xmlns:a16="http://schemas.microsoft.com/office/drawing/2014/main" id="{8CEDBF97-1B12-49B5-820B-E19822C612CF}"/>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[8]. Пример работы аналитика</a:t>
            </a:r>
          </a:p>
        </p:txBody>
      </p:sp>
      <p:sp>
        <p:nvSpPr>
          <p:cNvPr id="5" name="text-161">
            <a:extLst xmlns:a="http://schemas.openxmlformats.org/drawingml/2006/main">
              <a:ext uri="{FF2B5EF4-FFF2-40B4-BE49-F238E27FC236}">
                <a16:creationId xmlns:a16="http://schemas.microsoft.com/office/drawing/2014/main" id="{6DEB8E9F-E467-4FEC-A006-BC339DC7813C}"/>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22</a:t>
            </a:r>
          </a:p>
        </p:txBody>
      </p:sp>
      <p:graphicFrame>
        <p:nvGraphicFramePr>
          <p:cNvPr id="6" name="">
            <a:extLst xmlns:a="http://schemas.openxmlformats.org/drawingml/2006/main">
              <a:ext uri="{FF2B5EF4-FFF2-40B4-BE49-F238E27FC236}">
                <a16:creationId xmlns:a16="http://schemas.microsoft.com/office/drawing/2014/main" id="{0AF51178-0424-47C0-927C-75061EDB219C}"/>
              </a:ext>
            </a:extLst>
          </p:cNvPr>
          <p:cNvGraphicFramePr/>
          <p:nvPr/>
        </p:nvGraphicFramePr>
        <p:xfrm>
          <a:off xmlns:a="http://schemas.openxmlformats.org/drawingml/2006/main" x="571500" y="2190750"/>
          <a:ext xmlns:a="http://schemas.openxmlformats.org/drawingml/2006/main" cx="11049000" cy="1790700"/>
        </p:xfrm>
        <a:graphic xmlns:a="http://schemas.openxmlformats.org/drawingml/2006/main">
          <a:graphicData uri="http://schemas.openxmlformats.org/drawingml/2006/table">
            <a:tbl>
              <a:tblPr/>
              <a:tblGrid>
                <a:gridCol w="2959554"/>
                <a:gridCol w="2367643"/>
                <a:gridCol w="2762250"/>
                <a:gridCol w="2959554"/>
              </a:tblGrid>
              <a:tr h="596900">
                <a:tc>
                  <a:txBody>
                    <a:bodyPr lIns="114300" tIns="95250" rIns="95250" bIns="76200"/>
                    <a:lstStyle/>
                    <a:p>
                      <a:r>
                        <a:rPr sz="1950" b="1">
                          <a:solidFill>
                            <a:srgbClr val="FFFFFF"/>
                          </a:solidFill>
                          <a:latin typeface="DejaVu Sans"/>
                          <a:ea typeface="DejaVu Sans"/>
                          <a:cs typeface="DejaVu Sans"/>
                        </a:rPr>
                        <a:t>Ввод: SYN/с и %</a:t>
                      </a:r>
                    </a:p>
                  </a:txBody>
                  <a:tcPr marL="91440" marR="91440" marT="45720" marB="45720" anchor="ctr">
                    <a:solidFill>
                      <a:srgbClr val="101C32"/>
                    </a:solidFill>
                  </a:tcPr>
                </a:tc>
                <a:tc>
                  <a:txBody>
                    <a:bodyPr lIns="114300" tIns="95250" rIns="95250" bIns="76200"/>
                    <a:lstStyle/>
                    <a:p>
                      <a:r>
                        <a:rPr sz="1950" b="1">
                          <a:solidFill>
                            <a:srgbClr val="FFFFFF"/>
                          </a:solidFill>
                          <a:latin typeface="DejaVu Sans"/>
                          <a:ea typeface="DejaVu Sans"/>
                          <a:cs typeface="DejaVu Sans"/>
                        </a:rPr>
                        <a:t>Прогноз</a:t>
                      </a:r>
                    </a:p>
                  </a:txBody>
                  <a:tcPr marL="91440" marR="91440" marT="45720" marB="45720" anchor="ctr">
                    <a:solidFill>
                      <a:srgbClr val="101C32"/>
                    </a:solidFill>
                  </a:tcPr>
                </a:tc>
                <a:tc>
                  <a:txBody>
                    <a:bodyPr lIns="114300" tIns="95250" rIns="95250" bIns="76200"/>
                    <a:lstStyle/>
                    <a:p>
                      <a:r>
                        <a:rPr sz="1950" b="1">
                          <a:solidFill>
                            <a:srgbClr val="FFFFFF"/>
                          </a:solidFill>
                          <a:latin typeface="DejaVu Sans"/>
                          <a:ea typeface="DejaVu Sans"/>
                          <a:cs typeface="DejaVu Sans"/>
                        </a:rPr>
                        <a:t>Сигнал атаки</a:t>
                      </a:r>
                    </a:p>
                  </a:txBody>
                  <a:tcPr marL="91440" marR="91440" marT="45720" marB="45720" anchor="ctr">
                    <a:solidFill>
                      <a:srgbClr val="101C32"/>
                    </a:solidFill>
                  </a:tcPr>
                </a:tc>
                <a:tc>
                  <a:txBody>
                    <a:bodyPr lIns="114300" tIns="95250" rIns="95250" bIns="76200"/>
                    <a:lstStyle/>
                    <a:p>
                      <a:r>
                        <a:rPr sz="1950" b="1">
                          <a:solidFill>
                            <a:srgbClr val="FFFFFF"/>
                          </a:solidFill>
                          <a:latin typeface="DejaVu Sans"/>
                          <a:ea typeface="DejaVu Sans"/>
                          <a:cs typeface="DejaVu Sans"/>
                        </a:rPr>
                        <a:t>Перепроверка</a:t>
                      </a:r>
                    </a:p>
                  </a:txBody>
                  <a:tcPr marL="91440" marR="91440" marT="45720" marB="45720" anchor="ctr">
                    <a:solidFill>
                      <a:srgbClr val="101C32"/>
                    </a:solidFill>
                  </a:tcPr>
                </a:tc>
              </a:tr>
              <a:tr h="596900">
                <a:tc>
                  <a:txBody>
                    <a:bodyPr lIns="114300" tIns="95250" rIns="95250" bIns="76200"/>
                    <a:lstStyle/>
                    <a:p>
                      <a:r>
                        <a:rPr sz="1950" b="0">
                          <a:solidFill>
                            <a:srgbClr val="101C32"/>
                          </a:solidFill>
                          <a:latin typeface="DejaVu Sans"/>
                          <a:ea typeface="DejaVu Sans"/>
                          <a:cs typeface="DejaVu Sans"/>
                        </a:rPr>
                        <a:t>900; 40%</a:t>
                      </a:r>
                    </a:p>
                  </a:txBody>
                  <a:tcPr marL="91440" marR="91440" marT="45720" marB="45720" anchor="ctr">
                    <a:solidFill>
                      <a:srgbClr val="FFFFFF"/>
                    </a:solidFill>
                  </a:tcPr>
                </a:tc>
                <a:tc>
                  <a:txBody>
                    <a:bodyPr lIns="114300" tIns="95250" rIns="95250" bIns="76200"/>
                    <a:lstStyle/>
                    <a:p>
                      <a:r>
                        <a:rPr sz="195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950" b="0">
                          <a:solidFill>
                            <a:srgbClr val="101C32"/>
                          </a:solidFill>
                          <a:latin typeface="DejaVu Sans"/>
                          <a:ea typeface="DejaVu Sans"/>
                          <a:cs typeface="DejaVu Sans"/>
                        </a:rPr>
                        <a:t>Нет</a:t>
                      </a:r>
                    </a:p>
                  </a:txBody>
                  <a:tcPr marL="91440" marR="91440" marT="45720" marB="45720" anchor="ctr">
                    <a:solidFill>
                      <a:srgbClr val="FFFFFF"/>
                    </a:solidFill>
                  </a:tcPr>
                </a:tc>
                <a:tc>
                  <a:txBody>
                    <a:bodyPr lIns="114300" tIns="95250" rIns="95250" bIns="76200"/>
                    <a:lstStyle/>
                    <a:p>
                      <a:r>
                        <a:rPr sz="1950" b="0">
                          <a:solidFill>
                            <a:srgbClr val="101C32"/>
                          </a:solidFill>
                          <a:latin typeface="DejaVu Sans"/>
                          <a:ea typeface="DejaVu Sans"/>
                          <a:cs typeface="DejaVu Sans"/>
                        </a:rPr>
                        <a:t>Да</a:t>
                      </a:r>
                    </a:p>
                  </a:txBody>
                  <a:tcPr marL="91440" marR="91440" marT="45720" marB="45720" anchor="ctr">
                    <a:solidFill>
                      <a:srgbClr val="FFFFFF"/>
                    </a:solidFill>
                  </a:tcPr>
                </a:tc>
              </a:tr>
              <a:tr h="596900">
                <a:tc>
                  <a:txBody>
                    <a:bodyPr lIns="114300" tIns="95250" rIns="95250" bIns="76200"/>
                    <a:lstStyle/>
                    <a:p>
                      <a:r>
                        <a:rPr sz="1950" b="0">
                          <a:solidFill>
                            <a:srgbClr val="101C32"/>
                          </a:solidFill>
                          <a:latin typeface="DejaVu Sans"/>
                          <a:ea typeface="DejaVu Sans"/>
                          <a:cs typeface="DejaVu Sans"/>
                        </a:rPr>
                        <a:t>1550; 88%</a:t>
                      </a:r>
                    </a:p>
                  </a:txBody>
                  <a:tcPr marL="91440" marR="91440" marT="45720" marB="45720" anchor="ctr">
                    <a:solidFill>
                      <a:srgbClr val="EAF0F4"/>
                    </a:solidFill>
                  </a:tcPr>
                </a:tc>
                <a:tc>
                  <a:txBody>
                    <a:bodyPr lIns="114300" tIns="95250" rIns="95250" bIns="76200"/>
                    <a:lstStyle/>
                    <a:p>
                      <a:r>
                        <a:rPr sz="195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950" b="0">
                          <a:solidFill>
                            <a:srgbClr val="101C32"/>
                          </a:solidFill>
                          <a:latin typeface="DejaVu Sans"/>
                          <a:ea typeface="DejaVu Sans"/>
                          <a:cs typeface="DejaVu Sans"/>
                        </a:rPr>
                        <a:t>Да</a:t>
                      </a:r>
                    </a:p>
                  </a:txBody>
                  <a:tcPr marL="91440" marR="91440" marT="45720" marB="45720" anchor="ctr">
                    <a:solidFill>
                      <a:srgbClr val="EAF0F4"/>
                    </a:solidFill>
                  </a:tcPr>
                </a:tc>
                <a:tc>
                  <a:txBody>
                    <a:bodyPr lIns="114300" tIns="95250" rIns="95250" bIns="76200"/>
                    <a:lstStyle/>
                    <a:p>
                      <a:r>
                        <a:rPr sz="1950" b="0">
                          <a:solidFill>
                            <a:srgbClr val="101C32"/>
                          </a:solidFill>
                          <a:latin typeface="DejaVu Sans"/>
                          <a:ea typeface="DejaVu Sans"/>
                          <a:cs typeface="DejaVu Sans"/>
                        </a:rPr>
                        <a:t>Нет</a:t>
                      </a:r>
                    </a:p>
                  </a:txBody>
                  <a:tcPr marL="91440" marR="91440" marT="45720" marB="45720" anchor="ctr">
                    <a:solidFill>
                      <a:srgbClr val="EAF0F4"/>
                    </a:solidFill>
                  </a:tcPr>
                </a:tc>
              </a:tr>
            </a:tbl>
          </a:graphicData>
        </a:graphic>
      </p:graphicFrame>
      <p:sp>
        <p:nvSpPr>
          <p:cNvPr id="7" name="text-162">
            <a:extLst xmlns:a="http://schemas.openxmlformats.org/drawingml/2006/main">
              <a:ext uri="{FF2B5EF4-FFF2-40B4-BE49-F238E27FC236}">
                <a16:creationId xmlns:a16="http://schemas.microsoft.com/office/drawing/2014/main" id="{89A1D360-D32D-442F-8AA3-E28302525C75}"/>
              </a:ext>
            </a:extLst>
          </p:cNvPr>
          <p:cNvSpPr>
            <a:spLocks xmlns:a="http://schemas.openxmlformats.org/drawingml/2006/main" noGrp="1"/>
          </p:cNvSpPr>
          <p:nvPr/>
        </p:nvSpPr>
        <p:spPr>
          <a:xfrm xmlns:a="http://schemas.openxmlformats.org/drawingml/2006/main">
            <a:off x="571500" y="4286250"/>
            <a:ext cx="11049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008C95"/>
                </a:solidFill>
                <a:latin typeface="DejaVu Sans"/>
                <a:ea typeface="DejaVu Sans"/>
                <a:cs typeface="DejaVu Sans"/>
              </a:defRPr>
            </a:defPPr>
          </a:lstStyle>
          <a:p xmlns:a="http://schemas.openxmlformats.org/drawingml/2006/main">
            <a:pPr>
              <a:defRPr sz="2100" b="1">
                <a:solidFill>
                  <a:srgbClr val="008C95"/>
                </a:solidFill>
                <a:latin typeface="DejaVu Sans"/>
                <a:ea typeface="DejaVu Sans"/>
                <a:cs typeface="DejaVu Sans"/>
              </a:defRPr>
            </a:pPr>
            <a:r>
              <a:rPr sz="2100" b="1">
                <a:solidFill>
                  <a:srgbClr val="008C95"/>
                </a:solidFill>
                <a:latin typeface="DejaVu Sans"/>
                <a:ea typeface="DejaVu Sans"/>
                <a:cs typeface="DejaVu Sans"/>
              </a:rPr>
              <a:t>Ответ «атака» всегда даёт сигнал о подозрении.</a:t>
            </a:r>
          </a:p>
          <a:p xmlns:a="http://schemas.openxmlformats.org/drawingml/2006/main">
            <a:pPr>
              <a:defRPr sz="2100" b="1">
                <a:solidFill>
                  <a:srgbClr val="008C95"/>
                </a:solidFill>
                <a:latin typeface="DejaVu Sans"/>
                <a:ea typeface="DejaVu Sans"/>
                <a:cs typeface="DejaVu Sans"/>
              </a:defRPr>
            </a:pPr>
            <a:r>
              <a:rPr sz="2100" b="1">
                <a:solidFill>
                  <a:srgbClr val="008C95"/>
                </a:solidFill>
                <a:latin typeface="DejaVu Sans"/>
                <a:ea typeface="DejaVu Sans"/>
                <a:cs typeface="DejaVu Sans"/>
              </a:rPr>
              <a:t>Малый запас добавляет перепроверку, даже если модель выбрала норму.</a:t>
            </a:r>
          </a:p>
        </p:txBody>
      </p:sp>
      <p:sp>
        <p:nvSpPr>
          <p:cNvPr id="8" name="text-163">
            <a:extLst xmlns:a="http://schemas.openxmlformats.org/drawingml/2006/main">
              <a:ext uri="{FF2B5EF4-FFF2-40B4-BE49-F238E27FC236}">
                <a16:creationId xmlns:a16="http://schemas.microsoft.com/office/drawing/2014/main" id="{9DC3C31A-57DB-4386-AF97-9DBE9A9923A3}"/>
              </a:ext>
            </a:extLst>
          </p:cNvPr>
          <p:cNvSpPr>
            <a:spLocks xmlns:a="http://schemas.openxmlformats.org/drawingml/2006/main" noGrp="1"/>
          </p:cNvSpPr>
          <p:nvPr/>
        </p:nvSpPr>
        <p:spPr>
          <a:xfrm xmlns:a="http://schemas.openxmlformats.org/drawingml/2006/main">
            <a:off x="571500" y="5391150"/>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101C32"/>
                </a:solidFill>
                <a:latin typeface="DejaVu Sans"/>
                <a:ea typeface="DejaVu Sans"/>
                <a:cs typeface="DejaVu Sans"/>
              </a:defRPr>
            </a:defPPr>
          </a:lstStyle>
          <a:p xmlns:a="http://schemas.openxmlformats.org/drawingml/2006/main">
            <a:pPr>
              <a:defRPr sz="1650" b="0">
                <a:solidFill>
                  <a:srgbClr val="101C32"/>
                </a:solidFill>
                <a:latin typeface="DejaVu Sans"/>
                <a:ea typeface="DejaVu Sans"/>
                <a:cs typeface="DejaVu Sans"/>
              </a:defRPr>
            </a:pPr>
            <a:r>
              <a:rPr sz="1650" b="0">
                <a:solidFill>
                  <a:srgbClr val="101C32"/>
                </a:solidFill>
                <a:latin typeface="DejaVu Sans"/>
                <a:ea typeface="DejaVu Sans"/>
                <a:cs typeface="DejaVu Sans"/>
              </a:rPr>
              <a:t>Аналитик сверяет сигнал с логами и состоянием сервера.</a:t>
            </a:r>
          </a:p>
          <a:p xmlns:a="http://schemas.openxmlformats.org/drawingml/2006/main">
            <a:pPr>
              <a:defRPr sz="1650" b="0">
                <a:solidFill>
                  <a:srgbClr val="101C32"/>
                </a:solidFill>
                <a:latin typeface="DejaVu Sans"/>
                <a:ea typeface="DejaVu Sans"/>
                <a:cs typeface="DejaVu Sans"/>
              </a:defRPr>
            </a:pPr>
            <a:r>
              <a:rPr sz="1650" b="0">
                <a:solidFill>
                  <a:srgbClr val="101C32"/>
                </a:solidFill>
                <a:latin typeface="DejaVu Sans"/>
                <a:ea typeface="DejaVu Sans"/>
                <a:cs typeface="DejaVu Sans"/>
              </a:rPr>
              <a:t>Перед применением в сети нужны реальные данные и проверка на новых</a:t>
            </a:r>
          </a:p>
          <a:p xmlns:a="http://schemas.openxmlformats.org/drawingml/2006/main">
            <a:pPr>
              <a:defRPr sz="1650" b="0">
                <a:solidFill>
                  <a:srgbClr val="101C32"/>
                </a:solidFill>
                <a:latin typeface="DejaVu Sans"/>
                <a:ea typeface="DejaVu Sans"/>
                <a:cs typeface="DejaVu Sans"/>
              </a:defRPr>
            </a:pPr>
            <a:r>
              <a:rPr sz="1650" b="0">
                <a:solidFill>
                  <a:srgbClr val="101C32"/>
                </a:solidFill>
                <a:latin typeface="DejaVu Sans"/>
                <a:ea typeface="DejaVu Sans"/>
                <a:cs typeface="DejaVu Sans"/>
              </a:rPr>
              <a:t>периодах трафика. Наш код показывает результат и не блокирует трафик.</a:t>
            </a:r>
          </a:p>
        </p:txBody>
      </p:sp>
    </p:spTree>
    <p:extLst>
      <p:ext uri="{BB962C8B-B14F-4D97-AF65-F5344CB8AC3E}">
        <p14:creationId xmlns:p14="http://schemas.microsoft.com/office/powerpoint/2010/main" val="1455982622"/>
      </p:ext>
    </p:extLst>
  </p:cSld>
</p:sld>
</file>

<file path=ppt/slides/slide23.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8" name="text-164">
            <a:extLst xmlns:a="http://schemas.openxmlformats.org/drawingml/2006/main">
              <a:ext uri="{FF2B5EF4-FFF2-40B4-BE49-F238E27FC236}">
                <a16:creationId xmlns:a16="http://schemas.microsoft.com/office/drawing/2014/main" id="{4F82F736-A875-44A0-B8FF-FBBC1C7F3D41}"/>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Что получилось в нашем примере</a:t>
            </a:r>
          </a:p>
        </p:txBody>
      </p:sp>
      <p:sp>
        <p:nvSpPr>
          <p:cNvPr id="2" name="">
            <a:extLst xmlns:a="http://schemas.openxmlformats.org/drawingml/2006/main">
              <a:ext uri="{FF2B5EF4-FFF2-40B4-BE49-F238E27FC236}">
                <a16:creationId xmlns:a16="http://schemas.microsoft.com/office/drawing/2014/main" id="{218A5FCC-774E-4E36-9EF4-2F8BB9100C5D}"/>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3" name="text-165">
            <a:extLst xmlns:a="http://schemas.openxmlformats.org/drawingml/2006/main">
              <a:ext uri="{FF2B5EF4-FFF2-40B4-BE49-F238E27FC236}">
                <a16:creationId xmlns:a16="http://schemas.microsoft.com/office/drawing/2014/main" id="{7170E875-C74E-4661-AFD9-53945B657AFC}"/>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4" name="text-166">
            <a:extLst xmlns:a="http://schemas.openxmlformats.org/drawingml/2006/main">
              <a:ext uri="{FF2B5EF4-FFF2-40B4-BE49-F238E27FC236}">
                <a16:creationId xmlns:a16="http://schemas.microsoft.com/office/drawing/2014/main" id="{ADCF0F9F-70E2-491F-9626-EBDA375FD997}"/>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23</a:t>
            </a:r>
          </a:p>
        </p:txBody>
      </p:sp>
      <p:graphicFrame>
        <p:nvGraphicFramePr>
          <p:cNvPr id="5" name="">
            <a:extLst xmlns:a="http://schemas.openxmlformats.org/drawingml/2006/main">
              <a:ext uri="{FF2B5EF4-FFF2-40B4-BE49-F238E27FC236}">
                <a16:creationId xmlns:a16="http://schemas.microsoft.com/office/drawing/2014/main" id="{F76E02C3-3633-4A7C-873A-F3448B5A3E63}"/>
              </a:ext>
            </a:extLst>
          </p:cNvPr>
          <p:cNvGraphicFramePr/>
          <p:nvPr/>
        </p:nvGraphicFramePr>
        <p:xfrm>
          <a:off xmlns:a="http://schemas.openxmlformats.org/drawingml/2006/main" x="571500" y="1981200"/>
          <a:ext xmlns:a="http://schemas.openxmlformats.org/drawingml/2006/main" cx="11049000" cy="3114675"/>
        </p:xfrm>
        <a:graphic xmlns:a="http://schemas.openxmlformats.org/drawingml/2006/main">
          <a:graphicData uri="http://schemas.openxmlformats.org/drawingml/2006/table">
            <a:tbl>
              <a:tblPr/>
              <a:tblGrid>
                <a:gridCol w="3013364"/>
                <a:gridCol w="8035636"/>
              </a:tblGrid>
              <a:tr h="622935">
                <a:tc>
                  <a:txBody>
                    <a:bodyPr lIns="114300" tIns="95250" rIns="95250" bIns="76200"/>
                    <a:lstStyle/>
                    <a:p>
                      <a:r>
                        <a:rPr sz="2025" b="1">
                          <a:solidFill>
                            <a:srgbClr val="FFFFFF"/>
                          </a:solidFill>
                          <a:latin typeface="DejaVu Sans"/>
                          <a:ea typeface="DejaVu Sans"/>
                          <a:cs typeface="DejaVu Sans"/>
                        </a:rPr>
                        <a:t>Понятие</a:t>
                      </a:r>
                    </a:p>
                  </a:txBody>
                  <a:tcPr marL="91440" marR="91440" marT="45720" marB="45720" anchor="ctr">
                    <a:solidFill>
                      <a:srgbClr val="101C32"/>
                    </a:solidFill>
                  </a:tcPr>
                </a:tc>
                <a:tc>
                  <a:txBody>
                    <a:bodyPr lIns="114300" tIns="95250" rIns="95250" bIns="76200"/>
                    <a:lstStyle/>
                    <a:p>
                      <a:r>
                        <a:rPr sz="2025" b="1">
                          <a:solidFill>
                            <a:srgbClr val="FFFFFF"/>
                          </a:solidFill>
                          <a:latin typeface="DejaVu Sans"/>
                          <a:ea typeface="DejaVu Sans"/>
                          <a:cs typeface="DejaVu Sans"/>
                        </a:rPr>
                        <a:t>Что получили в одном примере</a:t>
                      </a:r>
                    </a:p>
                  </a:txBody>
                  <a:tcPr marL="91440" marR="91440" marT="45720" marB="45720" anchor="ctr">
                    <a:solidFill>
                      <a:srgbClr val="101C32"/>
                    </a:solidFill>
                  </a:tcPr>
                </a:tc>
              </a:tr>
              <a:tr h="622935">
                <a:tc>
                  <a:txBody>
                    <a:bodyPr lIns="114300" tIns="95250" rIns="95250" bIns="76200"/>
                    <a:lstStyle/>
                    <a:p>
                      <a:r>
                        <a:rPr sz="2025" b="0">
                          <a:solidFill>
                            <a:srgbClr val="101C32"/>
                          </a:solidFill>
                          <a:latin typeface="DejaVu Sans"/>
                          <a:ea typeface="DejaVu Sans"/>
                          <a:cs typeface="DejaVu Sans"/>
                        </a:rPr>
                        <a:t>Эталон</a:t>
                      </a:r>
                    </a:p>
                  </a:txBody>
                  <a:tcPr marL="91440" marR="91440" marT="45720" marB="45720" anchor="ctr">
                    <a:solidFill>
                      <a:srgbClr val="FFFFFF"/>
                    </a:solidFill>
                  </a:tcPr>
                </a:tc>
                <a:tc>
                  <a:txBody>
                    <a:bodyPr lIns="114300" tIns="95250" rIns="95250" bIns="76200"/>
                    <a:lstStyle/>
                    <a:p>
                      <a:r>
                        <a:rPr sz="2025" b="0">
                          <a:solidFill>
                            <a:srgbClr val="101C32"/>
                          </a:solidFill>
                          <a:latin typeface="DejaVu Sans"/>
                          <a:ea typeface="DejaVu Sans"/>
                          <a:cs typeface="DejaVu Sans"/>
                        </a:rPr>
                        <a:t>Выбрали N05 для нормы и A06 для SYN-flood</a:t>
                      </a:r>
                    </a:p>
                  </a:txBody>
                  <a:tcPr marL="91440" marR="91440" marT="45720" marB="45720" anchor="ctr">
                    <a:solidFill>
                      <a:srgbClr val="FFFFFF"/>
                    </a:solidFill>
                  </a:tcPr>
                </a:tc>
              </a:tr>
              <a:tr h="622935">
                <a:tc>
                  <a:txBody>
                    <a:bodyPr lIns="114300" tIns="95250" rIns="95250" bIns="76200"/>
                    <a:lstStyle/>
                    <a:p>
                      <a:r>
                        <a:rPr sz="2025" b="0">
                          <a:solidFill>
                            <a:srgbClr val="101C32"/>
                          </a:solidFill>
                          <a:latin typeface="DejaVu Sans"/>
                          <a:ea typeface="DejaVu Sans"/>
                          <a:cs typeface="DejaVu Sans"/>
                        </a:rPr>
                        <a:t>Классификация</a:t>
                      </a:r>
                    </a:p>
                  </a:txBody>
                  <a:tcPr marL="91440" marR="91440" marT="45720" marB="45720" anchor="ctr">
                    <a:solidFill>
                      <a:srgbClr val="EAF0F4"/>
                    </a:solidFill>
                  </a:tcPr>
                </a:tc>
                <a:tc>
                  <a:txBody>
                    <a:bodyPr lIns="114300" tIns="95250" rIns="95250" bIns="76200"/>
                    <a:lstStyle/>
                    <a:p>
                      <a:r>
                        <a:rPr sz="2025" b="0">
                          <a:solidFill>
                            <a:srgbClr val="101C32"/>
                          </a:solidFill>
                          <a:latin typeface="DejaVu Sans"/>
                          <a:ea typeface="DejaVu Sans"/>
                          <a:cs typeface="DejaVu Sans"/>
                        </a:rPr>
                        <a:t>Сравнили T07 с эталонами и проверили через SVM</a:t>
                      </a:r>
                    </a:p>
                  </a:txBody>
                  <a:tcPr marL="91440" marR="91440" marT="45720" marB="45720" anchor="ctr">
                    <a:solidFill>
                      <a:srgbClr val="EAF0F4"/>
                    </a:solidFill>
                  </a:tcPr>
                </a:tc>
              </a:tr>
              <a:tr h="622935">
                <a:tc>
                  <a:txBody>
                    <a:bodyPr lIns="114300" tIns="95250" rIns="95250" bIns="76200"/>
                    <a:lstStyle/>
                    <a:p>
                      <a:r>
                        <a:rPr sz="2025" b="0">
                          <a:solidFill>
                            <a:srgbClr val="101C32"/>
                          </a:solidFill>
                          <a:latin typeface="DejaVu Sans"/>
                          <a:ea typeface="DejaVu Sans"/>
                          <a:cs typeface="DejaVu Sans"/>
                        </a:rPr>
                        <a:t>Отступы</a:t>
                      </a:r>
                    </a:p>
                  </a:txBody>
                  <a:tcPr marL="91440" marR="91440" marT="45720" marB="45720" anchor="ctr">
                    <a:solidFill>
                      <a:srgbClr val="FFFFFF"/>
                    </a:solidFill>
                  </a:tcPr>
                </a:tc>
                <a:tc>
                  <a:txBody>
                    <a:bodyPr lIns="114300" tIns="95250" rIns="95250" bIns="76200"/>
                    <a:lstStyle/>
                    <a:p>
                      <a:r>
                        <a:rPr sz="2025" b="0">
                          <a:solidFill>
                            <a:srgbClr val="101C32"/>
                          </a:solidFill>
                          <a:latin typeface="DejaVu Sans"/>
                          <a:ea typeface="DejaVu Sans"/>
                          <a:cs typeface="DejaVu Sans"/>
                        </a:rPr>
                        <a:t>Проверили 8 окон и выделили 4 пограничных</a:t>
                      </a:r>
                    </a:p>
                  </a:txBody>
                  <a:tcPr marL="91440" marR="91440" marT="45720" marB="45720" anchor="ctr">
                    <a:solidFill>
                      <a:srgbClr val="FFFFFF"/>
                    </a:solidFill>
                  </a:tcPr>
                </a:tc>
              </a:tr>
              <a:tr h="622935">
                <a:tc>
                  <a:txBody>
                    <a:bodyPr lIns="114300" tIns="95250" rIns="95250" bIns="76200"/>
                    <a:lstStyle/>
                    <a:p>
                      <a:r>
                        <a:rPr sz="2025" b="0">
                          <a:solidFill>
                            <a:srgbClr val="101C32"/>
                          </a:solidFill>
                          <a:latin typeface="DejaVu Sans"/>
                          <a:ea typeface="DejaVu Sans"/>
                          <a:cs typeface="DejaVu Sans"/>
                        </a:rPr>
                        <a:t>Польза для ИБ</a:t>
                      </a:r>
                    </a:p>
                  </a:txBody>
                  <a:tcPr marL="91440" marR="91440" marT="45720" marB="45720" anchor="ctr">
                    <a:solidFill>
                      <a:srgbClr val="EAF0F4"/>
                    </a:solidFill>
                  </a:tcPr>
                </a:tc>
                <a:tc>
                  <a:txBody>
                    <a:bodyPr lIns="114300" tIns="95250" rIns="95250" bIns="76200"/>
                    <a:lstStyle/>
                    <a:p>
                      <a:r>
                        <a:rPr sz="2025" b="0">
                          <a:solidFill>
                            <a:srgbClr val="101C32"/>
                          </a:solidFill>
                          <a:latin typeface="DejaVu Sans"/>
                          <a:ea typeface="DejaVu Sans"/>
                          <a:cs typeface="DejaVu Sans"/>
                        </a:rPr>
                        <a:t>Видим, какие ответы стоит проверить</a:t>
                      </a:r>
                    </a:p>
                  </a:txBody>
                  <a:tcPr marL="91440" marR="91440" marT="45720" marB="45720" anchor="ctr">
                    <a:solidFill>
                      <a:srgbClr val="EAF0F4"/>
                    </a:solidFill>
                  </a:tcPr>
                </a:tc>
              </a:tr>
            </a:tbl>
          </a:graphicData>
        </a:graphic>
      </p:graphicFrame>
      <p:sp>
        <p:nvSpPr>
          <p:cNvPr id="6" name="">
            <a:extLst xmlns:a="http://schemas.openxmlformats.org/drawingml/2006/main">
              <a:ext uri="{FF2B5EF4-FFF2-40B4-BE49-F238E27FC236}">
                <a16:creationId xmlns:a16="http://schemas.microsoft.com/office/drawing/2014/main" id="{DB683238-DA46-46F7-AF1D-A4996326489B}"/>
              </a:ext>
            </a:extLst>
          </p:cNvPr>
          <p:cNvSpPr>
            <a:spLocks xmlns:a="http://schemas.openxmlformats.org/drawingml/2006/main" noGrp="1"/>
          </p:cNvSpPr>
          <p:nvPr/>
        </p:nvSpPr>
        <p:spPr>
          <a:xfrm xmlns:a="http://schemas.openxmlformats.org/drawingml/2006/main">
            <a:off x="571500" y="557212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7" name="text-167">
            <a:extLst xmlns:a="http://schemas.openxmlformats.org/drawingml/2006/main">
              <a:ext uri="{FF2B5EF4-FFF2-40B4-BE49-F238E27FC236}">
                <a16:creationId xmlns:a16="http://schemas.microsoft.com/office/drawing/2014/main" id="{20FBA819-BB13-409B-8EF2-888E76323CAF}"/>
              </a:ext>
            </a:extLst>
          </p:cNvPr>
          <p:cNvSpPr>
            <a:spLocks xmlns:a="http://schemas.openxmlformats.org/drawingml/2006/main" noGrp="1"/>
          </p:cNvSpPr>
          <p:nvPr/>
        </p:nvSpPr>
        <p:spPr>
          <a:xfrm xmlns:a="http://schemas.openxmlformats.org/drawingml/2006/main">
            <a:off x="571500" y="573405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Запас показывает близость к смене ответа. Правильность проверяем отдельно.</a:t>
            </a:r>
          </a:p>
        </p:txBody>
      </p:sp>
    </p:spTree>
    <p:extLst>
      <p:ext uri="{BB962C8B-B14F-4D97-AF65-F5344CB8AC3E}">
        <p14:creationId xmlns:p14="http://schemas.microsoft.com/office/powerpoint/2010/main" val="1188684252"/>
      </p:ext>
    </p:extLst>
  </p:cSld>
</p:sld>
</file>

<file path=ppt/slides/slide24.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22" name="text-168">
            <a:extLst xmlns:a="http://schemas.openxmlformats.org/drawingml/2006/main">
              <a:ext uri="{FF2B5EF4-FFF2-40B4-BE49-F238E27FC236}">
                <a16:creationId xmlns:a16="http://schemas.microsoft.com/office/drawing/2014/main" id="{3F368AF7-FC75-4277-B88B-B598CD7FCAFD}"/>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Источники</a:t>
            </a:r>
          </a:p>
        </p:txBody>
      </p:sp>
      <p:sp>
        <p:nvSpPr>
          <p:cNvPr id="2" name="text-169">
            <a:extLst xmlns:a="http://schemas.openxmlformats.org/drawingml/2006/main">
              <a:ext uri="{FF2B5EF4-FFF2-40B4-BE49-F238E27FC236}">
                <a16:creationId xmlns:a16="http://schemas.microsoft.com/office/drawing/2014/main" id="{1FD43A88-40AE-4865-A439-293DD5E3AF16}"/>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Публикации и официальные документы. Ссылки открываются по нажатию.</a:t>
            </a:r>
          </a:p>
        </p:txBody>
      </p:sp>
      <p:sp>
        <p:nvSpPr>
          <p:cNvPr id="3" name="">
            <a:extLst xmlns:a="http://schemas.openxmlformats.org/drawingml/2006/main">
              <a:ext uri="{FF2B5EF4-FFF2-40B4-BE49-F238E27FC236}">
                <a16:creationId xmlns:a16="http://schemas.microsoft.com/office/drawing/2014/main" id="{E0110009-8A90-467C-A941-734343F28EFF}"/>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70">
            <a:extLst xmlns:a="http://schemas.openxmlformats.org/drawingml/2006/main">
              <a:ext uri="{FF2B5EF4-FFF2-40B4-BE49-F238E27FC236}">
                <a16:creationId xmlns:a16="http://schemas.microsoft.com/office/drawing/2014/main" id="{084002E4-819D-4E71-99A2-27581D24BD15}"/>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5" name="text-171">
            <a:extLst xmlns:a="http://schemas.openxmlformats.org/drawingml/2006/main">
              <a:ext uri="{FF2B5EF4-FFF2-40B4-BE49-F238E27FC236}">
                <a16:creationId xmlns:a16="http://schemas.microsoft.com/office/drawing/2014/main" id="{B4EFDE0B-858D-45B0-B9C0-220B2AD71659}"/>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24</a:t>
            </a:r>
          </a:p>
        </p:txBody>
      </p:sp>
      <p:sp>
        <p:nvSpPr>
          <p:cNvPr id="6" name="text-172">
            <a:extLst xmlns:a="http://schemas.openxmlformats.org/drawingml/2006/main">
              <a:ext uri="{FF2B5EF4-FFF2-40B4-BE49-F238E27FC236}">
                <a16:creationId xmlns:a16="http://schemas.microsoft.com/office/drawing/2014/main" id="{85545774-7E5A-459A-8179-DB5B9ECE1BCB}"/>
              </a:ext>
            </a:extLst>
          </p:cNvPr>
          <p:cNvSpPr>
            <a:spLocks xmlns:a="http://schemas.openxmlformats.org/drawingml/2006/main" noGrp="1"/>
          </p:cNvSpPr>
          <p:nvPr/>
        </p:nvSpPr>
        <p:spPr>
          <a:xfrm xmlns:a="http://schemas.openxmlformats.org/drawingml/2006/main">
            <a:off x="571500" y="20669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2aeed29e598e4e3e"/>
              </a:rPr>
              <a:t>[1] Cortes &amp; Vapnik (1995)</a:t>
            </a:r>
          </a:p>
        </p:txBody>
      </p:sp>
      <p:sp>
        <p:nvSpPr>
          <p:cNvPr id="7" name="text-173">
            <a:extLst xmlns:a="http://schemas.openxmlformats.org/drawingml/2006/main">
              <a:ext uri="{FF2B5EF4-FFF2-40B4-BE49-F238E27FC236}">
                <a16:creationId xmlns:a16="http://schemas.microsoft.com/office/drawing/2014/main" id="{20EE3DBB-A222-4A4E-969C-C0CF66A76FBF}"/>
              </a:ext>
            </a:extLst>
          </p:cNvPr>
          <p:cNvSpPr>
            <a:spLocks xmlns:a="http://schemas.openxmlformats.org/drawingml/2006/main" noGrp="1"/>
          </p:cNvSpPr>
          <p:nvPr/>
        </p:nvSpPr>
        <p:spPr>
          <a:xfrm xmlns:a="http://schemas.openxmlformats.org/drawingml/2006/main">
            <a:off x="571500" y="26003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Support-vector networks</a:t>
            </a:r>
          </a:p>
        </p:txBody>
      </p:sp>
      <p:sp>
        <p:nvSpPr>
          <p:cNvPr id="8" name="text-174">
            <a:extLst xmlns:a="http://schemas.openxmlformats.org/drawingml/2006/main">
              <a:ext uri="{FF2B5EF4-FFF2-40B4-BE49-F238E27FC236}">
                <a16:creationId xmlns:a16="http://schemas.microsoft.com/office/drawing/2014/main" id="{DE1982DD-B645-4F5D-B331-6EBA4155C65B}"/>
              </a:ext>
            </a:extLst>
          </p:cNvPr>
          <p:cNvSpPr>
            <a:spLocks xmlns:a="http://schemas.openxmlformats.org/drawingml/2006/main" noGrp="1"/>
          </p:cNvSpPr>
          <p:nvPr/>
        </p:nvSpPr>
        <p:spPr>
          <a:xfrm xmlns:a="http://schemas.openxmlformats.org/drawingml/2006/main">
            <a:off x="571500" y="30575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04c4886f4b66477e"/>
              </a:rPr>
              <a:t>[2] Stanford CS229, A. Ng</a:t>
            </a:r>
          </a:p>
        </p:txBody>
      </p:sp>
      <p:sp>
        <p:nvSpPr>
          <p:cNvPr id="9" name="text-175">
            <a:extLst xmlns:a="http://schemas.openxmlformats.org/drawingml/2006/main">
              <a:ext uri="{FF2B5EF4-FFF2-40B4-BE49-F238E27FC236}">
                <a16:creationId xmlns:a16="http://schemas.microsoft.com/office/drawing/2014/main" id="{DB0A359E-07E7-47EA-B5E4-DEAFF738EA91}"/>
              </a:ext>
            </a:extLst>
          </p:cNvPr>
          <p:cNvSpPr>
            <a:spLocks xmlns:a="http://schemas.openxmlformats.org/drawingml/2006/main" noGrp="1"/>
          </p:cNvSpPr>
          <p:nvPr/>
        </p:nvSpPr>
        <p:spPr>
          <a:xfrm xmlns:a="http://schemas.openxmlformats.org/drawingml/2006/main">
            <a:off x="571500" y="35909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Отступы и мягкий зазор</a:t>
            </a:r>
          </a:p>
        </p:txBody>
      </p:sp>
      <p:sp>
        <p:nvSpPr>
          <p:cNvPr id="10" name="text-176">
            <a:extLst xmlns:a="http://schemas.openxmlformats.org/drawingml/2006/main">
              <a:ext uri="{FF2B5EF4-FFF2-40B4-BE49-F238E27FC236}">
                <a16:creationId xmlns:a16="http://schemas.microsoft.com/office/drawing/2014/main" id="{74A2FD77-327A-4AA3-9322-7634CD15EB95}"/>
              </a:ext>
            </a:extLst>
          </p:cNvPr>
          <p:cNvSpPr>
            <a:spLocks xmlns:a="http://schemas.openxmlformats.org/drawingml/2006/main" noGrp="1"/>
          </p:cNvSpPr>
          <p:nvPr/>
        </p:nvSpPr>
        <p:spPr>
          <a:xfrm xmlns:a="http://schemas.openxmlformats.org/drawingml/2006/main">
            <a:off x="571500" y="40481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85a43466f26d40ef"/>
              </a:rPr>
              <a:t>[3] Schubert &amp; Rousseeuw (2019)</a:t>
            </a:r>
          </a:p>
        </p:txBody>
      </p:sp>
      <p:sp>
        <p:nvSpPr>
          <p:cNvPr id="11" name="text-177">
            <a:extLst xmlns:a="http://schemas.openxmlformats.org/drawingml/2006/main">
              <a:ext uri="{FF2B5EF4-FFF2-40B4-BE49-F238E27FC236}">
                <a16:creationId xmlns:a16="http://schemas.microsoft.com/office/drawing/2014/main" id="{FE49B0BE-6096-4E0B-9094-48FAB2C2A4E1}"/>
              </a:ext>
            </a:extLst>
          </p:cNvPr>
          <p:cNvSpPr>
            <a:spLocks xmlns:a="http://schemas.openxmlformats.org/drawingml/2006/main" noGrp="1"/>
          </p:cNvSpPr>
          <p:nvPr/>
        </p:nvSpPr>
        <p:spPr>
          <a:xfrm xmlns:a="http://schemas.openxmlformats.org/drawingml/2006/main">
            <a:off x="571500" y="45815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Faster k-Medoids Clustering</a:t>
            </a:r>
          </a:p>
        </p:txBody>
      </p:sp>
      <p:sp>
        <p:nvSpPr>
          <p:cNvPr id="12" name="text-178">
            <a:extLst xmlns:a="http://schemas.openxmlformats.org/drawingml/2006/main">
              <a:ext uri="{FF2B5EF4-FFF2-40B4-BE49-F238E27FC236}">
                <a16:creationId xmlns:a16="http://schemas.microsoft.com/office/drawing/2014/main" id="{550A101A-8248-49D5-AF2E-360BDEF224DC}"/>
              </a:ext>
            </a:extLst>
          </p:cNvPr>
          <p:cNvSpPr>
            <a:spLocks xmlns:a="http://schemas.openxmlformats.org/drawingml/2006/main" noGrp="1"/>
          </p:cNvSpPr>
          <p:nvPr/>
        </p:nvSpPr>
        <p:spPr>
          <a:xfrm xmlns:a="http://schemas.openxmlformats.org/drawingml/2006/main">
            <a:off x="571500" y="50387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38ec8ddfb9c448c6"/>
              </a:rPr>
              <a:t>[4] Eddy (2007), RFC 4987</a:t>
            </a:r>
          </a:p>
        </p:txBody>
      </p:sp>
      <p:sp>
        <p:nvSpPr>
          <p:cNvPr id="13" name="text-179">
            <a:extLst xmlns:a="http://schemas.openxmlformats.org/drawingml/2006/main">
              <a:ext uri="{FF2B5EF4-FFF2-40B4-BE49-F238E27FC236}">
                <a16:creationId xmlns:a16="http://schemas.microsoft.com/office/drawing/2014/main" id="{A033C1F3-49A7-42D9-9A24-63012F35DDAC}"/>
              </a:ext>
            </a:extLst>
          </p:cNvPr>
          <p:cNvSpPr>
            <a:spLocks xmlns:a="http://schemas.openxmlformats.org/drawingml/2006/main" noGrp="1"/>
          </p:cNvSpPr>
          <p:nvPr/>
        </p:nvSpPr>
        <p:spPr>
          <a:xfrm xmlns:a="http://schemas.openxmlformats.org/drawingml/2006/main">
            <a:off x="571500" y="55721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TCP SYN Flooding Attacks and Common Mitigations</a:t>
            </a:r>
          </a:p>
        </p:txBody>
      </p:sp>
      <p:sp>
        <p:nvSpPr>
          <p:cNvPr id="14" name="text-180">
            <a:extLst xmlns:a="http://schemas.openxmlformats.org/drawingml/2006/main">
              <a:ext uri="{FF2B5EF4-FFF2-40B4-BE49-F238E27FC236}">
                <a16:creationId xmlns:a16="http://schemas.microsoft.com/office/drawing/2014/main" id="{6696C6B4-0283-416C-BDD7-D426D00581E2}"/>
              </a:ext>
            </a:extLst>
          </p:cNvPr>
          <p:cNvSpPr>
            <a:spLocks xmlns:a="http://schemas.openxmlformats.org/drawingml/2006/main" noGrp="1"/>
          </p:cNvSpPr>
          <p:nvPr/>
        </p:nvSpPr>
        <p:spPr>
          <a:xfrm xmlns:a="http://schemas.openxmlformats.org/drawingml/2006/main">
            <a:off x="6334125" y="20669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385c1d1ccc324542"/>
              </a:rPr>
              <a:t>[5] scikit-learn: документация</a:t>
            </a:r>
          </a:p>
        </p:txBody>
      </p:sp>
      <p:sp>
        <p:nvSpPr>
          <p:cNvPr id="15" name="text-181">
            <a:extLst xmlns:a="http://schemas.openxmlformats.org/drawingml/2006/main">
              <a:ext uri="{FF2B5EF4-FFF2-40B4-BE49-F238E27FC236}">
                <a16:creationId xmlns:a16="http://schemas.microsoft.com/office/drawing/2014/main" id="{FB4936AC-3335-4C8D-9B0A-EDA8F5000748}"/>
              </a:ext>
            </a:extLst>
          </p:cNvPr>
          <p:cNvSpPr>
            <a:spLocks xmlns:a="http://schemas.openxmlformats.org/drawingml/2006/main" noGrp="1"/>
          </p:cNvSpPr>
          <p:nvPr/>
        </p:nvSpPr>
        <p:spPr>
          <a:xfrm xmlns:a="http://schemas.openxmlformats.org/drawingml/2006/main">
            <a:off x="6334125" y="26003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SVC, decision_function, масштабирование</a:t>
            </a:r>
          </a:p>
        </p:txBody>
      </p:sp>
      <p:sp>
        <p:nvSpPr>
          <p:cNvPr id="16" name="text-182">
            <a:extLst xmlns:a="http://schemas.openxmlformats.org/drawingml/2006/main">
              <a:ext uri="{FF2B5EF4-FFF2-40B4-BE49-F238E27FC236}">
                <a16:creationId xmlns:a16="http://schemas.microsoft.com/office/drawing/2014/main" id="{7A13A174-4C8D-43A2-AFEF-69D861237A3B}"/>
              </a:ext>
            </a:extLst>
          </p:cNvPr>
          <p:cNvSpPr>
            <a:spLocks xmlns:a="http://schemas.openxmlformats.org/drawingml/2006/main" noGrp="1"/>
          </p:cNvSpPr>
          <p:nvPr/>
        </p:nvSpPr>
        <p:spPr>
          <a:xfrm xmlns:a="http://schemas.openxmlformats.org/drawingml/2006/main">
            <a:off x="6334125" y="30575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07ed952989344822"/>
              </a:rPr>
              <a:t>[6] Moosavi-Dezfooli et al. (CVPR 2016)</a:t>
            </a:r>
          </a:p>
        </p:txBody>
      </p:sp>
      <p:sp>
        <p:nvSpPr>
          <p:cNvPr id="17" name="text-183">
            <a:extLst xmlns:a="http://schemas.openxmlformats.org/drawingml/2006/main">
              <a:ext uri="{FF2B5EF4-FFF2-40B4-BE49-F238E27FC236}">
                <a16:creationId xmlns:a16="http://schemas.microsoft.com/office/drawing/2014/main" id="{D34CA220-F864-41A9-BD4F-0D09B0F12A6A}"/>
              </a:ext>
            </a:extLst>
          </p:cNvPr>
          <p:cNvSpPr>
            <a:spLocks xmlns:a="http://schemas.openxmlformats.org/drawingml/2006/main" noGrp="1"/>
          </p:cNvSpPr>
          <p:nvPr/>
        </p:nvSpPr>
        <p:spPr>
          <a:xfrm xmlns:a="http://schemas.openxmlformats.org/drawingml/2006/main">
            <a:off x="6334125" y="35909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DeepFool: расстояние до границы</a:t>
            </a:r>
          </a:p>
        </p:txBody>
      </p:sp>
      <p:sp>
        <p:nvSpPr>
          <p:cNvPr id="18" name="text-184">
            <a:extLst xmlns:a="http://schemas.openxmlformats.org/drawingml/2006/main">
              <a:ext uri="{FF2B5EF4-FFF2-40B4-BE49-F238E27FC236}">
                <a16:creationId xmlns:a16="http://schemas.microsoft.com/office/drawing/2014/main" id="{81AF6E0B-C538-4328-9340-1905BC786521}"/>
              </a:ext>
            </a:extLst>
          </p:cNvPr>
          <p:cNvSpPr>
            <a:spLocks xmlns:a="http://schemas.openxmlformats.org/drawingml/2006/main" noGrp="1"/>
          </p:cNvSpPr>
          <p:nvPr/>
        </p:nvSpPr>
        <p:spPr>
          <a:xfrm xmlns:a="http://schemas.openxmlformats.org/drawingml/2006/main">
            <a:off x="6334125" y="40481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b64a86db994f4252"/>
              </a:rPr>
              <a:t>[7] UNB / CICDDoS2019</a:t>
            </a:r>
          </a:p>
        </p:txBody>
      </p:sp>
      <p:sp>
        <p:nvSpPr>
          <p:cNvPr id="19" name="text-185">
            <a:extLst xmlns:a="http://schemas.openxmlformats.org/drawingml/2006/main">
              <a:ext uri="{FF2B5EF4-FFF2-40B4-BE49-F238E27FC236}">
                <a16:creationId xmlns:a16="http://schemas.microsoft.com/office/drawing/2014/main" id="{5AA75CD5-AE6C-4301-9A02-15D41D4E377F}"/>
              </a:ext>
            </a:extLst>
          </p:cNvPr>
          <p:cNvSpPr>
            <a:spLocks xmlns:a="http://schemas.openxmlformats.org/drawingml/2006/main" noGrp="1"/>
          </p:cNvSpPr>
          <p:nvPr/>
        </p:nvSpPr>
        <p:spPr>
          <a:xfrm xmlns:a="http://schemas.openxmlformats.org/drawingml/2006/main">
            <a:off x="6334125" y="45815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Данные для следующего этапа проверки</a:t>
            </a:r>
          </a:p>
        </p:txBody>
      </p:sp>
      <p:sp>
        <p:nvSpPr>
          <p:cNvPr id="20" name="text-186">
            <a:extLst xmlns:a="http://schemas.openxmlformats.org/drawingml/2006/main">
              <a:ext uri="{FF2B5EF4-FFF2-40B4-BE49-F238E27FC236}">
                <a16:creationId xmlns:a16="http://schemas.microsoft.com/office/drawing/2014/main" id="{57369903-0BE6-454E-96D0-CEEA95DC6173}"/>
              </a:ext>
            </a:extLst>
          </p:cNvPr>
          <p:cNvSpPr>
            <a:spLocks xmlns:a="http://schemas.openxmlformats.org/drawingml/2006/main" noGrp="1"/>
          </p:cNvSpPr>
          <p:nvPr/>
        </p:nvSpPr>
        <p:spPr>
          <a:xfrm xmlns:a="http://schemas.openxmlformats.org/drawingml/2006/main">
            <a:off x="6334125" y="50387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98a419b7c25748f3"/>
              </a:rPr>
              <a:t>[8] NIST SP 800-94</a:t>
            </a:r>
          </a:p>
        </p:txBody>
      </p:sp>
      <p:sp>
        <p:nvSpPr>
          <p:cNvPr id="21" name="text-187">
            <a:extLst xmlns:a="http://schemas.openxmlformats.org/drawingml/2006/main">
              <a:ext uri="{FF2B5EF4-FFF2-40B4-BE49-F238E27FC236}">
                <a16:creationId xmlns:a16="http://schemas.microsoft.com/office/drawing/2014/main" id="{4A7F0919-D26B-41C7-835E-5C49347C3868}"/>
              </a:ext>
            </a:extLst>
          </p:cNvPr>
          <p:cNvSpPr>
            <a:spLocks xmlns:a="http://schemas.openxmlformats.org/drawingml/2006/main" noGrp="1"/>
          </p:cNvSpPr>
          <p:nvPr/>
        </p:nvSpPr>
        <p:spPr>
          <a:xfrm xmlns:a="http://schemas.openxmlformats.org/drawingml/2006/main">
            <a:off x="6334125" y="55721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Проверка сигналов IDS и работа с ошибками</a:t>
            </a:r>
          </a:p>
        </p:txBody>
      </p:sp>
    </p:spTree>
    <p:extLst>
      <p:ext uri="{BB962C8B-B14F-4D97-AF65-F5344CB8AC3E}">
        <p14:creationId xmlns:p14="http://schemas.microsoft.com/office/powerpoint/2010/main" val="16168719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2026-10-16T23:26:17.6840000Z</dcterms:created>
  <dcterms:modified xsi:type="dcterms:W3CDTF">2026-10-16T23:26:17.6850000Z</dcterms:modified>
</coreProperties>
</file>