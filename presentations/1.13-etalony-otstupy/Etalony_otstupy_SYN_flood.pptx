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7b474a606bb4854" /><Relationship Type="http://schemas.openxmlformats.org/officeDocument/2006/relationships/extended-properties" Target="/docProps/app.xml" Id="R941f26b1fa6d441e" /><Relationship Type="http://schemas.openxmlformats.org/officeDocument/2006/relationships/officeDocument" Target="/ppt/presentation.xml" Id="R2ecf1c13cac341ff" /></Relationships>
</file>

<file path=ppt/presentation.xml><?xml version="1.0" encoding="utf-8"?>
<p:presentation xmlns:p="http://schemas.openxmlformats.org/presentationml/2006/main">
  <p:sldMasterIdLst>
    <p:sldMasterId xmlns:r="http://schemas.openxmlformats.org/officeDocument/2006/relationships" id="2147483648" r:id="R674b368167fc4720"/>
  </p:sldMasterIdLst>
  <p:notesMasterIdLst>
    <p:notesMasterId xmlns:r="http://schemas.openxmlformats.org/officeDocument/2006/relationships" r:id="Raa1a560a85264217"/>
  </p:notesMasterIdLst>
  <p:sldIdLst>
    <p:sldId xmlns:r="http://schemas.openxmlformats.org/officeDocument/2006/relationships" id="256" r:id="R9e3d71b6b9754399"/>
    <p:sldId xmlns:r="http://schemas.openxmlformats.org/officeDocument/2006/relationships" id="257" r:id="R894578a5446a4676"/>
    <p:sldId xmlns:r="http://schemas.openxmlformats.org/officeDocument/2006/relationships" id="258" r:id="R857d0ffab2884621"/>
    <p:sldId xmlns:r="http://schemas.openxmlformats.org/officeDocument/2006/relationships" id="259" r:id="Rf66b2e8f554c4ab7"/>
    <p:sldId xmlns:r="http://schemas.openxmlformats.org/officeDocument/2006/relationships" id="260" r:id="R4e590314e2f64c82"/>
    <p:sldId xmlns:r="http://schemas.openxmlformats.org/officeDocument/2006/relationships" id="261" r:id="R6db35f9375314d22"/>
    <p:sldId xmlns:r="http://schemas.openxmlformats.org/officeDocument/2006/relationships" id="262" r:id="R1c1d3fef17364281"/>
    <p:sldId xmlns:r="http://schemas.openxmlformats.org/officeDocument/2006/relationships" id="263" r:id="Rb7741c361f0747a3"/>
    <p:sldId xmlns:r="http://schemas.openxmlformats.org/officeDocument/2006/relationships" id="264" r:id="R58d78fa83805495f"/>
    <p:sldId xmlns:r="http://schemas.openxmlformats.org/officeDocument/2006/relationships" id="265" r:id="Reda56a24dc3343d5"/>
    <p:sldId xmlns:r="http://schemas.openxmlformats.org/officeDocument/2006/relationships" id="266" r:id="R8bc26b9b01294320"/>
    <p:sldId xmlns:r="http://schemas.openxmlformats.org/officeDocument/2006/relationships" id="267" r:id="Ra51296e691fe45f9"/>
    <p:sldId xmlns:r="http://schemas.openxmlformats.org/officeDocument/2006/relationships" id="268" r:id="R63ecd5d645d3423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68cc12c74ed4d37" /><Relationship Type="http://schemas.openxmlformats.org/officeDocument/2006/relationships/slideMaster" Target="/ppt/slideMasters/slideMaster1.xml" Id="R674b368167fc4720" /><Relationship Type="http://schemas.openxmlformats.org/officeDocument/2006/relationships/notesMaster" Target="/ppt/notesMasters/notesMaster1.xml" Id="Raa1a560a85264217" /><Relationship Type="http://schemas.openxmlformats.org/officeDocument/2006/relationships/presProps" Target="/ppt/presProps.xml" Id="R63a02380302d49e6" /><Relationship Type="http://schemas.openxmlformats.org/officeDocument/2006/relationships/tableStyles" Target="/ppt/tableStyles.xml" Id="Re3dbf3ce920f415c" /><Relationship Type="http://schemas.openxmlformats.org/officeDocument/2006/relationships/slide" Target="/ppt/slides/slide1.xml" Id="R9e3d71b6b9754399" /><Relationship Type="http://schemas.openxmlformats.org/officeDocument/2006/relationships/slide" Target="/ppt/slides/slide2.xml" Id="R894578a5446a4676" /><Relationship Type="http://schemas.openxmlformats.org/officeDocument/2006/relationships/slide" Target="/ppt/slides/slide3.xml" Id="R857d0ffab2884621" /><Relationship Type="http://schemas.openxmlformats.org/officeDocument/2006/relationships/slide" Target="/ppt/slides/slide4.xml" Id="Rf66b2e8f554c4ab7" /><Relationship Type="http://schemas.openxmlformats.org/officeDocument/2006/relationships/slide" Target="/ppt/slides/slide5.xml" Id="R4e590314e2f64c82" /><Relationship Type="http://schemas.openxmlformats.org/officeDocument/2006/relationships/slide" Target="/ppt/slides/slide6.xml" Id="R6db35f9375314d22" /><Relationship Type="http://schemas.openxmlformats.org/officeDocument/2006/relationships/slide" Target="/ppt/slides/slide7.xml" Id="R1c1d3fef17364281" /><Relationship Type="http://schemas.openxmlformats.org/officeDocument/2006/relationships/slide" Target="/ppt/slides/slide8.xml" Id="Rb7741c361f0747a3" /><Relationship Type="http://schemas.openxmlformats.org/officeDocument/2006/relationships/slide" Target="/ppt/slides/slide9.xml" Id="R58d78fa83805495f" /><Relationship Type="http://schemas.openxmlformats.org/officeDocument/2006/relationships/slide" Target="/ppt/slides/slide10.xml" Id="Reda56a24dc3343d5" /><Relationship Type="http://schemas.openxmlformats.org/officeDocument/2006/relationships/slide" Target="/ppt/slides/slide11.xml" Id="R8bc26b9b01294320" /><Relationship Type="http://schemas.openxmlformats.org/officeDocument/2006/relationships/slide" Target="/ppt/slides/slide12.xml" Id="Ra51296e691fe45f9" /><Relationship Type="http://schemas.openxmlformats.org/officeDocument/2006/relationships/slide" Target="/ppt/slides/slide13.xml" Id="R63ecd5d645d3423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f2bd1215a98400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a3e2672e8e54df2" /><Relationship Type="http://schemas.openxmlformats.org/officeDocument/2006/relationships/notesMaster" Target="/ppt/notesMasters/notesMaster1.xml" Id="R14d8f11d5f294d24" /></Relationships>
</file>

<file path=ppt/notesSlides/_rels/notesSlide2.xml.rels>&#65279;<?xml version="1.0" encoding="utf-8"?><Relationships xmlns="http://schemas.openxmlformats.org/package/2006/relationships"><Relationship Type="http://schemas.openxmlformats.org/officeDocument/2006/relationships/slide" Target="/ppt/slides/slide2.xml" Id="R78d287194be44d1a" /><Relationship Type="http://schemas.openxmlformats.org/officeDocument/2006/relationships/notesMaster" Target="/ppt/notesMasters/notesMaster1.xml" Id="R97e23e1089444d27" /></Relationships>
</file>

<file path=ppt/notesSlides/_rels/notesSlide3.xml.rels>&#65279;<?xml version="1.0" encoding="utf-8"?><Relationships xmlns="http://schemas.openxmlformats.org/package/2006/relationships"><Relationship Type="http://schemas.openxmlformats.org/officeDocument/2006/relationships/slide" Target="/ppt/slides/slide3.xml" Id="Rc11a22c2d5704c05" /><Relationship Type="http://schemas.openxmlformats.org/officeDocument/2006/relationships/notesMaster" Target="/ppt/notesMasters/notesMaster1.xml" Id="R3b7116e5c3a84a09" /></Relationships>
</file>

<file path=ppt/notesSlides/_rels/notesSlide4.xml.rels>&#65279;<?xml version="1.0" encoding="utf-8"?><Relationships xmlns="http://schemas.openxmlformats.org/package/2006/relationships"><Relationship Type="http://schemas.openxmlformats.org/officeDocument/2006/relationships/slide" Target="/ppt/slides/slide4.xml" Id="R91cf45bb90fc44c2" /><Relationship Type="http://schemas.openxmlformats.org/officeDocument/2006/relationships/notesMaster" Target="/ppt/notesMasters/notesMaster1.xml" Id="R4934f9eab87e4cee" /></Relationships>
</file>

<file path=ppt/notesSlides/_rels/notesSlide5.xml.rels>&#65279;<?xml version="1.0" encoding="utf-8"?><Relationships xmlns="http://schemas.openxmlformats.org/package/2006/relationships"><Relationship Type="http://schemas.openxmlformats.org/officeDocument/2006/relationships/slide" Target="/ppt/slides/slide5.xml" Id="R058ac0e024bb4dcc" /><Relationship Type="http://schemas.openxmlformats.org/officeDocument/2006/relationships/notesMaster" Target="/ppt/notesMasters/notesMaster1.xml" Id="R8473495be76a4c42" /></Relationships>
</file>

<file path=ppt/notesSlides/_rels/notesSlide6.xml.rels>&#65279;<?xml version="1.0" encoding="utf-8"?><Relationships xmlns="http://schemas.openxmlformats.org/package/2006/relationships"><Relationship Type="http://schemas.openxmlformats.org/officeDocument/2006/relationships/slide" Target="/ppt/slides/slide6.xml" Id="R24ef4b4ffab04849" /><Relationship Type="http://schemas.openxmlformats.org/officeDocument/2006/relationships/notesMaster" Target="/ppt/notesMasters/notesMaster1.xml" Id="Re9f8bbf96ad04445" /></Relationships>
</file>

<file path=ppt/notesSlides/_rels/notesSlide7.xml.rels>&#65279;<?xml version="1.0" encoding="utf-8"?><Relationships xmlns="http://schemas.openxmlformats.org/package/2006/relationships"><Relationship Type="http://schemas.openxmlformats.org/officeDocument/2006/relationships/slide" Target="/ppt/slides/slide7.xml" Id="R730aceb2e44b4dd4" /><Relationship Type="http://schemas.openxmlformats.org/officeDocument/2006/relationships/notesMaster" Target="/ppt/notesMasters/notesMaster1.xml" Id="Rcd1fca371cde4122" /></Relationships>
</file>

<file path=ppt/notesSlides/_rels/notesSlide8.xml.rels>&#65279;<?xml version="1.0" encoding="utf-8"?><Relationships xmlns="http://schemas.openxmlformats.org/package/2006/relationships"><Relationship Type="http://schemas.openxmlformats.org/officeDocument/2006/relationships/slide" Target="/ppt/slides/slide8.xml" Id="R17cced05dc1141f9" /><Relationship Type="http://schemas.openxmlformats.org/officeDocument/2006/relationships/notesMaster" Target="/ppt/notesMasters/notesMaster1.xml" Id="R33e8e8a837ed46a2" /></Relationships>
</file>

<file path=ppt/notesSlides/_rels/notesSlide9.xml.rels>&#65279;<?xml version="1.0" encoding="utf-8"?><Relationships xmlns="http://schemas.openxmlformats.org/package/2006/relationships"><Relationship Type="http://schemas.openxmlformats.org/officeDocument/2006/relationships/slide" Target="/ppt/slides/slide9.xml" Id="R53f13d0255e8430a" /><Relationship Type="http://schemas.openxmlformats.org/officeDocument/2006/relationships/notesMaster" Target="/ppt/notesMasters/notesMaster1.xml" Id="R70b925c17e9741d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8539f9a42f64ea2" /><Relationship Type="http://schemas.openxmlformats.org/officeDocument/2006/relationships/notesMaster" Target="/ppt/notesMasters/notesMaster1.xml" Id="Rf3eef546e8fb419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1f33358bc41474b" /><Relationship Type="http://schemas.openxmlformats.org/officeDocument/2006/relationships/notesMaster" Target="/ppt/notesMasters/notesMaster1.xml" Id="Rd9aea51a19a9487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723b803394f4073" /><Relationship Type="http://schemas.openxmlformats.org/officeDocument/2006/relationships/notesMaster" Target="/ppt/notesMasters/notesMaster1.xml" Id="Rfaae98bc0198412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199697ea30245d0" /><Relationship Type="http://schemas.openxmlformats.org/officeDocument/2006/relationships/notesMaster" Target="/ppt/notesMasters/notesMaster1.xml" Id="R29f9ae3a265f40e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Разберём, как программа выбирает класс объекта и как объяснить её ответ. Сначала определим основные понятия. Затем на одном примере сравним обычный трафик с SYN-flood, найдём ошибки модели и посмотрим, какие результаты стоит перепроверить.</a:t>
            </a:r>
          </a:p>
          <a:p xmlns:a="http://schemas.openxmlformats.org/drawingml/2006/main">
            <a:r>
              <a:t/>
            </a:r>
          </a:p>
          <a:p xmlns:a="http://schemas.openxmlformats.org/drawingml/2006/main">
            <a:r>
              <a:t>Источники:</a:t>
            </a:r>
          </a:p>
          <a:p xmlns:a="http://schemas.openxmlformats.org/drawingml/2006/main">
            <a:r>
              <a:t>https://see.stanford.edu/materials/aimlcs229/cs229-notes3.pdf</a:t>
            </a:r>
          </a:p>
          <a:p xmlns:a="http://schemas.openxmlformats.org/drawingml/2006/main">
            <a:r>
              <a:t>https://www.rfc-editor.org/rfc/rfc4987.html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Объектом называем то, что исследуем. Признаки описывают его через измеримые свойства. Для программы это набор значений, одинаковый по составу у всех объектов. При двух признаках значения можно изобразить координатами точки. Классом называем одну из заданных групп, а классификацией выбор группы по признакам. Чтобы получить ответ, нужно правило. Его называют классификатором, или моделью. Правило можно подобрать по обучающей выборке. Это примеры с уже известными правильными классами, которые называют метками. Обучение означает настройку правила по этим примерам. Потом модель применяют к другим объектам. При работе с новым наблюдением она не получает правильную метку. Метку используют позже, когда проверяют прогноз. Прогноз и известная метка могут различаться, потому что модель способна ошибиться. Поэтому в проверках будем показывать оба ответа: что задано в данных и что выбрала программа.</a:t>
            </a:r>
          </a:p>
          <a:p xmlns:a="http://schemas.openxmlformats.org/drawingml/2006/main">
            <a:r>
              <a:t/>
            </a:r>
          </a:p>
          <a:p xmlns:a="http://schemas.openxmlformats.org/drawingml/2006/main">
            <a:r>
              <a:t>Источники:</a:t>
            </a:r>
          </a:p>
          <a:p xmlns:a="http://schemas.openxmlformats.org/drawingml/2006/main">
            <a:r>
              <a:t>https://see.stanford.edu/materials/aimlcs229/cs229-notes3.pdf</a:t>
            </a:r>
          </a:p>
          <a:p xmlns:a="http://schemas.openxmlformats.org/drawingml/2006/main">
            <a:r>
              <a:t>https://scikit-learn.org/stable/modules/svm.html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Эталоном класса называем образец, который приняли для сравнения с другими объектами. У каждого класса будет свой образец. Похожесть измеряем расстоянием между точками. Сначала выбираем масштаб признаков, иначе большие числа могут почти полностью определять расстояние. Близость означает сходство только по выбранным признакам. Другие свойства объекта здесь не учитываются. Затем используем евклидово расстояние, то есть длину прямого отрезка между точками. Для выбора эталона возьмём медоид. Это объект с наименьшей суммой расстояний до остальных объектов своего класса. Перебираем кандидатов, складываем расстояния и выбираем наименьшую сумму. Для каждого класса делаем это отдельно и используем только обучающие примеры. При таком выборе эталон совпадает с одним из существующих объектов. Само определение эталона шире: медоид является нашим конкретным способом найти образец.</a:t>
            </a:r>
          </a:p>
          <a:p xmlns:a="http://schemas.openxmlformats.org/drawingml/2006/main">
            <a:r>
              <a:t/>
            </a:r>
          </a:p>
          <a:p xmlns:a="http://schemas.openxmlformats.org/drawingml/2006/main">
            <a:r>
              <a:t>Источники:</a:t>
            </a:r>
          </a:p>
          <a:p xmlns:a="http://schemas.openxmlformats.org/drawingml/2006/main">
            <a:r>
              <a:t>https://arxiv.org/abs/1810.05691</a:t>
            </a:r>
          </a:p>
          <a:p xmlns:a="http://schemas.openxmlformats.org/drawingml/2006/main">
            <a:r>
              <a:t>https://scikit-learn.org/stable/modules/svm.html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Когда образцы выбраны, считаем расстояние от нового объекта до каждого эталона. Выбираем класс ближайшего. Если расстояния почти равны, преимущество небольшое. Даже при правильном ответе близкие расстояния показывают, что один класс совсем немного опережает другой. Отступ сравнивает оценку правильного класса с оценкой другого: из первой вычитаем вторую. Для эталонов оценкой берём минус расстояние, поэтому отступ равен чужому расстоянию минус своё. При положительном результате выбран правильный класс, при отрицательном чужой. Ноль означает равенство оценок. Назвать класс своим можем только по известной метке. У нового неразмеченного объекта расстояния доступны, но проверить правильность по знаку пока нельзя. Один образец может плохо описывать разнообразие целого класса. Поэтому дальше построим другое правило, которое использует всю обучающую выборку.</a:t>
            </a:r>
          </a:p>
          <a:p xmlns:a="http://schemas.openxmlformats.org/drawingml/2006/main">
            <a:r>
              <a:t/>
            </a:r>
          </a:p>
          <a:p xmlns:a="http://schemas.openxmlformats.org/drawingml/2006/main">
            <a:r>
              <a:t>Источники:</a:t>
            </a:r>
          </a:p>
          <a:p xmlns:a="http://schemas.openxmlformats.org/drawingml/2006/main">
            <a:r>
              <a:t>https://arxiv.org/abs/1810.05691</a:t>
            </a:r>
          </a:p>
          <a:p xmlns:a="http://schemas.openxmlformats.org/drawingml/2006/main">
            <a:r>
              <a:t>https://see.stanford.edu/materials/aimlcs229/cs229-notes3.pdf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SVM, или машина опорных векторов, обучает такое правило. При двух признаках линейная SVM строит прямую, разделяющую области выбора классов. Это граница решения. SVM стремится оставить вокруг границы широкую полосу, называемую зазором. Мягкий зазор допускает отдельные обучающие точки внутри полосы и даже на неверной стороне. За нарушения назначается штраф, а C определяет их цену. Точка внутри полосы может быть классифицирована правильно, поэтому нарушение зазора не всегда означает ошибку. Опорными векторами называют обучающие объекты, участвующие в определении границы. Они выполняют другую роль, чем эталоны, которые служат образцами классов. Опорных точек может быть несколько в каждом классе. Их число и положение определяются обучением, а не выбором типичного образца.</a:t>
            </a:r>
          </a:p>
          <a:p xmlns:a="http://schemas.openxmlformats.org/drawingml/2006/main">
            <a:r>
              <a:t/>
            </a:r>
          </a:p>
          <a:p xmlns:a="http://schemas.openxmlformats.org/drawingml/2006/main">
            <a:r>
              <a:t>Источники:</a:t>
            </a:r>
          </a:p>
          <a:p xmlns:a="http://schemas.openxmlformats.org/drawingml/2006/main">
            <a:r>
              <a:t>https://doi.org/10.1007/BF00994018</a:t>
            </a:r>
          </a:p>
          <a:p xmlns:a="http://schemas.openxmlformats.org/drawingml/2006/main">
            <a:r>
              <a:t>https://see.stanford.edu/materials/aimlcs229/cs229-notes3.pdf</a:t>
            </a:r>
          </a:p>
          <a:p xmlns:a="http://schemas.openxmlformats.org/drawingml/2006/main">
            <a:r>
              <a:t>https://scikit-learn.org/stable/modules/svm.html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Модель вычисляет число f и по его знаку выбирает класс. При нуле точка находится на границе. После обучения измеряем расстояние до готовой границы. Геометрический отступ γ показывает его со знаком: плюс при правильном ответе, минус при ошибке. Для этого нужна известная метка. Модуль γ даёт расстояние r без знака. Его можно вычислить и для нового объекта. Для линейной модели r показывает кратчайший путь точки до границы в выбранном масштабе. Изменение признаков меньшей длины границу не пересечёт. Это и называем запасом прочности решения. Большое расстояние не доказывает правильность и не является вероятностью. Модель может ошибиться далеко от линии. Тогда небольшие изменения сохранят именно этот ошибочный ответ. Малое расстояние выделяет пограничные случаи. Для их перепроверки после обучения выбирают отдельный порог. Этот порог не следует из C и не равен зазору SVM. Теперь применим понятия к трафику.</a:t>
            </a:r>
          </a:p>
          <a:p xmlns:a="http://schemas.openxmlformats.org/drawingml/2006/main">
            <a:r>
              <a:t/>
            </a:r>
          </a:p>
          <a:p xmlns:a="http://schemas.openxmlformats.org/drawingml/2006/main">
            <a:r>
              <a:t>Источники:</a:t>
            </a:r>
          </a:p>
          <a:p xmlns:a="http://schemas.openxmlformats.org/drawingml/2006/main">
            <a:r>
              <a:t>https://see.stanford.edu/materials/aimlcs229/cs229-notes3.pdf</a:t>
            </a:r>
          </a:p>
          <a:p xmlns:a="http://schemas.openxmlformats.org/drawingml/2006/main">
            <a:r>
              <a:t>https://www.cv-foundation.org/openaccess/content_cvpr_2016/papers/Moosavi-Dezfooli_DeepFool_A_Simple_CVPR_2016_paper.pdf</a:t>
            </a:r>
          </a:p>
          <a:p xmlns:a="http://schemas.openxmlformats.org/drawingml/2006/main">
            <a:r>
              <a:t>https://csrc.nist.gov/pubs/sp/800/94/final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TCP-соединение начинается с трёх сообщений: SYN от клиента, SYN-ACK от сервера и завершающий ACK от клиента. При SYN-flood множество начатых подключений не завершается. Очередь может занять ресурсы и помешать обычным пользователям. Большое число SYN бывает и при обычном наплыве клиентов, а потери сети мешают завершению соединений. Одним объектом считаем десять секунд трафика к одному IP-адресу и TCP-порту. Берём среднее число входящих SYN в секунду и процент попыток, не завершивших рукопожатие за три секунды. Для скорости учитываем повторы, а при подсчёте попыток объединяем их. Нужны оба направления обмена; окна без SYN исключаем. Последним попыткам даём время завершиться, поэтому измерение приходит с задержкой. В расчётах скорость делим на тысячу, проценты на сто. Все данные учебные: двадцать обучающих окон, поровну нормы и атаки, и восемь специально выбранных проверок.</a:t>
            </a:r>
          </a:p>
          <a:p xmlns:a="http://schemas.openxmlformats.org/drawingml/2006/main">
            <a:r>
              <a:t/>
            </a:r>
          </a:p>
          <a:p xmlns:a="http://schemas.openxmlformats.org/drawingml/2006/main">
            <a:r>
              <a:t>Источники:</a:t>
            </a:r>
          </a:p>
          <a:p xmlns:a="http://schemas.openxmlformats.org/drawingml/2006/main">
            <a:r>
              <a:t>https://www.rfc-editor.org/rfc/rfc4987.html</a:t>
            </a:r>
          </a:p>
          <a:p xmlns:a="http://schemas.openxmlformats.org/drawingml/2006/main">
            <a:r>
              <a:t>https://scikit-learn.org/stable/modules/svm.html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Для нормы медоидом стал N05: 600 SYN в секунду и 15 процентов незавершённых попыток. Для атаки выбран A06: 1300 SYN и 65 процентов. Код проверяет суммы расстояний всех кандидатов. Его и исходные строки можно открыть в Google Colab. Эти числа описывают нашу таблицу и не являются универсальными порогами атаки. Затем на всех двадцати окнах обучаем линейную SVM с C, равным единице. В scikit-learn её реализует класс SVC. Одна команда создаёт модель, следующая запускает обучение. Норму обозначаем минус единицей, атаку плюс единицей. Эталоны остаются для первого способа сравнения, а SVM использует всю выборку.</a:t>
            </a:r>
          </a:p>
          <a:p xmlns:a="http://schemas.openxmlformats.org/drawingml/2006/main">
            <a:r>
              <a:t/>
            </a:r>
          </a:p>
          <a:p xmlns:a="http://schemas.openxmlformats.org/drawingml/2006/main">
            <a:r>
              <a:t>Источники:</a:t>
            </a:r>
          </a:p>
          <a:p xmlns:a="http://schemas.openxmlformats.org/drawingml/2006/main">
            <a:r>
              <a:t>https://arxiv.org/abs/1810.05691</a:t>
            </a:r>
          </a:p>
          <a:p xmlns:a="http://schemas.openxmlformats.org/drawingml/2006/main">
            <a:r>
              <a:t>https://doi.org/10.1007/BF00994018</a:t>
            </a:r>
          </a:p>
          <a:p xmlns:a="http://schemas.openxmlformats.org/drawingml/2006/main">
            <a:r>
              <a:t>https://scikit-learn.org/stable/modules/svm.html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В T07 приходит 1200 SYN в секунду, незавершённость составляет 16 процентов. По условию это нормальный трафик. После масштабирования получаем 1,20 и 0,16. До нормального эталона расстояние около 0,600, до атакующего около 0,500. Ближе оказалась атака. Для известного нормального класса отступ равен 0,500 минус 0,600, то есть примерно минус 0,100. Правило эталонов ошиблось. Высокая обычная нагрузка сделала окно похожим на образец атаки. Мы не меняли ни измерения T07, ни правильную метку. Другим стало только правило выбора класса. Теперь подаём те же измерения SVM. Она выбирает норму, что совпадает с условием. Оценка f около минус 0,249, а геометрический отступ γ около плюс 0,102. Знак f выбирает класс, знак γ показывает правильность по известной метке. Расстояние r тоже около 0,102. Отступ эталонов и отступ SVM вычислены по-разному, поэтому напрямую их значения не сравниваем. Один исправленный пример ещё не доказывает, что SVM всегда лучше.</a:t>
            </a:r>
          </a:p>
          <a:p xmlns:a="http://schemas.openxmlformats.org/drawingml/2006/main">
            <a:r>
              <a:t/>
            </a:r>
          </a:p>
          <a:p xmlns:a="http://schemas.openxmlformats.org/drawingml/2006/main">
            <a:r>
              <a:t>Источники:</a:t>
            </a:r>
          </a:p>
          <a:p xmlns:a="http://schemas.openxmlformats.org/drawingml/2006/main">
            <a:r>
              <a:t>https://see.stanford.edu/materials/aimlcs229/cs229-notes3.pdf</a:t>
            </a:r>
          </a:p>
          <a:p xmlns:a="http://schemas.openxmlformats.org/drawingml/2006/main">
            <a:r>
              <a:t>https://arxiv.org/abs/1810.05691</a:t>
            </a:r>
          </a:p>
          <a:p xmlns:a="http://schemas.openxmlformats.org/drawingml/2006/main">
            <a:r>
              <a:t>https://scikit-learn.org/stable/modules/svm.html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Повторим расчёт для всех восьми проверочных окон. Сначала сравним класс в данных с прогнозом SVM. Ошибки находятся в строках T04 и T05, поэтому их γ отрицательны. У остальных отступ положительный. Расстояние r во всех строках неотрицательное: по нему видна близость к границе, но не правильность. Эти восемь примеров специально подобраны для объяснения. По ним нельзя заявлять точность готового сетевого детектора. Таблица позволяет проверить каждый расчёт и найти строки, которые стоит обсудить подробнее. Посмотрим на те же результаты на рисунке.</a:t>
            </a:r>
          </a:p>
          <a:p xmlns:a="http://schemas.openxmlformats.org/drawingml/2006/main">
            <a:r>
              <a:t/>
            </a:r>
          </a:p>
          <a:p xmlns:a="http://schemas.openxmlformats.org/drawingml/2006/main">
            <a:r>
              <a:t>Источники: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По горизонтали читаем входящие SYN в секунду, по вертикали процент незавершённых попыток. Каждая точка взята из предыдущей таблицы. Оси подписаны в исходных единицах, а расстояния рассчитаны после того же масштабирования, что и при обучении. Бирюзовый цвет означает известную норму, красный атаку. Чёрная линия показывает границу SVM. Выше неё модель выбирает атаку, ниже норму. Поэтому сразу заметны ошибки. Красная T04 оказалась ниже линии: модель пропустила атаку. Бирюзовая T05 стоит выше линии: обычный трафик вызвал ложную тревогу. T07 находится на стороне нормы и распознано правильно. Серая полоса выделяет расстояния меньше 0,10. В неё попали T03, T04, T05 и T06. T07 с расстоянием около 0,102 находится чуть за пределами полосы, но тоже близко к границе. В этом примере обе ошибки попали в перепроверку. На реальных данных такое совпадение не гарантировано. Полоса помогает выбрать чувствительные к изменению признаков ответы, но не находит все возможные ошибки.</a:t>
            </a:r>
          </a:p>
          <a:p xmlns:a="http://schemas.openxmlformats.org/drawingml/2006/main">
            <a:r>
              <a:t/>
            </a:r>
          </a:p>
          <a:p xmlns:a="http://schemas.openxmlformats.org/drawingml/2006/main">
            <a:r>
              <a:t>Источники:</a:t>
            </a:r>
          </a:p>
          <a:p xmlns:a="http://schemas.openxmlformats.org/drawingml/2006/main">
            <a:r>
              <a:t>https://see.stanford.edu/materials/aimlcs229/cs229-notes3.pdf</a:t>
            </a:r>
          </a:p>
          <a:p xmlns:a="http://schemas.openxmlformats.org/drawingml/2006/main">
            <a:r>
              <a:t>https://csrc.nist.gov/pubs/sp/800/94/final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Передадим аналитику два отдельных сигнала. attack_alert включается при прогнозе атаки, независимо от расстояния. boundary_review включается при малом расстоянии, независимо от выбранного класса. Учебная функция triage при 900 SYN и 40 процентах отвечает «норма», но просит перепроверку. При 1550 SYN и 88 процентах сообщает об атаке, хотя окно вне серой полосы. Отсутствие пограничности не отменяет этот сигнал. У нового трафика нет готовой метки, поэтому сигнал модели ещё нужно подтвердить. SOC, команда мониторинга и реагирования ИБ, проверяет журналы, доступность, очередь подключений, потери и обычную нагрузку. Модель сама не блокирует трафик. Для внедрения нужны реальные данные, проверка на отдельно выделенных более поздних наблюдениях и оценка пропусков и ложных тревог. Эталоны помогают сравнивать, отступ объясняет близость к границе, а окончательный вывод требует контекста.</a:t>
            </a:r>
          </a:p>
          <a:p xmlns:a="http://schemas.openxmlformats.org/drawingml/2006/main">
            <a:r>
              <a:t/>
            </a:r>
          </a:p>
          <a:p xmlns:a="http://schemas.openxmlformats.org/drawingml/2006/main">
            <a:r>
              <a:t>Источники:</a:t>
            </a:r>
          </a:p>
          <a:p xmlns:a="http://schemas.openxmlformats.org/drawingml/2006/main">
            <a:r>
              <a:t>https://csrc.nist.gov/pubs/sp/800/94/final</a:t>
            </a:r>
          </a:p>
          <a:p xmlns:a="http://schemas.openxmlformats.org/drawingml/2006/main">
            <a:r>
              <a:t>https://www.rfc-editor.org/rfc/rfc4987.html</a:t>
            </a:r>
          </a:p>
          <a:p xmlns:a="http://schemas.openxmlformats.org/drawingml/2006/main">
            <a:r>
              <a:t>https://www.unb.ca/cic/datasets/ddos-2019.html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Определения и методы опираются на эти восемь источников. Учебные данные, расчёты и графики доступны в ноутбуке Google Colab.</a:t>
            </a:r>
          </a:p>
          <a:p xmlns:a="http://schemas.openxmlformats.org/drawingml/2006/main">
            <a:r>
              <a:t/>
            </a:r>
          </a:p>
          <a:p xmlns:a="http://schemas.openxmlformats.org/drawingml/2006/main">
            <a:r>
              <a:t>Источники:</a:t>
            </a:r>
          </a:p>
          <a:p xmlns:a="http://schemas.openxmlformats.org/drawingml/2006/main">
            <a:r>
              <a:t>https://doi.org/10.1007/BF00994018</a:t>
            </a:r>
          </a:p>
          <a:p xmlns:a="http://schemas.openxmlformats.org/drawingml/2006/main">
            <a:r>
              <a:t>https://see.stanford.edu/materials/aimlcs229/cs229-notes3.pdf</a:t>
            </a:r>
          </a:p>
          <a:p xmlns:a="http://schemas.openxmlformats.org/drawingml/2006/main">
            <a:r>
              <a:t>https://arxiv.org/abs/1810.05691</a:t>
            </a:r>
          </a:p>
          <a:p xmlns:a="http://schemas.openxmlformats.org/drawingml/2006/main">
            <a:r>
              <a:t>https://www.rfc-editor.org/rfc/rfc4987.html</a:t>
            </a:r>
          </a:p>
          <a:p xmlns:a="http://schemas.openxmlformats.org/drawingml/2006/main">
            <a:r>
              <a:t>https://scikit-learn.org/stable/modules/svm.html</a:t>
            </a:r>
          </a:p>
          <a:p xmlns:a="http://schemas.openxmlformats.org/drawingml/2006/main">
            <a:r>
              <a:t>https://www.cv-foundation.org/openaccess/content_cvpr_2016/papers/Moosavi-Dezfooli_DeepFool_A_Simple_CVPR_2016_paper.pdf</a:t>
            </a:r>
          </a:p>
          <a:p xmlns:a="http://schemas.openxmlformats.org/drawingml/2006/main">
            <a:r>
              <a:t>https://www.unb.ca/cic/datasets/ddos-2019.html</a:t>
            </a:r>
          </a:p>
          <a:p xmlns:a="http://schemas.openxmlformats.org/drawingml/2006/main">
            <a:r>
              <a:t>https://csrc.nist.gov/pubs/sp/800/94/final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2e2d540b4b6484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6561cab35ff45a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6957c3962ea4dc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9b990e8b100452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bacea4d81284a2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d506cf1df4684c5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213331D-DE5C-4DD8-9972-B7E300CC307A}"/>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62AE835-9FAC-4645-842D-00305E332DC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351CBF85-7641-4407-8FA7-B0DE0A676B6E}"/>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5C5AEDF-E26D-4A2D-ABF8-28A565FA35C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88A5CD16-8164-4892-A714-E1B89CFD37F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9FA1E62-9844-4C98-A433-1758121534B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26FCE84-8865-4D74-9541-986FDEA648C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8491EA1-7F9B-4F41-AEAB-22796E036BFE}"/>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0E12475-5370-4D90-B3EF-90FC52F910C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4C0CF1D-C571-4A55-8B14-282CBBC742B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c33878486cb4a7d" /><Relationship Type="http://schemas.openxmlformats.org/officeDocument/2006/relationships/slideLayout" Target="/ppt/slideLayouts/slideLayout1.xml" Id="Rcb4293c6977146b4" /><Relationship Type="http://schemas.openxmlformats.org/officeDocument/2006/relationships/slideLayout" Target="/ppt/slideLayouts/slideLayout2.xml" Id="Rac3660f92bad4abf" /><Relationship Type="http://schemas.openxmlformats.org/officeDocument/2006/relationships/slideLayout" Target="/ppt/slideLayouts/slideLayout3.xml" Id="R9fa3cd7018934c86" /><Relationship Type="http://schemas.openxmlformats.org/officeDocument/2006/relationships/slideLayout" Target="/ppt/slideLayouts/slideLayout4.xml" Id="Ra3eda9490de4472b" /><Relationship Type="http://schemas.openxmlformats.org/officeDocument/2006/relationships/slideLayout" Target="/ppt/slideLayouts/slideLayout5.xml" Id="R8716151a1a404fde" /><Relationship Type="http://schemas.openxmlformats.org/officeDocument/2006/relationships/slideLayout" Target="/ppt/slideLayouts/slideLayout6.xml" Id="Rc9fc0a451f77419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b4293c6977146b4"/>
    <p:sldLayoutId xmlns:r="http://schemas.openxmlformats.org/officeDocument/2006/relationships" id="2147483650" r:id="Rac3660f92bad4abf"/>
    <p:sldLayoutId xmlns:r="http://schemas.openxmlformats.org/officeDocument/2006/relationships" id="2147483651" r:id="R9fa3cd7018934c86"/>
    <p:sldLayoutId xmlns:r="http://schemas.openxmlformats.org/officeDocument/2006/relationships" id="2147483652" r:id="Ra3eda9490de4472b"/>
    <p:sldLayoutId xmlns:r="http://schemas.openxmlformats.org/officeDocument/2006/relationships" id="2147483653" r:id="R8716151a1a404fde"/>
    <p:sldLayoutId xmlns:r="http://schemas.openxmlformats.org/officeDocument/2006/relationships" id="2147483654" r:id="Rc9fc0a451f77419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3e9096ab38554597" /><Relationship Type="http://schemas.openxmlformats.org/officeDocument/2006/relationships/notesSlide" Target="/ppt/notesSlides/notesSlide1.xml" Id="R92e6f15e2b5f41df"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3f592c2b50354d1a" /><Relationship Type="http://schemas.openxmlformats.org/officeDocument/2006/relationships/notesSlide" Target="/ppt/notesSlides/notesSlide2.xml" Id="R47d37e5805004fed"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a0c1c8ab6e604e8b" /><Relationship Type="http://schemas.openxmlformats.org/officeDocument/2006/relationships/notesSlide" Target="/ppt/notesSlides/notesSlide3.xml" Id="R6311d8a76df640bb"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5e82a1bfdeb74223" /><Relationship Type="http://schemas.openxmlformats.org/officeDocument/2006/relationships/notesSlide" Target="/ppt/notesSlides/notesSlide4.xml" Id="R5d8674e1297a4f0e"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5fe69018969447e" /><Relationship Type="http://schemas.openxmlformats.org/officeDocument/2006/relationships/notesSlide" Target="/ppt/notesSlides/notesSlide5.xml" Id="R79f696abc0cb49dd"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de6df7f4e5094ca0" /><Relationship Type="http://schemas.openxmlformats.org/officeDocument/2006/relationships/notesSlide" Target="/ppt/notesSlides/notesSlide6.xml" Id="R78887bb57e914109"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6888b2a6ff8b42ed" /><Relationship Type="http://schemas.openxmlformats.org/officeDocument/2006/relationships/notesSlide" Target="/ppt/notesSlides/notesSlide7.xml" Id="Rf89f71b396a74349"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bda040092905482d" /><Relationship Type="http://schemas.openxmlformats.org/officeDocument/2006/relationships/notesSlide" Target="/ppt/notesSlides/notesSlide8.xml" Id="R6f6928cb118d4ff6"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e8384d4a68524440" /><Relationship Type="http://schemas.openxmlformats.org/officeDocument/2006/relationships/notesSlide" Target="/ppt/notesSlides/notesSlide9.xml" Id="Rdce0786c0d7f47f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e1228029edb945d8" /><Relationship Type="http://schemas.openxmlformats.org/officeDocument/2006/relationships/notesSlide" Target="/ppt/notesSlides/notesSlide10.xml" Id="R9caf022dd7c14c7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6624cb4200d44250" /><Relationship Type="http://schemas.openxmlformats.org/officeDocument/2006/relationships/image" Target="/ppt/media/image.png" Id="Rf8edfacd36804596" /><Relationship Type="http://schemas.openxmlformats.org/officeDocument/2006/relationships/notesSlide" Target="/ppt/notesSlides/notesSlide11.xml" Id="Re4e7f6c0d1c94fa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8b2a37157bf24295" /><Relationship Type="http://schemas.openxmlformats.org/officeDocument/2006/relationships/notesSlide" Target="/ppt/notesSlides/notesSlide12.xml" Id="R664ff97dc6da49a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621bf03ec7f2479b" /><Relationship Type="http://schemas.openxmlformats.org/officeDocument/2006/relationships/hyperlink" Target="https://doi.org/10.1007/BF00994018" TargetMode="External" Id="R8433262815004eae" /><Relationship Type="http://schemas.openxmlformats.org/officeDocument/2006/relationships/hyperlink" Target="https://see.stanford.edu/materials/aimlcs229/cs229-notes3.pdf" TargetMode="External" Id="Re52f9982260b4f94" /><Relationship Type="http://schemas.openxmlformats.org/officeDocument/2006/relationships/hyperlink" Target="https://arxiv.org/abs/1810.05691" TargetMode="External" Id="R47991c44c14f4b2b" /><Relationship Type="http://schemas.openxmlformats.org/officeDocument/2006/relationships/hyperlink" Target="https://www.rfc-editor.org/rfc/rfc4987.html" TargetMode="External" Id="Rdbe2b4bbbcd14db5" /><Relationship Type="http://schemas.openxmlformats.org/officeDocument/2006/relationships/hyperlink" Target="https://scikit-learn.org/stable/modules/svm.html" TargetMode="External" Id="R7f9028a76cb14db0" /><Relationship Type="http://schemas.openxmlformats.org/officeDocument/2006/relationships/hyperlink" Target="https://www.cv-foundation.org/openaccess/content_cvpr_2016/papers/Moosavi-Dezfooli_DeepFool_A_Simple_CVPR_2016_paper.pdf" TargetMode="External" Id="R73f6b6e2b4924b11" /><Relationship Type="http://schemas.openxmlformats.org/officeDocument/2006/relationships/hyperlink" Target="https://www.unb.ca/cic/datasets/ddos-2019.html" TargetMode="External" Id="R8fe4afb4d55c4338" /><Relationship Type="http://schemas.openxmlformats.org/officeDocument/2006/relationships/hyperlink" Target="https://csrc.nist.gov/pubs/sp/800/94/final" TargetMode="External" Id="R3d763eb9fd524656" /><Relationship Type="http://schemas.openxmlformats.org/officeDocument/2006/relationships/notesSlide" Target="/ppt/notesSlides/notesSlide13.xml" Id="R84607feea2e84486" /></Relationships>
</file>

<file path=ppt/slides/slide1.xml><?xml version="1.0" encoding="utf-8"?>
<p:sld xmlns:p="http://schemas.openxmlformats.org/presentationml/2006/main">
  <p:cSld>
    <p:bg>
      <p:bgPr>
        <a:solidFill xmlns:a="http://schemas.openxmlformats.org/drawingml/2006/main">
          <a:srgbClr val="101C32"/>
        </a:solidFill>
      </p:bgPr>
    </p:bg>
    <p:spTree>
      <p:nvGrpSpPr>
        <p:cNvPr id="1" name=""/>
        <p:cNvGrpSpPr/>
        <p:nvPr/>
      </p:nvGrpSpPr>
      <p:grpSpPr>
        <a:xfrm xmlns:a="http://schemas.openxmlformats.org/drawingml/2006/main"/>
      </p:grpSpPr>
      <p:sp>
        <p:nvSpPr>
          <p:cNvPr id="8" name="text-1">
            <a:extLst xmlns:a="http://schemas.openxmlformats.org/drawingml/2006/main">
              <a:ext uri="{FF2B5EF4-FFF2-40B4-BE49-F238E27FC236}">
                <a16:creationId xmlns:a16="http://schemas.microsoft.com/office/drawing/2014/main" id="{88C67940-6933-4882-AB5C-74F46E368B5D}"/>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r>
              <a:t/>
            </a:r>
          </a:p>
        </p:txBody>
      </p:sp>
      <p:sp>
        <p:nvSpPr>
          <p:cNvPr id="2" name="">
            <a:extLst xmlns:a="http://schemas.openxmlformats.org/drawingml/2006/main">
              <a:ext uri="{FF2B5EF4-FFF2-40B4-BE49-F238E27FC236}">
                <a16:creationId xmlns:a16="http://schemas.microsoft.com/office/drawing/2014/main" id="{3BBA16BE-7921-4C7E-A97E-0AB2A564236B}"/>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3" name="text-2">
            <a:extLst xmlns:a="http://schemas.openxmlformats.org/drawingml/2006/main">
              <a:ext uri="{FF2B5EF4-FFF2-40B4-BE49-F238E27FC236}">
                <a16:creationId xmlns:a16="http://schemas.microsoft.com/office/drawing/2014/main" id="{2DBE6CB0-38FB-4B49-ACE5-CA78517B1340}"/>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a:t>
            </a:r>
          </a:p>
        </p:txBody>
      </p:sp>
      <p:sp>
        <p:nvSpPr>
          <p:cNvPr id="4" name="text-3">
            <a:extLst xmlns:a="http://schemas.openxmlformats.org/drawingml/2006/main">
              <a:ext uri="{FF2B5EF4-FFF2-40B4-BE49-F238E27FC236}">
                <a16:creationId xmlns:a16="http://schemas.microsoft.com/office/drawing/2014/main" id="{9172EA43-6CD3-4AC6-836F-3E527C7A494E}"/>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01</a:t>
            </a:r>
          </a:p>
        </p:txBody>
      </p:sp>
      <p:sp>
        <p:nvSpPr>
          <p:cNvPr id="5" name="text-4">
            <a:extLst xmlns:a="http://schemas.openxmlformats.org/drawingml/2006/main">
              <a:ext uri="{FF2B5EF4-FFF2-40B4-BE49-F238E27FC236}">
                <a16:creationId xmlns:a16="http://schemas.microsoft.com/office/drawing/2014/main" id="{BCC8A466-1EA1-4C2D-9ED8-DCA6242E28DE}"/>
              </a:ext>
            </a:extLst>
          </p:cNvPr>
          <p:cNvSpPr>
            <a:spLocks xmlns:a="http://schemas.openxmlformats.org/drawingml/2006/main" noGrp="1"/>
          </p:cNvSpPr>
          <p:nvPr/>
        </p:nvSpPr>
        <p:spPr>
          <a:xfrm xmlns:a="http://schemas.openxmlformats.org/drawingml/2006/main">
            <a:off x="609600" y="5238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1">
                <a:solidFill>
                  <a:srgbClr val="E5B64A"/>
                </a:solidFill>
                <a:latin typeface="DejaVu Sans"/>
                <a:ea typeface="DejaVu Sans"/>
                <a:cs typeface="DejaVu Sans"/>
              </a:defRPr>
            </a:defPPr>
          </a:lstStyle>
          <a:p xmlns:a="http://schemas.openxmlformats.org/drawingml/2006/main">
            <a:pPr>
              <a:defRPr sz="1650" b="1">
                <a:solidFill>
                  <a:srgbClr val="E5B64A"/>
                </a:solidFill>
                <a:latin typeface="DejaVu Sans"/>
                <a:ea typeface="DejaVu Sans"/>
                <a:cs typeface="DejaVu Sans"/>
              </a:defRPr>
            </a:pPr>
            <a:r>
              <a:rPr sz="1650" b="1">
                <a:solidFill>
                  <a:srgbClr val="E5B64A"/>
                </a:solidFill>
                <a:latin typeface="DejaVu Sans"/>
                <a:ea typeface="DejaVu Sans"/>
                <a:cs typeface="DejaVu Sans"/>
              </a:rPr>
              <a:t>1.13  КЛАССИФИКАЦИЯ В ИНФОРМАЦИОННОЙ БЕЗОПАСНОСТИ</a:t>
            </a:r>
          </a:p>
        </p:txBody>
      </p:sp>
      <p:sp>
        <p:nvSpPr>
          <p:cNvPr id="6" name="text-5">
            <a:extLst xmlns:a="http://schemas.openxmlformats.org/drawingml/2006/main">
              <a:ext uri="{FF2B5EF4-FFF2-40B4-BE49-F238E27FC236}">
                <a16:creationId xmlns:a16="http://schemas.microsoft.com/office/drawing/2014/main" id="{D400B5A3-2D91-44BE-8C88-2259297580C6}"/>
              </a:ext>
            </a:extLst>
          </p:cNvPr>
          <p:cNvSpPr>
            <a:spLocks xmlns:a="http://schemas.openxmlformats.org/drawingml/2006/main" noGrp="1"/>
          </p:cNvSpPr>
          <p:nvPr/>
        </p:nvSpPr>
        <p:spPr>
          <a:xfrm xmlns:a="http://schemas.openxmlformats.org/drawingml/2006/main">
            <a:off x="609600" y="1571625"/>
            <a:ext cx="10953750"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750" b="1">
                <a:solidFill>
                  <a:srgbClr val="FFFFFF"/>
                </a:solidFill>
                <a:latin typeface="DejaVu Sans"/>
                <a:ea typeface="DejaVu Sans"/>
                <a:cs typeface="DejaVu Sans"/>
              </a:defRPr>
            </a:defPPr>
          </a:lstStyle>
          <a:p xmlns:a="http://schemas.openxmlformats.org/drawingml/2006/main">
            <a:pPr>
              <a:defRPr sz="3750" b="1">
                <a:solidFill>
                  <a:srgbClr val="FFFFFF"/>
                </a:solidFill>
                <a:latin typeface="DejaVu Sans"/>
                <a:ea typeface="DejaVu Sans"/>
                <a:cs typeface="DejaVu Sans"/>
              </a:defRPr>
            </a:pPr>
            <a:r>
              <a:rPr sz="3750" b="1">
                <a:solidFill>
                  <a:srgbClr val="FFFFFF"/>
                </a:solidFill>
                <a:latin typeface="DejaVu Sans"/>
                <a:ea typeface="DejaVu Sans"/>
                <a:cs typeface="DejaVu Sans"/>
              </a:rPr>
              <a:t>Понятие эталона.</a:t>
            </a:r>
          </a:p>
          <a:p xmlns:a="http://schemas.openxmlformats.org/drawingml/2006/main">
            <a:pPr>
              <a:defRPr sz="3750" b="1">
                <a:solidFill>
                  <a:srgbClr val="FFFFFF"/>
                </a:solidFill>
                <a:latin typeface="DejaVu Sans"/>
                <a:ea typeface="DejaVu Sans"/>
                <a:cs typeface="DejaVu Sans"/>
              </a:defRPr>
            </a:pPr>
            <a:r>
              <a:rPr sz="3750" b="1">
                <a:solidFill>
                  <a:srgbClr val="FFFFFF"/>
                </a:solidFill>
                <a:latin typeface="DejaVu Sans"/>
                <a:ea typeface="DejaVu Sans"/>
                <a:cs typeface="DejaVu Sans"/>
              </a:rPr>
              <a:t>Отступы и классификация</a:t>
            </a:r>
          </a:p>
          <a:p xmlns:a="http://schemas.openxmlformats.org/drawingml/2006/main">
            <a:pPr>
              <a:defRPr sz="3750" b="1">
                <a:solidFill>
                  <a:srgbClr val="FFFFFF"/>
                </a:solidFill>
                <a:latin typeface="DejaVu Sans"/>
                <a:ea typeface="DejaVu Sans"/>
                <a:cs typeface="DejaVu Sans"/>
              </a:defRPr>
            </a:pPr>
            <a:r>
              <a:rPr sz="3750" b="1">
                <a:solidFill>
                  <a:srgbClr val="FFFFFF"/>
                </a:solidFill>
                <a:latin typeface="DejaVu Sans"/>
                <a:ea typeface="DejaVu Sans"/>
                <a:cs typeface="DejaVu Sans"/>
              </a:rPr>
              <a:t>объектов качества</a:t>
            </a:r>
          </a:p>
        </p:txBody>
      </p:sp>
      <p:sp>
        <p:nvSpPr>
          <p:cNvPr id="7" name="text-6">
            <a:extLst xmlns:a="http://schemas.openxmlformats.org/drawingml/2006/main">
              <a:ext uri="{FF2B5EF4-FFF2-40B4-BE49-F238E27FC236}">
                <a16:creationId xmlns:a16="http://schemas.microsoft.com/office/drawing/2014/main" id="{FBEF4F23-D559-4090-8D55-0B1A67A2D571}"/>
              </a:ext>
            </a:extLst>
          </p:cNvPr>
          <p:cNvSpPr>
            <a:spLocks xmlns:a="http://schemas.openxmlformats.org/drawingml/2006/main" noGrp="1"/>
          </p:cNvSpPr>
          <p:nvPr/>
        </p:nvSpPr>
        <p:spPr>
          <a:xfrm xmlns:a="http://schemas.openxmlformats.org/drawingml/2006/main">
            <a:off x="609600" y="4543425"/>
            <a:ext cx="1090612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250" b="0">
                <a:solidFill>
                  <a:srgbClr val="A9DDE0"/>
                </a:solidFill>
                <a:latin typeface="DejaVu Sans"/>
                <a:ea typeface="DejaVu Sans"/>
                <a:cs typeface="DejaVu Sans"/>
              </a:defRPr>
            </a:defPPr>
          </a:lstStyle>
          <a:p xmlns:a="http://schemas.openxmlformats.org/drawingml/2006/main">
            <a:pPr>
              <a:defRPr sz="2250" b="0">
                <a:solidFill>
                  <a:srgbClr val="A9DDE0"/>
                </a:solidFill>
                <a:latin typeface="DejaVu Sans"/>
                <a:ea typeface="DejaVu Sans"/>
                <a:cs typeface="DejaVu Sans"/>
              </a:defRPr>
            </a:pPr>
            <a:r>
              <a:rPr sz="2250" b="0">
                <a:solidFill>
                  <a:srgbClr val="A9DDE0"/>
                </a:solidFill>
                <a:latin typeface="DejaVu Sans"/>
                <a:ea typeface="DejaVu Sans"/>
                <a:cs typeface="DejaVu Sans"/>
              </a:rPr>
              <a:t>Обычный трафик или SYN-flood:</a:t>
            </a:r>
          </a:p>
          <a:p xmlns:a="http://schemas.openxmlformats.org/drawingml/2006/main">
            <a:pPr>
              <a:defRPr sz="2250" b="0">
                <a:solidFill>
                  <a:srgbClr val="A9DDE0"/>
                </a:solidFill>
                <a:latin typeface="DejaVu Sans"/>
                <a:ea typeface="DejaVu Sans"/>
                <a:cs typeface="DejaVu Sans"/>
              </a:defRPr>
            </a:pPr>
            <a:r>
              <a:rPr sz="2250" b="0">
                <a:solidFill>
                  <a:srgbClr val="A9DDE0"/>
                </a:solidFill>
                <a:latin typeface="DejaVu Sans"/>
                <a:ea typeface="DejaVu Sans"/>
                <a:cs typeface="DejaVu Sans"/>
              </a:rPr>
              <a:t>как получить ответ и оценить его запас прочности</a:t>
            </a:r>
          </a:p>
        </p:txBody>
      </p:sp>
    </p:spTree>
    <p:extLst>
      <p:ext uri="{BB962C8B-B14F-4D97-AF65-F5344CB8AC3E}">
        <p14:creationId xmlns:p14="http://schemas.microsoft.com/office/powerpoint/2010/main" val="65147915"/>
      </p:ext>
    </p:extLst>
  </p:cSld>
</p:sld>
</file>

<file path=ppt/slides/slide2.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8" name="text-7">
            <a:extLst xmlns:a="http://schemas.openxmlformats.org/drawingml/2006/main">
              <a:ext uri="{FF2B5EF4-FFF2-40B4-BE49-F238E27FC236}">
                <a16:creationId xmlns:a16="http://schemas.microsoft.com/office/drawing/2014/main" id="{AEEBF693-C620-4793-8E9A-AE3B7762201C}"/>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Как модель выбирает класс</a:t>
            </a:r>
          </a:p>
        </p:txBody>
      </p:sp>
      <p:sp>
        <p:nvSpPr>
          <p:cNvPr id="2" name="text-8">
            <a:extLst xmlns:a="http://schemas.openxmlformats.org/drawingml/2006/main">
              <a:ext uri="{FF2B5EF4-FFF2-40B4-BE49-F238E27FC236}">
                <a16:creationId xmlns:a16="http://schemas.microsoft.com/office/drawing/2014/main" id="{F4992EA9-9559-432B-83F5-DF1F5B17ECEA}"/>
              </a:ext>
            </a:extLst>
          </p:cNvPr>
          <p:cNvSpPr>
            <a:spLocks xmlns:a="http://schemas.openxmlformats.org/drawingml/2006/main" noGrp="1"/>
          </p:cNvSpPr>
          <p:nvPr/>
        </p:nvSpPr>
        <p:spPr>
          <a:xfrm xmlns:a="http://schemas.openxmlformats.org/drawingml/2006/main">
            <a:off x="571500" y="13620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377"/>
                </a:solidFill>
                <a:latin typeface="DejaVu Sans"/>
                <a:ea typeface="DejaVu Sans"/>
                <a:cs typeface="DejaVu Sans"/>
              </a:defRPr>
            </a:defPPr>
          </a:lstStyle>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Классификацией называют выбор класса по признакам объекта</a:t>
            </a:r>
          </a:p>
        </p:txBody>
      </p:sp>
      <p:sp>
        <p:nvSpPr>
          <p:cNvPr id="3" name="">
            <a:extLst xmlns:a="http://schemas.openxmlformats.org/drawingml/2006/main">
              <a:ext uri="{FF2B5EF4-FFF2-40B4-BE49-F238E27FC236}">
                <a16:creationId xmlns:a16="http://schemas.microsoft.com/office/drawing/2014/main" id="{A22A0BF4-7546-4624-BB45-EE63E424AFDD}"/>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4" name="text-9">
            <a:extLst xmlns:a="http://schemas.openxmlformats.org/drawingml/2006/main">
              <a:ext uri="{FF2B5EF4-FFF2-40B4-BE49-F238E27FC236}">
                <a16:creationId xmlns:a16="http://schemas.microsoft.com/office/drawing/2014/main" id="{1454C6C9-DA7F-460C-8598-1F63F12B3397}"/>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a:t>
            </a:r>
          </a:p>
        </p:txBody>
      </p:sp>
      <p:sp>
        <p:nvSpPr>
          <p:cNvPr id="5" name="text-10">
            <a:extLst xmlns:a="http://schemas.openxmlformats.org/drawingml/2006/main">
              <a:ext uri="{FF2B5EF4-FFF2-40B4-BE49-F238E27FC236}">
                <a16:creationId xmlns:a16="http://schemas.microsoft.com/office/drawing/2014/main" id="{2192F667-571C-46D1-AA15-FC22B47ABCF1}"/>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02</a:t>
            </a:r>
          </a:p>
        </p:txBody>
      </p:sp>
      <p:graphicFrame>
        <p:nvGraphicFramePr>
          <p:cNvPr id="6" name="">
            <a:extLst xmlns:a="http://schemas.openxmlformats.org/drawingml/2006/main">
              <a:ext uri="{FF2B5EF4-FFF2-40B4-BE49-F238E27FC236}">
                <a16:creationId xmlns:a16="http://schemas.microsoft.com/office/drawing/2014/main" id="{319A8ED1-1EAA-4145-9338-4F6A7E35A72B}"/>
              </a:ext>
            </a:extLst>
          </p:cNvPr>
          <p:cNvGraphicFramePr/>
          <p:nvPr/>
        </p:nvGraphicFramePr>
        <p:xfrm>
          <a:off xmlns:a="http://schemas.openxmlformats.org/drawingml/2006/main" x="571500" y="2000250"/>
          <a:ext xmlns:a="http://schemas.openxmlformats.org/drawingml/2006/main" cx="11049000" cy="2695575"/>
        </p:xfrm>
        <a:graphic xmlns:a="http://schemas.openxmlformats.org/drawingml/2006/main">
          <a:graphicData uri="http://schemas.openxmlformats.org/drawingml/2006/table">
            <a:tbl>
              <a:tblPr/>
              <a:tblGrid>
                <a:gridCol w="2705878"/>
                <a:gridCol w="8343122"/>
              </a:tblGrid>
              <a:tr h="539115">
                <a:tc>
                  <a:txBody>
                    <a:bodyPr lIns="114300" tIns="95250" rIns="95250" bIns="76200"/>
                    <a:lstStyle/>
                    <a:p>
                      <a:r>
                        <a:rPr sz="1950" b="1">
                          <a:solidFill>
                            <a:srgbClr val="FFFFFF"/>
                          </a:solidFill>
                          <a:latin typeface="DejaVu Sans"/>
                          <a:ea typeface="DejaVu Sans"/>
                          <a:cs typeface="DejaVu Sans"/>
                        </a:rPr>
                        <a:t>Понятие</a:t>
                      </a:r>
                    </a:p>
                  </a:txBody>
                  <a:tcPr marL="91440" marR="91440" marT="45720" marB="45720" anchor="ctr">
                    <a:solidFill>
                      <a:srgbClr val="101C32"/>
                    </a:solidFill>
                  </a:tcPr>
                </a:tc>
                <a:tc>
                  <a:txBody>
                    <a:bodyPr lIns="114300" tIns="95250" rIns="95250" bIns="76200"/>
                    <a:lstStyle/>
                    <a:p>
                      <a:r>
                        <a:rPr sz="1950" b="1">
                          <a:solidFill>
                            <a:srgbClr val="FFFFFF"/>
                          </a:solidFill>
                          <a:latin typeface="DejaVu Sans"/>
                          <a:ea typeface="DejaVu Sans"/>
                          <a:cs typeface="DejaVu Sans"/>
                        </a:rPr>
                        <a:t>Смысл</a:t>
                      </a:r>
                    </a:p>
                  </a:txBody>
                  <a:tcPr marL="91440" marR="91440" marT="45720" marB="45720" anchor="ctr">
                    <a:solidFill>
                      <a:srgbClr val="101C32"/>
                    </a:solidFill>
                  </a:tcPr>
                </a:tc>
              </a:tr>
              <a:tr h="539115">
                <a:tc>
                  <a:txBody>
                    <a:bodyPr lIns="114300" tIns="95250" rIns="95250" bIns="76200"/>
                    <a:lstStyle/>
                    <a:p>
                      <a:r>
                        <a:rPr sz="1950" b="0">
                          <a:solidFill>
                            <a:srgbClr val="101C32"/>
                          </a:solidFill>
                          <a:latin typeface="DejaVu Sans"/>
                          <a:ea typeface="DejaVu Sans"/>
                          <a:cs typeface="DejaVu Sans"/>
                        </a:rPr>
                        <a:t>Объект</a:t>
                      </a:r>
                    </a:p>
                  </a:txBody>
                  <a:tcPr marL="91440" marR="91440" marT="45720" marB="45720" anchor="ctr">
                    <a:solidFill>
                      <a:srgbClr val="FFFFFF"/>
                    </a:solidFill>
                  </a:tcPr>
                </a:tc>
                <a:tc>
                  <a:txBody>
                    <a:bodyPr lIns="114300" tIns="95250" rIns="95250" bIns="76200"/>
                    <a:lstStyle/>
                    <a:p>
                      <a:r>
                        <a:rPr sz="1950" b="0">
                          <a:solidFill>
                            <a:srgbClr val="101C32"/>
                          </a:solidFill>
                          <a:latin typeface="DejaVu Sans"/>
                          <a:ea typeface="DejaVu Sans"/>
                          <a:cs typeface="DejaVu Sans"/>
                        </a:rPr>
                        <a:t>То, что мы исследуем</a:t>
                      </a:r>
                    </a:p>
                  </a:txBody>
                  <a:tcPr marL="91440" marR="91440" marT="45720" marB="45720" anchor="ctr">
                    <a:solidFill>
                      <a:srgbClr val="FFFFFF"/>
                    </a:solidFill>
                  </a:tcPr>
                </a:tc>
              </a:tr>
              <a:tr h="539115">
                <a:tc>
                  <a:txBody>
                    <a:bodyPr lIns="114300" tIns="95250" rIns="95250" bIns="76200"/>
                    <a:lstStyle/>
                    <a:p>
                      <a:r>
                        <a:rPr sz="1950" b="0">
                          <a:solidFill>
                            <a:srgbClr val="101C32"/>
                          </a:solidFill>
                          <a:latin typeface="DejaVu Sans"/>
                          <a:ea typeface="DejaVu Sans"/>
                          <a:cs typeface="DejaVu Sans"/>
                        </a:rPr>
                        <a:t>Признаки</a:t>
                      </a:r>
                    </a:p>
                  </a:txBody>
                  <a:tcPr marL="91440" marR="91440" marT="45720" marB="45720" anchor="ctr">
                    <a:solidFill>
                      <a:srgbClr val="EAF0F4"/>
                    </a:solidFill>
                  </a:tcPr>
                </a:tc>
                <a:tc>
                  <a:txBody>
                    <a:bodyPr lIns="114300" tIns="95250" rIns="95250" bIns="76200"/>
                    <a:lstStyle/>
                    <a:p>
                      <a:r>
                        <a:rPr sz="1950" b="0">
                          <a:solidFill>
                            <a:srgbClr val="101C32"/>
                          </a:solidFill>
                          <a:latin typeface="DejaVu Sans"/>
                          <a:ea typeface="DejaVu Sans"/>
                          <a:cs typeface="DejaVu Sans"/>
                        </a:rPr>
                        <a:t>Измеримые свойства объекта</a:t>
                      </a:r>
                    </a:p>
                  </a:txBody>
                  <a:tcPr marL="91440" marR="91440" marT="45720" marB="45720" anchor="ctr">
                    <a:solidFill>
                      <a:srgbClr val="EAF0F4"/>
                    </a:solidFill>
                  </a:tcPr>
                </a:tc>
              </a:tr>
              <a:tr h="539115">
                <a:tc>
                  <a:txBody>
                    <a:bodyPr lIns="114300" tIns="95250" rIns="95250" bIns="76200"/>
                    <a:lstStyle/>
                    <a:p>
                      <a:r>
                        <a:rPr sz="1950" b="0">
                          <a:solidFill>
                            <a:srgbClr val="101C32"/>
                          </a:solidFill>
                          <a:latin typeface="DejaVu Sans"/>
                          <a:ea typeface="DejaVu Sans"/>
                          <a:cs typeface="DejaVu Sans"/>
                        </a:rPr>
                        <a:t>Класс</a:t>
                      </a:r>
                    </a:p>
                  </a:txBody>
                  <a:tcPr marL="91440" marR="91440" marT="45720" marB="45720" anchor="ctr">
                    <a:solidFill>
                      <a:srgbClr val="FFFFFF"/>
                    </a:solidFill>
                  </a:tcPr>
                </a:tc>
                <a:tc>
                  <a:txBody>
                    <a:bodyPr lIns="114300" tIns="95250" rIns="95250" bIns="76200"/>
                    <a:lstStyle/>
                    <a:p>
                      <a:r>
                        <a:rPr sz="1950" b="0">
                          <a:solidFill>
                            <a:srgbClr val="101C32"/>
                          </a:solidFill>
                          <a:latin typeface="DejaVu Sans"/>
                          <a:ea typeface="DejaVu Sans"/>
                          <a:cs typeface="DejaVu Sans"/>
                        </a:rPr>
                        <a:t>Одна из заданных групп</a:t>
                      </a:r>
                    </a:p>
                  </a:txBody>
                  <a:tcPr marL="91440" marR="91440" marT="45720" marB="45720" anchor="ctr">
                    <a:solidFill>
                      <a:srgbClr val="FFFFFF"/>
                    </a:solidFill>
                  </a:tcPr>
                </a:tc>
              </a:tr>
              <a:tr h="539115">
                <a:tc>
                  <a:txBody>
                    <a:bodyPr lIns="114300" tIns="95250" rIns="95250" bIns="76200"/>
                    <a:lstStyle/>
                    <a:p>
                      <a:r>
                        <a:rPr sz="1950" b="0">
                          <a:solidFill>
                            <a:srgbClr val="101C32"/>
                          </a:solidFill>
                          <a:latin typeface="DejaVu Sans"/>
                          <a:ea typeface="DejaVu Sans"/>
                          <a:cs typeface="DejaVu Sans"/>
                        </a:rPr>
                        <a:t>Модель</a:t>
                      </a:r>
                    </a:p>
                  </a:txBody>
                  <a:tcPr marL="91440" marR="91440" marT="45720" marB="45720" anchor="ctr">
                    <a:solidFill>
                      <a:srgbClr val="EAF0F4"/>
                    </a:solidFill>
                  </a:tcPr>
                </a:tc>
                <a:tc>
                  <a:txBody>
                    <a:bodyPr lIns="114300" tIns="95250" rIns="95250" bIns="76200"/>
                    <a:lstStyle/>
                    <a:p>
                      <a:r>
                        <a:rPr sz="1950" b="0">
                          <a:solidFill>
                            <a:srgbClr val="101C32"/>
                          </a:solidFill>
                          <a:latin typeface="DejaVu Sans"/>
                          <a:ea typeface="DejaVu Sans"/>
                          <a:cs typeface="DejaVu Sans"/>
                        </a:rPr>
                        <a:t>Правило выбора класса по признакам</a:t>
                      </a:r>
                    </a:p>
                  </a:txBody>
                  <a:tcPr marL="91440" marR="91440" marT="45720" marB="45720" anchor="ctr">
                    <a:solidFill>
                      <a:srgbClr val="EAF0F4"/>
                    </a:solidFill>
                  </a:tcPr>
                </a:tc>
              </a:tr>
            </a:tbl>
          </a:graphicData>
        </a:graphic>
      </p:graphicFrame>
      <p:sp>
        <p:nvSpPr>
          <p:cNvPr id="7" name="text-11">
            <a:extLst xmlns:a="http://schemas.openxmlformats.org/drawingml/2006/main">
              <a:ext uri="{FF2B5EF4-FFF2-40B4-BE49-F238E27FC236}">
                <a16:creationId xmlns:a16="http://schemas.microsoft.com/office/drawing/2014/main" id="{3762F258-812D-46D3-8B25-7C6806F87957}"/>
              </a:ext>
            </a:extLst>
          </p:cNvPr>
          <p:cNvSpPr>
            <a:spLocks xmlns:a="http://schemas.openxmlformats.org/drawingml/2006/main" noGrp="1"/>
          </p:cNvSpPr>
          <p:nvPr/>
        </p:nvSpPr>
        <p:spPr>
          <a:xfrm xmlns:a="http://schemas.openxmlformats.org/drawingml/2006/main">
            <a:off x="571500" y="5162550"/>
            <a:ext cx="110490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101C32"/>
                </a:solidFill>
                <a:latin typeface="DejaVu Sans"/>
                <a:ea typeface="DejaVu Sans"/>
                <a:cs typeface="DejaVu Sans"/>
              </a:defRPr>
            </a:defPPr>
          </a:lstStyle>
          <a:p xmlns:a="http://schemas.openxmlformats.org/drawingml/2006/main">
            <a:pPr>
              <a:defRPr sz="1875" b="1">
                <a:solidFill>
                  <a:srgbClr val="101C32"/>
                </a:solidFill>
                <a:latin typeface="DejaVu Sans"/>
                <a:ea typeface="DejaVu Sans"/>
                <a:cs typeface="DejaVu Sans"/>
              </a:defRPr>
            </a:pPr>
            <a:r>
              <a:rPr sz="1875" b="1">
                <a:solidFill>
                  <a:srgbClr val="101C32"/>
                </a:solidFill>
                <a:latin typeface="DejaVu Sans"/>
                <a:ea typeface="DejaVu Sans"/>
                <a:cs typeface="DejaVu Sans"/>
              </a:rPr>
              <a:t>Обучение подбирает правило по примерам с известными классами (метками).</a:t>
            </a:r>
          </a:p>
          <a:p xmlns:a="http://schemas.openxmlformats.org/drawingml/2006/main">
            <a:pPr>
              <a:defRPr sz="1875" b="1">
                <a:solidFill>
                  <a:srgbClr val="101C32"/>
                </a:solidFill>
                <a:latin typeface="DejaVu Sans"/>
                <a:ea typeface="DejaVu Sans"/>
                <a:cs typeface="DejaVu Sans"/>
              </a:defRPr>
            </a:pPr>
            <a:r>
              <a:rPr sz="1875" b="1">
                <a:solidFill>
                  <a:srgbClr val="101C32"/>
                </a:solidFill>
                <a:latin typeface="DejaVu Sans"/>
                <a:ea typeface="DejaVu Sans"/>
                <a:cs typeface="DejaVu Sans"/>
              </a:rPr>
              <a:t>Прогноз модели может не совпасть с меткой. Тогда это ошибка.</a:t>
            </a:r>
          </a:p>
        </p:txBody>
      </p:sp>
    </p:spTree>
    <p:extLst>
      <p:ext uri="{BB962C8B-B14F-4D97-AF65-F5344CB8AC3E}">
        <p14:creationId xmlns:p14="http://schemas.microsoft.com/office/powerpoint/2010/main" val="636162708"/>
      </p:ext>
    </p:extLst>
  </p:cSld>
</p:sld>
</file>

<file path=ppt/slides/slide3.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11" name="text-12">
            <a:extLst xmlns:a="http://schemas.openxmlformats.org/drawingml/2006/main">
              <a:ext uri="{FF2B5EF4-FFF2-40B4-BE49-F238E27FC236}">
                <a16:creationId xmlns:a16="http://schemas.microsoft.com/office/drawing/2014/main" id="{CA245584-6BC8-40CD-A60A-C78611D60BCB}"/>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Эталон класса и его выбор</a:t>
            </a:r>
          </a:p>
        </p:txBody>
      </p:sp>
      <p:sp>
        <p:nvSpPr>
          <p:cNvPr id="2" name="">
            <a:extLst xmlns:a="http://schemas.openxmlformats.org/drawingml/2006/main">
              <a:ext uri="{FF2B5EF4-FFF2-40B4-BE49-F238E27FC236}">
                <a16:creationId xmlns:a16="http://schemas.microsoft.com/office/drawing/2014/main" id="{5AA25CE5-2F3E-4137-B6AF-EB07C673D42D}"/>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3" name="text-13">
            <a:extLst xmlns:a="http://schemas.openxmlformats.org/drawingml/2006/main">
              <a:ext uri="{FF2B5EF4-FFF2-40B4-BE49-F238E27FC236}">
                <a16:creationId xmlns:a16="http://schemas.microsoft.com/office/drawing/2014/main" id="{3B777510-09E3-4861-A437-FB7861EBF6C0}"/>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   [3, 5]</a:t>
            </a:r>
          </a:p>
        </p:txBody>
      </p:sp>
      <p:sp>
        <p:nvSpPr>
          <p:cNvPr id="4" name="text-14">
            <a:extLst xmlns:a="http://schemas.openxmlformats.org/drawingml/2006/main">
              <a:ext uri="{FF2B5EF4-FFF2-40B4-BE49-F238E27FC236}">
                <a16:creationId xmlns:a16="http://schemas.microsoft.com/office/drawing/2014/main" id="{C6E913C4-B2B1-4838-9308-EF99683F1906}"/>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03</a:t>
            </a:r>
          </a:p>
        </p:txBody>
      </p:sp>
      <p:sp>
        <p:nvSpPr>
          <p:cNvPr id="5" name="text-15">
            <a:extLst xmlns:a="http://schemas.openxmlformats.org/drawingml/2006/main">
              <a:ext uri="{FF2B5EF4-FFF2-40B4-BE49-F238E27FC236}">
                <a16:creationId xmlns:a16="http://schemas.microsoft.com/office/drawing/2014/main" id="{CB240CF3-0186-43CB-9760-0EF586CB12A1}"/>
              </a:ext>
            </a:extLst>
          </p:cNvPr>
          <p:cNvSpPr>
            <a:spLocks xmlns:a="http://schemas.openxmlformats.org/drawingml/2006/main" noGrp="1"/>
          </p:cNvSpPr>
          <p:nvPr/>
        </p:nvSpPr>
        <p:spPr>
          <a:xfrm xmlns:a="http://schemas.openxmlformats.org/drawingml/2006/main">
            <a:off x="571500" y="2009775"/>
            <a:ext cx="110490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400" b="1">
                <a:solidFill>
                  <a:srgbClr val="101C32"/>
                </a:solidFill>
                <a:latin typeface="DejaVu Sans"/>
                <a:ea typeface="DejaVu Sans"/>
                <a:cs typeface="DejaVu Sans"/>
              </a:defRPr>
            </a:defPPr>
          </a:lstStyle>
          <a:p xmlns:a="http://schemas.openxmlformats.org/drawingml/2006/main">
            <a:pPr>
              <a:defRPr sz="2400" b="1">
                <a:solidFill>
                  <a:srgbClr val="101C32"/>
                </a:solidFill>
                <a:latin typeface="DejaVu Sans"/>
                <a:ea typeface="DejaVu Sans"/>
                <a:cs typeface="DejaVu Sans"/>
              </a:defRPr>
            </a:pPr>
            <a:r>
              <a:rPr sz="2400" b="1">
                <a:solidFill>
                  <a:srgbClr val="101C32"/>
                </a:solidFill>
                <a:latin typeface="DejaVu Sans"/>
                <a:ea typeface="DejaVu Sans"/>
                <a:cs typeface="DejaVu Sans"/>
              </a:rPr>
              <a:t>Эталоном класса называют образец этого класса,</a:t>
            </a:r>
          </a:p>
          <a:p xmlns:a="http://schemas.openxmlformats.org/drawingml/2006/main">
            <a:pPr>
              <a:defRPr sz="2400" b="1">
                <a:solidFill>
                  <a:srgbClr val="101C32"/>
                </a:solidFill>
                <a:latin typeface="DejaVu Sans"/>
                <a:ea typeface="DejaVu Sans"/>
                <a:cs typeface="DejaVu Sans"/>
              </a:defRPr>
            </a:pPr>
            <a:r>
              <a:rPr sz="2400" b="1">
                <a:solidFill>
                  <a:srgbClr val="101C32"/>
                </a:solidFill>
                <a:latin typeface="DejaVu Sans"/>
                <a:ea typeface="DejaVu Sans"/>
                <a:cs typeface="DejaVu Sans"/>
              </a:rPr>
              <a:t>с которым сравнивают другие объекты.</a:t>
            </a:r>
          </a:p>
        </p:txBody>
      </p:sp>
      <p:sp>
        <p:nvSpPr>
          <p:cNvPr id="6" name="text-16">
            <a:extLst xmlns:a="http://schemas.openxmlformats.org/drawingml/2006/main">
              <a:ext uri="{FF2B5EF4-FFF2-40B4-BE49-F238E27FC236}">
                <a16:creationId xmlns:a16="http://schemas.microsoft.com/office/drawing/2014/main" id="{3816495B-DF63-4FC2-9F4F-F6A100481E62}"/>
              </a:ext>
            </a:extLst>
          </p:cNvPr>
          <p:cNvSpPr>
            <a:spLocks xmlns:a="http://schemas.openxmlformats.org/drawingml/2006/main" noGrp="1"/>
          </p:cNvSpPr>
          <p:nvPr/>
        </p:nvSpPr>
        <p:spPr>
          <a:xfrm xmlns:a="http://schemas.openxmlformats.org/drawingml/2006/main">
            <a:off x="571500" y="3333750"/>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1">
                <a:solidFill>
                  <a:srgbClr val="008C95"/>
                </a:solidFill>
                <a:latin typeface="DejaVu Sans"/>
                <a:ea typeface="DejaVu Sans"/>
                <a:cs typeface="DejaVu Sans"/>
              </a:defRPr>
            </a:defPPr>
          </a:lstStyle>
          <a:p xmlns:a="http://schemas.openxmlformats.org/drawingml/2006/main">
            <a:pPr>
              <a:defRPr sz="2175" b="1">
                <a:solidFill>
                  <a:srgbClr val="008C95"/>
                </a:solidFill>
                <a:latin typeface="DejaVu Sans"/>
                <a:ea typeface="DejaVu Sans"/>
                <a:cs typeface="DejaVu Sans"/>
              </a:defRPr>
            </a:pPr>
            <a:r>
              <a:rPr sz="2175" b="1">
                <a:solidFill>
                  <a:srgbClr val="008C95"/>
                </a:solidFill>
                <a:latin typeface="DejaVu Sans"/>
                <a:ea typeface="DejaVu Sans"/>
                <a:cs typeface="DejaVu Sans"/>
              </a:rPr>
              <a:t>Сходство через расстояние</a:t>
            </a:r>
          </a:p>
        </p:txBody>
      </p:sp>
      <p:sp>
        <p:nvSpPr>
          <p:cNvPr id="7" name="text-17">
            <a:extLst xmlns:a="http://schemas.openxmlformats.org/drawingml/2006/main">
              <a:ext uri="{FF2B5EF4-FFF2-40B4-BE49-F238E27FC236}">
                <a16:creationId xmlns:a16="http://schemas.microsoft.com/office/drawing/2014/main" id="{795E78D6-C98E-4CEA-B91A-49B2746F9DAA}"/>
              </a:ext>
            </a:extLst>
          </p:cNvPr>
          <p:cNvSpPr>
            <a:spLocks xmlns:a="http://schemas.openxmlformats.org/drawingml/2006/main" noGrp="1"/>
          </p:cNvSpPr>
          <p:nvPr/>
        </p:nvSpPr>
        <p:spPr>
          <a:xfrm xmlns:a="http://schemas.openxmlformats.org/drawingml/2006/main">
            <a:off x="571500" y="3867150"/>
            <a:ext cx="52387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101C32"/>
                </a:solidFill>
                <a:latin typeface="DejaVu Sans"/>
                <a:ea typeface="DejaVu Sans"/>
                <a:cs typeface="DejaVu Sans"/>
              </a:defRPr>
            </a:defPPr>
          </a:lstStyle>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Два признака задают точку.</a:t>
            </a:r>
          </a:p>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Евклидово расстояние равно</a:t>
            </a:r>
          </a:p>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длине отрезка между точками.</a:t>
            </a:r>
          </a:p>
        </p:txBody>
      </p:sp>
      <p:sp>
        <p:nvSpPr>
          <p:cNvPr id="8" name="text-18">
            <a:extLst xmlns:a="http://schemas.openxmlformats.org/drawingml/2006/main">
              <a:ext uri="{FF2B5EF4-FFF2-40B4-BE49-F238E27FC236}">
                <a16:creationId xmlns:a16="http://schemas.microsoft.com/office/drawing/2014/main" id="{22C14319-103D-4458-A239-F6E1BED61E01}"/>
              </a:ext>
            </a:extLst>
          </p:cNvPr>
          <p:cNvSpPr>
            <a:spLocks xmlns:a="http://schemas.openxmlformats.org/drawingml/2006/main" noGrp="1"/>
          </p:cNvSpPr>
          <p:nvPr/>
        </p:nvSpPr>
        <p:spPr>
          <a:xfrm xmlns:a="http://schemas.openxmlformats.org/drawingml/2006/main">
            <a:off x="6429375" y="3333750"/>
            <a:ext cx="5191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1">
                <a:solidFill>
                  <a:srgbClr val="008C95"/>
                </a:solidFill>
                <a:latin typeface="DejaVu Sans"/>
                <a:ea typeface="DejaVu Sans"/>
                <a:cs typeface="DejaVu Sans"/>
              </a:defRPr>
            </a:defPPr>
          </a:lstStyle>
          <a:p xmlns:a="http://schemas.openxmlformats.org/drawingml/2006/main">
            <a:pPr>
              <a:defRPr sz="2175" b="1">
                <a:solidFill>
                  <a:srgbClr val="008C95"/>
                </a:solidFill>
                <a:latin typeface="DejaVu Sans"/>
                <a:ea typeface="DejaVu Sans"/>
                <a:cs typeface="DejaVu Sans"/>
              </a:defRPr>
            </a:pPr>
            <a:r>
              <a:rPr sz="2175" b="1">
                <a:solidFill>
                  <a:srgbClr val="008C95"/>
                </a:solidFill>
                <a:latin typeface="DejaVu Sans"/>
                <a:ea typeface="DejaVu Sans"/>
                <a:cs typeface="DejaVu Sans"/>
              </a:rPr>
              <a:t>Выбор образца: медоид</a:t>
            </a:r>
          </a:p>
        </p:txBody>
      </p:sp>
      <p:sp>
        <p:nvSpPr>
          <p:cNvPr id="9" name="text-19">
            <a:extLst xmlns:a="http://schemas.openxmlformats.org/drawingml/2006/main">
              <a:ext uri="{FF2B5EF4-FFF2-40B4-BE49-F238E27FC236}">
                <a16:creationId xmlns:a16="http://schemas.microsoft.com/office/drawing/2014/main" id="{34663B8F-FC92-410B-AB51-27174F87396A}"/>
              </a:ext>
            </a:extLst>
          </p:cNvPr>
          <p:cNvSpPr>
            <a:spLocks xmlns:a="http://schemas.openxmlformats.org/drawingml/2006/main" noGrp="1"/>
          </p:cNvSpPr>
          <p:nvPr/>
        </p:nvSpPr>
        <p:spPr>
          <a:xfrm xmlns:a="http://schemas.openxmlformats.org/drawingml/2006/main">
            <a:off x="6429375" y="3867150"/>
            <a:ext cx="5191125"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101C32"/>
                </a:solidFill>
                <a:latin typeface="DejaVu Sans"/>
                <a:ea typeface="DejaVu Sans"/>
                <a:cs typeface="DejaVu Sans"/>
              </a:defRPr>
            </a:defPPr>
          </a:lstStyle>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Берём объект с минимальной</a:t>
            </a:r>
          </a:p>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суммой расстояний до других</a:t>
            </a:r>
          </a:p>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объектов своего класса.</a:t>
            </a:r>
          </a:p>
        </p:txBody>
      </p:sp>
      <p:sp>
        <p:nvSpPr>
          <p:cNvPr id="10" name="text-20">
            <a:extLst xmlns:a="http://schemas.openxmlformats.org/drawingml/2006/main">
              <a:ext uri="{FF2B5EF4-FFF2-40B4-BE49-F238E27FC236}">
                <a16:creationId xmlns:a16="http://schemas.microsoft.com/office/drawing/2014/main" id="{4BD78D3B-3445-4488-8E3B-500575E48DE8}"/>
              </a:ext>
            </a:extLst>
          </p:cNvPr>
          <p:cNvSpPr>
            <a:spLocks xmlns:a="http://schemas.openxmlformats.org/drawingml/2006/main" noGrp="1"/>
          </p:cNvSpPr>
          <p:nvPr/>
        </p:nvSpPr>
        <p:spPr>
          <a:xfrm xmlns:a="http://schemas.openxmlformats.org/drawingml/2006/main">
            <a:off x="571500" y="5638800"/>
            <a:ext cx="1104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1">
                <a:solidFill>
                  <a:srgbClr val="008C95"/>
                </a:solidFill>
                <a:latin typeface="DejaVu Sans"/>
                <a:ea typeface="DejaVu Sans"/>
                <a:cs typeface="DejaVu Sans"/>
              </a:defRPr>
            </a:defPPr>
          </a:lstStyle>
          <a:p xmlns:a="http://schemas.openxmlformats.org/drawingml/2006/main">
            <a:pPr>
              <a:defRPr sz="1800" b="1">
                <a:solidFill>
                  <a:srgbClr val="008C95"/>
                </a:solidFill>
                <a:latin typeface="DejaVu Sans"/>
                <a:ea typeface="DejaVu Sans"/>
                <a:cs typeface="DejaVu Sans"/>
              </a:defRPr>
            </a:pPr>
            <a:r>
              <a:rPr sz="1800" b="1">
                <a:solidFill>
                  <a:srgbClr val="008C95"/>
                </a:solidFill>
                <a:latin typeface="DejaVu Sans"/>
                <a:ea typeface="DejaVu Sans"/>
                <a:cs typeface="DejaVu Sans"/>
              </a:rPr>
              <a:t>До сравнения приводим признаки к одному масштабу.</a:t>
            </a:r>
          </a:p>
          <a:p xmlns:a="http://schemas.openxmlformats.org/drawingml/2006/main">
            <a:pPr>
              <a:defRPr sz="1800" b="1">
                <a:solidFill>
                  <a:srgbClr val="008C95"/>
                </a:solidFill>
                <a:latin typeface="DejaVu Sans"/>
                <a:ea typeface="DejaVu Sans"/>
                <a:cs typeface="DejaVu Sans"/>
              </a:defRPr>
            </a:pPr>
            <a:r>
              <a:rPr sz="1800" b="1">
                <a:solidFill>
                  <a:srgbClr val="008C95"/>
                </a:solidFill>
                <a:latin typeface="DejaVu Sans"/>
                <a:ea typeface="DejaVu Sans"/>
                <a:cs typeface="DejaVu Sans"/>
              </a:rPr>
              <a:t>Эталоны ищем только по обучающим примерам.</a:t>
            </a:r>
          </a:p>
        </p:txBody>
      </p:sp>
    </p:spTree>
    <p:extLst>
      <p:ext uri="{BB962C8B-B14F-4D97-AF65-F5344CB8AC3E}">
        <p14:creationId xmlns:p14="http://schemas.microsoft.com/office/powerpoint/2010/main" val="1595611633"/>
      </p:ext>
    </p:extLst>
  </p:cSld>
</p:sld>
</file>

<file path=ppt/slides/slide4.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11" name="text-21">
            <a:extLst xmlns:a="http://schemas.openxmlformats.org/drawingml/2006/main">
              <a:ext uri="{FF2B5EF4-FFF2-40B4-BE49-F238E27FC236}">
                <a16:creationId xmlns:a16="http://schemas.microsoft.com/office/drawing/2014/main" id="{8F400A7C-3380-4F1D-988D-E1A7A954ABC6}"/>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Ближайший эталон и отступ</a:t>
            </a:r>
          </a:p>
        </p:txBody>
      </p:sp>
      <p:sp>
        <p:nvSpPr>
          <p:cNvPr id="2" name="text-22">
            <a:extLst xmlns:a="http://schemas.openxmlformats.org/drawingml/2006/main">
              <a:ext uri="{FF2B5EF4-FFF2-40B4-BE49-F238E27FC236}">
                <a16:creationId xmlns:a16="http://schemas.microsoft.com/office/drawing/2014/main" id="{1D7F473D-5259-4B9E-A7BA-FA275EAC805D}"/>
              </a:ext>
            </a:extLst>
          </p:cNvPr>
          <p:cNvSpPr>
            <a:spLocks xmlns:a="http://schemas.openxmlformats.org/drawingml/2006/main" noGrp="1"/>
          </p:cNvSpPr>
          <p:nvPr/>
        </p:nvSpPr>
        <p:spPr>
          <a:xfrm xmlns:a="http://schemas.openxmlformats.org/drawingml/2006/main">
            <a:off x="571500" y="13620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377"/>
                </a:solidFill>
                <a:latin typeface="DejaVu Sans"/>
                <a:ea typeface="DejaVu Sans"/>
                <a:cs typeface="DejaVu Sans"/>
              </a:defRPr>
            </a:defPPr>
          </a:lstStyle>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Считаем расстояния до образцов и выбираем класс ближайшего</a:t>
            </a:r>
          </a:p>
        </p:txBody>
      </p:sp>
      <p:sp>
        <p:nvSpPr>
          <p:cNvPr id="3" name="">
            <a:extLst xmlns:a="http://schemas.openxmlformats.org/drawingml/2006/main">
              <a:ext uri="{FF2B5EF4-FFF2-40B4-BE49-F238E27FC236}">
                <a16:creationId xmlns:a16="http://schemas.microsoft.com/office/drawing/2014/main" id="{EDDA1258-CB71-4E31-8058-1D975A6C47CF}"/>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4" name="text-23">
            <a:extLst xmlns:a="http://schemas.openxmlformats.org/drawingml/2006/main">
              <a:ext uri="{FF2B5EF4-FFF2-40B4-BE49-F238E27FC236}">
                <a16:creationId xmlns:a16="http://schemas.microsoft.com/office/drawing/2014/main" id="{B646D5EB-9368-4557-BB7F-0ACAABBD9E54}"/>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a:t>
            </a:r>
          </a:p>
        </p:txBody>
      </p:sp>
      <p:sp>
        <p:nvSpPr>
          <p:cNvPr id="5" name="text-24">
            <a:extLst xmlns:a="http://schemas.openxmlformats.org/drawingml/2006/main">
              <a:ext uri="{FF2B5EF4-FFF2-40B4-BE49-F238E27FC236}">
                <a16:creationId xmlns:a16="http://schemas.microsoft.com/office/drawing/2014/main" id="{B79173B0-A484-4055-A029-941F6C011175}"/>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04</a:t>
            </a:r>
          </a:p>
        </p:txBody>
      </p:sp>
      <p:sp>
        <p:nvSpPr>
          <p:cNvPr id="6" name="text-25">
            <a:extLst xmlns:a="http://schemas.openxmlformats.org/drawingml/2006/main">
              <a:ext uri="{FF2B5EF4-FFF2-40B4-BE49-F238E27FC236}">
                <a16:creationId xmlns:a16="http://schemas.microsoft.com/office/drawing/2014/main" id="{9EBCE08A-EA95-4D27-837F-FE75370AB256}"/>
              </a:ext>
            </a:extLst>
          </p:cNvPr>
          <p:cNvSpPr>
            <a:spLocks xmlns:a="http://schemas.openxmlformats.org/drawingml/2006/main" noGrp="1"/>
          </p:cNvSpPr>
          <p:nvPr/>
        </p:nvSpPr>
        <p:spPr>
          <a:xfrm xmlns:a="http://schemas.openxmlformats.org/drawingml/2006/main">
            <a:off x="571500" y="209550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950" b="0">
                <a:solidFill>
                  <a:srgbClr val="101C32"/>
                </a:solidFill>
                <a:latin typeface="DejaVu Sans"/>
                <a:ea typeface="DejaVu Sans"/>
                <a:cs typeface="DejaVu Sans"/>
              </a:defRPr>
            </a:defPPr>
          </a:lstStyle>
          <a:p xmlns:a="http://schemas.openxmlformats.org/drawingml/2006/main">
            <a:pPr>
              <a:defRPr sz="1950" b="0">
                <a:solidFill>
                  <a:srgbClr val="101C32"/>
                </a:solidFill>
                <a:latin typeface="DejaVu Sans"/>
                <a:ea typeface="DejaVu Sans"/>
                <a:cs typeface="DejaVu Sans"/>
              </a:defRPr>
            </a:pPr>
            <a:r>
              <a:rPr sz="1950" b="0">
                <a:solidFill>
                  <a:srgbClr val="101C32"/>
                </a:solidFill>
                <a:latin typeface="DejaVu Sans"/>
                <a:ea typeface="DejaVu Sans"/>
                <a:cs typeface="DejaVu Sans"/>
              </a:rPr>
              <a:t>Отступ сравнивает оценку правильного класса с оценкой другого.</a:t>
            </a:r>
          </a:p>
          <a:p xmlns:a="http://schemas.openxmlformats.org/drawingml/2006/main">
            <a:pPr>
              <a:defRPr sz="1950" b="0">
                <a:solidFill>
                  <a:srgbClr val="101C32"/>
                </a:solidFill>
                <a:latin typeface="DejaVu Sans"/>
                <a:ea typeface="DejaVu Sans"/>
                <a:cs typeface="DejaVu Sans"/>
              </a:defRPr>
            </a:pPr>
            <a:r>
              <a:rPr sz="1950" b="0">
                <a:solidFill>
                  <a:srgbClr val="101C32"/>
                </a:solidFill>
                <a:latin typeface="DejaVu Sans"/>
                <a:ea typeface="DejaVu Sans"/>
                <a:cs typeface="DejaVu Sans"/>
              </a:rPr>
              <a:t>У эталонов оценка равна минус расстоянию: ближе значит лучше.</a:t>
            </a:r>
          </a:p>
        </p:txBody>
      </p:sp>
      <p:sp>
        <p:nvSpPr>
          <p:cNvPr id="7" name="text-26">
            <a:extLst xmlns:a="http://schemas.openxmlformats.org/drawingml/2006/main">
              <a:ext uri="{FF2B5EF4-FFF2-40B4-BE49-F238E27FC236}">
                <a16:creationId xmlns:a16="http://schemas.microsoft.com/office/drawing/2014/main" id="{3EFF2BB0-0B0F-4C3C-B6BA-A55B10A34312}"/>
              </a:ext>
            </a:extLst>
          </p:cNvPr>
          <p:cNvSpPr>
            <a:spLocks xmlns:a="http://schemas.openxmlformats.org/drawingml/2006/main" noGrp="1"/>
          </p:cNvSpPr>
          <p:nvPr/>
        </p:nvSpPr>
        <p:spPr>
          <a:xfrm xmlns:a="http://schemas.openxmlformats.org/drawingml/2006/main">
            <a:off x="571500" y="3152775"/>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400" b="1">
                <a:solidFill>
                  <a:srgbClr val="101C32"/>
                </a:solidFill>
                <a:latin typeface="DejaVu Sans"/>
                <a:ea typeface="DejaVu Sans"/>
                <a:cs typeface="DejaVu Sans"/>
              </a:defRPr>
            </a:defPPr>
          </a:lstStyle>
          <a:p xmlns:a="http://schemas.openxmlformats.org/drawingml/2006/main">
            <a:pPr>
              <a:defRPr sz="2400" b="1">
                <a:solidFill>
                  <a:srgbClr val="101C32"/>
                </a:solidFill>
                <a:latin typeface="DejaVu Sans"/>
                <a:ea typeface="DejaVu Sans"/>
                <a:cs typeface="DejaVu Sans"/>
              </a:defRPr>
            </a:pPr>
            <a:r>
              <a:rPr sz="2400" b="1">
                <a:solidFill>
                  <a:srgbClr val="101C32"/>
                </a:solidFill>
                <a:latin typeface="DejaVu Sans"/>
                <a:ea typeface="DejaVu Sans"/>
                <a:cs typeface="DejaVu Sans"/>
              </a:rPr>
              <a:t>отступ = расстояние до чужого − до своего</a:t>
            </a:r>
          </a:p>
        </p:txBody>
      </p:sp>
      <p:graphicFrame>
        <p:nvGraphicFramePr>
          <p:cNvPr id="8" name="">
            <a:extLst xmlns:a="http://schemas.openxmlformats.org/drawingml/2006/main">
              <a:ext uri="{FF2B5EF4-FFF2-40B4-BE49-F238E27FC236}">
                <a16:creationId xmlns:a16="http://schemas.microsoft.com/office/drawing/2014/main" id="{C2655486-521F-4CBC-BFC6-2958BF8FF5DC}"/>
              </a:ext>
            </a:extLst>
          </p:cNvPr>
          <p:cNvGraphicFramePr/>
          <p:nvPr/>
        </p:nvGraphicFramePr>
        <p:xfrm>
          <a:off xmlns:a="http://schemas.openxmlformats.org/drawingml/2006/main" x="571500" y="4219575"/>
          <a:ext xmlns:a="http://schemas.openxmlformats.org/drawingml/2006/main" cx="11049000" cy="1104900"/>
        </p:xfrm>
        <a:graphic xmlns:a="http://schemas.openxmlformats.org/drawingml/2006/main">
          <a:graphicData uri="http://schemas.openxmlformats.org/drawingml/2006/table">
            <a:tbl>
              <a:tblPr/>
              <a:tblGrid>
                <a:gridCol w="3683000"/>
                <a:gridCol w="3683000"/>
                <a:gridCol w="3683000"/>
              </a:tblGrid>
              <a:tr h="552450">
                <a:tc>
                  <a:txBody>
                    <a:bodyPr lIns="114300" tIns="95250" rIns="95250" bIns="76200"/>
                    <a:lstStyle/>
                    <a:p>
                      <a:r>
                        <a:rPr sz="1875" b="1">
                          <a:solidFill>
                            <a:srgbClr val="FFFFFF"/>
                          </a:solidFill>
                          <a:latin typeface="DejaVu Sans"/>
                          <a:ea typeface="DejaVu Sans"/>
                          <a:cs typeface="DejaVu Sans"/>
                        </a:rPr>
                        <a:t>Положительный</a:t>
                      </a:r>
                    </a:p>
                  </a:txBody>
                  <a:tcPr marL="91440" marR="91440" marT="45720" marB="45720" anchor="ctr">
                    <a:solidFill>
                      <a:srgbClr val="101C32"/>
                    </a:solidFill>
                  </a:tcPr>
                </a:tc>
                <a:tc>
                  <a:txBody>
                    <a:bodyPr lIns="114300" tIns="95250" rIns="95250" bIns="76200"/>
                    <a:lstStyle/>
                    <a:p>
                      <a:r>
                        <a:rPr sz="1875" b="1">
                          <a:solidFill>
                            <a:srgbClr val="FFFFFF"/>
                          </a:solidFill>
                          <a:latin typeface="DejaVu Sans"/>
                          <a:ea typeface="DejaVu Sans"/>
                          <a:cs typeface="DejaVu Sans"/>
                        </a:rPr>
                        <a:t>Нулевой</a:t>
                      </a:r>
                    </a:p>
                  </a:txBody>
                  <a:tcPr marL="91440" marR="91440" marT="45720" marB="45720" anchor="ctr">
                    <a:solidFill>
                      <a:srgbClr val="101C32"/>
                    </a:solidFill>
                  </a:tcPr>
                </a:tc>
                <a:tc>
                  <a:txBody>
                    <a:bodyPr lIns="114300" tIns="95250" rIns="95250" bIns="76200"/>
                    <a:lstStyle/>
                    <a:p>
                      <a:r>
                        <a:rPr sz="1875" b="1">
                          <a:solidFill>
                            <a:srgbClr val="FFFFFF"/>
                          </a:solidFill>
                          <a:latin typeface="DejaVu Sans"/>
                          <a:ea typeface="DejaVu Sans"/>
                          <a:cs typeface="DejaVu Sans"/>
                        </a:rPr>
                        <a:t>Отрицательный</a:t>
                      </a:r>
                    </a:p>
                  </a:txBody>
                  <a:tcPr marL="91440" marR="91440" marT="45720" marB="45720" anchor="ctr">
                    <a:solidFill>
                      <a:srgbClr val="101C32"/>
                    </a:solidFill>
                  </a:tcPr>
                </a:tc>
              </a:tr>
              <a:tr h="552450">
                <a:tc>
                  <a:txBody>
                    <a:bodyPr lIns="114300" tIns="95250" rIns="95250" bIns="76200"/>
                    <a:lstStyle/>
                    <a:p>
                      <a:r>
                        <a:rPr sz="1875" b="0">
                          <a:solidFill>
                            <a:srgbClr val="101C32"/>
                          </a:solidFill>
                          <a:latin typeface="DejaVu Sans"/>
                          <a:ea typeface="DejaVu Sans"/>
                          <a:cs typeface="DejaVu Sans"/>
                        </a:rPr>
                        <a:t>Свой эталон ближе</a:t>
                      </a:r>
                    </a:p>
                  </a:txBody>
                  <a:tcPr marL="91440" marR="91440" marT="45720" marB="45720" anchor="ctr">
                    <a:solidFill>
                      <a:srgbClr val="FFFFFF"/>
                    </a:solidFill>
                  </a:tcPr>
                </a:tc>
                <a:tc>
                  <a:txBody>
                    <a:bodyPr lIns="114300" tIns="95250" rIns="95250" bIns="76200"/>
                    <a:lstStyle/>
                    <a:p>
                      <a:r>
                        <a:rPr sz="1875" b="0">
                          <a:solidFill>
                            <a:srgbClr val="101C32"/>
                          </a:solidFill>
                          <a:latin typeface="DejaVu Sans"/>
                          <a:ea typeface="DejaVu Sans"/>
                          <a:cs typeface="DejaVu Sans"/>
                        </a:rPr>
                        <a:t>Расстояния равны</a:t>
                      </a:r>
                    </a:p>
                  </a:txBody>
                  <a:tcPr marL="91440" marR="91440" marT="45720" marB="45720" anchor="ctr">
                    <a:solidFill>
                      <a:srgbClr val="FFFFFF"/>
                    </a:solidFill>
                  </a:tcPr>
                </a:tc>
                <a:tc>
                  <a:txBody>
                    <a:bodyPr lIns="114300" tIns="95250" rIns="95250" bIns="76200"/>
                    <a:lstStyle/>
                    <a:p>
                      <a:r>
                        <a:rPr sz="1875" b="0">
                          <a:solidFill>
                            <a:srgbClr val="101C32"/>
                          </a:solidFill>
                          <a:latin typeface="DejaVu Sans"/>
                          <a:ea typeface="DejaVu Sans"/>
                          <a:cs typeface="DejaVu Sans"/>
                        </a:rPr>
                        <a:t>Чужой эталон ближе</a:t>
                      </a:r>
                    </a:p>
                  </a:txBody>
                  <a:tcPr marL="91440" marR="91440" marT="45720" marB="45720" anchor="ctr">
                    <a:solidFill>
                      <a:srgbClr val="FFFFFF"/>
                    </a:solidFill>
                  </a:tcPr>
                </a:tc>
              </a:tr>
            </a:tbl>
          </a:graphicData>
        </a:graphic>
      </p:graphicFrame>
      <p:sp>
        <p:nvSpPr>
          <p:cNvPr id="9" name="">
            <a:extLst xmlns:a="http://schemas.openxmlformats.org/drawingml/2006/main">
              <a:ext uri="{FF2B5EF4-FFF2-40B4-BE49-F238E27FC236}">
                <a16:creationId xmlns:a16="http://schemas.microsoft.com/office/drawing/2014/main" id="{D0FA8C23-ACC4-41E0-BEEF-A24EA9B3ACAF}"/>
              </a:ext>
            </a:extLst>
          </p:cNvPr>
          <p:cNvSpPr>
            <a:spLocks xmlns:a="http://schemas.openxmlformats.org/drawingml/2006/main" noGrp="1"/>
          </p:cNvSpPr>
          <p:nvPr/>
        </p:nvSpPr>
        <p:spPr>
          <a:xfrm xmlns:a="http://schemas.openxmlformats.org/drawingml/2006/main">
            <a:off x="571500" y="5667375"/>
            <a:ext cx="762000" cy="38100"/>
          </a:xfrm>
          <a:prstGeom xmlns:a="http://schemas.openxmlformats.org/drawingml/2006/main" prst="rect">
            <a:avLst/>
          </a:prstGeom>
          <a:solidFill xmlns:a="http://schemas.openxmlformats.org/drawingml/2006/main">
            <a:srgbClr val="008C95"/>
          </a:solidFill>
          <a:ln xmlns:a="http://schemas.openxmlformats.org/drawingml/2006/main" w="0">
            <a:noFill/>
          </a:ln>
        </p:spPr>
      </p:sp>
      <p:sp>
        <p:nvSpPr>
          <p:cNvPr id="10" name="text-27">
            <a:extLst xmlns:a="http://schemas.openxmlformats.org/drawingml/2006/main">
              <a:ext uri="{FF2B5EF4-FFF2-40B4-BE49-F238E27FC236}">
                <a16:creationId xmlns:a16="http://schemas.microsoft.com/office/drawing/2014/main" id="{A308F694-0454-4799-B443-88316B5BD30E}"/>
              </a:ext>
            </a:extLst>
          </p:cNvPr>
          <p:cNvSpPr>
            <a:spLocks xmlns:a="http://schemas.openxmlformats.org/drawingml/2006/main" noGrp="1"/>
          </p:cNvSpPr>
          <p:nvPr/>
        </p:nvSpPr>
        <p:spPr>
          <a:xfrm xmlns:a="http://schemas.openxmlformats.org/drawingml/2006/main">
            <a:off x="571500" y="5829300"/>
            <a:ext cx="1100137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008C95"/>
                </a:solidFill>
                <a:latin typeface="DejaVu Sans"/>
                <a:ea typeface="DejaVu Sans"/>
                <a:cs typeface="DejaVu Sans"/>
              </a:defRPr>
            </a:defPPr>
          </a:lstStyle>
          <a:p xmlns:a="http://schemas.openxmlformats.org/drawingml/2006/main">
            <a:pPr>
              <a:defRPr sz="1875" b="1">
                <a:solidFill>
                  <a:srgbClr val="008C95"/>
                </a:solidFill>
                <a:latin typeface="DejaVu Sans"/>
                <a:ea typeface="DejaVu Sans"/>
                <a:cs typeface="DejaVu Sans"/>
              </a:defRPr>
            </a:pPr>
            <a:r>
              <a:rPr sz="1875" b="1">
                <a:solidFill>
                  <a:srgbClr val="008C95"/>
                </a:solidFill>
                <a:latin typeface="DejaVu Sans"/>
                <a:ea typeface="DejaVu Sans"/>
                <a:cs typeface="DejaVu Sans"/>
              </a:rPr>
              <a:t>Для проверки правильности по знаку нужен известный класс</a:t>
            </a:r>
          </a:p>
        </p:txBody>
      </p:sp>
    </p:spTree>
    <p:extLst>
      <p:ext uri="{BB962C8B-B14F-4D97-AF65-F5344CB8AC3E}">
        <p14:creationId xmlns:p14="http://schemas.microsoft.com/office/powerpoint/2010/main" val="1423876443"/>
      </p:ext>
    </p:extLst>
  </p:cSld>
</p:sld>
</file>

<file path=ppt/slides/slide5.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37" name="text-28">
            <a:extLst xmlns:a="http://schemas.openxmlformats.org/drawingml/2006/main">
              <a:ext uri="{FF2B5EF4-FFF2-40B4-BE49-F238E27FC236}">
                <a16:creationId xmlns:a16="http://schemas.microsoft.com/office/drawing/2014/main" id="{AE5F470F-D1B4-4CF4-AF3E-5861ADB7D619}"/>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SVM с мягким зазором</a:t>
            </a:r>
          </a:p>
        </p:txBody>
      </p:sp>
      <p:sp>
        <p:nvSpPr>
          <p:cNvPr id="2" name="text-29">
            <a:extLst xmlns:a="http://schemas.openxmlformats.org/drawingml/2006/main">
              <a:ext uri="{FF2B5EF4-FFF2-40B4-BE49-F238E27FC236}">
                <a16:creationId xmlns:a16="http://schemas.microsoft.com/office/drawing/2014/main" id="{2F75F308-181E-42A4-AAEC-9144BA4A9FA1}"/>
              </a:ext>
            </a:extLst>
          </p:cNvPr>
          <p:cNvSpPr>
            <a:spLocks xmlns:a="http://schemas.openxmlformats.org/drawingml/2006/main" noGrp="1"/>
          </p:cNvSpPr>
          <p:nvPr/>
        </p:nvSpPr>
        <p:spPr>
          <a:xfrm xmlns:a="http://schemas.openxmlformats.org/drawingml/2006/main">
            <a:off x="571500" y="13620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377"/>
                </a:solidFill>
                <a:latin typeface="DejaVu Sans"/>
                <a:ea typeface="DejaVu Sans"/>
                <a:cs typeface="DejaVu Sans"/>
              </a:defRPr>
            </a:defPPr>
          </a:lstStyle>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SVM означает метод опорных векторов. Линейная модель строит границу в виде прямой.</a:t>
            </a:r>
          </a:p>
        </p:txBody>
      </p:sp>
      <p:sp>
        <p:nvSpPr>
          <p:cNvPr id="3" name="">
            <a:extLst xmlns:a="http://schemas.openxmlformats.org/drawingml/2006/main">
              <a:ext uri="{FF2B5EF4-FFF2-40B4-BE49-F238E27FC236}">
                <a16:creationId xmlns:a16="http://schemas.microsoft.com/office/drawing/2014/main" id="{FF85A883-2D75-4D28-A876-CDF0F81CF092}"/>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4" name="text-30">
            <a:extLst xmlns:a="http://schemas.openxmlformats.org/drawingml/2006/main">
              <a:ext uri="{FF2B5EF4-FFF2-40B4-BE49-F238E27FC236}">
                <a16:creationId xmlns:a16="http://schemas.microsoft.com/office/drawing/2014/main" id="{7DB25BF8-6159-4D92-BEF7-9C5607E83820}"/>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   [1, 2, 5]</a:t>
            </a:r>
          </a:p>
        </p:txBody>
      </p:sp>
      <p:sp>
        <p:nvSpPr>
          <p:cNvPr id="5" name="text-31">
            <a:extLst xmlns:a="http://schemas.openxmlformats.org/drawingml/2006/main">
              <a:ext uri="{FF2B5EF4-FFF2-40B4-BE49-F238E27FC236}">
                <a16:creationId xmlns:a16="http://schemas.microsoft.com/office/drawing/2014/main" id="{AE40A04E-7215-44C5-B8B5-AD88EC405A11}"/>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05</a:t>
            </a:r>
          </a:p>
        </p:txBody>
      </p:sp>
      <p:sp>
        <p:nvSpPr>
          <p:cNvPr id="6" name="">
            <a:extLst xmlns:a="http://schemas.openxmlformats.org/drawingml/2006/main">
              <a:ext uri="{FF2B5EF4-FFF2-40B4-BE49-F238E27FC236}">
                <a16:creationId xmlns:a16="http://schemas.microsoft.com/office/drawing/2014/main" id="{5F1E27C1-8C95-4E45-AF25-3BEA5F3F3C8F}"/>
              </a:ext>
            </a:extLst>
          </p:cNvPr>
          <p:cNvSpPr>
            <a:spLocks xmlns:a="http://schemas.openxmlformats.org/drawingml/2006/main" noGrp="1"/>
          </p:cNvSpPr>
          <p:nvPr/>
        </p:nvSpPr>
        <p:spPr>
          <a:xfrm xmlns:a="http://schemas.openxmlformats.org/drawingml/2006/main">
            <a:off x="857250" y="5238750"/>
            <a:ext cx="5715000" cy="9525"/>
          </a:xfrm>
          <a:custGeom xmlns:a="http://schemas.openxmlformats.org/drawingml/2006/main">
            <a:pathLst>
              <a:path w="5715000" h="9525">
                <a:moveTo>
                  <a:pt x="0" y="0"/>
                </a:moveTo>
                <a:lnTo>
                  <a:pt x="5715000" y="0"/>
                </a:lnTo>
              </a:path>
            </a:pathLst>
          </a:custGeom>
          <a:noFill xmlns:a="http://schemas.openxmlformats.org/drawingml/2006/main"/>
          <a:ln xmlns:a="http://schemas.openxmlformats.org/drawingml/2006/main" w="19050">
            <a:solidFill>
              <a:srgbClr val="536377"/>
            </a:solidFill>
            <a:prstDash val="solid"/>
          </a:ln>
        </p:spPr>
      </p:sp>
      <p:sp>
        <p:nvSpPr>
          <p:cNvPr id="7" name="">
            <a:extLst xmlns:a="http://schemas.openxmlformats.org/drawingml/2006/main">
              <a:ext uri="{FF2B5EF4-FFF2-40B4-BE49-F238E27FC236}">
                <a16:creationId xmlns:a16="http://schemas.microsoft.com/office/drawing/2014/main" id="{17665B9C-204F-485D-8AAC-C4905C4613F1}"/>
              </a:ext>
            </a:extLst>
          </p:cNvPr>
          <p:cNvSpPr>
            <a:spLocks xmlns:a="http://schemas.openxmlformats.org/drawingml/2006/main" noGrp="1"/>
          </p:cNvSpPr>
          <p:nvPr/>
        </p:nvSpPr>
        <p:spPr>
          <a:xfrm xmlns:a="http://schemas.openxmlformats.org/drawingml/2006/main">
            <a:off x="857250" y="2190750"/>
            <a:ext cx="9525" cy="3048000"/>
          </a:xfrm>
          <a:custGeom xmlns:a="http://schemas.openxmlformats.org/drawingml/2006/main">
            <a:pathLst>
              <a:path w="9525" h="3048000">
                <a:moveTo>
                  <a:pt x="0" y="3048000"/>
                </a:moveTo>
                <a:lnTo>
                  <a:pt x="0" y="0"/>
                </a:lnTo>
              </a:path>
            </a:pathLst>
          </a:custGeom>
          <a:noFill xmlns:a="http://schemas.openxmlformats.org/drawingml/2006/main"/>
          <a:ln xmlns:a="http://schemas.openxmlformats.org/drawingml/2006/main" w="19050">
            <a:solidFill>
              <a:srgbClr val="536377"/>
            </a:solidFill>
            <a:prstDash val="solid"/>
          </a:ln>
        </p:spPr>
      </p:sp>
      <p:sp>
        <p:nvSpPr>
          <p:cNvPr id="8" name="text-32">
            <a:extLst xmlns:a="http://schemas.openxmlformats.org/drawingml/2006/main">
              <a:ext uri="{FF2B5EF4-FFF2-40B4-BE49-F238E27FC236}">
                <a16:creationId xmlns:a16="http://schemas.microsoft.com/office/drawing/2014/main" id="{829323AF-8E35-442A-9C1D-161A9239FA6D}"/>
              </a:ext>
            </a:extLst>
          </p:cNvPr>
          <p:cNvSpPr>
            <a:spLocks xmlns:a="http://schemas.openxmlformats.org/drawingml/2006/main" noGrp="1"/>
          </p:cNvSpPr>
          <p:nvPr/>
        </p:nvSpPr>
        <p:spPr>
          <a:xfrm xmlns:a="http://schemas.openxmlformats.org/drawingml/2006/main">
            <a:off x="3048000" y="5429250"/>
            <a:ext cx="285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377"/>
                </a:solidFill>
                <a:latin typeface="DejaVu Sans"/>
                <a:ea typeface="DejaVu Sans"/>
                <a:cs typeface="DejaVu Sans"/>
              </a:defRPr>
            </a:defPPr>
          </a:lstStyle>
          <a:p xmlns:a="http://schemas.openxmlformats.org/drawingml/2006/main">
            <a:pPr>
              <a:defRPr sz="1575" b="0">
                <a:solidFill>
                  <a:srgbClr val="536377"/>
                </a:solidFill>
                <a:latin typeface="DejaVu Sans"/>
                <a:ea typeface="DejaVu Sans"/>
                <a:cs typeface="DejaVu Sans"/>
              </a:defRPr>
            </a:pPr>
            <a:r>
              <a:rPr sz="1575" b="0">
                <a:solidFill>
                  <a:srgbClr val="536377"/>
                </a:solidFill>
                <a:latin typeface="DejaVu Sans"/>
                <a:ea typeface="DejaVu Sans"/>
                <a:cs typeface="DejaVu Sans"/>
              </a:rPr>
              <a:t>Признак 1</a:t>
            </a:r>
          </a:p>
        </p:txBody>
      </p:sp>
      <p:sp>
        <p:nvSpPr>
          <p:cNvPr id="9" name="text-33">
            <a:extLst xmlns:a="http://schemas.openxmlformats.org/drawingml/2006/main">
              <a:ext uri="{FF2B5EF4-FFF2-40B4-BE49-F238E27FC236}">
                <a16:creationId xmlns:a16="http://schemas.microsoft.com/office/drawing/2014/main" id="{AAC24BD9-E70B-433A-988A-DE04F547D8CA}"/>
              </a:ext>
            </a:extLst>
          </p:cNvPr>
          <p:cNvSpPr>
            <a:spLocks xmlns:a="http://schemas.openxmlformats.org/drawingml/2006/main" noGrp="1"/>
          </p:cNvSpPr>
          <p:nvPr/>
        </p:nvSpPr>
        <p:spPr>
          <a:xfrm xmlns:a="http://schemas.openxmlformats.org/drawingml/2006/main">
            <a:off x="857250" y="1838325"/>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377"/>
                </a:solidFill>
                <a:latin typeface="DejaVu Sans"/>
                <a:ea typeface="DejaVu Sans"/>
                <a:cs typeface="DejaVu Sans"/>
              </a:defRPr>
            </a:defPPr>
          </a:lstStyle>
          <a:p xmlns:a="http://schemas.openxmlformats.org/drawingml/2006/main">
            <a:pPr>
              <a:defRPr sz="1575" b="0">
                <a:solidFill>
                  <a:srgbClr val="536377"/>
                </a:solidFill>
                <a:latin typeface="DejaVu Sans"/>
                <a:ea typeface="DejaVu Sans"/>
                <a:cs typeface="DejaVu Sans"/>
              </a:defRPr>
            </a:pPr>
            <a:r>
              <a:rPr sz="1575" b="0">
                <a:solidFill>
                  <a:srgbClr val="536377"/>
                </a:solidFill>
                <a:latin typeface="DejaVu Sans"/>
                <a:ea typeface="DejaVu Sans"/>
                <a:cs typeface="DejaVu Sans"/>
              </a:rPr>
              <a:t>Признак 2</a:t>
            </a:r>
          </a:p>
        </p:txBody>
      </p:sp>
      <p:sp>
        <p:nvSpPr>
          <p:cNvPr id="10" name="">
            <a:extLst xmlns:a="http://schemas.openxmlformats.org/drawingml/2006/main">
              <a:ext uri="{FF2B5EF4-FFF2-40B4-BE49-F238E27FC236}">
                <a16:creationId xmlns:a16="http://schemas.microsoft.com/office/drawing/2014/main" id="{40BD98F4-44A9-49D9-BC2A-05722E4821A7}"/>
              </a:ext>
            </a:extLst>
          </p:cNvPr>
          <p:cNvSpPr>
            <a:spLocks xmlns:a="http://schemas.openxmlformats.org/drawingml/2006/main" noGrp="1"/>
          </p:cNvSpPr>
          <p:nvPr/>
        </p:nvSpPr>
        <p:spPr>
          <a:xfrm xmlns:a="http://schemas.openxmlformats.org/drawingml/2006/main">
            <a:off x="2238375" y="2190750"/>
            <a:ext cx="3524250" cy="3048000"/>
          </a:xfrm>
          <a:custGeom xmlns:a="http://schemas.openxmlformats.org/drawingml/2006/main">
            <a:pathLst>
              <a:path w="3524250" h="3048000">
                <a:moveTo>
                  <a:pt x="0" y="3048000"/>
                </a:moveTo>
                <a:lnTo>
                  <a:pt x="1333500" y="3048000"/>
                </a:lnTo>
                <a:lnTo>
                  <a:pt x="3524250" y="0"/>
                </a:lnTo>
                <a:lnTo>
                  <a:pt x="2190750" y="0"/>
                </a:lnTo>
                <a:close/>
              </a:path>
            </a:pathLst>
          </a:custGeom>
          <a:solidFill xmlns:a="http://schemas.openxmlformats.org/drawingml/2006/main">
            <a:srgbClr val="E1E7ED"/>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B0B17B2-6533-4FEA-9B5A-3064A47CA990}"/>
              </a:ext>
            </a:extLst>
          </p:cNvPr>
          <p:cNvSpPr>
            <a:spLocks xmlns:a="http://schemas.openxmlformats.org/drawingml/2006/main" noGrp="1"/>
          </p:cNvSpPr>
          <p:nvPr/>
        </p:nvSpPr>
        <p:spPr>
          <a:xfrm xmlns:a="http://schemas.openxmlformats.org/drawingml/2006/main">
            <a:off x="2238375" y="2190750"/>
            <a:ext cx="2190750" cy="3048000"/>
          </a:xfrm>
          <a:custGeom xmlns:a="http://schemas.openxmlformats.org/drawingml/2006/main">
            <a:pathLst>
              <a:path w="2190750" h="3048000">
                <a:moveTo>
                  <a:pt x="0" y="3048000"/>
                </a:moveTo>
                <a:lnTo>
                  <a:pt x="2190750" y="0"/>
                </a:lnTo>
              </a:path>
            </a:pathLst>
          </a:custGeom>
          <a:noFill xmlns:a="http://schemas.openxmlformats.org/drawingml/2006/main"/>
          <a:ln xmlns:a="http://schemas.openxmlformats.org/drawingml/2006/main" w="17145">
            <a:solidFill>
              <a:srgbClr val="536377"/>
            </a:solidFill>
            <a:prstDash val="dash"/>
          </a:ln>
        </p:spPr>
      </p:sp>
      <p:sp>
        <p:nvSpPr>
          <p:cNvPr id="12" name="">
            <a:extLst xmlns:a="http://schemas.openxmlformats.org/drawingml/2006/main">
              <a:ext uri="{FF2B5EF4-FFF2-40B4-BE49-F238E27FC236}">
                <a16:creationId xmlns:a16="http://schemas.microsoft.com/office/drawing/2014/main" id="{5F38B893-4621-4038-B2C5-1F51694E1DFA}"/>
              </a:ext>
            </a:extLst>
          </p:cNvPr>
          <p:cNvSpPr>
            <a:spLocks xmlns:a="http://schemas.openxmlformats.org/drawingml/2006/main" noGrp="1"/>
          </p:cNvSpPr>
          <p:nvPr/>
        </p:nvSpPr>
        <p:spPr>
          <a:xfrm xmlns:a="http://schemas.openxmlformats.org/drawingml/2006/main">
            <a:off x="3571875" y="2190750"/>
            <a:ext cx="2190750" cy="3048000"/>
          </a:xfrm>
          <a:custGeom xmlns:a="http://schemas.openxmlformats.org/drawingml/2006/main">
            <a:pathLst>
              <a:path w="2190750" h="3048000">
                <a:moveTo>
                  <a:pt x="0" y="3048000"/>
                </a:moveTo>
                <a:lnTo>
                  <a:pt x="2190750" y="0"/>
                </a:lnTo>
              </a:path>
            </a:pathLst>
          </a:custGeom>
          <a:noFill xmlns:a="http://schemas.openxmlformats.org/drawingml/2006/main"/>
          <a:ln xmlns:a="http://schemas.openxmlformats.org/drawingml/2006/main" w="17145">
            <a:solidFill>
              <a:srgbClr val="536377"/>
            </a:solidFill>
            <a:prstDash val="dash"/>
          </a:ln>
        </p:spPr>
      </p:sp>
      <p:sp>
        <p:nvSpPr>
          <p:cNvPr id="13" name="">
            <a:extLst xmlns:a="http://schemas.openxmlformats.org/drawingml/2006/main">
              <a:ext uri="{FF2B5EF4-FFF2-40B4-BE49-F238E27FC236}">
                <a16:creationId xmlns:a16="http://schemas.microsoft.com/office/drawing/2014/main" id="{BDBE01EC-2C5A-4625-A569-7099A7E2FEF5}"/>
              </a:ext>
            </a:extLst>
          </p:cNvPr>
          <p:cNvSpPr>
            <a:spLocks xmlns:a="http://schemas.openxmlformats.org/drawingml/2006/main" noGrp="1"/>
          </p:cNvSpPr>
          <p:nvPr/>
        </p:nvSpPr>
        <p:spPr>
          <a:xfrm xmlns:a="http://schemas.openxmlformats.org/drawingml/2006/main">
            <a:off x="2905125" y="2190750"/>
            <a:ext cx="2190750" cy="3048000"/>
          </a:xfrm>
          <a:custGeom xmlns:a="http://schemas.openxmlformats.org/drawingml/2006/main">
            <a:pathLst>
              <a:path w="2190750" h="3048000">
                <a:moveTo>
                  <a:pt x="0" y="3048000"/>
                </a:moveTo>
                <a:lnTo>
                  <a:pt x="2190750" y="0"/>
                </a:lnTo>
              </a:path>
            </a:pathLst>
          </a:custGeom>
          <a:noFill xmlns:a="http://schemas.openxmlformats.org/drawingml/2006/main"/>
          <a:ln xmlns:a="http://schemas.openxmlformats.org/drawingml/2006/main" w="28575">
            <a:solidFill>
              <a:srgbClr val="101C32"/>
            </a:solidFill>
            <a:prstDash val="solid"/>
          </a:ln>
        </p:spPr>
      </p:sp>
      <p:sp>
        <p:nvSpPr>
          <p:cNvPr id="14" name="">
            <a:extLst xmlns:a="http://schemas.openxmlformats.org/drawingml/2006/main">
              <a:ext uri="{FF2B5EF4-FFF2-40B4-BE49-F238E27FC236}">
                <a16:creationId xmlns:a16="http://schemas.microsoft.com/office/drawing/2014/main" id="{A78A7054-8AFD-4137-854E-4639D28BFDF9}"/>
              </a:ext>
            </a:extLst>
          </p:cNvPr>
          <p:cNvSpPr>
            <a:spLocks xmlns:a="http://schemas.openxmlformats.org/drawingml/2006/main" noGrp="1"/>
          </p:cNvSpPr>
          <p:nvPr/>
        </p:nvSpPr>
        <p:spPr>
          <a:xfrm xmlns:a="http://schemas.openxmlformats.org/drawingml/2006/main">
            <a:off x="1390650" y="4295775"/>
            <a:ext cx="171450" cy="171450"/>
          </a:xfrm>
          <a:prstGeom xmlns:a="http://schemas.openxmlformats.org/drawingml/2006/main" prst="ellipse">
            <a:avLst/>
          </a:prstGeom>
          <a:solidFill xmlns:a="http://schemas.openxmlformats.org/drawingml/2006/main">
            <a:srgbClr val="008C95"/>
          </a:solidFill>
          <a:ln xmlns:a="http://schemas.openxmlformats.org/drawingml/2006/main" w="9525">
            <a:solidFill>
              <a:srgbClr val="FFFFFF"/>
            </a:solidFill>
          </a:ln>
        </p:spPr>
      </p:sp>
      <p:sp>
        <p:nvSpPr>
          <p:cNvPr id="15" name="">
            <a:extLst xmlns:a="http://schemas.openxmlformats.org/drawingml/2006/main">
              <a:ext uri="{FF2B5EF4-FFF2-40B4-BE49-F238E27FC236}">
                <a16:creationId xmlns:a16="http://schemas.microsoft.com/office/drawing/2014/main" id="{538C2E74-DFBB-4BF5-ADEE-7235436B0329}"/>
              </a:ext>
            </a:extLst>
          </p:cNvPr>
          <p:cNvSpPr>
            <a:spLocks xmlns:a="http://schemas.openxmlformats.org/drawingml/2006/main" noGrp="1"/>
          </p:cNvSpPr>
          <p:nvPr/>
        </p:nvSpPr>
        <p:spPr>
          <a:xfrm xmlns:a="http://schemas.openxmlformats.org/drawingml/2006/main">
            <a:off x="1724025" y="3152775"/>
            <a:ext cx="171450" cy="171450"/>
          </a:xfrm>
          <a:prstGeom xmlns:a="http://schemas.openxmlformats.org/drawingml/2006/main" prst="ellipse">
            <a:avLst/>
          </a:prstGeom>
          <a:solidFill xmlns:a="http://schemas.openxmlformats.org/drawingml/2006/main">
            <a:srgbClr val="008C95"/>
          </a:solidFill>
          <a:ln xmlns:a="http://schemas.openxmlformats.org/drawingml/2006/main" w="9525">
            <a:solidFill>
              <a:srgbClr val="FFFFFF"/>
            </a:solidFill>
          </a:ln>
        </p:spPr>
      </p:sp>
      <p:sp>
        <p:nvSpPr>
          <p:cNvPr id="16" name="">
            <a:extLst xmlns:a="http://schemas.openxmlformats.org/drawingml/2006/main">
              <a:ext uri="{FF2B5EF4-FFF2-40B4-BE49-F238E27FC236}">
                <a16:creationId xmlns:a16="http://schemas.microsoft.com/office/drawing/2014/main" id="{0CDF064A-72A0-497B-BE92-11779AC30FE6}"/>
              </a:ext>
            </a:extLst>
          </p:cNvPr>
          <p:cNvSpPr>
            <a:spLocks xmlns:a="http://schemas.openxmlformats.org/drawingml/2006/main" noGrp="1"/>
          </p:cNvSpPr>
          <p:nvPr/>
        </p:nvSpPr>
        <p:spPr>
          <a:xfrm xmlns:a="http://schemas.openxmlformats.org/drawingml/2006/main">
            <a:off x="2009775" y="3724275"/>
            <a:ext cx="171450" cy="171450"/>
          </a:xfrm>
          <a:prstGeom xmlns:a="http://schemas.openxmlformats.org/drawingml/2006/main" prst="ellipse">
            <a:avLst/>
          </a:prstGeom>
          <a:solidFill xmlns:a="http://schemas.openxmlformats.org/drawingml/2006/main">
            <a:srgbClr val="008C95"/>
          </a:solidFill>
          <a:ln xmlns:a="http://schemas.openxmlformats.org/drawingml/2006/main" w="9525">
            <a:solidFill>
              <a:srgbClr val="FFFFFF"/>
            </a:solidFill>
          </a:ln>
        </p:spPr>
      </p:sp>
      <p:sp>
        <p:nvSpPr>
          <p:cNvPr id="17" name="">
            <a:extLst xmlns:a="http://schemas.openxmlformats.org/drawingml/2006/main">
              <a:ext uri="{FF2B5EF4-FFF2-40B4-BE49-F238E27FC236}">
                <a16:creationId xmlns:a16="http://schemas.microsoft.com/office/drawing/2014/main" id="{2C0C1A07-4836-47E4-A794-8B93B21C87EF}"/>
              </a:ext>
            </a:extLst>
          </p:cNvPr>
          <p:cNvSpPr>
            <a:spLocks xmlns:a="http://schemas.openxmlformats.org/drawingml/2006/main" noGrp="1"/>
          </p:cNvSpPr>
          <p:nvPr/>
        </p:nvSpPr>
        <p:spPr>
          <a:xfrm xmlns:a="http://schemas.openxmlformats.org/drawingml/2006/main">
            <a:off x="2486025" y="2867025"/>
            <a:ext cx="171450" cy="171450"/>
          </a:xfrm>
          <a:prstGeom xmlns:a="http://schemas.openxmlformats.org/drawingml/2006/main" prst="ellipse">
            <a:avLst/>
          </a:prstGeom>
          <a:solidFill xmlns:a="http://schemas.openxmlformats.org/drawingml/2006/main">
            <a:srgbClr val="008C95"/>
          </a:solidFill>
          <a:ln xmlns:a="http://schemas.openxmlformats.org/drawingml/2006/main" w="9525">
            <a:solidFill>
              <a:srgbClr val="FFFFFF"/>
            </a:solidFill>
          </a:ln>
        </p:spPr>
      </p:sp>
      <p:sp>
        <p:nvSpPr>
          <p:cNvPr id="18" name="">
            <a:extLst xmlns:a="http://schemas.openxmlformats.org/drawingml/2006/main">
              <a:ext uri="{FF2B5EF4-FFF2-40B4-BE49-F238E27FC236}">
                <a16:creationId xmlns:a16="http://schemas.microsoft.com/office/drawing/2014/main" id="{A9D1D4DB-251B-4636-A431-4E3A559B5C57}"/>
              </a:ext>
            </a:extLst>
          </p:cNvPr>
          <p:cNvSpPr>
            <a:spLocks xmlns:a="http://schemas.openxmlformats.org/drawingml/2006/main" noGrp="1"/>
          </p:cNvSpPr>
          <p:nvPr/>
        </p:nvSpPr>
        <p:spPr>
          <a:xfrm xmlns:a="http://schemas.openxmlformats.org/drawingml/2006/main">
            <a:off x="2700338" y="4391025"/>
            <a:ext cx="171450" cy="171450"/>
          </a:xfrm>
          <a:prstGeom xmlns:a="http://schemas.openxmlformats.org/drawingml/2006/main" prst="ellipse">
            <a:avLst/>
          </a:prstGeom>
          <a:solidFill xmlns:a="http://schemas.openxmlformats.org/drawingml/2006/main">
            <a:srgbClr val="008C95"/>
          </a:solidFill>
          <a:ln xmlns:a="http://schemas.openxmlformats.org/drawingml/2006/main" w="9525">
            <a:solidFill>
              <a:srgbClr val="FFFFFF"/>
            </a:solidFill>
          </a:ln>
        </p:spPr>
      </p:sp>
      <p:sp>
        <p:nvSpPr>
          <p:cNvPr id="19" name="">
            <a:extLst xmlns:a="http://schemas.openxmlformats.org/drawingml/2006/main">
              <a:ext uri="{FF2B5EF4-FFF2-40B4-BE49-F238E27FC236}">
                <a16:creationId xmlns:a16="http://schemas.microsoft.com/office/drawing/2014/main" id="{5041A2D4-84D9-4D4E-A23F-7A43356A5EA5}"/>
              </a:ext>
            </a:extLst>
          </p:cNvPr>
          <p:cNvSpPr>
            <a:spLocks xmlns:a="http://schemas.openxmlformats.org/drawingml/2006/main" noGrp="1"/>
          </p:cNvSpPr>
          <p:nvPr/>
        </p:nvSpPr>
        <p:spPr>
          <a:xfrm xmlns:a="http://schemas.openxmlformats.org/drawingml/2006/main">
            <a:off x="3105150" y="2486025"/>
            <a:ext cx="171450" cy="171450"/>
          </a:xfrm>
          <a:prstGeom xmlns:a="http://schemas.openxmlformats.org/drawingml/2006/main" prst="ellipse">
            <a:avLst/>
          </a:prstGeom>
          <a:solidFill xmlns:a="http://schemas.openxmlformats.org/drawingml/2006/main">
            <a:srgbClr val="008C95"/>
          </a:solidFill>
          <a:ln xmlns:a="http://schemas.openxmlformats.org/drawingml/2006/main" w="9525">
            <a:solidFill>
              <a:srgbClr val="FFFFFF"/>
            </a:solidFill>
          </a:ln>
        </p:spPr>
      </p:sp>
      <p:sp>
        <p:nvSpPr>
          <p:cNvPr id="20" name="">
            <a:extLst xmlns:a="http://schemas.openxmlformats.org/drawingml/2006/main">
              <a:ext uri="{FF2B5EF4-FFF2-40B4-BE49-F238E27FC236}">
                <a16:creationId xmlns:a16="http://schemas.microsoft.com/office/drawing/2014/main" id="{D7E3EF78-76B2-4C00-8268-2C836C5B759F}"/>
              </a:ext>
            </a:extLst>
          </p:cNvPr>
          <p:cNvSpPr>
            <a:spLocks xmlns:a="http://schemas.openxmlformats.org/drawingml/2006/main" noGrp="1"/>
          </p:cNvSpPr>
          <p:nvPr/>
        </p:nvSpPr>
        <p:spPr>
          <a:xfrm xmlns:a="http://schemas.openxmlformats.org/drawingml/2006/main">
            <a:off x="3965377" y="4486275"/>
            <a:ext cx="171450" cy="171450"/>
          </a:xfrm>
          <a:prstGeom xmlns:a="http://schemas.openxmlformats.org/drawingml/2006/main" prst="ellipse">
            <a:avLst/>
          </a:prstGeom>
          <a:solidFill xmlns:a="http://schemas.openxmlformats.org/drawingml/2006/main">
            <a:srgbClr val="E85555"/>
          </a:solidFill>
          <a:ln xmlns:a="http://schemas.openxmlformats.org/drawingml/2006/main" w="9525">
            <a:solidFill>
              <a:srgbClr val="FFFFFF"/>
            </a:solidFill>
          </a:ln>
        </p:spPr>
      </p:sp>
      <p:sp>
        <p:nvSpPr>
          <p:cNvPr id="21" name="">
            <a:extLst xmlns:a="http://schemas.openxmlformats.org/drawingml/2006/main">
              <a:ext uri="{FF2B5EF4-FFF2-40B4-BE49-F238E27FC236}">
                <a16:creationId xmlns:a16="http://schemas.microsoft.com/office/drawing/2014/main" id="{80629659-8462-48C0-A5E8-39C521DAA6DE}"/>
              </a:ext>
            </a:extLst>
          </p:cNvPr>
          <p:cNvSpPr>
            <a:spLocks xmlns:a="http://schemas.openxmlformats.org/drawingml/2006/main" noGrp="1"/>
          </p:cNvSpPr>
          <p:nvPr/>
        </p:nvSpPr>
        <p:spPr>
          <a:xfrm xmlns:a="http://schemas.openxmlformats.org/drawingml/2006/main">
            <a:off x="4867275" y="3724275"/>
            <a:ext cx="171450" cy="171450"/>
          </a:xfrm>
          <a:prstGeom xmlns:a="http://schemas.openxmlformats.org/drawingml/2006/main" prst="ellipse">
            <a:avLst/>
          </a:prstGeom>
          <a:solidFill xmlns:a="http://schemas.openxmlformats.org/drawingml/2006/main">
            <a:srgbClr val="E85555"/>
          </a:solidFill>
          <a:ln xmlns:a="http://schemas.openxmlformats.org/drawingml/2006/main" w="9525">
            <a:solidFill>
              <a:srgbClr val="FFFFFF"/>
            </a:solidFill>
          </a:ln>
        </p:spPr>
      </p:sp>
      <p:sp>
        <p:nvSpPr>
          <p:cNvPr id="22" name="">
            <a:extLst xmlns:a="http://schemas.openxmlformats.org/drawingml/2006/main">
              <a:ext uri="{FF2B5EF4-FFF2-40B4-BE49-F238E27FC236}">
                <a16:creationId xmlns:a16="http://schemas.microsoft.com/office/drawing/2014/main" id="{2E72F540-3720-4000-8601-6BD167BF7E01}"/>
              </a:ext>
            </a:extLst>
          </p:cNvPr>
          <p:cNvSpPr>
            <a:spLocks xmlns:a="http://schemas.openxmlformats.org/drawingml/2006/main" noGrp="1"/>
          </p:cNvSpPr>
          <p:nvPr/>
        </p:nvSpPr>
        <p:spPr>
          <a:xfrm xmlns:a="http://schemas.openxmlformats.org/drawingml/2006/main">
            <a:off x="5486400" y="3343275"/>
            <a:ext cx="171450" cy="171450"/>
          </a:xfrm>
          <a:prstGeom xmlns:a="http://schemas.openxmlformats.org/drawingml/2006/main" prst="ellipse">
            <a:avLst/>
          </a:prstGeom>
          <a:solidFill xmlns:a="http://schemas.openxmlformats.org/drawingml/2006/main">
            <a:srgbClr val="E85555"/>
          </a:solidFill>
          <a:ln xmlns:a="http://schemas.openxmlformats.org/drawingml/2006/main" w="9525">
            <a:solidFill>
              <a:srgbClr val="FFFFFF"/>
            </a:solidFill>
          </a:ln>
        </p:spPr>
      </p:sp>
      <p:sp>
        <p:nvSpPr>
          <p:cNvPr id="23" name="">
            <a:extLst xmlns:a="http://schemas.openxmlformats.org/drawingml/2006/main">
              <a:ext uri="{FF2B5EF4-FFF2-40B4-BE49-F238E27FC236}">
                <a16:creationId xmlns:a16="http://schemas.microsoft.com/office/drawing/2014/main" id="{21F4E0E8-A93D-4CF9-B034-5682F8AEB8FB}"/>
              </a:ext>
            </a:extLst>
          </p:cNvPr>
          <p:cNvSpPr>
            <a:spLocks xmlns:a="http://schemas.openxmlformats.org/drawingml/2006/main" noGrp="1"/>
          </p:cNvSpPr>
          <p:nvPr/>
        </p:nvSpPr>
        <p:spPr>
          <a:xfrm xmlns:a="http://schemas.openxmlformats.org/drawingml/2006/main">
            <a:off x="5819775" y="2486025"/>
            <a:ext cx="171450" cy="171450"/>
          </a:xfrm>
          <a:prstGeom xmlns:a="http://schemas.openxmlformats.org/drawingml/2006/main" prst="ellipse">
            <a:avLst/>
          </a:prstGeom>
          <a:solidFill xmlns:a="http://schemas.openxmlformats.org/drawingml/2006/main">
            <a:srgbClr val="E85555"/>
          </a:solidFill>
          <a:ln xmlns:a="http://schemas.openxmlformats.org/drawingml/2006/main" w="9525">
            <a:solidFill>
              <a:srgbClr val="FFFFFF"/>
            </a:solidFill>
          </a:ln>
        </p:spPr>
      </p:sp>
      <p:sp>
        <p:nvSpPr>
          <p:cNvPr id="24" name="">
            <a:extLst xmlns:a="http://schemas.openxmlformats.org/drawingml/2006/main">
              <a:ext uri="{FF2B5EF4-FFF2-40B4-BE49-F238E27FC236}">
                <a16:creationId xmlns:a16="http://schemas.microsoft.com/office/drawing/2014/main" id="{CC62C9D4-4B8C-47D5-94D7-4BEC3EED2C2A}"/>
              </a:ext>
            </a:extLst>
          </p:cNvPr>
          <p:cNvSpPr>
            <a:spLocks xmlns:a="http://schemas.openxmlformats.org/drawingml/2006/main" noGrp="1"/>
          </p:cNvSpPr>
          <p:nvPr/>
        </p:nvSpPr>
        <p:spPr>
          <a:xfrm xmlns:a="http://schemas.openxmlformats.org/drawingml/2006/main">
            <a:off x="6105525" y="4105275"/>
            <a:ext cx="171450" cy="171450"/>
          </a:xfrm>
          <a:prstGeom xmlns:a="http://schemas.openxmlformats.org/drawingml/2006/main" prst="ellipse">
            <a:avLst/>
          </a:prstGeom>
          <a:solidFill xmlns:a="http://schemas.openxmlformats.org/drawingml/2006/main">
            <a:srgbClr val="E85555"/>
          </a:solidFill>
          <a:ln xmlns:a="http://schemas.openxmlformats.org/drawingml/2006/main" w="9525">
            <a:solidFill>
              <a:srgbClr val="FFFFFF"/>
            </a:solidFill>
          </a:ln>
        </p:spPr>
      </p:sp>
      <p:sp>
        <p:nvSpPr>
          <p:cNvPr id="25" name="">
            <a:extLst xmlns:a="http://schemas.openxmlformats.org/drawingml/2006/main">
              <a:ext uri="{FF2B5EF4-FFF2-40B4-BE49-F238E27FC236}">
                <a16:creationId xmlns:a16="http://schemas.microsoft.com/office/drawing/2014/main" id="{D55909AC-4F48-432A-BCF0-C8B240F94DD4}"/>
              </a:ext>
            </a:extLst>
          </p:cNvPr>
          <p:cNvSpPr>
            <a:spLocks xmlns:a="http://schemas.openxmlformats.org/drawingml/2006/main" noGrp="1"/>
          </p:cNvSpPr>
          <p:nvPr/>
        </p:nvSpPr>
        <p:spPr>
          <a:xfrm xmlns:a="http://schemas.openxmlformats.org/drawingml/2006/main">
            <a:off x="5153025" y="4914900"/>
            <a:ext cx="171450" cy="171450"/>
          </a:xfrm>
          <a:prstGeom xmlns:a="http://schemas.openxmlformats.org/drawingml/2006/main" prst="ellipse">
            <a:avLst/>
          </a:prstGeom>
          <a:solidFill xmlns:a="http://schemas.openxmlformats.org/drawingml/2006/main">
            <a:srgbClr val="E85555"/>
          </a:solidFill>
          <a:ln xmlns:a="http://schemas.openxmlformats.org/drawingml/2006/main" w="9525">
            <a:solidFill>
              <a:srgbClr val="FFFFFF"/>
            </a:solidFill>
          </a:ln>
        </p:spPr>
      </p:sp>
      <p:sp>
        <p:nvSpPr>
          <p:cNvPr id="26" name="">
            <a:extLst xmlns:a="http://schemas.openxmlformats.org/drawingml/2006/main">
              <a:ext uri="{FF2B5EF4-FFF2-40B4-BE49-F238E27FC236}">
                <a16:creationId xmlns:a16="http://schemas.microsoft.com/office/drawing/2014/main" id="{30540F63-4004-4938-BE30-BEC3A0976DC4}"/>
              </a:ext>
            </a:extLst>
          </p:cNvPr>
          <p:cNvSpPr>
            <a:spLocks xmlns:a="http://schemas.openxmlformats.org/drawingml/2006/main" noGrp="1"/>
          </p:cNvSpPr>
          <p:nvPr/>
        </p:nvSpPr>
        <p:spPr>
          <a:xfrm xmlns:a="http://schemas.openxmlformats.org/drawingml/2006/main">
            <a:off x="2633663" y="4324350"/>
            <a:ext cx="304800" cy="304800"/>
          </a:xfrm>
          <a:prstGeom xmlns:a="http://schemas.openxmlformats.org/drawingml/2006/main" prst="ellipse">
            <a:avLst/>
          </a:prstGeom>
          <a:noFill xmlns:a="http://schemas.openxmlformats.org/drawingml/2006/main"/>
          <a:ln xmlns:a="http://schemas.openxmlformats.org/drawingml/2006/main" w="28575">
            <a:solidFill>
              <a:srgbClr val="101C32"/>
            </a:solidFill>
          </a:ln>
        </p:spPr>
      </p:sp>
      <p:sp>
        <p:nvSpPr>
          <p:cNvPr id="27" name="">
            <a:extLst xmlns:a="http://schemas.openxmlformats.org/drawingml/2006/main">
              <a:ext uri="{FF2B5EF4-FFF2-40B4-BE49-F238E27FC236}">
                <a16:creationId xmlns:a16="http://schemas.microsoft.com/office/drawing/2014/main" id="{FCD0B6ED-DE83-4DDC-A620-B9FD4B056436}"/>
              </a:ext>
            </a:extLst>
          </p:cNvPr>
          <p:cNvSpPr>
            <a:spLocks xmlns:a="http://schemas.openxmlformats.org/drawingml/2006/main" noGrp="1"/>
          </p:cNvSpPr>
          <p:nvPr/>
        </p:nvSpPr>
        <p:spPr>
          <a:xfrm xmlns:a="http://schemas.openxmlformats.org/drawingml/2006/main">
            <a:off x="3898702" y="4419600"/>
            <a:ext cx="304800" cy="304800"/>
          </a:xfrm>
          <a:prstGeom xmlns:a="http://schemas.openxmlformats.org/drawingml/2006/main" prst="ellipse">
            <a:avLst/>
          </a:prstGeom>
          <a:noFill xmlns:a="http://schemas.openxmlformats.org/drawingml/2006/main"/>
          <a:ln xmlns:a="http://schemas.openxmlformats.org/drawingml/2006/main" w="28575">
            <a:solidFill>
              <a:srgbClr val="101C32"/>
            </a:solidFill>
          </a:ln>
        </p:spPr>
      </p:sp>
      <p:sp>
        <p:nvSpPr>
          <p:cNvPr id="28" name="">
            <a:extLst xmlns:a="http://schemas.openxmlformats.org/drawingml/2006/main">
              <a:ext uri="{FF2B5EF4-FFF2-40B4-BE49-F238E27FC236}">
                <a16:creationId xmlns:a16="http://schemas.microsoft.com/office/drawing/2014/main" id="{186A8097-7254-4FF3-8E15-2D6F97D81AE9}"/>
              </a:ext>
            </a:extLst>
          </p:cNvPr>
          <p:cNvSpPr>
            <a:spLocks xmlns:a="http://schemas.openxmlformats.org/drawingml/2006/main" noGrp="1"/>
          </p:cNvSpPr>
          <p:nvPr/>
        </p:nvSpPr>
        <p:spPr>
          <a:xfrm xmlns:a="http://schemas.openxmlformats.org/drawingml/2006/main">
            <a:off x="3390900" y="3819525"/>
            <a:ext cx="171450" cy="171450"/>
          </a:xfrm>
          <a:prstGeom xmlns:a="http://schemas.openxmlformats.org/drawingml/2006/main" prst="ellipse">
            <a:avLst/>
          </a:prstGeom>
          <a:solidFill xmlns:a="http://schemas.openxmlformats.org/drawingml/2006/main">
            <a:srgbClr val="E85555"/>
          </a:solidFill>
          <a:ln xmlns:a="http://schemas.openxmlformats.org/drawingml/2006/main" w="9525">
            <a:solidFill>
              <a:srgbClr val="FFFFFF"/>
            </a:solidFill>
          </a:ln>
        </p:spPr>
      </p:sp>
      <p:sp>
        <p:nvSpPr>
          <p:cNvPr id="29" name="">
            <a:extLst xmlns:a="http://schemas.openxmlformats.org/drawingml/2006/main">
              <a:ext uri="{FF2B5EF4-FFF2-40B4-BE49-F238E27FC236}">
                <a16:creationId xmlns:a16="http://schemas.microsoft.com/office/drawing/2014/main" id="{279FD883-5068-4F0A-A28E-963DBD5401AD}"/>
              </a:ext>
            </a:extLst>
          </p:cNvPr>
          <p:cNvSpPr>
            <a:spLocks xmlns:a="http://schemas.openxmlformats.org/drawingml/2006/main" noGrp="1"/>
          </p:cNvSpPr>
          <p:nvPr/>
        </p:nvSpPr>
        <p:spPr>
          <a:xfrm xmlns:a="http://schemas.openxmlformats.org/drawingml/2006/main">
            <a:off x="3324225" y="3752850"/>
            <a:ext cx="304800" cy="304800"/>
          </a:xfrm>
          <a:prstGeom xmlns:a="http://schemas.openxmlformats.org/drawingml/2006/main" prst="ellipse">
            <a:avLst/>
          </a:prstGeom>
          <a:noFill xmlns:a="http://schemas.openxmlformats.org/drawingml/2006/main"/>
          <a:ln xmlns:a="http://schemas.openxmlformats.org/drawingml/2006/main" w="28575">
            <a:solidFill>
              <a:srgbClr val="101C32"/>
            </a:solidFill>
          </a:ln>
        </p:spPr>
      </p:sp>
      <p:sp>
        <p:nvSpPr>
          <p:cNvPr id="30" name="text-34">
            <a:extLst xmlns:a="http://schemas.openxmlformats.org/drawingml/2006/main">
              <a:ext uri="{FF2B5EF4-FFF2-40B4-BE49-F238E27FC236}">
                <a16:creationId xmlns:a16="http://schemas.microsoft.com/office/drawing/2014/main" id="{C4F7747B-E291-49CA-8D08-3984F43A7F03}"/>
              </a:ext>
            </a:extLst>
          </p:cNvPr>
          <p:cNvSpPr>
            <a:spLocks xmlns:a="http://schemas.openxmlformats.org/drawingml/2006/main" noGrp="1"/>
          </p:cNvSpPr>
          <p:nvPr/>
        </p:nvSpPr>
        <p:spPr>
          <a:xfrm xmlns:a="http://schemas.openxmlformats.org/drawingml/2006/main">
            <a:off x="1047750" y="5619750"/>
            <a:ext cx="2333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1">
                <a:solidFill>
                  <a:srgbClr val="008C95"/>
                </a:solidFill>
                <a:latin typeface="DejaVu Sans"/>
                <a:ea typeface="DejaVu Sans"/>
                <a:cs typeface="DejaVu Sans"/>
              </a:defRPr>
            </a:defPPr>
          </a:lstStyle>
          <a:p xmlns:a="http://schemas.openxmlformats.org/drawingml/2006/main">
            <a:pPr>
              <a:defRPr sz="1650" b="1">
                <a:solidFill>
                  <a:srgbClr val="008C95"/>
                </a:solidFill>
                <a:latin typeface="DejaVu Sans"/>
                <a:ea typeface="DejaVu Sans"/>
                <a:cs typeface="DejaVu Sans"/>
              </a:defRPr>
            </a:pPr>
            <a:r>
              <a:rPr sz="1650" b="1">
                <a:solidFill>
                  <a:srgbClr val="008C95"/>
                </a:solidFill>
                <a:latin typeface="DejaVu Sans"/>
                <a:ea typeface="DejaVu Sans"/>
                <a:cs typeface="DejaVu Sans"/>
              </a:rPr>
              <a:t>Класс 1</a:t>
            </a:r>
          </a:p>
        </p:txBody>
      </p:sp>
      <p:sp>
        <p:nvSpPr>
          <p:cNvPr id="31" name="text-35">
            <a:extLst xmlns:a="http://schemas.openxmlformats.org/drawingml/2006/main">
              <a:ext uri="{FF2B5EF4-FFF2-40B4-BE49-F238E27FC236}">
                <a16:creationId xmlns:a16="http://schemas.microsoft.com/office/drawing/2014/main" id="{BE253C11-E231-419E-94C0-08B74A412141}"/>
              </a:ext>
            </a:extLst>
          </p:cNvPr>
          <p:cNvSpPr>
            <a:spLocks xmlns:a="http://schemas.openxmlformats.org/drawingml/2006/main" noGrp="1"/>
          </p:cNvSpPr>
          <p:nvPr/>
        </p:nvSpPr>
        <p:spPr>
          <a:xfrm xmlns:a="http://schemas.openxmlformats.org/drawingml/2006/main">
            <a:off x="4191000" y="5619750"/>
            <a:ext cx="2333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1">
                <a:solidFill>
                  <a:srgbClr val="E85555"/>
                </a:solidFill>
                <a:latin typeface="DejaVu Sans"/>
                <a:ea typeface="DejaVu Sans"/>
                <a:cs typeface="DejaVu Sans"/>
              </a:defRPr>
            </a:defPPr>
          </a:lstStyle>
          <a:p xmlns:a="http://schemas.openxmlformats.org/drawingml/2006/main">
            <a:pPr>
              <a:defRPr sz="1650" b="1">
                <a:solidFill>
                  <a:srgbClr val="E85555"/>
                </a:solidFill>
                <a:latin typeface="DejaVu Sans"/>
                <a:ea typeface="DejaVu Sans"/>
                <a:cs typeface="DejaVu Sans"/>
              </a:defRPr>
            </a:pPr>
            <a:r>
              <a:rPr sz="1650" b="1">
                <a:solidFill>
                  <a:srgbClr val="E85555"/>
                </a:solidFill>
                <a:latin typeface="DejaVu Sans"/>
                <a:ea typeface="DejaVu Sans"/>
                <a:cs typeface="DejaVu Sans"/>
              </a:rPr>
              <a:t>Класс 2</a:t>
            </a:r>
          </a:p>
        </p:txBody>
      </p:sp>
      <p:sp>
        <p:nvSpPr>
          <p:cNvPr id="32" name="text-36">
            <a:extLst xmlns:a="http://schemas.openxmlformats.org/drawingml/2006/main">
              <a:ext uri="{FF2B5EF4-FFF2-40B4-BE49-F238E27FC236}">
                <a16:creationId xmlns:a16="http://schemas.microsoft.com/office/drawing/2014/main" id="{2544E11E-CD9E-4480-BAFA-1308A4650CDF}"/>
              </a:ext>
            </a:extLst>
          </p:cNvPr>
          <p:cNvSpPr>
            <a:spLocks xmlns:a="http://schemas.openxmlformats.org/drawingml/2006/main" noGrp="1"/>
          </p:cNvSpPr>
          <p:nvPr/>
        </p:nvSpPr>
        <p:spPr>
          <a:xfrm xmlns:a="http://schemas.openxmlformats.org/drawingml/2006/main">
            <a:off x="7143750" y="2114550"/>
            <a:ext cx="4286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250" b="1">
                <a:solidFill>
                  <a:srgbClr val="008C95"/>
                </a:solidFill>
                <a:latin typeface="DejaVu Sans"/>
                <a:ea typeface="DejaVu Sans"/>
                <a:cs typeface="DejaVu Sans"/>
              </a:defRPr>
            </a:defPPr>
          </a:lstStyle>
          <a:p xmlns:a="http://schemas.openxmlformats.org/drawingml/2006/main">
            <a:pPr>
              <a:defRPr sz="2250" b="1">
                <a:solidFill>
                  <a:srgbClr val="008C95"/>
                </a:solidFill>
                <a:latin typeface="DejaVu Sans"/>
                <a:ea typeface="DejaVu Sans"/>
                <a:cs typeface="DejaVu Sans"/>
              </a:defRPr>
            </a:pPr>
            <a:r>
              <a:rPr sz="2250" b="1">
                <a:solidFill>
                  <a:srgbClr val="008C95"/>
                </a:solidFill>
                <a:latin typeface="DejaVu Sans"/>
                <a:ea typeface="DejaVu Sans"/>
                <a:cs typeface="DejaVu Sans"/>
              </a:rPr>
              <a:t>Мягкий зазор</a:t>
            </a:r>
          </a:p>
        </p:txBody>
      </p:sp>
      <p:sp>
        <p:nvSpPr>
          <p:cNvPr id="33" name="text-37">
            <a:extLst xmlns:a="http://schemas.openxmlformats.org/drawingml/2006/main">
              <a:ext uri="{FF2B5EF4-FFF2-40B4-BE49-F238E27FC236}">
                <a16:creationId xmlns:a16="http://schemas.microsoft.com/office/drawing/2014/main" id="{91C7627A-3CC7-4718-B230-DD8FAF126630}"/>
              </a:ext>
            </a:extLst>
          </p:cNvPr>
          <p:cNvSpPr>
            <a:spLocks xmlns:a="http://schemas.openxmlformats.org/drawingml/2006/main" noGrp="1"/>
          </p:cNvSpPr>
          <p:nvPr/>
        </p:nvSpPr>
        <p:spPr>
          <a:xfrm xmlns:a="http://schemas.openxmlformats.org/drawingml/2006/main">
            <a:off x="7143750" y="2647950"/>
            <a:ext cx="4286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950" b="0">
                <a:solidFill>
                  <a:srgbClr val="101C32"/>
                </a:solidFill>
                <a:latin typeface="DejaVu Sans"/>
                <a:ea typeface="DejaVu Sans"/>
                <a:cs typeface="DejaVu Sans"/>
              </a:defRPr>
            </a:defPPr>
          </a:lstStyle>
          <a:p xmlns:a="http://schemas.openxmlformats.org/drawingml/2006/main">
            <a:pPr>
              <a:defRPr sz="1950" b="0">
                <a:solidFill>
                  <a:srgbClr val="101C32"/>
                </a:solidFill>
                <a:latin typeface="DejaVu Sans"/>
                <a:ea typeface="DejaVu Sans"/>
                <a:cs typeface="DejaVu Sans"/>
              </a:defRPr>
            </a:pPr>
            <a:r>
              <a:rPr sz="1950" b="0">
                <a:solidFill>
                  <a:srgbClr val="101C32"/>
                </a:solidFill>
                <a:latin typeface="DejaVu Sans"/>
                <a:ea typeface="DejaVu Sans"/>
                <a:cs typeface="DejaVu Sans"/>
              </a:rPr>
              <a:t>Точки бывают в полосе</a:t>
            </a:r>
          </a:p>
          <a:p xmlns:a="http://schemas.openxmlformats.org/drawingml/2006/main">
            <a:pPr>
              <a:defRPr sz="1950" b="0">
                <a:solidFill>
                  <a:srgbClr val="101C32"/>
                </a:solidFill>
                <a:latin typeface="DejaVu Sans"/>
                <a:ea typeface="DejaVu Sans"/>
                <a:cs typeface="DejaVu Sans"/>
              </a:defRPr>
            </a:pPr>
            <a:r>
              <a:rPr sz="1950" b="0">
                <a:solidFill>
                  <a:srgbClr val="101C32"/>
                </a:solidFill>
                <a:latin typeface="DejaVu Sans"/>
                <a:ea typeface="DejaVu Sans"/>
                <a:cs typeface="DejaVu Sans"/>
              </a:rPr>
              <a:t>и на неверной стороне.</a:t>
            </a:r>
          </a:p>
          <a:p xmlns:a="http://schemas.openxmlformats.org/drawingml/2006/main">
            <a:pPr>
              <a:defRPr sz="1950" b="0">
                <a:solidFill>
                  <a:srgbClr val="101C32"/>
                </a:solidFill>
                <a:latin typeface="DejaVu Sans"/>
                <a:ea typeface="DejaVu Sans"/>
                <a:cs typeface="DejaVu Sans"/>
              </a:defRPr>
            </a:pPr>
            <a:r>
              <a:rPr sz="1950" b="0">
                <a:solidFill>
                  <a:srgbClr val="101C32"/>
                </a:solidFill>
                <a:latin typeface="DejaVu Sans"/>
                <a:ea typeface="DejaVu Sans"/>
                <a:cs typeface="DejaVu Sans"/>
              </a:rPr>
              <a:t>За это есть штраф.</a:t>
            </a:r>
          </a:p>
        </p:txBody>
      </p:sp>
      <p:sp>
        <p:nvSpPr>
          <p:cNvPr id="34" name="text-38">
            <a:extLst xmlns:a="http://schemas.openxmlformats.org/drawingml/2006/main">
              <a:ext uri="{FF2B5EF4-FFF2-40B4-BE49-F238E27FC236}">
                <a16:creationId xmlns:a16="http://schemas.microsoft.com/office/drawing/2014/main" id="{4353B1FB-35F1-4B9D-A701-25EB627BACF5}"/>
              </a:ext>
            </a:extLst>
          </p:cNvPr>
          <p:cNvSpPr>
            <a:spLocks xmlns:a="http://schemas.openxmlformats.org/drawingml/2006/main" noGrp="1"/>
          </p:cNvSpPr>
          <p:nvPr/>
        </p:nvSpPr>
        <p:spPr>
          <a:xfrm xmlns:a="http://schemas.openxmlformats.org/drawingml/2006/main">
            <a:off x="7143750" y="4000500"/>
            <a:ext cx="428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950" b="1">
                <a:solidFill>
                  <a:srgbClr val="101C32"/>
                </a:solidFill>
                <a:latin typeface="DejaVu Sans"/>
                <a:ea typeface="DejaVu Sans"/>
                <a:cs typeface="DejaVu Sans"/>
              </a:defRPr>
            </a:defPPr>
          </a:lstStyle>
          <a:p xmlns:a="http://schemas.openxmlformats.org/drawingml/2006/main">
            <a:pPr>
              <a:defRPr sz="1950" b="1">
                <a:solidFill>
                  <a:srgbClr val="101C32"/>
                </a:solidFill>
                <a:latin typeface="DejaVu Sans"/>
                <a:ea typeface="DejaVu Sans"/>
                <a:cs typeface="DejaVu Sans"/>
              </a:defRPr>
            </a:pPr>
            <a:r>
              <a:rPr sz="1950" b="1">
                <a:solidFill>
                  <a:srgbClr val="101C32"/>
                </a:solidFill>
                <a:latin typeface="DejaVu Sans"/>
                <a:ea typeface="DejaVu Sans"/>
                <a:cs typeface="DejaVu Sans"/>
              </a:rPr>
              <a:t>C задаёт цену нарушений.</a:t>
            </a:r>
          </a:p>
        </p:txBody>
      </p:sp>
      <p:sp>
        <p:nvSpPr>
          <p:cNvPr id="35" name="text-39">
            <a:extLst xmlns:a="http://schemas.openxmlformats.org/drawingml/2006/main">
              <a:ext uri="{FF2B5EF4-FFF2-40B4-BE49-F238E27FC236}">
                <a16:creationId xmlns:a16="http://schemas.microsoft.com/office/drawing/2014/main" id="{1643608E-F7CC-4DFB-8275-0F3710DB7EF0}"/>
              </a:ext>
            </a:extLst>
          </p:cNvPr>
          <p:cNvSpPr>
            <a:spLocks xmlns:a="http://schemas.openxmlformats.org/drawingml/2006/main" noGrp="1"/>
          </p:cNvSpPr>
          <p:nvPr/>
        </p:nvSpPr>
        <p:spPr>
          <a:xfrm xmlns:a="http://schemas.openxmlformats.org/drawingml/2006/main">
            <a:off x="7143750" y="4676775"/>
            <a:ext cx="428625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101C32"/>
                </a:solidFill>
                <a:latin typeface="DejaVu Sans"/>
                <a:ea typeface="DejaVu Sans"/>
                <a:cs typeface="DejaVu Sans"/>
              </a:defRPr>
            </a:defPPr>
          </a:lstStyle>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Опорные векторы участвуют</a:t>
            </a:r>
          </a:p>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в выборе границы. На рисунке</a:t>
            </a:r>
          </a:p>
          <a:p xmlns:a="http://schemas.openxmlformats.org/drawingml/2006/main">
            <a:pPr>
              <a:defRPr sz="1875" b="0">
                <a:solidFill>
                  <a:srgbClr val="101C32"/>
                </a:solidFill>
                <a:latin typeface="DejaVu Sans"/>
                <a:ea typeface="DejaVu Sans"/>
                <a:cs typeface="DejaVu Sans"/>
              </a:defRPr>
            </a:pPr>
            <a:r>
              <a:rPr sz="1875" b="0">
                <a:solidFill>
                  <a:srgbClr val="101C32"/>
                </a:solidFill>
                <a:latin typeface="DejaVu Sans"/>
                <a:ea typeface="DejaVu Sans"/>
                <a:cs typeface="DejaVu Sans"/>
              </a:rPr>
              <a:t>эти точки обведены кольцами.</a:t>
            </a:r>
          </a:p>
        </p:txBody>
      </p:sp>
      <p:sp>
        <p:nvSpPr>
          <p:cNvPr id="36" name="text-40">
            <a:extLst xmlns:a="http://schemas.openxmlformats.org/drawingml/2006/main">
              <a:ext uri="{FF2B5EF4-FFF2-40B4-BE49-F238E27FC236}">
                <a16:creationId xmlns:a16="http://schemas.microsoft.com/office/drawing/2014/main" id="{549599DF-ACBB-47F4-B93D-964E9394098A}"/>
              </a:ext>
            </a:extLst>
          </p:cNvPr>
          <p:cNvSpPr>
            <a:spLocks xmlns:a="http://schemas.openxmlformats.org/drawingml/2006/main" noGrp="1"/>
          </p:cNvSpPr>
          <p:nvPr/>
        </p:nvSpPr>
        <p:spPr>
          <a:xfrm xmlns:a="http://schemas.openxmlformats.org/drawingml/2006/main">
            <a:off x="857250" y="6076950"/>
            <a:ext cx="10572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377"/>
                </a:solidFill>
                <a:latin typeface="DejaVu Sans"/>
                <a:ea typeface="DejaVu Sans"/>
                <a:cs typeface="DejaVu Sans"/>
              </a:defRPr>
            </a:defPPr>
          </a:lstStyle>
          <a:p xmlns:a="http://schemas.openxmlformats.org/drawingml/2006/main">
            <a:pPr>
              <a:defRPr sz="1350" b="0">
                <a:solidFill>
                  <a:srgbClr val="536377"/>
                </a:solidFill>
                <a:latin typeface="DejaVu Sans"/>
                <a:ea typeface="DejaVu Sans"/>
                <a:cs typeface="DejaVu Sans"/>
              </a:defRPr>
            </a:pPr>
            <a:r>
              <a:rPr sz="1350" b="0">
                <a:solidFill>
                  <a:srgbClr val="536377"/>
                </a:solidFill>
                <a:latin typeface="DejaVu Sans"/>
                <a:ea typeface="DejaVu Sans"/>
                <a:cs typeface="DejaVu Sans"/>
              </a:rPr>
              <a:t>Полосу вокруг границы называют зазором. SVM стремится сделать её широкой.</a:t>
            </a:r>
          </a:p>
        </p:txBody>
      </p:sp>
    </p:spTree>
    <p:extLst>
      <p:ext uri="{BB962C8B-B14F-4D97-AF65-F5344CB8AC3E}">
        <p14:creationId xmlns:p14="http://schemas.microsoft.com/office/powerpoint/2010/main" val="440845346"/>
      </p:ext>
    </p:extLst>
  </p:cSld>
</p:sld>
</file>

<file path=ppt/slides/slide6.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9" name="text-41">
            <a:extLst xmlns:a="http://schemas.openxmlformats.org/drawingml/2006/main">
              <a:ext uri="{FF2B5EF4-FFF2-40B4-BE49-F238E27FC236}">
                <a16:creationId xmlns:a16="http://schemas.microsoft.com/office/drawing/2014/main" id="{45DA3858-BE13-4178-A066-555757B08522}"/>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Отступ и запас прочности решения</a:t>
            </a:r>
          </a:p>
        </p:txBody>
      </p:sp>
      <p:sp>
        <p:nvSpPr>
          <p:cNvPr id="2" name="text-42">
            <a:extLst xmlns:a="http://schemas.openxmlformats.org/drawingml/2006/main">
              <a:ext uri="{FF2B5EF4-FFF2-40B4-BE49-F238E27FC236}">
                <a16:creationId xmlns:a16="http://schemas.microsoft.com/office/drawing/2014/main" id="{BD47EC0B-1551-4422-AE6F-795A62A3B625}"/>
              </a:ext>
            </a:extLst>
          </p:cNvPr>
          <p:cNvSpPr>
            <a:spLocks xmlns:a="http://schemas.openxmlformats.org/drawingml/2006/main" noGrp="1"/>
          </p:cNvSpPr>
          <p:nvPr/>
        </p:nvSpPr>
        <p:spPr>
          <a:xfrm xmlns:a="http://schemas.openxmlformats.org/drawingml/2006/main">
            <a:off x="571500" y="13620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377"/>
                </a:solidFill>
                <a:latin typeface="DejaVu Sans"/>
                <a:ea typeface="DejaVu Sans"/>
                <a:cs typeface="DejaVu Sans"/>
              </a:defRPr>
            </a:defPPr>
          </a:lstStyle>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Модель вычисляет число f. Его знак выбирает класс, на границе f = 0.</a:t>
            </a:r>
          </a:p>
        </p:txBody>
      </p:sp>
      <p:sp>
        <p:nvSpPr>
          <p:cNvPr id="3" name="">
            <a:extLst xmlns:a="http://schemas.openxmlformats.org/drawingml/2006/main">
              <a:ext uri="{FF2B5EF4-FFF2-40B4-BE49-F238E27FC236}">
                <a16:creationId xmlns:a16="http://schemas.microsoft.com/office/drawing/2014/main" id="{6EB8B5DF-2594-4A96-AA15-86ACE16F6E37}"/>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4" name="text-43">
            <a:extLst xmlns:a="http://schemas.openxmlformats.org/drawingml/2006/main">
              <a:ext uri="{FF2B5EF4-FFF2-40B4-BE49-F238E27FC236}">
                <a16:creationId xmlns:a16="http://schemas.microsoft.com/office/drawing/2014/main" id="{CFA99F0D-525D-42D1-8B3A-BA7EBB5A43A0}"/>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   [2, 6]</a:t>
            </a:r>
          </a:p>
        </p:txBody>
      </p:sp>
      <p:sp>
        <p:nvSpPr>
          <p:cNvPr id="5" name="text-44">
            <a:extLst xmlns:a="http://schemas.openxmlformats.org/drawingml/2006/main">
              <a:ext uri="{FF2B5EF4-FFF2-40B4-BE49-F238E27FC236}">
                <a16:creationId xmlns:a16="http://schemas.microsoft.com/office/drawing/2014/main" id="{78450CDA-92B7-47C0-96FD-E831A27D95CD}"/>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06</a:t>
            </a:r>
          </a:p>
        </p:txBody>
      </p:sp>
      <p:graphicFrame>
        <p:nvGraphicFramePr>
          <p:cNvPr id="6" name="">
            <a:extLst xmlns:a="http://schemas.openxmlformats.org/drawingml/2006/main">
              <a:ext uri="{FF2B5EF4-FFF2-40B4-BE49-F238E27FC236}">
                <a16:creationId xmlns:a16="http://schemas.microsoft.com/office/drawing/2014/main" id="{7E84B984-3477-4BC0-8CE0-0DACD007551D}"/>
              </a:ext>
            </a:extLst>
          </p:cNvPr>
          <p:cNvGraphicFramePr/>
          <p:nvPr/>
        </p:nvGraphicFramePr>
        <p:xfrm>
          <a:off xmlns:a="http://schemas.openxmlformats.org/drawingml/2006/main" x="571500" y="2133600"/>
          <a:ext xmlns:a="http://schemas.openxmlformats.org/drawingml/2006/main" cx="11049000" cy="2390775"/>
        </p:xfrm>
        <a:graphic xmlns:a="http://schemas.openxmlformats.org/drawingml/2006/main">
          <a:graphicData uri="http://schemas.openxmlformats.org/drawingml/2006/table">
            <a:tbl>
              <a:tblPr/>
              <a:tblGrid>
                <a:gridCol w="5524500"/>
                <a:gridCol w="5524500"/>
              </a:tblGrid>
              <a:tr h="796925">
                <a:tc>
                  <a:txBody>
                    <a:bodyPr lIns="114300" tIns="95250" rIns="95250" bIns="76200"/>
                    <a:lstStyle/>
                    <a:p>
                      <a:r>
                        <a:rPr sz="1875" b="1">
                          <a:solidFill>
                            <a:srgbClr val="FFFFFF"/>
                          </a:solidFill>
                          <a:latin typeface="DejaVu Sans"/>
                          <a:ea typeface="DejaVu Sans"/>
                          <a:cs typeface="DejaVu Sans"/>
                        </a:rPr>
                        <a:t>Что измеряем</a:t>
                      </a:r>
                    </a:p>
                  </a:txBody>
                  <a:tcPr marL="91440" marR="91440" marT="45720" marB="45720" anchor="ctr">
                    <a:solidFill>
                      <a:srgbClr val="101C32"/>
                    </a:solidFill>
                  </a:tcPr>
                </a:tc>
                <a:tc>
                  <a:txBody>
                    <a:bodyPr lIns="114300" tIns="95250" rIns="95250" bIns="76200"/>
                    <a:lstStyle/>
                    <a:p>
                      <a:r>
                        <a:rPr sz="1875" b="1">
                          <a:solidFill>
                            <a:srgbClr val="FFFFFF"/>
                          </a:solidFill>
                          <a:latin typeface="DejaVu Sans"/>
                          <a:ea typeface="DejaVu Sans"/>
                          <a:cs typeface="DejaVu Sans"/>
                        </a:rPr>
                        <a:t>Как читаем</a:t>
                      </a:r>
                    </a:p>
                  </a:txBody>
                  <a:tcPr marL="91440" marR="91440" marT="45720" marB="45720" anchor="ctr">
                    <a:solidFill>
                      <a:srgbClr val="101C32"/>
                    </a:solidFill>
                  </a:tcPr>
                </a:tc>
              </a:tr>
              <a:tr h="796925">
                <a:tc>
                  <a:txBody>
                    <a:bodyPr lIns="114300" tIns="95250" rIns="95250" bIns="76200"/>
                    <a:lstStyle/>
                    <a:p>
                      <a:r>
                        <a:rPr sz="1875" b="0">
                          <a:solidFill>
                            <a:srgbClr val="101C32"/>
                          </a:solidFill>
                          <a:latin typeface="DejaVu Sans"/>
                          <a:ea typeface="DejaVu Sans"/>
                          <a:cs typeface="DejaVu Sans"/>
                        </a:rPr>
                        <a:t>Геометрический отступ γ</a:t>
                      </a:r>
                    </a:p>
                    <a:p>
                      <a:r>
                        <a:rPr sz="1875" b="0">
                          <a:solidFill>
                            <a:srgbClr val="101C32"/>
                          </a:solidFill>
                          <a:latin typeface="DejaVu Sans"/>
                          <a:ea typeface="DejaVu Sans"/>
                          <a:cs typeface="DejaVu Sans"/>
                        </a:rPr>
                        <a:t>Расстояние со знаком</a:t>
                      </a:r>
                    </a:p>
                  </a:txBody>
                  <a:tcPr marL="91440" marR="91440" marT="45720" marB="45720" anchor="ctr">
                    <a:solidFill>
                      <a:srgbClr val="FFFFFF"/>
                    </a:solidFill>
                  </a:tcPr>
                </a:tc>
                <a:tc>
                  <a:txBody>
                    <a:bodyPr lIns="114300" tIns="95250" rIns="95250" bIns="76200"/>
                    <a:lstStyle/>
                    <a:p>
                      <a:r>
                        <a:rPr sz="1875" b="0">
                          <a:solidFill>
                            <a:srgbClr val="101C32"/>
                          </a:solidFill>
                          <a:latin typeface="DejaVu Sans"/>
                          <a:ea typeface="DejaVu Sans"/>
                          <a:cs typeface="DejaVu Sans"/>
                        </a:rPr>
                        <a:t>+ при верном ответе, − при ошибке</a:t>
                      </a:r>
                    </a:p>
                    <a:p>
                      <a:r>
                        <a:rPr sz="1875" b="0">
                          <a:solidFill>
                            <a:srgbClr val="101C32"/>
                          </a:solidFill>
                          <a:latin typeface="DejaVu Sans"/>
                          <a:ea typeface="DejaVu Sans"/>
                          <a:cs typeface="DejaVu Sans"/>
                        </a:rPr>
                        <a:t>Для проверки нужна метка</a:t>
                      </a:r>
                    </a:p>
                  </a:txBody>
                  <a:tcPr marL="91440" marR="91440" marT="45720" marB="45720" anchor="ctr">
                    <a:solidFill>
                      <a:srgbClr val="FFFFFF"/>
                    </a:solidFill>
                  </a:tcPr>
                </a:tc>
              </a:tr>
              <a:tr h="796925">
                <a:tc>
                  <a:txBody>
                    <a:bodyPr lIns="114300" tIns="95250" rIns="95250" bIns="76200"/>
                    <a:lstStyle/>
                    <a:p>
                      <a:r>
                        <a:rPr sz="1875" b="0">
                          <a:solidFill>
                            <a:srgbClr val="101C32"/>
                          </a:solidFill>
                          <a:latin typeface="DejaVu Sans"/>
                          <a:ea typeface="DejaVu Sans"/>
                          <a:cs typeface="DejaVu Sans"/>
                        </a:rPr>
                        <a:t>Запас r = |γ|</a:t>
                      </a:r>
                    </a:p>
                    <a:p>
                      <a:r>
                        <a:rPr sz="1875" b="0">
                          <a:solidFill>
                            <a:srgbClr val="101C32"/>
                          </a:solidFill>
                          <a:latin typeface="DejaVu Sans"/>
                          <a:ea typeface="DejaVu Sans"/>
                          <a:cs typeface="DejaVu Sans"/>
                        </a:rPr>
                        <a:t>Расстояние без знака</a:t>
                      </a:r>
                    </a:p>
                  </a:txBody>
                  <a:tcPr marL="91440" marR="91440" marT="45720" marB="45720" anchor="ctr">
                    <a:solidFill>
                      <a:srgbClr val="EAF0F4"/>
                    </a:solidFill>
                  </a:tcPr>
                </a:tc>
                <a:tc>
                  <a:txBody>
                    <a:bodyPr lIns="114300" tIns="95250" rIns="95250" bIns="76200"/>
                    <a:lstStyle/>
                    <a:p>
                      <a:r>
                        <a:rPr sz="1875" b="0">
                          <a:solidFill>
                            <a:srgbClr val="101C32"/>
                          </a:solidFill>
                          <a:latin typeface="DejaVu Sans"/>
                          <a:ea typeface="DejaVu Sans"/>
                          <a:cs typeface="DejaVu Sans"/>
                        </a:rPr>
                        <a:t>Какой сдвиг точки нужен,</a:t>
                      </a:r>
                    </a:p>
                    <a:p>
                      <a:r>
                        <a:rPr sz="1875" b="0">
                          <a:solidFill>
                            <a:srgbClr val="101C32"/>
                          </a:solidFill>
                          <a:latin typeface="DejaVu Sans"/>
                          <a:ea typeface="DejaVu Sans"/>
                          <a:cs typeface="DejaVu Sans"/>
                        </a:rPr>
                        <a:t>чтобы дойти до границы</a:t>
                      </a:r>
                    </a:p>
                  </a:txBody>
                  <a:tcPr marL="91440" marR="91440" marT="45720" marB="45720" anchor="ctr">
                    <a:solidFill>
                      <a:srgbClr val="EAF0F4"/>
                    </a:solidFill>
                  </a:tcPr>
                </a:tc>
              </a:tr>
            </a:tbl>
          </a:graphicData>
        </a:graphic>
      </p:graphicFrame>
      <p:sp>
        <p:nvSpPr>
          <p:cNvPr id="7" name="text-45">
            <a:extLst xmlns:a="http://schemas.openxmlformats.org/drawingml/2006/main">
              <a:ext uri="{FF2B5EF4-FFF2-40B4-BE49-F238E27FC236}">
                <a16:creationId xmlns:a16="http://schemas.microsoft.com/office/drawing/2014/main" id="{CAE57874-5F6F-42F0-B7D9-3B04B5280FD2}"/>
              </a:ext>
            </a:extLst>
          </p:cNvPr>
          <p:cNvSpPr>
            <a:spLocks xmlns:a="http://schemas.openxmlformats.org/drawingml/2006/main" noGrp="1"/>
          </p:cNvSpPr>
          <p:nvPr/>
        </p:nvSpPr>
        <p:spPr>
          <a:xfrm xmlns:a="http://schemas.openxmlformats.org/drawingml/2006/main">
            <a:off x="571500" y="4876800"/>
            <a:ext cx="110490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101C32"/>
                </a:solidFill>
                <a:latin typeface="DejaVu Sans"/>
                <a:ea typeface="DejaVu Sans"/>
                <a:cs typeface="DejaVu Sans"/>
              </a:defRPr>
            </a:defPPr>
          </a:lstStyle>
          <a:p xmlns:a="http://schemas.openxmlformats.org/drawingml/2006/main">
            <a:pPr>
              <a:defRPr sz="1875" b="1">
                <a:solidFill>
                  <a:srgbClr val="101C32"/>
                </a:solidFill>
                <a:latin typeface="DejaVu Sans"/>
                <a:ea typeface="DejaVu Sans"/>
                <a:cs typeface="DejaVu Sans"/>
              </a:defRPr>
            </a:pPr>
            <a:r>
              <a:rPr sz="1875" b="1">
                <a:solidFill>
                  <a:srgbClr val="101C32"/>
                </a:solidFill>
                <a:latin typeface="DejaVu Sans"/>
                <a:ea typeface="DejaVu Sans"/>
                <a:cs typeface="DejaVu Sans"/>
              </a:rPr>
              <a:t>Пока сдвиг меньше r, готовая линейная модель сохраняет ответ.</a:t>
            </a:r>
          </a:p>
          <a:p xmlns:a="http://schemas.openxmlformats.org/drawingml/2006/main">
            <a:pPr>
              <a:defRPr sz="1875" b="1">
                <a:solidFill>
                  <a:srgbClr val="101C32"/>
                </a:solidFill>
                <a:latin typeface="DejaVu Sans"/>
                <a:ea typeface="DejaVu Sans"/>
                <a:cs typeface="DejaVu Sans"/>
              </a:defRPr>
            </a:pPr>
            <a:r>
              <a:rPr sz="1875" b="1">
                <a:solidFill>
                  <a:srgbClr val="101C32"/>
                </a:solidFill>
                <a:latin typeface="DejaVu Sans"/>
                <a:ea typeface="DejaVu Sans"/>
                <a:cs typeface="DejaVu Sans"/>
              </a:rPr>
              <a:t>При малом r объект называют пограничным и ответ стоит перепроверить.</a:t>
            </a:r>
          </a:p>
        </p:txBody>
      </p:sp>
      <p:sp>
        <p:nvSpPr>
          <p:cNvPr id="8" name="text-46">
            <a:extLst xmlns:a="http://schemas.openxmlformats.org/drawingml/2006/main">
              <a:ext uri="{FF2B5EF4-FFF2-40B4-BE49-F238E27FC236}">
                <a16:creationId xmlns:a16="http://schemas.microsoft.com/office/drawing/2014/main" id="{1AD772B4-ABBE-4EB4-B745-1996482EFE09}"/>
              </a:ext>
            </a:extLst>
          </p:cNvPr>
          <p:cNvSpPr>
            <a:spLocks xmlns:a="http://schemas.openxmlformats.org/drawingml/2006/main" noGrp="1"/>
          </p:cNvSpPr>
          <p:nvPr/>
        </p:nvSpPr>
        <p:spPr>
          <a:xfrm xmlns:a="http://schemas.openxmlformats.org/drawingml/2006/main">
            <a:off x="571500" y="6029325"/>
            <a:ext cx="11049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00" b="0">
                <a:solidFill>
                  <a:srgbClr val="536377"/>
                </a:solidFill>
                <a:latin typeface="DejaVu Sans"/>
                <a:ea typeface="DejaVu Sans"/>
                <a:cs typeface="DejaVu Sans"/>
              </a:defRPr>
            </a:defPPr>
          </a:lstStyle>
          <a:p xmlns:a="http://schemas.openxmlformats.org/drawingml/2006/main">
            <a:pPr>
              <a:defRPr sz="1500" b="0">
                <a:solidFill>
                  <a:srgbClr val="536377"/>
                </a:solidFill>
                <a:latin typeface="DejaVu Sans"/>
                <a:ea typeface="DejaVu Sans"/>
                <a:cs typeface="DejaVu Sans"/>
              </a:defRPr>
            </a:pPr>
            <a:r>
              <a:rPr sz="1500" b="0">
                <a:solidFill>
                  <a:srgbClr val="536377"/>
                </a:solidFill>
                <a:latin typeface="DejaVu Sans"/>
                <a:ea typeface="DejaVu Sans"/>
                <a:cs typeface="DejaVu Sans"/>
              </a:rPr>
              <a:t>Порог перепроверки выбираем отдельно от C. Расстояние не является вероятностью атаки.</a:t>
            </a:r>
          </a:p>
        </p:txBody>
      </p:sp>
    </p:spTree>
    <p:extLst>
      <p:ext uri="{BB962C8B-B14F-4D97-AF65-F5344CB8AC3E}">
        <p14:creationId xmlns:p14="http://schemas.microsoft.com/office/powerpoint/2010/main" val="1020402148"/>
      </p:ext>
    </p:extLst>
  </p:cSld>
</p:sld>
</file>

<file path=ppt/slides/slide7.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11" name="text-47">
            <a:extLst xmlns:a="http://schemas.openxmlformats.org/drawingml/2006/main">
              <a:ext uri="{FF2B5EF4-FFF2-40B4-BE49-F238E27FC236}">
                <a16:creationId xmlns:a16="http://schemas.microsoft.com/office/drawing/2014/main" id="{AA025C59-901C-4B1A-AE2F-9F3876AEA0FB}"/>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SYN-flood: что измеряем</a:t>
            </a:r>
          </a:p>
        </p:txBody>
      </p:sp>
      <p:sp>
        <p:nvSpPr>
          <p:cNvPr id="2" name="text-48">
            <a:extLst xmlns:a="http://schemas.openxmlformats.org/drawingml/2006/main">
              <a:ext uri="{FF2B5EF4-FFF2-40B4-BE49-F238E27FC236}">
                <a16:creationId xmlns:a16="http://schemas.microsoft.com/office/drawing/2014/main" id="{9E9E7466-E1F6-4818-98B4-70988EDAFA23}"/>
              </a:ext>
            </a:extLst>
          </p:cNvPr>
          <p:cNvSpPr>
            <a:spLocks xmlns:a="http://schemas.openxmlformats.org/drawingml/2006/main" noGrp="1"/>
          </p:cNvSpPr>
          <p:nvPr/>
        </p:nvSpPr>
        <p:spPr>
          <a:xfrm xmlns:a="http://schemas.openxmlformats.org/drawingml/2006/main">
            <a:off x="571500" y="13620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377"/>
                </a:solidFill>
                <a:latin typeface="DejaVu Sans"/>
                <a:ea typeface="DejaVu Sans"/>
                <a:cs typeface="DejaVu Sans"/>
              </a:defRPr>
            </a:defPPr>
          </a:lstStyle>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Много незавершённых подключений могут мешать обычным клиентам</a:t>
            </a:r>
          </a:p>
        </p:txBody>
      </p:sp>
      <p:sp>
        <p:nvSpPr>
          <p:cNvPr id="3" name="">
            <a:extLst xmlns:a="http://schemas.openxmlformats.org/drawingml/2006/main">
              <a:ext uri="{FF2B5EF4-FFF2-40B4-BE49-F238E27FC236}">
                <a16:creationId xmlns:a16="http://schemas.microsoft.com/office/drawing/2014/main" id="{F9D2965A-F8D7-4BB6-8D71-F6A3233493A4}"/>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4" name="text-49">
            <a:extLst xmlns:a="http://schemas.openxmlformats.org/drawingml/2006/main">
              <a:ext uri="{FF2B5EF4-FFF2-40B4-BE49-F238E27FC236}">
                <a16:creationId xmlns:a16="http://schemas.microsoft.com/office/drawing/2014/main" id="{9AC429D6-E513-4CCF-BD26-B5C80C2D56AB}"/>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   [4]. Учебные измерения и данные</a:t>
            </a:r>
          </a:p>
        </p:txBody>
      </p:sp>
      <p:sp>
        <p:nvSpPr>
          <p:cNvPr id="5" name="text-50">
            <a:extLst xmlns:a="http://schemas.openxmlformats.org/drawingml/2006/main">
              <a:ext uri="{FF2B5EF4-FFF2-40B4-BE49-F238E27FC236}">
                <a16:creationId xmlns:a16="http://schemas.microsoft.com/office/drawing/2014/main" id="{1F4F111C-AF64-46D6-A9F5-AB71FDA72F6C}"/>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07</a:t>
            </a:r>
          </a:p>
        </p:txBody>
      </p:sp>
      <p:sp>
        <p:nvSpPr>
          <p:cNvPr id="6" name="text-51">
            <a:extLst xmlns:a="http://schemas.openxmlformats.org/drawingml/2006/main">
              <a:ext uri="{FF2B5EF4-FFF2-40B4-BE49-F238E27FC236}">
                <a16:creationId xmlns:a16="http://schemas.microsoft.com/office/drawing/2014/main" id="{F19DF34F-443F-4F1B-AB17-5923429CF448}"/>
              </a:ext>
            </a:extLst>
          </p:cNvPr>
          <p:cNvSpPr>
            <a:spLocks xmlns:a="http://schemas.openxmlformats.org/drawingml/2006/main" noGrp="1"/>
          </p:cNvSpPr>
          <p:nvPr/>
        </p:nvSpPr>
        <p:spPr>
          <a:xfrm xmlns:a="http://schemas.openxmlformats.org/drawingml/2006/main">
            <a:off x="571500" y="2047875"/>
            <a:ext cx="11049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950" b="0">
                <a:solidFill>
                  <a:srgbClr val="101C32"/>
                </a:solidFill>
                <a:latin typeface="DejaVu Sans"/>
                <a:ea typeface="DejaVu Sans"/>
                <a:cs typeface="DejaVu Sans"/>
              </a:defRPr>
            </a:defPPr>
          </a:lstStyle>
          <a:p xmlns:a="http://schemas.openxmlformats.org/drawingml/2006/main">
            <a:pPr>
              <a:defRPr sz="1950" b="0">
                <a:solidFill>
                  <a:srgbClr val="101C32"/>
                </a:solidFill>
                <a:latin typeface="DejaVu Sans"/>
                <a:ea typeface="DejaVu Sans"/>
                <a:cs typeface="DejaVu Sans"/>
              </a:defRPr>
            </a:pPr>
            <a:r>
              <a:rPr sz="1950" b="0">
                <a:solidFill>
                  <a:srgbClr val="101C32"/>
                </a:solidFill>
                <a:latin typeface="DejaVu Sans"/>
                <a:ea typeface="DejaVu Sans"/>
                <a:cs typeface="DejaVu Sans"/>
              </a:rPr>
              <a:t>Обычное TCP-подключение: SYN, ответ SYN-ACK, подтверждение ACK.</a:t>
            </a:r>
          </a:p>
          <a:p xmlns:a="http://schemas.openxmlformats.org/drawingml/2006/main">
            <a:pPr>
              <a:defRPr sz="1950" b="0">
                <a:solidFill>
                  <a:srgbClr val="101C32"/>
                </a:solidFill>
                <a:latin typeface="DejaVu Sans"/>
                <a:ea typeface="DejaVu Sans"/>
                <a:cs typeface="DejaVu Sans"/>
              </a:defRPr>
            </a:pPr>
            <a:r>
              <a:rPr sz="1950" b="0">
                <a:solidFill>
                  <a:srgbClr val="101C32"/>
                </a:solidFill>
                <a:latin typeface="DejaVu Sans"/>
                <a:ea typeface="DejaVu Sans"/>
                <a:cs typeface="DejaVu Sans"/>
              </a:rPr>
              <a:t>При SYN-flood многие начатые подключения не завершаются.</a:t>
            </a:r>
          </a:p>
        </p:txBody>
      </p:sp>
      <p:sp>
        <p:nvSpPr>
          <p:cNvPr id="7" name="text-52">
            <a:extLst xmlns:a="http://schemas.openxmlformats.org/drawingml/2006/main">
              <a:ext uri="{FF2B5EF4-FFF2-40B4-BE49-F238E27FC236}">
                <a16:creationId xmlns:a16="http://schemas.microsoft.com/office/drawing/2014/main" id="{2F1FB474-677C-41EE-8193-9F581CAB7D72}"/>
              </a:ext>
            </a:extLst>
          </p:cNvPr>
          <p:cNvSpPr>
            <a:spLocks xmlns:a="http://schemas.openxmlformats.org/drawingml/2006/main" noGrp="1"/>
          </p:cNvSpPr>
          <p:nvPr/>
        </p:nvSpPr>
        <p:spPr>
          <a:xfrm xmlns:a="http://schemas.openxmlformats.org/drawingml/2006/main">
            <a:off x="571500" y="3038475"/>
            <a:ext cx="11049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1">
                <a:solidFill>
                  <a:srgbClr val="101C32"/>
                </a:solidFill>
                <a:latin typeface="DejaVu Sans"/>
                <a:ea typeface="DejaVu Sans"/>
                <a:cs typeface="DejaVu Sans"/>
              </a:defRPr>
            </a:defPPr>
          </a:lstStyle>
          <a:p xmlns:a="http://schemas.openxmlformats.org/drawingml/2006/main">
            <a:pPr>
              <a:defRPr sz="2025" b="1">
                <a:solidFill>
                  <a:srgbClr val="101C32"/>
                </a:solidFill>
                <a:latin typeface="DejaVu Sans"/>
                <a:ea typeface="DejaVu Sans"/>
                <a:cs typeface="DejaVu Sans"/>
              </a:defRPr>
            </a:pPr>
            <a:r>
              <a:rPr sz="2025" b="1">
                <a:solidFill>
                  <a:srgbClr val="101C32"/>
                </a:solidFill>
                <a:latin typeface="DejaVu Sans"/>
                <a:ea typeface="DejaVu Sans"/>
                <a:cs typeface="DejaVu Sans"/>
              </a:rPr>
              <a:t>Объект: 10 секунд трафика к одному IP и TCP-порту.</a:t>
            </a:r>
          </a:p>
        </p:txBody>
      </p:sp>
      <p:graphicFrame>
        <p:nvGraphicFramePr>
          <p:cNvPr id="8" name="">
            <a:extLst xmlns:a="http://schemas.openxmlformats.org/drawingml/2006/main">
              <a:ext uri="{FF2B5EF4-FFF2-40B4-BE49-F238E27FC236}">
                <a16:creationId xmlns:a16="http://schemas.microsoft.com/office/drawing/2014/main" id="{43FAA05A-88E5-4A26-A38C-271859FEB4B1}"/>
              </a:ext>
            </a:extLst>
          </p:cNvPr>
          <p:cNvGraphicFramePr/>
          <p:nvPr/>
        </p:nvGraphicFramePr>
        <p:xfrm>
          <a:off xmlns:a="http://schemas.openxmlformats.org/drawingml/2006/main" x="571500" y="3619500"/>
          <a:ext xmlns:a="http://schemas.openxmlformats.org/drawingml/2006/main" cx="11049000" cy="1485900"/>
        </p:xfrm>
        <a:graphic xmlns:a="http://schemas.openxmlformats.org/drawingml/2006/main">
          <a:graphicData uri="http://schemas.openxmlformats.org/drawingml/2006/table">
            <a:tbl>
              <a:tblPr/>
              <a:tblGrid>
                <a:gridCol w="3836458"/>
                <a:gridCol w="5371042"/>
                <a:gridCol w="1841500"/>
              </a:tblGrid>
              <a:tr h="495300">
                <a:tc>
                  <a:txBody>
                    <a:bodyPr lIns="114300" tIns="95250" rIns="95250" bIns="76200"/>
                    <a:lstStyle/>
                    <a:p>
                      <a:r>
                        <a:rPr sz="1725" b="1">
                          <a:solidFill>
                            <a:srgbClr val="FFFFFF"/>
                          </a:solidFill>
                          <a:latin typeface="DejaVu Sans"/>
                          <a:ea typeface="DejaVu Sans"/>
                          <a:cs typeface="DejaVu Sans"/>
                        </a:rPr>
                        <a:t>Признак</a:t>
                      </a:r>
                    </a:p>
                  </a:txBody>
                  <a:tcPr marL="91440" marR="91440" marT="45720" marB="45720" anchor="ctr">
                    <a:solidFill>
                      <a:srgbClr val="101C32"/>
                    </a:solidFill>
                  </a:tcPr>
                </a:tc>
                <a:tc>
                  <a:txBody>
                    <a:bodyPr lIns="114300" tIns="95250" rIns="95250" bIns="76200"/>
                    <a:lstStyle/>
                    <a:p>
                      <a:r>
                        <a:rPr sz="1725" b="1">
                          <a:solidFill>
                            <a:srgbClr val="FFFFFF"/>
                          </a:solidFill>
                          <a:latin typeface="DejaVu Sans"/>
                          <a:ea typeface="DejaVu Sans"/>
                          <a:cs typeface="DejaVu Sans"/>
                        </a:rPr>
                        <a:t>Что считаем</a:t>
                      </a:r>
                    </a:p>
                  </a:txBody>
                  <a:tcPr marL="91440" marR="91440" marT="45720" marB="45720" anchor="ctr">
                    <a:solidFill>
                      <a:srgbClr val="101C32"/>
                    </a:solidFill>
                  </a:tcPr>
                </a:tc>
                <a:tc>
                  <a:txBody>
                    <a:bodyPr lIns="114300" tIns="95250" rIns="95250" bIns="76200"/>
                    <a:lstStyle/>
                    <a:p>
                      <a:r>
                        <a:rPr sz="1725" b="1">
                          <a:solidFill>
                            <a:srgbClr val="FFFFFF"/>
                          </a:solidFill>
                          <a:latin typeface="DejaVu Sans"/>
                          <a:ea typeface="DejaVu Sans"/>
                          <a:cs typeface="DejaVu Sans"/>
                        </a:rPr>
                        <a:t>Масштаб</a:t>
                      </a:r>
                    </a:p>
                  </a:txBody>
                  <a:tcPr marL="91440" marR="91440" marT="45720" marB="45720" anchor="ctr">
                    <a:solidFill>
                      <a:srgbClr val="101C32"/>
                    </a:solidFill>
                  </a:tcPr>
                </a:tc>
              </a:tr>
              <a:tr h="495300">
                <a:tc>
                  <a:txBody>
                    <a:bodyPr lIns="114300" tIns="95250" rIns="95250" bIns="76200"/>
                    <a:lstStyle/>
                    <a:p>
                      <a:r>
                        <a:rPr sz="1725" b="0">
                          <a:solidFill>
                            <a:srgbClr val="101C32"/>
                          </a:solidFill>
                          <a:latin typeface="DejaVu Sans"/>
                          <a:ea typeface="DejaVu Sans"/>
                          <a:cs typeface="DejaVu Sans"/>
                        </a:rPr>
                        <a:t>Входящие SYN/с</a:t>
                      </a:r>
                    </a:p>
                  </a:txBody>
                  <a:tcPr marL="91440" marR="91440" marT="45720" marB="45720" anchor="ctr">
                    <a:solidFill>
                      <a:srgbClr val="FFFFFF"/>
                    </a:solidFill>
                  </a:tcPr>
                </a:tc>
                <a:tc>
                  <a:txBody>
                    <a:bodyPr lIns="114300" tIns="95250" rIns="95250" bIns="76200"/>
                    <a:lstStyle/>
                    <a:p>
                      <a:r>
                        <a:rPr sz="1725" b="0">
                          <a:solidFill>
                            <a:srgbClr val="101C32"/>
                          </a:solidFill>
                          <a:latin typeface="DejaVu Sans"/>
                          <a:ea typeface="DejaVu Sans"/>
                          <a:cs typeface="DejaVu Sans"/>
                        </a:rPr>
                        <a:t>Среднюю частоту за окно</a:t>
                      </a:r>
                    </a:p>
                  </a:txBody>
                  <a:tcPr marL="91440" marR="91440" marT="45720" marB="45720" anchor="ctr">
                    <a:solidFill>
                      <a:srgbClr val="FFFFFF"/>
                    </a:solidFill>
                  </a:tcPr>
                </a:tc>
                <a:tc>
                  <a:txBody>
                    <a:bodyPr lIns="114300" tIns="95250" rIns="95250" bIns="76200"/>
                    <a:lstStyle/>
                    <a:p>
                      <a:r>
                        <a:rPr sz="1725" b="0">
                          <a:solidFill>
                            <a:srgbClr val="101C32"/>
                          </a:solidFill>
                          <a:latin typeface="DejaVu Sans"/>
                          <a:ea typeface="DejaVu Sans"/>
                          <a:cs typeface="DejaVu Sans"/>
                        </a:rPr>
                        <a:t>÷ 1000</a:t>
                      </a:r>
                    </a:p>
                  </a:txBody>
                  <a:tcPr marL="91440" marR="91440" marT="45720" marB="45720" anchor="ctr">
                    <a:solidFill>
                      <a:srgbClr val="FFFFFF"/>
                    </a:solidFill>
                  </a:tcPr>
                </a:tc>
              </a:tr>
              <a:tr h="495300">
                <a:tc>
                  <a:txBody>
                    <a:bodyPr lIns="114300" tIns="95250" rIns="95250" bIns="76200"/>
                    <a:lstStyle/>
                    <a:p>
                      <a:r>
                        <a:rPr sz="1725" b="0">
                          <a:solidFill>
                            <a:srgbClr val="101C32"/>
                          </a:solidFill>
                          <a:latin typeface="DejaVu Sans"/>
                          <a:ea typeface="DejaVu Sans"/>
                          <a:cs typeface="DejaVu Sans"/>
                        </a:rPr>
                        <a:t>Незавершённые попытки, %</a:t>
                      </a:r>
                    </a:p>
                  </a:txBody>
                  <a:tcPr marL="91440" marR="91440" marT="45720" marB="45720" anchor="ctr">
                    <a:solidFill>
                      <a:srgbClr val="EAF0F4"/>
                    </a:solidFill>
                  </a:tcPr>
                </a:tc>
                <a:tc>
                  <a:txBody>
                    <a:bodyPr lIns="114300" tIns="95250" rIns="95250" bIns="76200"/>
                    <a:lstStyle/>
                    <a:p>
                      <a:r>
                        <a:rPr sz="1725" b="0">
                          <a:solidFill>
                            <a:srgbClr val="101C32"/>
                          </a:solidFill>
                          <a:latin typeface="DejaVu Sans"/>
                          <a:ea typeface="DejaVu Sans"/>
                          <a:cs typeface="DejaVu Sans"/>
                        </a:rPr>
                        <a:t>Долю без рукопожатия за 3 с</a:t>
                      </a:r>
                    </a:p>
                  </a:txBody>
                  <a:tcPr marL="91440" marR="91440" marT="45720" marB="45720" anchor="ctr">
                    <a:solidFill>
                      <a:srgbClr val="EAF0F4"/>
                    </a:solidFill>
                  </a:tcPr>
                </a:tc>
                <a:tc>
                  <a:txBody>
                    <a:bodyPr lIns="114300" tIns="95250" rIns="95250" bIns="76200"/>
                    <a:lstStyle/>
                    <a:p>
                      <a:r>
                        <a:rPr sz="1725" b="0">
                          <a:solidFill>
                            <a:srgbClr val="101C32"/>
                          </a:solidFill>
                          <a:latin typeface="DejaVu Sans"/>
                          <a:ea typeface="DejaVu Sans"/>
                          <a:cs typeface="DejaVu Sans"/>
                        </a:rPr>
                        <a:t>÷ 100</a:t>
                      </a:r>
                    </a:p>
                  </a:txBody>
                  <a:tcPr marL="91440" marR="91440" marT="45720" marB="45720" anchor="ctr">
                    <a:solidFill>
                      <a:srgbClr val="EAF0F4"/>
                    </a:solidFill>
                  </a:tcPr>
                </a:tc>
              </a:tr>
            </a:tbl>
          </a:graphicData>
        </a:graphic>
      </p:graphicFrame>
      <p:sp>
        <p:nvSpPr>
          <p:cNvPr id="9" name="text-53">
            <a:extLst xmlns:a="http://schemas.openxmlformats.org/drawingml/2006/main">
              <a:ext uri="{FF2B5EF4-FFF2-40B4-BE49-F238E27FC236}">
                <a16:creationId xmlns:a16="http://schemas.microsoft.com/office/drawing/2014/main" id="{AFC66027-1316-44F5-8A18-4397134CFEFD}"/>
              </a:ext>
            </a:extLst>
          </p:cNvPr>
          <p:cNvSpPr>
            <a:spLocks xmlns:a="http://schemas.openxmlformats.org/drawingml/2006/main" noGrp="1"/>
          </p:cNvSpPr>
          <p:nvPr/>
        </p:nvSpPr>
        <p:spPr>
          <a:xfrm xmlns:a="http://schemas.openxmlformats.org/drawingml/2006/main">
            <a:off x="571500" y="5353050"/>
            <a:ext cx="1104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101C32"/>
                </a:solidFill>
                <a:latin typeface="DejaVu Sans"/>
                <a:ea typeface="DejaVu Sans"/>
                <a:cs typeface="DejaVu Sans"/>
              </a:defRPr>
            </a:defPPr>
          </a:lstStyle>
          <a:p xmlns:a="http://schemas.openxmlformats.org/drawingml/2006/main">
            <a:pPr>
              <a:defRPr sz="1875" b="1">
                <a:solidFill>
                  <a:srgbClr val="101C32"/>
                </a:solidFill>
                <a:latin typeface="DejaVu Sans"/>
                <a:ea typeface="DejaVu Sans"/>
                <a:cs typeface="DejaVu Sans"/>
              </a:defRPr>
            </a:pPr>
            <a:r>
              <a:rPr sz="1875" b="1">
                <a:solidFill>
                  <a:srgbClr val="101C32"/>
                </a:solidFill>
                <a:latin typeface="DejaVu Sans"/>
                <a:ea typeface="DejaVu Sans"/>
                <a:cs typeface="DejaVu Sans"/>
              </a:rPr>
              <a:t>20 окон для обучения: 10 нормы и 10 атаки. Ещё 8 для разбора.</a:t>
            </a:r>
          </a:p>
          <a:p xmlns:a="http://schemas.openxmlformats.org/drawingml/2006/main">
            <a:pPr>
              <a:defRPr sz="1875" b="1">
                <a:solidFill>
                  <a:srgbClr val="101C32"/>
                </a:solidFill>
                <a:latin typeface="DejaVu Sans"/>
                <a:ea typeface="DejaVu Sans"/>
                <a:cs typeface="DejaVu Sans"/>
              </a:defRPr>
            </a:pPr>
            <a:r>
              <a:rPr sz="1875" b="1">
                <a:solidFill>
                  <a:srgbClr val="101C32"/>
                </a:solidFill>
                <a:latin typeface="DejaVu Sans"/>
                <a:ea typeface="DejaVu Sans"/>
                <a:cs typeface="DejaVu Sans"/>
              </a:rPr>
              <a:t>Все значения заданы вручную. Реальный трафик не использован.</a:t>
            </a:r>
          </a:p>
        </p:txBody>
      </p:sp>
      <p:sp>
        <p:nvSpPr>
          <p:cNvPr id="10" name="text-54">
            <a:extLst xmlns:a="http://schemas.openxmlformats.org/drawingml/2006/main">
              <a:ext uri="{FF2B5EF4-FFF2-40B4-BE49-F238E27FC236}">
                <a16:creationId xmlns:a16="http://schemas.microsoft.com/office/drawing/2014/main" id="{96E1B340-4CE0-4A93-96B8-A269B6FD21A9}"/>
              </a:ext>
            </a:extLst>
          </p:cNvPr>
          <p:cNvSpPr>
            <a:spLocks xmlns:a="http://schemas.openxmlformats.org/drawingml/2006/main" noGrp="1"/>
          </p:cNvSpPr>
          <p:nvPr/>
        </p:nvSpPr>
        <p:spPr>
          <a:xfrm xmlns:a="http://schemas.openxmlformats.org/drawingml/2006/main">
            <a:off x="571500" y="6076950"/>
            <a:ext cx="11049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425" b="0">
                <a:solidFill>
                  <a:srgbClr val="536377"/>
                </a:solidFill>
                <a:latin typeface="DejaVu Sans"/>
                <a:ea typeface="DejaVu Sans"/>
                <a:cs typeface="DejaVu Sans"/>
              </a:defRPr>
            </a:defPPr>
          </a:lstStyle>
          <a:p xmlns:a="http://schemas.openxmlformats.org/drawingml/2006/main">
            <a:pPr>
              <a:defRPr sz="1425" b="0">
                <a:solidFill>
                  <a:srgbClr val="536377"/>
                </a:solidFill>
                <a:latin typeface="DejaVu Sans"/>
                <a:ea typeface="DejaVu Sans"/>
                <a:cs typeface="DejaVu Sans"/>
              </a:defRPr>
            </a:pPr>
            <a:r>
              <a:rPr sz="1425" b="0">
                <a:solidFill>
                  <a:srgbClr val="536377"/>
                </a:solidFill>
                <a:latin typeface="DejaVu Sans"/>
                <a:ea typeface="DejaVu Sans"/>
                <a:cs typeface="DejaVu Sans"/>
              </a:rPr>
              <a:t>Нужны оба направления трафика. Окна без SYN исключаем.</a:t>
            </a:r>
          </a:p>
        </p:txBody>
      </p:sp>
    </p:spTree>
    <p:extLst>
      <p:ext uri="{BB962C8B-B14F-4D97-AF65-F5344CB8AC3E}">
        <p14:creationId xmlns:p14="http://schemas.microsoft.com/office/powerpoint/2010/main" val="1954123684"/>
      </p:ext>
    </p:extLst>
  </p:cSld>
</p:sld>
</file>

<file path=ppt/slides/slide8.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9" name="text-55">
            <a:extLst xmlns:a="http://schemas.openxmlformats.org/drawingml/2006/main">
              <a:ext uri="{FF2B5EF4-FFF2-40B4-BE49-F238E27FC236}">
                <a16:creationId xmlns:a16="http://schemas.microsoft.com/office/drawing/2014/main" id="{4FF5305A-E5EE-4641-92EF-3D00A2EEA23B}"/>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Два эталона и модель SVM</a:t>
            </a:r>
          </a:p>
        </p:txBody>
      </p:sp>
      <p:sp>
        <p:nvSpPr>
          <p:cNvPr id="2" name="text-56">
            <a:extLst xmlns:a="http://schemas.openxmlformats.org/drawingml/2006/main">
              <a:ext uri="{FF2B5EF4-FFF2-40B4-BE49-F238E27FC236}">
                <a16:creationId xmlns:a16="http://schemas.microsoft.com/office/drawing/2014/main" id="{6E56598A-EA7F-4132-9FB3-4CDD1A0DA9A4}"/>
              </a:ext>
            </a:extLst>
          </p:cNvPr>
          <p:cNvSpPr>
            <a:spLocks xmlns:a="http://schemas.openxmlformats.org/drawingml/2006/main" noGrp="1"/>
          </p:cNvSpPr>
          <p:nvPr/>
        </p:nvSpPr>
        <p:spPr>
          <a:xfrm xmlns:a="http://schemas.openxmlformats.org/drawingml/2006/main">
            <a:off x="571500" y="13620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377"/>
                </a:solidFill>
                <a:latin typeface="DejaVu Sans"/>
                <a:ea typeface="DejaVu Sans"/>
                <a:cs typeface="DejaVu Sans"/>
              </a:defRPr>
            </a:defPPr>
          </a:lstStyle>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Медоиды ищем внутри классов. SVM обучаем на всей той же выборке.</a:t>
            </a:r>
          </a:p>
        </p:txBody>
      </p:sp>
      <p:sp>
        <p:nvSpPr>
          <p:cNvPr id="3" name="">
            <a:extLst xmlns:a="http://schemas.openxmlformats.org/drawingml/2006/main">
              <a:ext uri="{FF2B5EF4-FFF2-40B4-BE49-F238E27FC236}">
                <a16:creationId xmlns:a16="http://schemas.microsoft.com/office/drawing/2014/main" id="{AC1EC3D5-505B-44F7-AC5C-EC68FA7F5389}"/>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4" name="text-57">
            <a:extLst xmlns:a="http://schemas.openxmlformats.org/drawingml/2006/main">
              <a:ext uri="{FF2B5EF4-FFF2-40B4-BE49-F238E27FC236}">
                <a16:creationId xmlns:a16="http://schemas.microsoft.com/office/drawing/2014/main" id="{08EA2D2C-BD2C-4494-AE7B-8BE9F6C77740}"/>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   [3, 5]. Расчёт в Colab</a:t>
            </a:r>
          </a:p>
        </p:txBody>
      </p:sp>
      <p:sp>
        <p:nvSpPr>
          <p:cNvPr id="5" name="text-58">
            <a:extLst xmlns:a="http://schemas.openxmlformats.org/drawingml/2006/main">
              <a:ext uri="{FF2B5EF4-FFF2-40B4-BE49-F238E27FC236}">
                <a16:creationId xmlns:a16="http://schemas.microsoft.com/office/drawing/2014/main" id="{DAFB8104-128C-4DAD-9AA5-353C5E0C77E0}"/>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08</a:t>
            </a:r>
          </a:p>
        </p:txBody>
      </p:sp>
      <p:graphicFrame>
        <p:nvGraphicFramePr>
          <p:cNvPr id="6" name="">
            <a:extLst xmlns:a="http://schemas.openxmlformats.org/drawingml/2006/main">
              <a:ext uri="{FF2B5EF4-FFF2-40B4-BE49-F238E27FC236}">
                <a16:creationId xmlns:a16="http://schemas.microsoft.com/office/drawing/2014/main" id="{2F6D4440-9EB2-409D-96DB-F4D493A822D2}"/>
              </a:ext>
            </a:extLst>
          </p:cNvPr>
          <p:cNvGraphicFramePr/>
          <p:nvPr/>
        </p:nvGraphicFramePr>
        <p:xfrm>
          <a:off xmlns:a="http://schemas.openxmlformats.org/drawingml/2006/main" x="571500" y="2105025"/>
          <a:ext xmlns:a="http://schemas.openxmlformats.org/drawingml/2006/main" cx="11049000" cy="1762125"/>
        </p:xfrm>
        <a:graphic xmlns:a="http://schemas.openxmlformats.org/drawingml/2006/main">
          <a:graphicData uri="http://schemas.openxmlformats.org/drawingml/2006/table">
            <a:tbl>
              <a:tblPr/>
              <a:tblGrid>
                <a:gridCol w="3069167"/>
                <a:gridCol w="2250722"/>
                <a:gridCol w="2250722"/>
                <a:gridCol w="3478389"/>
              </a:tblGrid>
              <a:tr h="587375">
                <a:tc>
                  <a:txBody>
                    <a:bodyPr lIns="114300" tIns="95250" rIns="95250" bIns="76200"/>
                    <a:lstStyle/>
                    <a:p>
                      <a:r>
                        <a:rPr sz="2025" b="1">
                          <a:solidFill>
                            <a:srgbClr val="FFFFFF"/>
                          </a:solidFill>
                          <a:latin typeface="DejaVu Sans"/>
                          <a:ea typeface="DejaVu Sans"/>
                          <a:cs typeface="DejaVu Sans"/>
                        </a:rPr>
                        <a:t>Класс</a:t>
                      </a:r>
                    </a:p>
                  </a:txBody>
                  <a:tcPr marL="91440" marR="91440" marT="45720" marB="45720" anchor="ctr">
                    <a:solidFill>
                      <a:srgbClr val="101C32"/>
                    </a:solidFill>
                  </a:tcPr>
                </a:tc>
                <a:tc>
                  <a:txBody>
                    <a:bodyPr lIns="114300" tIns="95250" rIns="95250" bIns="76200"/>
                    <a:lstStyle/>
                    <a:p>
                      <a:r>
                        <a:rPr sz="2025" b="1">
                          <a:solidFill>
                            <a:srgbClr val="FFFFFF"/>
                          </a:solidFill>
                          <a:latin typeface="DejaVu Sans"/>
                          <a:ea typeface="DejaVu Sans"/>
                          <a:cs typeface="DejaVu Sans"/>
                        </a:rPr>
                        <a:t>Медоид</a:t>
                      </a:r>
                    </a:p>
                  </a:txBody>
                  <a:tcPr marL="91440" marR="91440" marT="45720" marB="45720" anchor="ctr">
                    <a:solidFill>
                      <a:srgbClr val="101C32"/>
                    </a:solidFill>
                  </a:tcPr>
                </a:tc>
                <a:tc>
                  <a:txBody>
                    <a:bodyPr lIns="114300" tIns="95250" rIns="95250" bIns="76200"/>
                    <a:lstStyle/>
                    <a:p>
                      <a:r>
                        <a:rPr sz="2025" b="1">
                          <a:solidFill>
                            <a:srgbClr val="FFFFFF"/>
                          </a:solidFill>
                          <a:latin typeface="DejaVu Sans"/>
                          <a:ea typeface="DejaVu Sans"/>
                          <a:cs typeface="DejaVu Sans"/>
                        </a:rPr>
                        <a:t>SYN/с</a:t>
                      </a:r>
                    </a:p>
                  </a:txBody>
                  <a:tcPr marL="91440" marR="91440" marT="45720" marB="45720" anchor="ctr">
                    <a:solidFill>
                      <a:srgbClr val="101C32"/>
                    </a:solidFill>
                  </a:tcPr>
                </a:tc>
                <a:tc>
                  <a:txBody>
                    <a:bodyPr lIns="114300" tIns="95250" rIns="95250" bIns="76200"/>
                    <a:lstStyle/>
                    <a:p>
                      <a:r>
                        <a:rPr sz="2025" b="1">
                          <a:solidFill>
                            <a:srgbClr val="FFFFFF"/>
                          </a:solidFill>
                          <a:latin typeface="DejaVu Sans"/>
                          <a:ea typeface="DejaVu Sans"/>
                          <a:cs typeface="DejaVu Sans"/>
                        </a:rPr>
                        <a:t>Не завершены</a:t>
                      </a:r>
                    </a:p>
                  </a:txBody>
                  <a:tcPr marL="91440" marR="91440" marT="45720" marB="45720" anchor="ctr">
                    <a:solidFill>
                      <a:srgbClr val="101C32"/>
                    </a:solidFill>
                  </a:tcPr>
                </a:tc>
              </a:tr>
              <a:tr h="587375">
                <a:tc>
                  <a:txBody>
                    <a:bodyPr lIns="114300" tIns="95250" rIns="95250" bIns="76200"/>
                    <a:lstStyle/>
                    <a:p>
                      <a:r>
                        <a:rPr sz="2025" b="0">
                          <a:solidFill>
                            <a:srgbClr val="101C32"/>
                          </a:solidFill>
                          <a:latin typeface="DejaVu Sans"/>
                          <a:ea typeface="DejaVu Sans"/>
                          <a:cs typeface="DejaVu Sans"/>
                        </a:rPr>
                        <a:t>Норма</a:t>
                      </a:r>
                    </a:p>
                  </a:txBody>
                  <a:tcPr marL="91440" marR="91440" marT="45720" marB="45720" anchor="ctr">
                    <a:solidFill>
                      <a:srgbClr val="FFFFFF"/>
                    </a:solidFill>
                  </a:tcPr>
                </a:tc>
                <a:tc>
                  <a:txBody>
                    <a:bodyPr lIns="114300" tIns="95250" rIns="95250" bIns="76200"/>
                    <a:lstStyle/>
                    <a:p>
                      <a:r>
                        <a:rPr sz="2025" b="0">
                          <a:solidFill>
                            <a:srgbClr val="101C32"/>
                          </a:solidFill>
                          <a:latin typeface="DejaVu Sans"/>
                          <a:ea typeface="DejaVu Sans"/>
                          <a:cs typeface="DejaVu Sans"/>
                        </a:rPr>
                        <a:t>N05</a:t>
                      </a:r>
                    </a:p>
                  </a:txBody>
                  <a:tcPr marL="91440" marR="91440" marT="45720" marB="45720" anchor="ctr">
                    <a:solidFill>
                      <a:srgbClr val="FFFFFF"/>
                    </a:solidFill>
                  </a:tcPr>
                </a:tc>
                <a:tc>
                  <a:txBody>
                    <a:bodyPr lIns="114300" tIns="95250" rIns="95250" bIns="76200"/>
                    <a:lstStyle/>
                    <a:p>
                      <a:r>
                        <a:rPr sz="2025" b="0">
                          <a:solidFill>
                            <a:srgbClr val="101C32"/>
                          </a:solidFill>
                          <a:latin typeface="DejaVu Sans"/>
                          <a:ea typeface="DejaVu Sans"/>
                          <a:cs typeface="DejaVu Sans"/>
                        </a:rPr>
                        <a:t>600</a:t>
                      </a:r>
                    </a:p>
                  </a:txBody>
                  <a:tcPr marL="91440" marR="91440" marT="45720" marB="45720" anchor="ctr">
                    <a:solidFill>
                      <a:srgbClr val="FFFFFF"/>
                    </a:solidFill>
                  </a:tcPr>
                </a:tc>
                <a:tc>
                  <a:txBody>
                    <a:bodyPr lIns="114300" tIns="95250" rIns="95250" bIns="76200"/>
                    <a:lstStyle/>
                    <a:p>
                      <a:r>
                        <a:rPr sz="2025" b="0">
                          <a:solidFill>
                            <a:srgbClr val="101C32"/>
                          </a:solidFill>
                          <a:latin typeface="DejaVu Sans"/>
                          <a:ea typeface="DejaVu Sans"/>
                          <a:cs typeface="DejaVu Sans"/>
                        </a:rPr>
                        <a:t>15%</a:t>
                      </a:r>
                    </a:p>
                  </a:txBody>
                  <a:tcPr marL="91440" marR="91440" marT="45720" marB="45720" anchor="ctr">
                    <a:solidFill>
                      <a:srgbClr val="FFFFFF"/>
                    </a:solidFill>
                  </a:tcPr>
                </a:tc>
              </a:tr>
              <a:tr h="587375">
                <a:tc>
                  <a:txBody>
                    <a:bodyPr lIns="114300" tIns="95250" rIns="95250" bIns="76200"/>
                    <a:lstStyle/>
                    <a:p>
                      <a:r>
                        <a:rPr sz="2025" b="0">
                          <a:solidFill>
                            <a:srgbClr val="101C32"/>
                          </a:solidFill>
                          <a:latin typeface="DejaVu Sans"/>
                          <a:ea typeface="DejaVu Sans"/>
                          <a:cs typeface="DejaVu Sans"/>
                        </a:rPr>
                        <a:t>SYN-flood</a:t>
                      </a:r>
                    </a:p>
                  </a:txBody>
                  <a:tcPr marL="91440" marR="91440" marT="45720" marB="45720" anchor="ctr">
                    <a:solidFill>
                      <a:srgbClr val="EAF0F4"/>
                    </a:solidFill>
                  </a:tcPr>
                </a:tc>
                <a:tc>
                  <a:txBody>
                    <a:bodyPr lIns="114300" tIns="95250" rIns="95250" bIns="76200"/>
                    <a:lstStyle/>
                    <a:p>
                      <a:r>
                        <a:rPr sz="2025" b="0">
                          <a:solidFill>
                            <a:srgbClr val="101C32"/>
                          </a:solidFill>
                          <a:latin typeface="DejaVu Sans"/>
                          <a:ea typeface="DejaVu Sans"/>
                          <a:cs typeface="DejaVu Sans"/>
                        </a:rPr>
                        <a:t>A06</a:t>
                      </a:r>
                    </a:p>
                  </a:txBody>
                  <a:tcPr marL="91440" marR="91440" marT="45720" marB="45720" anchor="ctr">
                    <a:solidFill>
                      <a:srgbClr val="EAF0F4"/>
                    </a:solidFill>
                  </a:tcPr>
                </a:tc>
                <a:tc>
                  <a:txBody>
                    <a:bodyPr lIns="114300" tIns="95250" rIns="95250" bIns="76200"/>
                    <a:lstStyle/>
                    <a:p>
                      <a:r>
                        <a:rPr sz="2025" b="0">
                          <a:solidFill>
                            <a:srgbClr val="101C32"/>
                          </a:solidFill>
                          <a:latin typeface="DejaVu Sans"/>
                          <a:ea typeface="DejaVu Sans"/>
                          <a:cs typeface="DejaVu Sans"/>
                        </a:rPr>
                        <a:t>1300</a:t>
                      </a:r>
                    </a:p>
                  </a:txBody>
                  <a:tcPr marL="91440" marR="91440" marT="45720" marB="45720" anchor="ctr">
                    <a:solidFill>
                      <a:srgbClr val="EAF0F4"/>
                    </a:solidFill>
                  </a:tcPr>
                </a:tc>
                <a:tc>
                  <a:txBody>
                    <a:bodyPr lIns="114300" tIns="95250" rIns="95250" bIns="76200"/>
                    <a:lstStyle/>
                    <a:p>
                      <a:r>
                        <a:rPr sz="2025" b="0">
                          <a:solidFill>
                            <a:srgbClr val="101C32"/>
                          </a:solidFill>
                          <a:latin typeface="DejaVu Sans"/>
                          <a:ea typeface="DejaVu Sans"/>
                          <a:cs typeface="DejaVu Sans"/>
                        </a:rPr>
                        <a:t>65%</a:t>
                      </a:r>
                    </a:p>
                  </a:txBody>
                  <a:tcPr marL="91440" marR="91440" marT="45720" marB="45720" anchor="ctr">
                    <a:solidFill>
                      <a:srgbClr val="EAF0F4"/>
                    </a:solidFill>
                  </a:tcPr>
                </a:tc>
              </a:tr>
            </a:tbl>
          </a:graphicData>
        </a:graphic>
      </p:graphicFrame>
      <p:sp>
        <p:nvSpPr>
          <p:cNvPr id="7" name="text-59">
            <a:extLst xmlns:a="http://schemas.openxmlformats.org/drawingml/2006/main">
              <a:ext uri="{FF2B5EF4-FFF2-40B4-BE49-F238E27FC236}">
                <a16:creationId xmlns:a16="http://schemas.microsoft.com/office/drawing/2014/main" id="{EE320089-44F9-467A-A884-12A68E58D5D4}"/>
              </a:ext>
            </a:extLst>
          </p:cNvPr>
          <p:cNvSpPr>
            <a:spLocks xmlns:a="http://schemas.openxmlformats.org/drawingml/2006/main" noGrp="1"/>
          </p:cNvSpPr>
          <p:nvPr/>
        </p:nvSpPr>
        <p:spPr>
          <a:xfrm xmlns:a="http://schemas.openxmlformats.org/drawingml/2006/main">
            <a:off x="571500" y="4286250"/>
            <a:ext cx="1104900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101C32"/>
                </a:solidFill>
                <a:latin typeface="DejaVu Sans Mono"/>
                <a:ea typeface="DejaVu Sans Mono"/>
                <a:cs typeface="DejaVu Sans Mono"/>
              </a:defRPr>
            </a:defPPr>
          </a:lstStyle>
          <a:p xmlns:a="http://schemas.openxmlformats.org/drawingml/2006/main">
            <a:pPr>
              <a:defRPr sz="1875" b="0">
                <a:solidFill>
                  <a:srgbClr val="101C32"/>
                </a:solidFill>
                <a:latin typeface="DejaVu Sans Mono"/>
                <a:ea typeface="DejaVu Sans Mono"/>
                <a:cs typeface="DejaVu Sans Mono"/>
              </a:defRPr>
            </a:pPr>
            <a:r>
              <a:rPr sz="1875" b="0">
                <a:solidFill>
                  <a:srgbClr val="101C32"/>
                </a:solidFill>
                <a:latin typeface="DejaVu Sans Mono"/>
                <a:ea typeface="DejaVu Sans Mono"/>
                <a:cs typeface="DejaVu Sans Mono"/>
              </a:rPr>
              <a:t>model = SVC(kernel="linear", C=1,</a:t>
            </a:r>
          </a:p>
          <a:p xmlns:a="http://schemas.openxmlformats.org/drawingml/2006/main">
            <a:pPr>
              <a:defRPr sz="1875" b="0">
                <a:solidFill>
                  <a:srgbClr val="101C32"/>
                </a:solidFill>
                <a:latin typeface="DejaVu Sans Mono"/>
                <a:ea typeface="DejaVu Sans Mono"/>
                <a:cs typeface="DejaVu Sans Mono"/>
              </a:defRPr>
            </a:pPr>
            <a:r>
              <a:rPr sz="1875" b="0">
                <a:solidFill>
                  <a:srgbClr val="101C32"/>
                </a:solidFill>
                <a:latin typeface="DejaVu Sans Mono"/>
                <a:ea typeface="DejaVu Sans Mono"/>
                <a:cs typeface="DejaVu Sans Mono"/>
              </a:rPr>
              <a:t>            tol=1e-10, shrinking=False)</a:t>
            </a:r>
          </a:p>
          <a:p xmlns:a="http://schemas.openxmlformats.org/drawingml/2006/main">
            <a:pPr>
              <a:defRPr sz="1875" b="0">
                <a:solidFill>
                  <a:srgbClr val="101C32"/>
                </a:solidFill>
                <a:latin typeface="DejaVu Sans Mono"/>
                <a:ea typeface="DejaVu Sans Mono"/>
                <a:cs typeface="DejaVu Sans Mono"/>
              </a:defRPr>
            </a:pPr>
            <a:r>
              <a:rPr sz="1875" b="0">
                <a:solidFill>
                  <a:srgbClr val="101C32"/>
                </a:solidFill>
                <a:latin typeface="DejaVu Sans Mono"/>
                <a:ea typeface="DejaVu Sans Mono"/>
                <a:cs typeface="DejaVu Sans Mono"/>
              </a:rPr>
              <a:t>model.fit(X_train, y_train)</a:t>
            </a:r>
          </a:p>
        </p:txBody>
      </p:sp>
      <p:sp>
        <p:nvSpPr>
          <p:cNvPr id="8" name="text-60">
            <a:extLst xmlns:a="http://schemas.openxmlformats.org/drawingml/2006/main">
              <a:ext uri="{FF2B5EF4-FFF2-40B4-BE49-F238E27FC236}">
                <a16:creationId xmlns:a16="http://schemas.microsoft.com/office/drawing/2014/main" id="{2FD6532A-8E43-4D42-B42F-AE4BB8D6B51B}"/>
              </a:ext>
            </a:extLst>
          </p:cNvPr>
          <p:cNvSpPr>
            <a:spLocks xmlns:a="http://schemas.openxmlformats.org/drawingml/2006/main" noGrp="1"/>
          </p:cNvSpPr>
          <p:nvPr/>
        </p:nvSpPr>
        <p:spPr>
          <a:xfrm xmlns:a="http://schemas.openxmlformats.org/drawingml/2006/main">
            <a:off x="571500" y="5876925"/>
            <a:ext cx="11049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1">
                <a:solidFill>
                  <a:srgbClr val="008C95"/>
                </a:solidFill>
                <a:latin typeface="DejaVu Sans"/>
                <a:ea typeface="DejaVu Sans"/>
                <a:cs typeface="DejaVu Sans"/>
              </a:defRPr>
            </a:defPPr>
          </a:lstStyle>
          <a:p xmlns:a="http://schemas.openxmlformats.org/drawingml/2006/main">
            <a:pPr>
              <a:defRPr sz="1725" b="1">
                <a:solidFill>
                  <a:srgbClr val="008C95"/>
                </a:solidFill>
                <a:latin typeface="DejaVu Sans"/>
                <a:ea typeface="DejaVu Sans"/>
                <a:cs typeface="DejaVu Sans"/>
              </a:defRPr>
            </a:pPr>
            <a:r>
              <a:rPr sz="1725" b="1">
                <a:solidFill>
                  <a:srgbClr val="008C95"/>
                </a:solidFill>
                <a:latin typeface="DejaVu Sans"/>
                <a:ea typeface="DejaVu Sans"/>
                <a:cs typeface="DejaVu Sans"/>
              </a:rPr>
              <a:t>SVC реализует SVM в scikit-learn. Метки: −1 для нормы, +1 для атаки.</a:t>
            </a:r>
          </a:p>
        </p:txBody>
      </p:sp>
    </p:spTree>
    <p:extLst>
      <p:ext uri="{BB962C8B-B14F-4D97-AF65-F5344CB8AC3E}">
        <p14:creationId xmlns:p14="http://schemas.microsoft.com/office/powerpoint/2010/main" val="2083167080"/>
      </p:ext>
    </p:extLst>
  </p:cSld>
</p:sld>
</file>

<file path=ppt/slides/slide9.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8" name="text-61">
            <a:extLst xmlns:a="http://schemas.openxmlformats.org/drawingml/2006/main">
              <a:ext uri="{FF2B5EF4-FFF2-40B4-BE49-F238E27FC236}">
                <a16:creationId xmlns:a16="http://schemas.microsoft.com/office/drawing/2014/main" id="{4EE36D6E-14AD-47F7-BF7A-717D0F5119AB}"/>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Одно T07, два способа классификации</a:t>
            </a:r>
          </a:p>
        </p:txBody>
      </p:sp>
      <p:sp>
        <p:nvSpPr>
          <p:cNvPr id="2" name="text-62">
            <a:extLst xmlns:a="http://schemas.openxmlformats.org/drawingml/2006/main">
              <a:ext uri="{FF2B5EF4-FFF2-40B4-BE49-F238E27FC236}">
                <a16:creationId xmlns:a16="http://schemas.microsoft.com/office/drawing/2014/main" id="{971A91D0-EC9A-4611-878A-EE7151FB35BD}"/>
              </a:ext>
            </a:extLst>
          </p:cNvPr>
          <p:cNvSpPr>
            <a:spLocks xmlns:a="http://schemas.openxmlformats.org/drawingml/2006/main" noGrp="1"/>
          </p:cNvSpPr>
          <p:nvPr/>
        </p:nvSpPr>
        <p:spPr>
          <a:xfrm xmlns:a="http://schemas.openxmlformats.org/drawingml/2006/main">
            <a:off x="571500" y="13620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377"/>
                </a:solidFill>
                <a:latin typeface="DejaVu Sans"/>
                <a:ea typeface="DejaVu Sans"/>
                <a:cs typeface="DejaVu Sans"/>
              </a:defRPr>
            </a:defPPr>
          </a:lstStyle>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1200 SYN/с и 16% незавершённых. По условию примера это нормальный трафик.</a:t>
            </a:r>
          </a:p>
        </p:txBody>
      </p:sp>
      <p:sp>
        <p:nvSpPr>
          <p:cNvPr id="3" name="">
            <a:extLst xmlns:a="http://schemas.openxmlformats.org/drawingml/2006/main">
              <a:ext uri="{FF2B5EF4-FFF2-40B4-BE49-F238E27FC236}">
                <a16:creationId xmlns:a16="http://schemas.microsoft.com/office/drawing/2014/main" id="{85261794-3D8F-4C32-B02B-617EACE9DB9F}"/>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4" name="text-63">
            <a:extLst xmlns:a="http://schemas.openxmlformats.org/drawingml/2006/main">
              <a:ext uri="{FF2B5EF4-FFF2-40B4-BE49-F238E27FC236}">
                <a16:creationId xmlns:a16="http://schemas.microsoft.com/office/drawing/2014/main" id="{46DADACB-51FE-4668-AF6D-F56EEDAC243F}"/>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a:t>
            </a:r>
          </a:p>
        </p:txBody>
      </p:sp>
      <p:sp>
        <p:nvSpPr>
          <p:cNvPr id="5" name="text-64">
            <a:extLst xmlns:a="http://schemas.openxmlformats.org/drawingml/2006/main">
              <a:ext uri="{FF2B5EF4-FFF2-40B4-BE49-F238E27FC236}">
                <a16:creationId xmlns:a16="http://schemas.microsoft.com/office/drawing/2014/main" id="{780B65D1-2E4F-4318-A1E2-9C108C763302}"/>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09</a:t>
            </a:r>
          </a:p>
        </p:txBody>
      </p:sp>
      <p:graphicFrame>
        <p:nvGraphicFramePr>
          <p:cNvPr id="6" name="">
            <a:extLst xmlns:a="http://schemas.openxmlformats.org/drawingml/2006/main">
              <a:ext uri="{FF2B5EF4-FFF2-40B4-BE49-F238E27FC236}">
                <a16:creationId xmlns:a16="http://schemas.microsoft.com/office/drawing/2014/main" id="{FD1B3567-0322-46DA-93C7-1BA28545B961}"/>
              </a:ext>
            </a:extLst>
          </p:cNvPr>
          <p:cNvGraphicFramePr/>
          <p:nvPr/>
        </p:nvGraphicFramePr>
        <p:xfrm>
          <a:off xmlns:a="http://schemas.openxmlformats.org/drawingml/2006/main" x="571500" y="2152650"/>
          <a:ext xmlns:a="http://schemas.openxmlformats.org/drawingml/2006/main" cx="11049000" cy="3048000"/>
        </p:xfrm>
        <a:graphic xmlns:a="http://schemas.openxmlformats.org/drawingml/2006/main">
          <a:graphicData uri="http://schemas.openxmlformats.org/drawingml/2006/table">
            <a:tbl>
              <a:tblPr/>
              <a:tblGrid>
                <a:gridCol w="2630714"/>
                <a:gridCol w="4209143"/>
                <a:gridCol w="4209143"/>
              </a:tblGrid>
              <a:tr h="762000">
                <a:tc>
                  <a:txBody>
                    <a:bodyPr lIns="114300" tIns="95250" rIns="95250" bIns="76200"/>
                    <a:lstStyle/>
                    <a:p>
                      <a:r>
                        <a:rPr sz="1800" b="1">
                          <a:solidFill>
                            <a:srgbClr val="FFFFFF"/>
                          </a:solidFill>
                          <a:latin typeface="DejaVu Sans"/>
                          <a:ea typeface="DejaVu Sans"/>
                          <a:cs typeface="DejaVu Sans"/>
                        </a:rPr>
                        <a:t>Проверка</a:t>
                      </a:r>
                    </a:p>
                  </a:txBody>
                  <a:tcPr marL="91440" marR="91440" marT="45720" marB="45720" anchor="ctr">
                    <a:solidFill>
                      <a:srgbClr val="101C32"/>
                    </a:solidFill>
                  </a:tcPr>
                </a:tc>
                <a:tc>
                  <a:txBody>
                    <a:bodyPr lIns="114300" tIns="95250" rIns="95250" bIns="76200"/>
                    <a:lstStyle/>
                    <a:p>
                      <a:r>
                        <a:rPr sz="1800" b="1">
                          <a:solidFill>
                            <a:srgbClr val="FFFFFF"/>
                          </a:solidFill>
                          <a:latin typeface="DejaVu Sans"/>
                          <a:ea typeface="DejaVu Sans"/>
                          <a:cs typeface="DejaVu Sans"/>
                        </a:rPr>
                        <a:t>Ближайший эталон</a:t>
                      </a:r>
                    </a:p>
                  </a:txBody>
                  <a:tcPr marL="91440" marR="91440" marT="45720" marB="45720" anchor="ctr">
                    <a:solidFill>
                      <a:srgbClr val="101C32"/>
                    </a:solidFill>
                  </a:tcPr>
                </a:tc>
                <a:tc>
                  <a:txBody>
                    <a:bodyPr lIns="114300" tIns="95250" rIns="95250" bIns="76200"/>
                    <a:lstStyle/>
                    <a:p>
                      <a:r>
                        <a:rPr sz="1800" b="1">
                          <a:solidFill>
                            <a:srgbClr val="FFFFFF"/>
                          </a:solidFill>
                          <a:latin typeface="DejaVu Sans"/>
                          <a:ea typeface="DejaVu Sans"/>
                          <a:cs typeface="DejaVu Sans"/>
                        </a:rPr>
                        <a:t>Линейная SVM</a:t>
                      </a:r>
                    </a:p>
                  </a:txBody>
                  <a:tcPr marL="91440" marR="91440" marT="45720" marB="45720" anchor="ctr">
                    <a:solidFill>
                      <a:srgbClr val="101C32"/>
                    </a:solidFill>
                  </a:tcPr>
                </a:tc>
              </a:tr>
              <a:tr h="762000">
                <a:tc>
                  <a:txBody>
                    <a:bodyPr lIns="114300" tIns="95250" rIns="95250" bIns="76200"/>
                    <a:lstStyle/>
                    <a:p>
                      <a:r>
                        <a:rPr sz="1800" b="0">
                          <a:solidFill>
                            <a:srgbClr val="101C32"/>
                          </a:solidFill>
                          <a:latin typeface="DejaVu Sans"/>
                          <a:ea typeface="DejaVu Sans"/>
                          <a:cs typeface="DejaVu Sans"/>
                        </a:rPr>
                        <a:t>Ответ</a:t>
                      </a:r>
                    </a:p>
                  </a:txBody>
                  <a:tcPr marL="91440" marR="91440" marT="45720" marB="45720" anchor="ctr">
                    <a:solidFill>
                      <a:srgbClr val="FFFFFF"/>
                    </a:solidFill>
                  </a:tcPr>
                </a:tc>
                <a:tc>
                  <a:txBody>
                    <a:bodyPr lIns="114300" tIns="95250" rIns="95250" bIns="76200"/>
                    <a:lstStyle/>
                    <a:p>
                      <a:r>
                        <a:rPr sz="1800" b="0">
                          <a:solidFill>
                            <a:srgbClr val="101C32"/>
                          </a:solidFill>
                          <a:latin typeface="DejaVu Sans"/>
                          <a:ea typeface="DejaVu Sans"/>
                          <a:cs typeface="DejaVu Sans"/>
                        </a:rPr>
                        <a:t>Атака, ошибка</a:t>
                      </a:r>
                    </a:p>
                  </a:txBody>
                  <a:tcPr marL="91440" marR="91440" marT="45720" marB="45720" anchor="ctr">
                    <a:solidFill>
                      <a:srgbClr val="FFFFFF"/>
                    </a:solidFill>
                  </a:tcPr>
                </a:tc>
                <a:tc>
                  <a:txBody>
                    <a:bodyPr lIns="114300" tIns="95250" rIns="95250" bIns="76200"/>
                    <a:lstStyle/>
                    <a:p>
                      <a:r>
                        <a:rPr sz="1800" b="0">
                          <a:solidFill>
                            <a:srgbClr val="101C32"/>
                          </a:solidFill>
                          <a:latin typeface="DejaVu Sans"/>
                          <a:ea typeface="DejaVu Sans"/>
                          <a:cs typeface="DejaVu Sans"/>
                        </a:rPr>
                        <a:t>Норма, верно</a:t>
                      </a:r>
                    </a:p>
                  </a:txBody>
                  <a:tcPr marL="91440" marR="91440" marT="45720" marB="45720" anchor="ctr">
                    <a:solidFill>
                      <a:srgbClr val="FFFFFF"/>
                    </a:solidFill>
                  </a:tcPr>
                </a:tc>
              </a:tr>
              <a:tr h="762000">
                <a:tc>
                  <a:txBody>
                    <a:bodyPr lIns="114300" tIns="95250" rIns="95250" bIns="76200"/>
                    <a:lstStyle/>
                    <a:p>
                      <a:r>
                        <a:rPr sz="1800" b="0">
                          <a:solidFill>
                            <a:srgbClr val="101C32"/>
                          </a:solidFill>
                          <a:latin typeface="DejaVu Sans"/>
                          <a:ea typeface="DejaVu Sans"/>
                          <a:cs typeface="DejaVu Sans"/>
                        </a:rPr>
                        <a:t>Расчёт</a:t>
                      </a:r>
                    </a:p>
                  </a:txBody>
                  <a:tcPr marL="91440" marR="91440" marT="45720" marB="45720" anchor="ctr">
                    <a:solidFill>
                      <a:srgbClr val="EAF0F4"/>
                    </a:solidFill>
                  </a:tcPr>
                </a:tc>
                <a:tc>
                  <a:txBody>
                    <a:bodyPr lIns="114300" tIns="95250" rIns="95250" bIns="76200"/>
                    <a:lstStyle/>
                    <a:p>
                      <a:r>
                        <a:rPr sz="1800" b="0">
                          <a:solidFill>
                            <a:srgbClr val="101C32"/>
                          </a:solidFill>
                          <a:latin typeface="DejaVu Sans"/>
                          <a:ea typeface="DejaVu Sans"/>
                          <a:cs typeface="DejaVu Sans"/>
                        </a:rPr>
                        <a:t>До нормы 0,600</a:t>
                      </a:r>
                    </a:p>
                    <a:p>
                      <a:r>
                        <a:rPr sz="1800" b="0">
                          <a:solidFill>
                            <a:srgbClr val="101C32"/>
                          </a:solidFill>
                          <a:latin typeface="DejaVu Sans"/>
                          <a:ea typeface="DejaVu Sans"/>
                          <a:cs typeface="DejaVu Sans"/>
                        </a:rPr>
                        <a:t>До атаки 0,500</a:t>
                      </a:r>
                    </a:p>
                  </a:txBody>
                  <a:tcPr marL="91440" marR="91440" marT="45720" marB="45720" anchor="ctr">
                    <a:solidFill>
                      <a:srgbClr val="EAF0F4"/>
                    </a:solidFill>
                  </a:tcPr>
                </a:tc>
                <a:tc>
                  <a:txBody>
                    <a:bodyPr lIns="114300" tIns="95250" rIns="95250" bIns="76200"/>
                    <a:lstStyle/>
                    <a:p>
                      <a:r>
                        <a:rPr sz="1800" b="0">
                          <a:solidFill>
                            <a:srgbClr val="101C32"/>
                          </a:solidFill>
                          <a:latin typeface="DejaVu Sans"/>
                          <a:ea typeface="DejaVu Sans"/>
                          <a:cs typeface="DejaVu Sans"/>
                        </a:rPr>
                        <a:t>f ≈ −0,249</a:t>
                      </a:r>
                    </a:p>
                  </a:txBody>
                  <a:tcPr marL="91440" marR="91440" marT="45720" marB="45720" anchor="ctr">
                    <a:solidFill>
                      <a:srgbClr val="EAF0F4"/>
                    </a:solidFill>
                  </a:tcPr>
                </a:tc>
              </a:tr>
              <a:tr h="762000">
                <a:tc>
                  <a:txBody>
                    <a:bodyPr lIns="114300" tIns="95250" rIns="95250" bIns="76200"/>
                    <a:lstStyle/>
                    <a:p>
                      <a:r>
                        <a:rPr sz="1800" b="0">
                          <a:solidFill>
                            <a:srgbClr val="101C32"/>
                          </a:solidFill>
                          <a:latin typeface="DejaVu Sans"/>
                          <a:ea typeface="DejaVu Sans"/>
                          <a:cs typeface="DejaVu Sans"/>
                        </a:rPr>
                        <a:t>Отступ</a:t>
                      </a:r>
                    </a:p>
                  </a:txBody>
                  <a:tcPr marL="91440" marR="91440" marT="45720" marB="45720" anchor="ctr">
                    <a:solidFill>
                      <a:srgbClr val="FFFFFF"/>
                    </a:solidFill>
                  </a:tcPr>
                </a:tc>
                <a:tc>
                  <a:txBody>
                    <a:bodyPr lIns="114300" tIns="95250" rIns="95250" bIns="76200"/>
                    <a:lstStyle/>
                    <a:p>
                      <a:r>
                        <a:rPr sz="1800" b="0">
                          <a:solidFill>
                            <a:srgbClr val="101C32"/>
                          </a:solidFill>
                          <a:latin typeface="DejaVu Sans"/>
                          <a:ea typeface="DejaVu Sans"/>
                          <a:cs typeface="DejaVu Sans"/>
                        </a:rPr>
                        <a:t>M_ref ≈ −0,100</a:t>
                      </a:r>
                    </a:p>
                  </a:txBody>
                  <a:tcPr marL="91440" marR="91440" marT="45720" marB="45720" anchor="ctr">
                    <a:solidFill>
                      <a:srgbClr val="FFFFFF"/>
                    </a:solidFill>
                  </a:tcPr>
                </a:tc>
                <a:tc>
                  <a:txBody>
                    <a:bodyPr lIns="114300" tIns="95250" rIns="95250" bIns="76200"/>
                    <a:lstStyle/>
                    <a:p>
                      <a:r>
                        <a:rPr sz="1800" b="0">
                          <a:solidFill>
                            <a:srgbClr val="101C32"/>
                          </a:solidFill>
                          <a:latin typeface="DejaVu Sans"/>
                          <a:ea typeface="DejaVu Sans"/>
                          <a:cs typeface="DejaVu Sans"/>
                        </a:rPr>
                        <a:t>γ ≈ +0,102</a:t>
                      </a:r>
                    </a:p>
                    <a:p>
                      <a:r>
                        <a:rPr sz="1800" b="0">
                          <a:solidFill>
                            <a:srgbClr val="101C32"/>
                          </a:solidFill>
                          <a:latin typeface="DejaVu Sans"/>
                          <a:ea typeface="DejaVu Sans"/>
                          <a:cs typeface="DejaVu Sans"/>
                        </a:rPr>
                        <a:t>Запас r ≈ 0,102</a:t>
                      </a:r>
                    </a:p>
                  </a:txBody>
                  <a:tcPr marL="91440" marR="91440" marT="45720" marB="45720" anchor="ctr">
                    <a:solidFill>
                      <a:srgbClr val="FFFFFF"/>
                    </a:solidFill>
                  </a:tcPr>
                </a:tc>
              </a:tr>
            </a:tbl>
          </a:graphicData>
        </a:graphic>
      </p:graphicFrame>
      <p:sp>
        <p:nvSpPr>
          <p:cNvPr id="7" name="text-65">
            <a:extLst xmlns:a="http://schemas.openxmlformats.org/drawingml/2006/main">
              <a:ext uri="{FF2B5EF4-FFF2-40B4-BE49-F238E27FC236}">
                <a16:creationId xmlns:a16="http://schemas.microsoft.com/office/drawing/2014/main" id="{52B23840-D644-4F0E-8E7D-09AE80253E73}"/>
              </a:ext>
            </a:extLst>
          </p:cNvPr>
          <p:cNvSpPr>
            <a:spLocks xmlns:a="http://schemas.openxmlformats.org/drawingml/2006/main" noGrp="1"/>
          </p:cNvSpPr>
          <p:nvPr/>
        </p:nvSpPr>
        <p:spPr>
          <a:xfrm xmlns:a="http://schemas.openxmlformats.org/drawingml/2006/main">
            <a:off x="571500" y="5629275"/>
            <a:ext cx="1104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1">
                <a:solidFill>
                  <a:srgbClr val="008C95"/>
                </a:solidFill>
                <a:latin typeface="DejaVu Sans"/>
                <a:ea typeface="DejaVu Sans"/>
                <a:cs typeface="DejaVu Sans"/>
              </a:defRPr>
            </a:defPPr>
          </a:lstStyle>
          <a:p xmlns:a="http://schemas.openxmlformats.org/drawingml/2006/main">
            <a:pPr>
              <a:defRPr sz="1725" b="1">
                <a:solidFill>
                  <a:srgbClr val="008C95"/>
                </a:solidFill>
                <a:latin typeface="DejaVu Sans"/>
                <a:ea typeface="DejaVu Sans"/>
                <a:cs typeface="DejaVu Sans"/>
              </a:defRPr>
            </a:pPr>
            <a:r>
              <a:rPr sz="1725" b="1">
                <a:solidFill>
                  <a:srgbClr val="008C95"/>
                </a:solidFill>
                <a:latin typeface="DejaVu Sans"/>
                <a:ea typeface="DejaVu Sans"/>
                <a:cs typeface="DejaVu Sans"/>
              </a:rPr>
              <a:t>T07 не меняли. Изменился способ выбора класса.</a:t>
            </a:r>
          </a:p>
          <a:p xmlns:a="http://schemas.openxmlformats.org/drawingml/2006/main">
            <a:pPr>
              <a:defRPr sz="1725" b="1">
                <a:solidFill>
                  <a:srgbClr val="008C95"/>
                </a:solidFill>
                <a:latin typeface="DejaVu Sans"/>
                <a:ea typeface="DejaVu Sans"/>
                <a:cs typeface="DejaVu Sans"/>
              </a:defRPr>
            </a:pPr>
            <a:r>
              <a:rPr sz="1725" b="1">
                <a:solidFill>
                  <a:srgbClr val="008C95"/>
                </a:solidFill>
                <a:latin typeface="DejaVu Sans"/>
                <a:ea typeface="DejaVu Sans"/>
                <a:cs typeface="DejaVu Sans"/>
              </a:rPr>
              <a:t>Отступы двух методов определены по-разному, числа напрямую не сравниваем.</a:t>
            </a:r>
          </a:p>
        </p:txBody>
      </p:sp>
    </p:spTree>
    <p:extLst>
      <p:ext uri="{BB962C8B-B14F-4D97-AF65-F5344CB8AC3E}">
        <p14:creationId xmlns:p14="http://schemas.microsoft.com/office/powerpoint/2010/main" val="728192326"/>
      </p:ext>
    </p:extLst>
  </p:cSld>
</p:sld>
</file>

<file path=ppt/slides/slide10.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8" name="text-66">
            <a:extLst xmlns:a="http://schemas.openxmlformats.org/drawingml/2006/main">
              <a:ext uri="{FF2B5EF4-FFF2-40B4-BE49-F238E27FC236}">
                <a16:creationId xmlns:a16="http://schemas.microsoft.com/office/drawing/2014/main" id="{4AE82C6F-B52E-4FA3-9E78-40A55CF7D711}"/>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Результаты всех восьми проверок</a:t>
            </a:r>
          </a:p>
        </p:txBody>
      </p:sp>
      <p:sp>
        <p:nvSpPr>
          <p:cNvPr id="2" name="text-67">
            <a:extLst xmlns:a="http://schemas.openxmlformats.org/drawingml/2006/main">
              <a:ext uri="{FF2B5EF4-FFF2-40B4-BE49-F238E27FC236}">
                <a16:creationId xmlns:a16="http://schemas.microsoft.com/office/drawing/2014/main" id="{716B209D-1B8A-4B96-909F-CBBC76DDF418}"/>
              </a:ext>
            </a:extLst>
          </p:cNvPr>
          <p:cNvSpPr>
            <a:spLocks xmlns:a="http://schemas.openxmlformats.org/drawingml/2006/main" noGrp="1"/>
          </p:cNvSpPr>
          <p:nvPr/>
        </p:nvSpPr>
        <p:spPr>
          <a:xfrm xmlns:a="http://schemas.openxmlformats.org/drawingml/2006/main">
            <a:off x="571500" y="13620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377"/>
                </a:solidFill>
                <a:latin typeface="DejaVu Sans"/>
                <a:ea typeface="DejaVu Sans"/>
                <a:cs typeface="DejaVu Sans"/>
              </a:defRPr>
            </a:defPPr>
          </a:lstStyle>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Сравниваем прогноз с классом, заданным в учебных данных</a:t>
            </a:r>
          </a:p>
        </p:txBody>
      </p:sp>
      <p:sp>
        <p:nvSpPr>
          <p:cNvPr id="3" name="">
            <a:extLst xmlns:a="http://schemas.openxmlformats.org/drawingml/2006/main">
              <a:ext uri="{FF2B5EF4-FFF2-40B4-BE49-F238E27FC236}">
                <a16:creationId xmlns:a16="http://schemas.microsoft.com/office/drawing/2014/main" id="{56478143-1E07-4F28-8567-E27F0C05ECAF}"/>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4" name="text-68">
            <a:extLst xmlns:a="http://schemas.openxmlformats.org/drawingml/2006/main">
              <a:ext uri="{FF2B5EF4-FFF2-40B4-BE49-F238E27FC236}">
                <a16:creationId xmlns:a16="http://schemas.microsoft.com/office/drawing/2014/main" id="{12098E9F-C228-4569-BF00-0B34FE76C870}"/>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a:t>
            </a:r>
          </a:p>
        </p:txBody>
      </p:sp>
      <p:sp>
        <p:nvSpPr>
          <p:cNvPr id="5" name="text-69">
            <a:extLst xmlns:a="http://schemas.openxmlformats.org/drawingml/2006/main">
              <a:ext uri="{FF2B5EF4-FFF2-40B4-BE49-F238E27FC236}">
                <a16:creationId xmlns:a16="http://schemas.microsoft.com/office/drawing/2014/main" id="{4CB2FA8E-2A61-4A77-AA03-1012243FD096}"/>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10</a:t>
            </a:r>
          </a:p>
        </p:txBody>
      </p:sp>
      <p:graphicFrame>
        <p:nvGraphicFramePr>
          <p:cNvPr id="6" name="">
            <a:extLst xmlns:a="http://schemas.openxmlformats.org/drawingml/2006/main">
              <a:ext uri="{FF2B5EF4-FFF2-40B4-BE49-F238E27FC236}">
                <a16:creationId xmlns:a16="http://schemas.microsoft.com/office/drawing/2014/main" id="{679B7CCF-70CC-4110-8FAD-07BBA057862B}"/>
              </a:ext>
            </a:extLst>
          </p:cNvPr>
          <p:cNvGraphicFramePr/>
          <p:nvPr/>
        </p:nvGraphicFramePr>
        <p:xfrm>
          <a:off xmlns:a="http://schemas.openxmlformats.org/drawingml/2006/main" x="571500" y="1952625"/>
          <a:ext xmlns:a="http://schemas.openxmlformats.org/drawingml/2006/main" cx="11049000" cy="3609975"/>
        </p:xfrm>
        <a:graphic xmlns:a="http://schemas.openxmlformats.org/drawingml/2006/main">
          <a:graphicData uri="http://schemas.openxmlformats.org/drawingml/2006/table">
            <a:tbl>
              <a:tblPr/>
              <a:tblGrid>
                <a:gridCol w="1189892"/>
                <a:gridCol w="2889738"/>
                <a:gridCol w="2889738"/>
                <a:gridCol w="2039815"/>
                <a:gridCol w="2039815"/>
              </a:tblGrid>
              <a:tr h="401108">
                <a:tc>
                  <a:txBody>
                    <a:bodyPr lIns="114300" tIns="95250" rIns="95250" bIns="76200"/>
                    <a:lstStyle/>
                    <a:p>
                      <a:r>
                        <a:rPr sz="1800" b="1">
                          <a:solidFill>
                            <a:srgbClr val="FFFFFF"/>
                          </a:solidFill>
                          <a:latin typeface="DejaVu Sans"/>
                          <a:ea typeface="DejaVu Sans"/>
                          <a:cs typeface="DejaVu Sans"/>
                        </a:rPr>
                        <a:t>ID</a:t>
                      </a:r>
                    </a:p>
                  </a:txBody>
                  <a:tcPr marL="91440" marR="91440" marT="45720" marB="45720" anchor="ctr">
                    <a:solidFill>
                      <a:srgbClr val="101C32"/>
                    </a:solidFill>
                  </a:tcPr>
                </a:tc>
                <a:tc>
                  <a:txBody>
                    <a:bodyPr lIns="114300" tIns="95250" rIns="95250" bIns="76200"/>
                    <a:lstStyle/>
                    <a:p>
                      <a:r>
                        <a:rPr sz="1800" b="1">
                          <a:solidFill>
                            <a:srgbClr val="FFFFFF"/>
                          </a:solidFill>
                          <a:latin typeface="DejaVu Sans"/>
                          <a:ea typeface="DejaVu Sans"/>
                          <a:cs typeface="DejaVu Sans"/>
                        </a:rPr>
                        <a:t>Класс в данных</a:t>
                      </a:r>
                    </a:p>
                  </a:txBody>
                  <a:tcPr marL="91440" marR="91440" marT="45720" marB="45720" anchor="ctr">
                    <a:solidFill>
                      <a:srgbClr val="101C32"/>
                    </a:solidFill>
                  </a:tcPr>
                </a:tc>
                <a:tc>
                  <a:txBody>
                    <a:bodyPr lIns="114300" tIns="95250" rIns="95250" bIns="76200"/>
                    <a:lstStyle/>
                    <a:p>
                      <a:r>
                        <a:rPr sz="1800" b="1">
                          <a:solidFill>
                            <a:srgbClr val="FFFFFF"/>
                          </a:solidFill>
                          <a:latin typeface="DejaVu Sans"/>
                          <a:ea typeface="DejaVu Sans"/>
                          <a:cs typeface="DejaVu Sans"/>
                        </a:rPr>
                        <a:t>Прогноз SVM</a:t>
                      </a:r>
                    </a:p>
                  </a:txBody>
                  <a:tcPr marL="91440" marR="91440" marT="45720" marB="45720" anchor="ctr">
                    <a:solidFill>
                      <a:srgbClr val="101C32"/>
                    </a:solidFill>
                  </a:tcPr>
                </a:tc>
                <a:tc>
                  <a:txBody>
                    <a:bodyPr lIns="114300" tIns="95250" rIns="95250" bIns="76200"/>
                    <a:lstStyle/>
                    <a:p>
                      <a:r>
                        <a:rPr sz="1800" b="1">
                          <a:solidFill>
                            <a:srgbClr val="FFFFFF"/>
                          </a:solidFill>
                          <a:latin typeface="DejaVu Sans"/>
                          <a:ea typeface="DejaVu Sans"/>
                          <a:cs typeface="DejaVu Sans"/>
                        </a:rPr>
                        <a:t>Отступ γ</a:t>
                      </a:r>
                    </a:p>
                  </a:txBody>
                  <a:tcPr marL="91440" marR="91440" marT="45720" marB="45720" anchor="ctr">
                    <a:solidFill>
                      <a:srgbClr val="101C32"/>
                    </a:solidFill>
                  </a:tcPr>
                </a:tc>
                <a:tc>
                  <a:txBody>
                    <a:bodyPr lIns="114300" tIns="95250" rIns="95250" bIns="76200"/>
                    <a:lstStyle/>
                    <a:p>
                      <a:r>
                        <a:rPr sz="1800" b="1">
                          <a:solidFill>
                            <a:srgbClr val="FFFFFF"/>
                          </a:solidFill>
                          <a:latin typeface="DejaVu Sans"/>
                          <a:ea typeface="DejaVu Sans"/>
                          <a:cs typeface="DejaVu Sans"/>
                        </a:rPr>
                        <a:t>Запас r</a:t>
                      </a:r>
                    </a:p>
                  </a:txBody>
                  <a:tcPr marL="91440" marR="91440" marT="45720" marB="45720" anchor="ctr">
                    <a:solidFill>
                      <a:srgbClr val="101C32"/>
                    </a:solidFill>
                  </a:tcPr>
                </a:tc>
              </a:tr>
              <a:tr h="401108">
                <a:tc>
                  <a:txBody>
                    <a:bodyPr lIns="114300" tIns="95250" rIns="95250" bIns="76200"/>
                    <a:lstStyle/>
                    <a:p>
                      <a:r>
                        <a:rPr sz="1800" b="0">
                          <a:solidFill>
                            <a:srgbClr val="101C32"/>
                          </a:solidFill>
                          <a:latin typeface="DejaVu Sans"/>
                          <a:ea typeface="DejaVu Sans"/>
                          <a:cs typeface="DejaVu Sans"/>
                        </a:rPr>
                        <a:t>T01</a:t>
                      </a:r>
                    </a:p>
                  </a:txBody>
                  <a:tcPr marL="91440" marR="91440" marT="45720" marB="45720" anchor="ctr">
                    <a:solidFill>
                      <a:srgbClr val="FFFFFF"/>
                    </a:solidFill>
                  </a:tcPr>
                </a:tc>
                <a:tc>
                  <a:txBody>
                    <a:bodyPr lIns="114300" tIns="95250" rIns="95250" bIns="76200"/>
                    <a:lstStyle/>
                    <a:p>
                      <a:r>
                        <a:rPr sz="1800" b="0">
                          <a:solidFill>
                            <a:srgbClr val="101C32"/>
                          </a:solidFill>
                          <a:latin typeface="DejaVu Sans"/>
                          <a:ea typeface="DejaVu Sans"/>
                          <a:cs typeface="DejaVu Sans"/>
                        </a:rPr>
                        <a:t>Норма</a:t>
                      </a:r>
                    </a:p>
                  </a:txBody>
                  <a:tcPr marL="91440" marR="91440" marT="45720" marB="45720" anchor="ctr">
                    <a:solidFill>
                      <a:srgbClr val="FFFFFF"/>
                    </a:solidFill>
                  </a:tcPr>
                </a:tc>
                <a:tc>
                  <a:txBody>
                    <a:bodyPr lIns="114300" tIns="95250" rIns="95250" bIns="76200"/>
                    <a:lstStyle/>
                    <a:p>
                      <a:r>
                        <a:rPr sz="1800" b="0">
                          <a:solidFill>
                            <a:srgbClr val="101C32"/>
                          </a:solidFill>
                          <a:latin typeface="DejaVu Sans"/>
                          <a:ea typeface="DejaVu Sans"/>
                          <a:cs typeface="DejaVu Sans"/>
                        </a:rPr>
                        <a:t>Норма</a:t>
                      </a:r>
                    </a:p>
                  </a:txBody>
                  <a:tcPr marL="91440" marR="91440" marT="45720" marB="45720" anchor="ctr">
                    <a:solidFill>
                      <a:srgbClr val="FFFFFF"/>
                    </a:solidFill>
                  </a:tcPr>
                </a:tc>
                <a:tc>
                  <a:txBody>
                    <a:bodyPr lIns="114300" tIns="95250" rIns="95250" bIns="76200"/>
                    <a:lstStyle/>
                    <a:p>
                      <a:r>
                        <a:rPr sz="1800" b="0">
                          <a:solidFill>
                            <a:srgbClr val="101C32"/>
                          </a:solidFill>
                          <a:latin typeface="DejaVu Sans"/>
                          <a:ea typeface="DejaVu Sans"/>
                          <a:cs typeface="DejaVu Sans"/>
                        </a:rPr>
                        <a:t>0,551</a:t>
                      </a:r>
                    </a:p>
                  </a:txBody>
                  <a:tcPr marL="91440" marR="91440" marT="45720" marB="45720" anchor="ctr">
                    <a:solidFill>
                      <a:srgbClr val="FFFFFF"/>
                    </a:solidFill>
                  </a:tcPr>
                </a:tc>
                <a:tc>
                  <a:txBody>
                    <a:bodyPr lIns="114300" tIns="95250" rIns="95250" bIns="76200"/>
                    <a:lstStyle/>
                    <a:p>
                      <a:r>
                        <a:rPr sz="1800" b="0">
                          <a:solidFill>
                            <a:srgbClr val="101C32"/>
                          </a:solidFill>
                          <a:latin typeface="DejaVu Sans"/>
                          <a:ea typeface="DejaVu Sans"/>
                          <a:cs typeface="DejaVu Sans"/>
                        </a:rPr>
                        <a:t>0,551</a:t>
                      </a:r>
                    </a:p>
                  </a:txBody>
                  <a:tcPr marL="91440" marR="91440" marT="45720" marB="45720" anchor="ctr">
                    <a:solidFill>
                      <a:srgbClr val="FFFFFF"/>
                    </a:solidFill>
                  </a:tcPr>
                </a:tc>
              </a:tr>
              <a:tr h="401108">
                <a:tc>
                  <a:txBody>
                    <a:bodyPr lIns="114300" tIns="95250" rIns="95250" bIns="76200"/>
                    <a:lstStyle/>
                    <a:p>
                      <a:r>
                        <a:rPr sz="1800" b="0">
                          <a:solidFill>
                            <a:srgbClr val="101C32"/>
                          </a:solidFill>
                          <a:latin typeface="DejaVu Sans"/>
                          <a:ea typeface="DejaVu Sans"/>
                          <a:cs typeface="DejaVu Sans"/>
                        </a:rPr>
                        <a:t>T02</a:t>
                      </a:r>
                    </a:p>
                  </a:txBody>
                  <a:tcPr marL="91440" marR="91440" marT="45720" marB="45720" anchor="ctr">
                    <a:solidFill>
                      <a:srgbClr val="EAF0F4"/>
                    </a:solidFill>
                  </a:tcPr>
                </a:tc>
                <a:tc>
                  <a:txBody>
                    <a:bodyPr lIns="114300" tIns="95250" rIns="95250" bIns="76200"/>
                    <a:lstStyle/>
                    <a:p>
                      <a:r>
                        <a:rPr sz="1800" b="0">
                          <a:solidFill>
                            <a:srgbClr val="101C32"/>
                          </a:solidFill>
                          <a:latin typeface="DejaVu Sans"/>
                          <a:ea typeface="DejaVu Sans"/>
                          <a:cs typeface="DejaVu Sans"/>
                        </a:rPr>
                        <a:t>Атака</a:t>
                      </a:r>
                    </a:p>
                  </a:txBody>
                  <a:tcPr marL="91440" marR="91440" marT="45720" marB="45720" anchor="ctr">
                    <a:solidFill>
                      <a:srgbClr val="EAF0F4"/>
                    </a:solidFill>
                  </a:tcPr>
                </a:tc>
                <a:tc>
                  <a:txBody>
                    <a:bodyPr lIns="114300" tIns="95250" rIns="95250" bIns="76200"/>
                    <a:lstStyle/>
                    <a:p>
                      <a:r>
                        <a:rPr sz="1800" b="0">
                          <a:solidFill>
                            <a:srgbClr val="101C32"/>
                          </a:solidFill>
                          <a:latin typeface="DejaVu Sans"/>
                          <a:ea typeface="DejaVu Sans"/>
                          <a:cs typeface="DejaVu Sans"/>
                        </a:rPr>
                        <a:t>Атака</a:t>
                      </a:r>
                    </a:p>
                  </a:txBody>
                  <a:tcPr marL="91440" marR="91440" marT="45720" marB="45720" anchor="ctr">
                    <a:solidFill>
                      <a:srgbClr val="EAF0F4"/>
                    </a:solidFill>
                  </a:tcPr>
                </a:tc>
                <a:tc>
                  <a:txBody>
                    <a:bodyPr lIns="114300" tIns="95250" rIns="95250" bIns="76200"/>
                    <a:lstStyle/>
                    <a:p>
                      <a:r>
                        <a:rPr sz="1800" b="0">
                          <a:solidFill>
                            <a:srgbClr val="101C32"/>
                          </a:solidFill>
                          <a:latin typeface="DejaVu Sans"/>
                          <a:ea typeface="DejaVu Sans"/>
                          <a:cs typeface="DejaVu Sans"/>
                        </a:rPr>
                        <a:t>0,697</a:t>
                      </a:r>
                    </a:p>
                  </a:txBody>
                  <a:tcPr marL="91440" marR="91440" marT="45720" marB="45720" anchor="ctr">
                    <a:solidFill>
                      <a:srgbClr val="EAF0F4"/>
                    </a:solidFill>
                  </a:tcPr>
                </a:tc>
                <a:tc>
                  <a:txBody>
                    <a:bodyPr lIns="114300" tIns="95250" rIns="95250" bIns="76200"/>
                    <a:lstStyle/>
                    <a:p>
                      <a:r>
                        <a:rPr sz="1800" b="0">
                          <a:solidFill>
                            <a:srgbClr val="101C32"/>
                          </a:solidFill>
                          <a:latin typeface="DejaVu Sans"/>
                          <a:ea typeface="DejaVu Sans"/>
                          <a:cs typeface="DejaVu Sans"/>
                        </a:rPr>
                        <a:t>0,697</a:t>
                      </a:r>
                    </a:p>
                  </a:txBody>
                  <a:tcPr marL="91440" marR="91440" marT="45720" marB="45720" anchor="ctr">
                    <a:solidFill>
                      <a:srgbClr val="EAF0F4"/>
                    </a:solidFill>
                  </a:tcPr>
                </a:tc>
              </a:tr>
              <a:tr h="401108">
                <a:tc>
                  <a:txBody>
                    <a:bodyPr lIns="114300" tIns="95250" rIns="95250" bIns="76200"/>
                    <a:lstStyle/>
                    <a:p>
                      <a:r>
                        <a:rPr sz="1800" b="0">
                          <a:solidFill>
                            <a:srgbClr val="101C32"/>
                          </a:solidFill>
                          <a:latin typeface="DejaVu Sans"/>
                          <a:ea typeface="DejaVu Sans"/>
                          <a:cs typeface="DejaVu Sans"/>
                        </a:rPr>
                        <a:t>T03</a:t>
                      </a:r>
                    </a:p>
                  </a:txBody>
                  <a:tcPr marL="91440" marR="91440" marT="45720" marB="45720" anchor="ctr">
                    <a:solidFill>
                      <a:srgbClr val="FFFFFF"/>
                    </a:solidFill>
                  </a:tcPr>
                </a:tc>
                <a:tc>
                  <a:txBody>
                    <a:bodyPr lIns="114300" tIns="95250" rIns="95250" bIns="76200"/>
                    <a:lstStyle/>
                    <a:p>
                      <a:r>
                        <a:rPr sz="1800" b="0">
                          <a:solidFill>
                            <a:srgbClr val="101C32"/>
                          </a:solidFill>
                          <a:latin typeface="DejaVu Sans"/>
                          <a:ea typeface="DejaVu Sans"/>
                          <a:cs typeface="DejaVu Sans"/>
                        </a:rPr>
                        <a:t>Норма</a:t>
                      </a:r>
                    </a:p>
                  </a:txBody>
                  <a:tcPr marL="91440" marR="91440" marT="45720" marB="45720" anchor="ctr">
                    <a:solidFill>
                      <a:srgbClr val="FFFFFF"/>
                    </a:solidFill>
                  </a:tcPr>
                </a:tc>
                <a:tc>
                  <a:txBody>
                    <a:bodyPr lIns="114300" tIns="95250" rIns="95250" bIns="76200"/>
                    <a:lstStyle/>
                    <a:p>
                      <a:r>
                        <a:rPr sz="1800" b="0">
                          <a:solidFill>
                            <a:srgbClr val="101C32"/>
                          </a:solidFill>
                          <a:latin typeface="DejaVu Sans"/>
                          <a:ea typeface="DejaVu Sans"/>
                          <a:cs typeface="DejaVu Sans"/>
                        </a:rPr>
                        <a:t>Норма</a:t>
                      </a:r>
                    </a:p>
                  </a:txBody>
                  <a:tcPr marL="91440" marR="91440" marT="45720" marB="45720" anchor="ctr">
                    <a:solidFill>
                      <a:srgbClr val="FFFFFF"/>
                    </a:solidFill>
                  </a:tcPr>
                </a:tc>
                <a:tc>
                  <a:txBody>
                    <a:bodyPr lIns="114300" tIns="95250" rIns="95250" bIns="76200"/>
                    <a:lstStyle/>
                    <a:p>
                      <a:r>
                        <a:rPr sz="1800" b="0">
                          <a:solidFill>
                            <a:srgbClr val="101C32"/>
                          </a:solidFill>
                          <a:latin typeface="DejaVu Sans"/>
                          <a:ea typeface="DejaVu Sans"/>
                          <a:cs typeface="DejaVu Sans"/>
                        </a:rPr>
                        <a:t>0,018</a:t>
                      </a:r>
                    </a:p>
                  </a:txBody>
                  <a:tcPr marL="91440" marR="91440" marT="45720" marB="45720" anchor="ctr">
                    <a:solidFill>
                      <a:srgbClr val="FFFFFF"/>
                    </a:solidFill>
                  </a:tcPr>
                </a:tc>
                <a:tc>
                  <a:txBody>
                    <a:bodyPr lIns="114300" tIns="95250" rIns="95250" bIns="76200"/>
                    <a:lstStyle/>
                    <a:p>
                      <a:r>
                        <a:rPr sz="1800" b="0">
                          <a:solidFill>
                            <a:srgbClr val="101C32"/>
                          </a:solidFill>
                          <a:latin typeface="DejaVu Sans"/>
                          <a:ea typeface="DejaVu Sans"/>
                          <a:cs typeface="DejaVu Sans"/>
                        </a:rPr>
                        <a:t>0,018</a:t>
                      </a:r>
                    </a:p>
                  </a:txBody>
                  <a:tcPr marL="91440" marR="91440" marT="45720" marB="45720" anchor="ctr">
                    <a:solidFill>
                      <a:srgbClr val="FFFFFF"/>
                    </a:solidFill>
                  </a:tcPr>
                </a:tc>
              </a:tr>
              <a:tr h="401108">
                <a:tc>
                  <a:txBody>
                    <a:bodyPr lIns="114300" tIns="95250" rIns="95250" bIns="76200"/>
                    <a:lstStyle/>
                    <a:p>
                      <a:r>
                        <a:rPr sz="1800" b="0">
                          <a:solidFill>
                            <a:srgbClr val="101C32"/>
                          </a:solidFill>
                          <a:latin typeface="DejaVu Sans"/>
                          <a:ea typeface="DejaVu Sans"/>
                          <a:cs typeface="DejaVu Sans"/>
                        </a:rPr>
                        <a:t>T04</a:t>
                      </a:r>
                    </a:p>
                  </a:txBody>
                  <a:tcPr marL="91440" marR="91440" marT="45720" marB="45720" anchor="ctr">
                    <a:solidFill>
                      <a:srgbClr val="FBE4E4"/>
                    </a:solidFill>
                  </a:tcPr>
                </a:tc>
                <a:tc>
                  <a:txBody>
                    <a:bodyPr lIns="114300" tIns="95250" rIns="95250" bIns="76200"/>
                    <a:lstStyle/>
                    <a:p>
                      <a:r>
                        <a:rPr sz="1800" b="0">
                          <a:solidFill>
                            <a:srgbClr val="101C32"/>
                          </a:solidFill>
                          <a:latin typeface="DejaVu Sans"/>
                          <a:ea typeface="DejaVu Sans"/>
                          <a:cs typeface="DejaVu Sans"/>
                        </a:rPr>
                        <a:t>Атака</a:t>
                      </a:r>
                    </a:p>
                  </a:txBody>
                  <a:tcPr marL="91440" marR="91440" marT="45720" marB="45720" anchor="ctr">
                    <a:solidFill>
                      <a:srgbClr val="FBE4E4"/>
                    </a:solidFill>
                  </a:tcPr>
                </a:tc>
                <a:tc>
                  <a:txBody>
                    <a:bodyPr lIns="114300" tIns="95250" rIns="95250" bIns="76200"/>
                    <a:lstStyle/>
                    <a:p>
                      <a:r>
                        <a:rPr sz="1800" b="0">
                          <a:solidFill>
                            <a:srgbClr val="101C32"/>
                          </a:solidFill>
                          <a:latin typeface="DejaVu Sans"/>
                          <a:ea typeface="DejaVu Sans"/>
                          <a:cs typeface="DejaVu Sans"/>
                        </a:rPr>
                        <a:t>Норма</a:t>
                      </a:r>
                    </a:p>
                  </a:txBody>
                  <a:tcPr marL="91440" marR="91440" marT="45720" marB="45720" anchor="ctr">
                    <a:solidFill>
                      <a:srgbClr val="FBE4E4"/>
                    </a:solidFill>
                  </a:tcPr>
                </a:tc>
                <a:tc>
                  <a:txBody>
                    <a:bodyPr lIns="114300" tIns="95250" rIns="95250" bIns="76200"/>
                    <a:lstStyle/>
                    <a:p>
                      <a:r>
                        <a:rPr sz="1800" b="0">
                          <a:solidFill>
                            <a:srgbClr val="101C32"/>
                          </a:solidFill>
                          <a:latin typeface="DejaVu Sans"/>
                          <a:ea typeface="DejaVu Sans"/>
                          <a:cs typeface="DejaVu Sans"/>
                        </a:rPr>
                        <a:t>−0,043</a:t>
                      </a:r>
                    </a:p>
                  </a:txBody>
                  <a:tcPr marL="91440" marR="91440" marT="45720" marB="45720" anchor="ctr">
                    <a:solidFill>
                      <a:srgbClr val="FBE4E4"/>
                    </a:solidFill>
                  </a:tcPr>
                </a:tc>
                <a:tc>
                  <a:txBody>
                    <a:bodyPr lIns="114300" tIns="95250" rIns="95250" bIns="76200"/>
                    <a:lstStyle/>
                    <a:p>
                      <a:r>
                        <a:rPr sz="1800" b="0">
                          <a:solidFill>
                            <a:srgbClr val="101C32"/>
                          </a:solidFill>
                          <a:latin typeface="DejaVu Sans"/>
                          <a:ea typeface="DejaVu Sans"/>
                          <a:cs typeface="DejaVu Sans"/>
                        </a:rPr>
                        <a:t>0,043</a:t>
                      </a:r>
                    </a:p>
                  </a:txBody>
                  <a:tcPr marL="91440" marR="91440" marT="45720" marB="45720" anchor="ctr">
                    <a:solidFill>
                      <a:srgbClr val="FBE4E4"/>
                    </a:solidFill>
                  </a:tcPr>
                </a:tc>
              </a:tr>
              <a:tr h="401108">
                <a:tc>
                  <a:txBody>
                    <a:bodyPr lIns="114300" tIns="95250" rIns="95250" bIns="76200"/>
                    <a:lstStyle/>
                    <a:p>
                      <a:r>
                        <a:rPr sz="1800" b="0">
                          <a:solidFill>
                            <a:srgbClr val="101C32"/>
                          </a:solidFill>
                          <a:latin typeface="DejaVu Sans"/>
                          <a:ea typeface="DejaVu Sans"/>
                          <a:cs typeface="DejaVu Sans"/>
                        </a:rPr>
                        <a:t>T05</a:t>
                      </a:r>
                    </a:p>
                  </a:txBody>
                  <a:tcPr marL="91440" marR="91440" marT="45720" marB="45720" anchor="ctr">
                    <a:solidFill>
                      <a:srgbClr val="FBE4E4"/>
                    </a:solidFill>
                  </a:tcPr>
                </a:tc>
                <a:tc>
                  <a:txBody>
                    <a:bodyPr lIns="114300" tIns="95250" rIns="95250" bIns="76200"/>
                    <a:lstStyle/>
                    <a:p>
                      <a:r>
                        <a:rPr sz="1800" b="0">
                          <a:solidFill>
                            <a:srgbClr val="101C32"/>
                          </a:solidFill>
                          <a:latin typeface="DejaVu Sans"/>
                          <a:ea typeface="DejaVu Sans"/>
                          <a:cs typeface="DejaVu Sans"/>
                        </a:rPr>
                        <a:t>Норма</a:t>
                      </a:r>
                    </a:p>
                  </a:txBody>
                  <a:tcPr marL="91440" marR="91440" marT="45720" marB="45720" anchor="ctr">
                    <a:solidFill>
                      <a:srgbClr val="FBE4E4"/>
                    </a:solidFill>
                  </a:tcPr>
                </a:tc>
                <a:tc>
                  <a:txBody>
                    <a:bodyPr lIns="114300" tIns="95250" rIns="95250" bIns="76200"/>
                    <a:lstStyle/>
                    <a:p>
                      <a:r>
                        <a:rPr sz="1800" b="0">
                          <a:solidFill>
                            <a:srgbClr val="101C32"/>
                          </a:solidFill>
                          <a:latin typeface="DejaVu Sans"/>
                          <a:ea typeface="DejaVu Sans"/>
                          <a:cs typeface="DejaVu Sans"/>
                        </a:rPr>
                        <a:t>Атака</a:t>
                      </a:r>
                    </a:p>
                  </a:txBody>
                  <a:tcPr marL="91440" marR="91440" marT="45720" marB="45720" anchor="ctr">
                    <a:solidFill>
                      <a:srgbClr val="FBE4E4"/>
                    </a:solidFill>
                  </a:tcPr>
                </a:tc>
                <a:tc>
                  <a:txBody>
                    <a:bodyPr lIns="114300" tIns="95250" rIns="95250" bIns="76200"/>
                    <a:lstStyle/>
                    <a:p>
                      <a:r>
                        <a:rPr sz="1800" b="0">
                          <a:solidFill>
                            <a:srgbClr val="101C32"/>
                          </a:solidFill>
                          <a:latin typeface="DejaVu Sans"/>
                          <a:ea typeface="DejaVu Sans"/>
                          <a:cs typeface="DejaVu Sans"/>
                        </a:rPr>
                        <a:t>−0,024</a:t>
                      </a:r>
                    </a:p>
                  </a:txBody>
                  <a:tcPr marL="91440" marR="91440" marT="45720" marB="45720" anchor="ctr">
                    <a:solidFill>
                      <a:srgbClr val="FBE4E4"/>
                    </a:solidFill>
                  </a:tcPr>
                </a:tc>
                <a:tc>
                  <a:txBody>
                    <a:bodyPr lIns="114300" tIns="95250" rIns="95250" bIns="76200"/>
                    <a:lstStyle/>
                    <a:p>
                      <a:r>
                        <a:rPr sz="1800" b="0">
                          <a:solidFill>
                            <a:srgbClr val="101C32"/>
                          </a:solidFill>
                          <a:latin typeface="DejaVu Sans"/>
                          <a:ea typeface="DejaVu Sans"/>
                          <a:cs typeface="DejaVu Sans"/>
                        </a:rPr>
                        <a:t>0,024</a:t>
                      </a:r>
                    </a:p>
                  </a:txBody>
                  <a:tcPr marL="91440" marR="91440" marT="45720" marB="45720" anchor="ctr">
                    <a:solidFill>
                      <a:srgbClr val="FBE4E4"/>
                    </a:solidFill>
                  </a:tcPr>
                </a:tc>
              </a:tr>
              <a:tr h="401108">
                <a:tc>
                  <a:txBody>
                    <a:bodyPr lIns="114300" tIns="95250" rIns="95250" bIns="76200"/>
                    <a:lstStyle/>
                    <a:p>
                      <a:r>
                        <a:rPr sz="1800" b="0">
                          <a:solidFill>
                            <a:srgbClr val="101C32"/>
                          </a:solidFill>
                          <a:latin typeface="DejaVu Sans"/>
                          <a:ea typeface="DejaVu Sans"/>
                          <a:cs typeface="DejaVu Sans"/>
                        </a:rPr>
                        <a:t>T06</a:t>
                      </a:r>
                    </a:p>
                  </a:txBody>
                  <a:tcPr marL="91440" marR="91440" marT="45720" marB="45720" anchor="ctr">
                    <a:solidFill>
                      <a:srgbClr val="EAF0F4"/>
                    </a:solidFill>
                  </a:tcPr>
                </a:tc>
                <a:tc>
                  <a:txBody>
                    <a:bodyPr lIns="114300" tIns="95250" rIns="95250" bIns="76200"/>
                    <a:lstStyle/>
                    <a:p>
                      <a:r>
                        <a:rPr sz="1800" b="0">
                          <a:solidFill>
                            <a:srgbClr val="101C32"/>
                          </a:solidFill>
                          <a:latin typeface="DejaVu Sans"/>
                          <a:ea typeface="DejaVu Sans"/>
                          <a:cs typeface="DejaVu Sans"/>
                        </a:rPr>
                        <a:t>Атака</a:t>
                      </a:r>
                    </a:p>
                  </a:txBody>
                  <a:tcPr marL="91440" marR="91440" marT="45720" marB="45720" anchor="ctr">
                    <a:solidFill>
                      <a:srgbClr val="EAF0F4"/>
                    </a:solidFill>
                  </a:tcPr>
                </a:tc>
                <a:tc>
                  <a:txBody>
                    <a:bodyPr lIns="114300" tIns="95250" rIns="95250" bIns="76200"/>
                    <a:lstStyle/>
                    <a:p>
                      <a:r>
                        <a:rPr sz="1800" b="0">
                          <a:solidFill>
                            <a:srgbClr val="101C32"/>
                          </a:solidFill>
                          <a:latin typeface="DejaVu Sans"/>
                          <a:ea typeface="DejaVu Sans"/>
                          <a:cs typeface="DejaVu Sans"/>
                        </a:rPr>
                        <a:t>Атака</a:t>
                      </a:r>
                    </a:p>
                  </a:txBody>
                  <a:tcPr marL="91440" marR="91440" marT="45720" marB="45720" anchor="ctr">
                    <a:solidFill>
                      <a:srgbClr val="EAF0F4"/>
                    </a:solidFill>
                  </a:tcPr>
                </a:tc>
                <a:tc>
                  <a:txBody>
                    <a:bodyPr lIns="114300" tIns="95250" rIns="95250" bIns="76200"/>
                    <a:lstStyle/>
                    <a:p>
                      <a:r>
                        <a:rPr sz="1800" b="0">
                          <a:solidFill>
                            <a:srgbClr val="101C32"/>
                          </a:solidFill>
                          <a:latin typeface="DejaVu Sans"/>
                          <a:ea typeface="DejaVu Sans"/>
                          <a:cs typeface="DejaVu Sans"/>
                        </a:rPr>
                        <a:t>0,034</a:t>
                      </a:r>
                    </a:p>
                  </a:txBody>
                  <a:tcPr marL="91440" marR="91440" marT="45720" marB="45720" anchor="ctr">
                    <a:solidFill>
                      <a:srgbClr val="EAF0F4"/>
                    </a:solidFill>
                  </a:tcPr>
                </a:tc>
                <a:tc>
                  <a:txBody>
                    <a:bodyPr lIns="114300" tIns="95250" rIns="95250" bIns="76200"/>
                    <a:lstStyle/>
                    <a:p>
                      <a:r>
                        <a:rPr sz="1800" b="0">
                          <a:solidFill>
                            <a:srgbClr val="101C32"/>
                          </a:solidFill>
                          <a:latin typeface="DejaVu Sans"/>
                          <a:ea typeface="DejaVu Sans"/>
                          <a:cs typeface="DejaVu Sans"/>
                        </a:rPr>
                        <a:t>0,034</a:t>
                      </a:r>
                    </a:p>
                  </a:txBody>
                  <a:tcPr marL="91440" marR="91440" marT="45720" marB="45720" anchor="ctr">
                    <a:solidFill>
                      <a:srgbClr val="EAF0F4"/>
                    </a:solidFill>
                  </a:tcPr>
                </a:tc>
              </a:tr>
              <a:tr h="401108">
                <a:tc>
                  <a:txBody>
                    <a:bodyPr lIns="114300" tIns="95250" rIns="95250" bIns="76200"/>
                    <a:lstStyle/>
                    <a:p>
                      <a:r>
                        <a:rPr sz="1800" b="0">
                          <a:solidFill>
                            <a:srgbClr val="101C32"/>
                          </a:solidFill>
                          <a:latin typeface="DejaVu Sans"/>
                          <a:ea typeface="DejaVu Sans"/>
                          <a:cs typeface="DejaVu Sans"/>
                        </a:rPr>
                        <a:t>T07</a:t>
                      </a:r>
                    </a:p>
                  </a:txBody>
                  <a:tcPr marL="91440" marR="91440" marT="45720" marB="45720" anchor="ctr">
                    <a:solidFill>
                      <a:srgbClr val="FFFFFF"/>
                    </a:solidFill>
                  </a:tcPr>
                </a:tc>
                <a:tc>
                  <a:txBody>
                    <a:bodyPr lIns="114300" tIns="95250" rIns="95250" bIns="76200"/>
                    <a:lstStyle/>
                    <a:p>
                      <a:r>
                        <a:rPr sz="1800" b="0">
                          <a:solidFill>
                            <a:srgbClr val="101C32"/>
                          </a:solidFill>
                          <a:latin typeface="DejaVu Sans"/>
                          <a:ea typeface="DejaVu Sans"/>
                          <a:cs typeface="DejaVu Sans"/>
                        </a:rPr>
                        <a:t>Норма</a:t>
                      </a:r>
                    </a:p>
                  </a:txBody>
                  <a:tcPr marL="91440" marR="91440" marT="45720" marB="45720" anchor="ctr">
                    <a:solidFill>
                      <a:srgbClr val="FFFFFF"/>
                    </a:solidFill>
                  </a:tcPr>
                </a:tc>
                <a:tc>
                  <a:txBody>
                    <a:bodyPr lIns="114300" tIns="95250" rIns="95250" bIns="76200"/>
                    <a:lstStyle/>
                    <a:p>
                      <a:r>
                        <a:rPr sz="1800" b="0">
                          <a:solidFill>
                            <a:srgbClr val="101C32"/>
                          </a:solidFill>
                          <a:latin typeface="DejaVu Sans"/>
                          <a:ea typeface="DejaVu Sans"/>
                          <a:cs typeface="DejaVu Sans"/>
                        </a:rPr>
                        <a:t>Норма</a:t>
                      </a:r>
                    </a:p>
                  </a:txBody>
                  <a:tcPr marL="91440" marR="91440" marT="45720" marB="45720" anchor="ctr">
                    <a:solidFill>
                      <a:srgbClr val="FFFFFF"/>
                    </a:solidFill>
                  </a:tcPr>
                </a:tc>
                <a:tc>
                  <a:txBody>
                    <a:bodyPr lIns="114300" tIns="95250" rIns="95250" bIns="76200"/>
                    <a:lstStyle/>
                    <a:p>
                      <a:r>
                        <a:rPr sz="1800" b="0">
                          <a:solidFill>
                            <a:srgbClr val="101C32"/>
                          </a:solidFill>
                          <a:latin typeface="DejaVu Sans"/>
                          <a:ea typeface="DejaVu Sans"/>
                          <a:cs typeface="DejaVu Sans"/>
                        </a:rPr>
                        <a:t>0,102</a:t>
                      </a:r>
                    </a:p>
                  </a:txBody>
                  <a:tcPr marL="91440" marR="91440" marT="45720" marB="45720" anchor="ctr">
                    <a:solidFill>
                      <a:srgbClr val="FFFFFF"/>
                    </a:solidFill>
                  </a:tcPr>
                </a:tc>
                <a:tc>
                  <a:txBody>
                    <a:bodyPr lIns="114300" tIns="95250" rIns="95250" bIns="76200"/>
                    <a:lstStyle/>
                    <a:p>
                      <a:r>
                        <a:rPr sz="1800" b="0">
                          <a:solidFill>
                            <a:srgbClr val="101C32"/>
                          </a:solidFill>
                          <a:latin typeface="DejaVu Sans"/>
                          <a:ea typeface="DejaVu Sans"/>
                          <a:cs typeface="DejaVu Sans"/>
                        </a:rPr>
                        <a:t>0,102</a:t>
                      </a:r>
                    </a:p>
                  </a:txBody>
                  <a:tcPr marL="91440" marR="91440" marT="45720" marB="45720" anchor="ctr">
                    <a:solidFill>
                      <a:srgbClr val="FFFFFF"/>
                    </a:solidFill>
                  </a:tcPr>
                </a:tc>
              </a:tr>
              <a:tr h="401108">
                <a:tc>
                  <a:txBody>
                    <a:bodyPr lIns="114300" tIns="95250" rIns="95250" bIns="76200"/>
                    <a:lstStyle/>
                    <a:p>
                      <a:r>
                        <a:rPr sz="1800" b="0">
                          <a:solidFill>
                            <a:srgbClr val="101C32"/>
                          </a:solidFill>
                          <a:latin typeface="DejaVu Sans"/>
                          <a:ea typeface="DejaVu Sans"/>
                          <a:cs typeface="DejaVu Sans"/>
                        </a:rPr>
                        <a:t>T08</a:t>
                      </a:r>
                    </a:p>
                  </a:txBody>
                  <a:tcPr marL="91440" marR="91440" marT="45720" marB="45720" anchor="ctr">
                    <a:solidFill>
                      <a:srgbClr val="EAF0F4"/>
                    </a:solidFill>
                  </a:tcPr>
                </a:tc>
                <a:tc>
                  <a:txBody>
                    <a:bodyPr lIns="114300" tIns="95250" rIns="95250" bIns="76200"/>
                    <a:lstStyle/>
                    <a:p>
                      <a:r>
                        <a:rPr sz="1800" b="0">
                          <a:solidFill>
                            <a:srgbClr val="101C32"/>
                          </a:solidFill>
                          <a:latin typeface="DejaVu Sans"/>
                          <a:ea typeface="DejaVu Sans"/>
                          <a:cs typeface="DejaVu Sans"/>
                        </a:rPr>
                        <a:t>Атака</a:t>
                      </a:r>
                    </a:p>
                  </a:txBody>
                  <a:tcPr marL="91440" marR="91440" marT="45720" marB="45720" anchor="ctr">
                    <a:solidFill>
                      <a:srgbClr val="EAF0F4"/>
                    </a:solidFill>
                  </a:tcPr>
                </a:tc>
                <a:tc>
                  <a:txBody>
                    <a:bodyPr lIns="114300" tIns="95250" rIns="95250" bIns="76200"/>
                    <a:lstStyle/>
                    <a:p>
                      <a:r>
                        <a:rPr sz="1800" b="0">
                          <a:solidFill>
                            <a:srgbClr val="101C32"/>
                          </a:solidFill>
                          <a:latin typeface="DejaVu Sans"/>
                          <a:ea typeface="DejaVu Sans"/>
                          <a:cs typeface="DejaVu Sans"/>
                        </a:rPr>
                        <a:t>Атака</a:t>
                      </a:r>
                    </a:p>
                  </a:txBody>
                  <a:tcPr marL="91440" marR="91440" marT="45720" marB="45720" anchor="ctr">
                    <a:solidFill>
                      <a:srgbClr val="EAF0F4"/>
                    </a:solidFill>
                  </a:tcPr>
                </a:tc>
                <a:tc>
                  <a:txBody>
                    <a:bodyPr lIns="114300" tIns="95250" rIns="95250" bIns="76200"/>
                    <a:lstStyle/>
                    <a:p>
                      <a:r>
                        <a:rPr sz="1800" b="0">
                          <a:solidFill>
                            <a:srgbClr val="101C32"/>
                          </a:solidFill>
                          <a:latin typeface="DejaVu Sans"/>
                          <a:ea typeface="DejaVu Sans"/>
                          <a:cs typeface="DejaVu Sans"/>
                        </a:rPr>
                        <a:t>0,285</a:t>
                      </a:r>
                    </a:p>
                  </a:txBody>
                  <a:tcPr marL="91440" marR="91440" marT="45720" marB="45720" anchor="ctr">
                    <a:solidFill>
                      <a:srgbClr val="EAF0F4"/>
                    </a:solidFill>
                  </a:tcPr>
                </a:tc>
                <a:tc>
                  <a:txBody>
                    <a:bodyPr lIns="114300" tIns="95250" rIns="95250" bIns="76200"/>
                    <a:lstStyle/>
                    <a:p>
                      <a:r>
                        <a:rPr sz="1800" b="0">
                          <a:solidFill>
                            <a:srgbClr val="101C32"/>
                          </a:solidFill>
                          <a:latin typeface="DejaVu Sans"/>
                          <a:ea typeface="DejaVu Sans"/>
                          <a:cs typeface="DejaVu Sans"/>
                        </a:rPr>
                        <a:t>0,285</a:t>
                      </a:r>
                    </a:p>
                  </a:txBody>
                  <a:tcPr marL="91440" marR="91440" marT="45720" marB="45720" anchor="ctr">
                    <a:solidFill>
                      <a:srgbClr val="EAF0F4"/>
                    </a:solidFill>
                  </a:tcPr>
                </a:tc>
              </a:tr>
            </a:tbl>
          </a:graphicData>
        </a:graphic>
      </p:graphicFrame>
      <p:sp>
        <p:nvSpPr>
          <p:cNvPr id="7" name="text-70">
            <a:extLst xmlns:a="http://schemas.openxmlformats.org/drawingml/2006/main">
              <a:ext uri="{FF2B5EF4-FFF2-40B4-BE49-F238E27FC236}">
                <a16:creationId xmlns:a16="http://schemas.microsoft.com/office/drawing/2014/main" id="{677D9B67-1D06-4E3C-B7E2-AEC4E7F84EC8}"/>
              </a:ext>
            </a:extLst>
          </p:cNvPr>
          <p:cNvSpPr>
            <a:spLocks xmlns:a="http://schemas.openxmlformats.org/drawingml/2006/main" noGrp="1"/>
          </p:cNvSpPr>
          <p:nvPr/>
        </p:nvSpPr>
        <p:spPr>
          <a:xfrm xmlns:a="http://schemas.openxmlformats.org/drawingml/2006/main">
            <a:off x="571500" y="5886450"/>
            <a:ext cx="11049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1">
                <a:solidFill>
                  <a:srgbClr val="008C95"/>
                </a:solidFill>
                <a:latin typeface="DejaVu Sans"/>
                <a:ea typeface="DejaVu Sans"/>
                <a:cs typeface="DejaVu Sans"/>
              </a:defRPr>
            </a:defPPr>
          </a:lstStyle>
          <a:p xmlns:a="http://schemas.openxmlformats.org/drawingml/2006/main">
            <a:pPr>
              <a:defRPr sz="1725" b="1">
                <a:solidFill>
                  <a:srgbClr val="008C95"/>
                </a:solidFill>
                <a:latin typeface="DejaVu Sans"/>
                <a:ea typeface="DejaVu Sans"/>
                <a:cs typeface="DejaVu Sans"/>
              </a:defRPr>
            </a:pPr>
            <a:r>
              <a:rPr sz="1725" b="1">
                <a:solidFill>
                  <a:srgbClr val="008C95"/>
                </a:solidFill>
                <a:latin typeface="DejaVu Sans"/>
                <a:ea typeface="DejaVu Sans"/>
                <a:cs typeface="DejaVu Sans"/>
              </a:rPr>
              <a:t>У T04 и T05 отступ γ &lt; 0: модель ошиблась. Запас r = |γ| всегда без минуса.</a:t>
            </a:r>
          </a:p>
        </p:txBody>
      </p:sp>
    </p:spTree>
    <p:extLst>
      <p:ext uri="{BB962C8B-B14F-4D97-AF65-F5344CB8AC3E}">
        <p14:creationId xmlns:p14="http://schemas.microsoft.com/office/powerpoint/2010/main" val="1156506406"/>
      </p:ext>
    </p:extLst>
  </p:cSld>
</p:sld>
</file>

<file path=ppt/slides/slide11.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8" name="text-71">
            <a:extLst xmlns:a="http://schemas.openxmlformats.org/drawingml/2006/main">
              <a:ext uri="{FF2B5EF4-FFF2-40B4-BE49-F238E27FC236}">
                <a16:creationId xmlns:a16="http://schemas.microsoft.com/office/drawing/2014/main" id="{3B883363-A1EE-4D35-97AE-6CD9C8D03981}"/>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Те же результаты на графике</a:t>
            </a:r>
          </a:p>
        </p:txBody>
      </p:sp>
      <p:sp>
        <p:nvSpPr>
          <p:cNvPr id="2" name="text-72">
            <a:extLst xmlns:a="http://schemas.openxmlformats.org/drawingml/2006/main">
              <a:ext uri="{FF2B5EF4-FFF2-40B4-BE49-F238E27FC236}">
                <a16:creationId xmlns:a16="http://schemas.microsoft.com/office/drawing/2014/main" id="{C532B165-CCAC-4B4A-B324-47F4A27D68E5}"/>
              </a:ext>
            </a:extLst>
          </p:cNvPr>
          <p:cNvSpPr>
            <a:spLocks xmlns:a="http://schemas.openxmlformats.org/drawingml/2006/main" noGrp="1"/>
          </p:cNvSpPr>
          <p:nvPr/>
        </p:nvSpPr>
        <p:spPr>
          <a:xfrm xmlns:a="http://schemas.openxmlformats.org/drawingml/2006/main">
            <a:off x="571500" y="13620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377"/>
                </a:solidFill>
                <a:latin typeface="DejaVu Sans"/>
                <a:ea typeface="DejaVu Sans"/>
                <a:cs typeface="DejaVu Sans"/>
              </a:defRPr>
            </a:defPPr>
          </a:lstStyle>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Выше линии модель выбирает атаку, ниже норму.</a:t>
            </a:r>
          </a:p>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Цвет точки показывает класс из условия.</a:t>
            </a:r>
          </a:p>
        </p:txBody>
      </p:sp>
      <p:sp>
        <p:nvSpPr>
          <p:cNvPr id="3" name="">
            <a:extLst xmlns:a="http://schemas.openxmlformats.org/drawingml/2006/main">
              <a:ext uri="{FF2B5EF4-FFF2-40B4-BE49-F238E27FC236}">
                <a16:creationId xmlns:a16="http://schemas.microsoft.com/office/drawing/2014/main" id="{F4111E26-00D6-4EDE-AB18-DF67EDEC5B23}"/>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4" name="text-73">
            <a:extLst xmlns:a="http://schemas.openxmlformats.org/drawingml/2006/main">
              <a:ext uri="{FF2B5EF4-FFF2-40B4-BE49-F238E27FC236}">
                <a16:creationId xmlns:a16="http://schemas.microsoft.com/office/drawing/2014/main" id="{0CD6B7A0-B3C4-4888-8176-7D66402135F4}"/>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   График из Colab</a:t>
            </a:r>
          </a:p>
        </p:txBody>
      </p:sp>
      <p:sp>
        <p:nvSpPr>
          <p:cNvPr id="5" name="text-74">
            <a:extLst xmlns:a="http://schemas.openxmlformats.org/drawingml/2006/main">
              <a:ext uri="{FF2B5EF4-FFF2-40B4-BE49-F238E27FC236}">
                <a16:creationId xmlns:a16="http://schemas.microsoft.com/office/drawing/2014/main" id="{96126DDA-6EA0-46B4-880C-9FF309CA6449}"/>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a:t>
            </a:r>
          </a:p>
        </p:txBody>
      </p:sp>
      <p:pic>
        <p:nvPicPr>
          <p:cNvPr id="6" name="">
            <a:extLst xmlns:a="http://schemas.openxmlformats.org/drawingml/2006/main">
              <a:ext uri="{FF2B5EF4-FFF2-40B4-BE49-F238E27FC236}">
                <a16:creationId xmlns:a16="http://schemas.microsoft.com/office/drawing/2014/main" id="{91952EE0-3FB1-4C92-AE7C-B80EFB167AB9}"/>
              </a:ext>
            </a:extLst>
          </p:cNvPr>
          <p:cNvPicPr>
            <a:picLocks xmlns:a="http://schemas.openxmlformats.org/drawingml/2006/main" noChangeAspect="1"/>
          </p:cNvPicPr>
          <p:nvPr/>
        </p:nvPicPr>
        <p:blipFill>
          <a:blip xmlns:r="http://schemas.openxmlformats.org/officeDocument/2006/relationships" xmlns:a="http://schemas.openxmlformats.org/drawingml/2006/main" r:embed="Rf8edfacd36804596"/>
          <a:stretch xmlns:a="http://schemas.openxmlformats.org/drawingml/2006/main"/>
        </p:blipFill>
        <p:spPr>
          <a:xfrm xmlns:a="http://schemas.openxmlformats.org/drawingml/2006/main">
            <a:off x="575151" y="1895475"/>
            <a:ext cx="11041698" cy="3990975"/>
          </a:xfrm>
          <a:prstGeom xmlns:a="http://schemas.openxmlformats.org/drawingml/2006/main" prst="rect">
            <a:avLst/>
          </a:prstGeom>
        </p:spPr>
      </p:pic>
      <p:sp>
        <p:nvSpPr>
          <p:cNvPr id="7" name="text-75">
            <a:extLst xmlns:a="http://schemas.openxmlformats.org/drawingml/2006/main">
              <a:ext uri="{FF2B5EF4-FFF2-40B4-BE49-F238E27FC236}">
                <a16:creationId xmlns:a16="http://schemas.microsoft.com/office/drawing/2014/main" id="{138609CE-CB91-4B61-9CF2-455886ACC106}"/>
              </a:ext>
            </a:extLst>
          </p:cNvPr>
          <p:cNvSpPr>
            <a:spLocks xmlns:a="http://schemas.openxmlformats.org/drawingml/2006/main" noGrp="1"/>
          </p:cNvSpPr>
          <p:nvPr/>
        </p:nvSpPr>
        <p:spPr>
          <a:xfrm xmlns:a="http://schemas.openxmlformats.org/drawingml/2006/main">
            <a:off x="571500" y="599122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1">
                <a:solidFill>
                  <a:srgbClr val="008C95"/>
                </a:solidFill>
                <a:latin typeface="DejaVu Sans"/>
                <a:ea typeface="DejaVu Sans"/>
                <a:cs typeface="DejaVu Sans"/>
              </a:defRPr>
            </a:defPPr>
          </a:lstStyle>
          <a:p xmlns:a="http://schemas.openxmlformats.org/drawingml/2006/main">
            <a:pPr>
              <a:defRPr sz="1575" b="1">
                <a:solidFill>
                  <a:srgbClr val="008C95"/>
                </a:solidFill>
                <a:latin typeface="DejaVu Sans"/>
                <a:ea typeface="DejaVu Sans"/>
                <a:cs typeface="DejaVu Sans"/>
              </a:defRPr>
            </a:pPr>
            <a:r>
              <a:rPr sz="1575" b="1">
                <a:solidFill>
                  <a:srgbClr val="008C95"/>
                </a:solidFill>
                <a:latin typeface="DejaVu Sans"/>
                <a:ea typeface="DejaVu Sans"/>
                <a:cs typeface="DejaVu Sans"/>
              </a:rPr>
              <a:t>В серой полосе r &lt; 0,10: T03, T04, T05 и T06. Это отдельный порог перепроверки.</a:t>
            </a:r>
          </a:p>
        </p:txBody>
      </p:sp>
    </p:spTree>
    <p:extLst>
      <p:ext uri="{BB962C8B-B14F-4D97-AF65-F5344CB8AC3E}">
        <p14:creationId xmlns:p14="http://schemas.microsoft.com/office/powerpoint/2010/main" val="288437245"/>
      </p:ext>
    </p:extLst>
  </p:cSld>
</p:sld>
</file>

<file path=ppt/slides/slide12.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10" name="text-76">
            <a:extLst xmlns:a="http://schemas.openxmlformats.org/drawingml/2006/main">
              <a:ext uri="{FF2B5EF4-FFF2-40B4-BE49-F238E27FC236}">
                <a16:creationId xmlns:a16="http://schemas.microsoft.com/office/drawing/2014/main" id="{CE234F6E-20B0-4287-9B7D-1F5A25D9A85E}"/>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Как результат помогает аналитику ИБ</a:t>
            </a:r>
          </a:p>
        </p:txBody>
      </p:sp>
      <p:sp>
        <p:nvSpPr>
          <p:cNvPr id="2" name="text-77">
            <a:extLst xmlns:a="http://schemas.openxmlformats.org/drawingml/2006/main">
              <a:ext uri="{FF2B5EF4-FFF2-40B4-BE49-F238E27FC236}">
                <a16:creationId xmlns:a16="http://schemas.microsoft.com/office/drawing/2014/main" id="{17316A03-24FA-444F-B9A9-57F841D9A7FF}"/>
              </a:ext>
            </a:extLst>
          </p:cNvPr>
          <p:cNvSpPr>
            <a:spLocks xmlns:a="http://schemas.openxmlformats.org/drawingml/2006/main" noGrp="1"/>
          </p:cNvSpPr>
          <p:nvPr/>
        </p:nvSpPr>
        <p:spPr>
          <a:xfrm xmlns:a="http://schemas.openxmlformats.org/drawingml/2006/main">
            <a:off x="571500" y="13620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377"/>
                </a:solidFill>
                <a:latin typeface="DejaVu Sans"/>
                <a:ea typeface="DejaVu Sans"/>
                <a:cs typeface="DejaVu Sans"/>
              </a:defRPr>
            </a:defPPr>
          </a:lstStyle>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Два независимых сигнала: подозрение на атаку и запрос перепроверки</a:t>
            </a:r>
          </a:p>
        </p:txBody>
      </p:sp>
      <p:sp>
        <p:nvSpPr>
          <p:cNvPr id="3" name="">
            <a:extLst xmlns:a="http://schemas.openxmlformats.org/drawingml/2006/main">
              <a:ext uri="{FF2B5EF4-FFF2-40B4-BE49-F238E27FC236}">
                <a16:creationId xmlns:a16="http://schemas.microsoft.com/office/drawing/2014/main" id="{2BBC6FD1-7275-467D-AA3C-1D850423D10B}"/>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4" name="text-78">
            <a:extLst xmlns:a="http://schemas.openxmlformats.org/drawingml/2006/main">
              <a:ext uri="{FF2B5EF4-FFF2-40B4-BE49-F238E27FC236}">
                <a16:creationId xmlns:a16="http://schemas.microsoft.com/office/drawing/2014/main" id="{83DB4BC7-A805-4070-8917-F50FDC4721B5}"/>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   [8]. Предлагаемый сценарий</a:t>
            </a:r>
          </a:p>
        </p:txBody>
      </p:sp>
      <p:sp>
        <p:nvSpPr>
          <p:cNvPr id="5" name="text-79">
            <a:extLst xmlns:a="http://schemas.openxmlformats.org/drawingml/2006/main">
              <a:ext uri="{FF2B5EF4-FFF2-40B4-BE49-F238E27FC236}">
                <a16:creationId xmlns:a16="http://schemas.microsoft.com/office/drawing/2014/main" id="{67789285-3264-428A-B886-2E3D78E323CB}"/>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12</a:t>
            </a:r>
          </a:p>
        </p:txBody>
      </p:sp>
      <p:graphicFrame>
        <p:nvGraphicFramePr>
          <p:cNvPr id="6" name="">
            <a:extLst xmlns:a="http://schemas.openxmlformats.org/drawingml/2006/main">
              <a:ext uri="{FF2B5EF4-FFF2-40B4-BE49-F238E27FC236}">
                <a16:creationId xmlns:a16="http://schemas.microsoft.com/office/drawing/2014/main" id="{11DDA4BE-E693-4EB1-864A-E896A2143229}"/>
              </a:ext>
            </a:extLst>
          </p:cNvPr>
          <p:cNvGraphicFramePr/>
          <p:nvPr/>
        </p:nvGraphicFramePr>
        <p:xfrm>
          <a:off xmlns:a="http://schemas.openxmlformats.org/drawingml/2006/main" x="571500" y="2152650"/>
          <a:ext xmlns:a="http://schemas.openxmlformats.org/drawingml/2006/main" cx="11049000" cy="1752600"/>
        </p:xfrm>
        <a:graphic xmlns:a="http://schemas.openxmlformats.org/drawingml/2006/main">
          <a:graphicData uri="http://schemas.openxmlformats.org/drawingml/2006/table">
            <a:tbl>
              <a:tblPr/>
              <a:tblGrid>
                <a:gridCol w="2959554"/>
                <a:gridCol w="2367643"/>
                <a:gridCol w="2762250"/>
                <a:gridCol w="2959554"/>
              </a:tblGrid>
              <a:tr h="584200">
                <a:tc>
                  <a:txBody>
                    <a:bodyPr lIns="114300" tIns="95250" rIns="95250" bIns="76200"/>
                    <a:lstStyle/>
                    <a:p>
                      <a:r>
                        <a:rPr sz="1875" b="1">
                          <a:solidFill>
                            <a:srgbClr val="FFFFFF"/>
                          </a:solidFill>
                          <a:latin typeface="DejaVu Sans"/>
                          <a:ea typeface="DejaVu Sans"/>
                          <a:cs typeface="DejaVu Sans"/>
                        </a:rPr>
                        <a:t>Ввод: SYN/с и %</a:t>
                      </a:r>
                    </a:p>
                  </a:txBody>
                  <a:tcPr marL="91440" marR="91440" marT="45720" marB="45720" anchor="ctr">
                    <a:solidFill>
                      <a:srgbClr val="101C32"/>
                    </a:solidFill>
                  </a:tcPr>
                </a:tc>
                <a:tc>
                  <a:txBody>
                    <a:bodyPr lIns="114300" tIns="95250" rIns="95250" bIns="76200"/>
                    <a:lstStyle/>
                    <a:p>
                      <a:r>
                        <a:rPr sz="1875" b="1">
                          <a:solidFill>
                            <a:srgbClr val="FFFFFF"/>
                          </a:solidFill>
                          <a:latin typeface="DejaVu Sans"/>
                          <a:ea typeface="DejaVu Sans"/>
                          <a:cs typeface="DejaVu Sans"/>
                        </a:rPr>
                        <a:t>Прогноз</a:t>
                      </a:r>
                    </a:p>
                  </a:txBody>
                  <a:tcPr marL="91440" marR="91440" marT="45720" marB="45720" anchor="ctr">
                    <a:solidFill>
                      <a:srgbClr val="101C32"/>
                    </a:solidFill>
                  </a:tcPr>
                </a:tc>
                <a:tc>
                  <a:txBody>
                    <a:bodyPr lIns="114300" tIns="95250" rIns="95250" bIns="76200"/>
                    <a:lstStyle/>
                    <a:p>
                      <a:r>
                        <a:rPr sz="1875" b="1">
                          <a:solidFill>
                            <a:srgbClr val="FFFFFF"/>
                          </a:solidFill>
                          <a:latin typeface="DejaVu Sans"/>
                          <a:ea typeface="DejaVu Sans"/>
                          <a:cs typeface="DejaVu Sans"/>
                        </a:rPr>
                        <a:t>Сигнал атаки</a:t>
                      </a:r>
                    </a:p>
                  </a:txBody>
                  <a:tcPr marL="91440" marR="91440" marT="45720" marB="45720" anchor="ctr">
                    <a:solidFill>
                      <a:srgbClr val="101C32"/>
                    </a:solidFill>
                  </a:tcPr>
                </a:tc>
                <a:tc>
                  <a:txBody>
                    <a:bodyPr lIns="114300" tIns="95250" rIns="95250" bIns="76200"/>
                    <a:lstStyle/>
                    <a:p>
                      <a:r>
                        <a:rPr sz="1875" b="1">
                          <a:solidFill>
                            <a:srgbClr val="FFFFFF"/>
                          </a:solidFill>
                          <a:latin typeface="DejaVu Sans"/>
                          <a:ea typeface="DejaVu Sans"/>
                          <a:cs typeface="DejaVu Sans"/>
                        </a:rPr>
                        <a:t>Перепроверка</a:t>
                      </a:r>
                    </a:p>
                  </a:txBody>
                  <a:tcPr marL="91440" marR="91440" marT="45720" marB="45720" anchor="ctr">
                    <a:solidFill>
                      <a:srgbClr val="101C32"/>
                    </a:solidFill>
                  </a:tcPr>
                </a:tc>
              </a:tr>
              <a:tr h="584200">
                <a:tc>
                  <a:txBody>
                    <a:bodyPr lIns="114300" tIns="95250" rIns="95250" bIns="76200"/>
                    <a:lstStyle/>
                    <a:p>
                      <a:r>
                        <a:rPr sz="1875" b="0">
                          <a:solidFill>
                            <a:srgbClr val="101C32"/>
                          </a:solidFill>
                          <a:latin typeface="DejaVu Sans"/>
                          <a:ea typeface="DejaVu Sans"/>
                          <a:cs typeface="DejaVu Sans"/>
                        </a:rPr>
                        <a:t>900; 40%</a:t>
                      </a:r>
                    </a:p>
                  </a:txBody>
                  <a:tcPr marL="91440" marR="91440" marT="45720" marB="45720" anchor="ctr">
                    <a:solidFill>
                      <a:srgbClr val="FFFFFF"/>
                    </a:solidFill>
                  </a:tcPr>
                </a:tc>
                <a:tc>
                  <a:txBody>
                    <a:bodyPr lIns="114300" tIns="95250" rIns="95250" bIns="76200"/>
                    <a:lstStyle/>
                    <a:p>
                      <a:r>
                        <a:rPr sz="1875" b="0">
                          <a:solidFill>
                            <a:srgbClr val="101C32"/>
                          </a:solidFill>
                          <a:latin typeface="DejaVu Sans"/>
                          <a:ea typeface="DejaVu Sans"/>
                          <a:cs typeface="DejaVu Sans"/>
                        </a:rPr>
                        <a:t>Норма</a:t>
                      </a:r>
                    </a:p>
                  </a:txBody>
                  <a:tcPr marL="91440" marR="91440" marT="45720" marB="45720" anchor="ctr">
                    <a:solidFill>
                      <a:srgbClr val="FFFFFF"/>
                    </a:solidFill>
                  </a:tcPr>
                </a:tc>
                <a:tc>
                  <a:txBody>
                    <a:bodyPr lIns="114300" tIns="95250" rIns="95250" bIns="76200"/>
                    <a:lstStyle/>
                    <a:p>
                      <a:r>
                        <a:rPr sz="1875" b="0">
                          <a:solidFill>
                            <a:srgbClr val="101C32"/>
                          </a:solidFill>
                          <a:latin typeface="DejaVu Sans"/>
                          <a:ea typeface="DejaVu Sans"/>
                          <a:cs typeface="DejaVu Sans"/>
                        </a:rPr>
                        <a:t>Нет</a:t>
                      </a:r>
                    </a:p>
                  </a:txBody>
                  <a:tcPr marL="91440" marR="91440" marT="45720" marB="45720" anchor="ctr">
                    <a:solidFill>
                      <a:srgbClr val="FFFFFF"/>
                    </a:solidFill>
                  </a:tcPr>
                </a:tc>
                <a:tc>
                  <a:txBody>
                    <a:bodyPr lIns="114300" tIns="95250" rIns="95250" bIns="76200"/>
                    <a:lstStyle/>
                    <a:p>
                      <a:r>
                        <a:rPr sz="1875" b="0">
                          <a:solidFill>
                            <a:srgbClr val="101C32"/>
                          </a:solidFill>
                          <a:latin typeface="DejaVu Sans"/>
                          <a:ea typeface="DejaVu Sans"/>
                          <a:cs typeface="DejaVu Sans"/>
                        </a:rPr>
                        <a:t>Да</a:t>
                      </a:r>
                    </a:p>
                  </a:txBody>
                  <a:tcPr marL="91440" marR="91440" marT="45720" marB="45720" anchor="ctr">
                    <a:solidFill>
                      <a:srgbClr val="FFFFFF"/>
                    </a:solidFill>
                  </a:tcPr>
                </a:tc>
              </a:tr>
              <a:tr h="584200">
                <a:tc>
                  <a:txBody>
                    <a:bodyPr lIns="114300" tIns="95250" rIns="95250" bIns="76200"/>
                    <a:lstStyle/>
                    <a:p>
                      <a:r>
                        <a:rPr sz="1875" b="0">
                          <a:solidFill>
                            <a:srgbClr val="101C32"/>
                          </a:solidFill>
                          <a:latin typeface="DejaVu Sans"/>
                          <a:ea typeface="DejaVu Sans"/>
                          <a:cs typeface="DejaVu Sans"/>
                        </a:rPr>
                        <a:t>1550; 88%</a:t>
                      </a:r>
                    </a:p>
                  </a:txBody>
                  <a:tcPr marL="91440" marR="91440" marT="45720" marB="45720" anchor="ctr">
                    <a:solidFill>
                      <a:srgbClr val="EAF0F4"/>
                    </a:solidFill>
                  </a:tcPr>
                </a:tc>
                <a:tc>
                  <a:txBody>
                    <a:bodyPr lIns="114300" tIns="95250" rIns="95250" bIns="76200"/>
                    <a:lstStyle/>
                    <a:p>
                      <a:r>
                        <a:rPr sz="1875" b="0">
                          <a:solidFill>
                            <a:srgbClr val="101C32"/>
                          </a:solidFill>
                          <a:latin typeface="DejaVu Sans"/>
                          <a:ea typeface="DejaVu Sans"/>
                          <a:cs typeface="DejaVu Sans"/>
                        </a:rPr>
                        <a:t>Атака</a:t>
                      </a:r>
                    </a:p>
                  </a:txBody>
                  <a:tcPr marL="91440" marR="91440" marT="45720" marB="45720" anchor="ctr">
                    <a:solidFill>
                      <a:srgbClr val="EAF0F4"/>
                    </a:solidFill>
                  </a:tcPr>
                </a:tc>
                <a:tc>
                  <a:txBody>
                    <a:bodyPr lIns="114300" tIns="95250" rIns="95250" bIns="76200"/>
                    <a:lstStyle/>
                    <a:p>
                      <a:r>
                        <a:rPr sz="1875" b="0">
                          <a:solidFill>
                            <a:srgbClr val="101C32"/>
                          </a:solidFill>
                          <a:latin typeface="DejaVu Sans"/>
                          <a:ea typeface="DejaVu Sans"/>
                          <a:cs typeface="DejaVu Sans"/>
                        </a:rPr>
                        <a:t>Да</a:t>
                      </a:r>
                    </a:p>
                  </a:txBody>
                  <a:tcPr marL="91440" marR="91440" marT="45720" marB="45720" anchor="ctr">
                    <a:solidFill>
                      <a:srgbClr val="EAF0F4"/>
                    </a:solidFill>
                  </a:tcPr>
                </a:tc>
                <a:tc>
                  <a:txBody>
                    <a:bodyPr lIns="114300" tIns="95250" rIns="95250" bIns="76200"/>
                    <a:lstStyle/>
                    <a:p>
                      <a:r>
                        <a:rPr sz="1875" b="0">
                          <a:solidFill>
                            <a:srgbClr val="101C32"/>
                          </a:solidFill>
                          <a:latin typeface="DejaVu Sans"/>
                          <a:ea typeface="DejaVu Sans"/>
                          <a:cs typeface="DejaVu Sans"/>
                        </a:rPr>
                        <a:t>Нет</a:t>
                      </a:r>
                    </a:p>
                  </a:txBody>
                  <a:tcPr marL="91440" marR="91440" marT="45720" marB="45720" anchor="ctr">
                    <a:solidFill>
                      <a:srgbClr val="EAF0F4"/>
                    </a:solidFill>
                  </a:tcPr>
                </a:tc>
              </a:tr>
            </a:tbl>
          </a:graphicData>
        </a:graphic>
      </p:graphicFrame>
      <p:sp>
        <p:nvSpPr>
          <p:cNvPr id="7" name="text-80">
            <a:extLst xmlns:a="http://schemas.openxmlformats.org/drawingml/2006/main">
              <a:ext uri="{FF2B5EF4-FFF2-40B4-BE49-F238E27FC236}">
                <a16:creationId xmlns:a16="http://schemas.microsoft.com/office/drawing/2014/main" id="{910960C7-B5EB-46F8-84B2-AABEAEEB2E05}"/>
              </a:ext>
            </a:extLst>
          </p:cNvPr>
          <p:cNvSpPr>
            <a:spLocks xmlns:a="http://schemas.openxmlformats.org/drawingml/2006/main" noGrp="1"/>
          </p:cNvSpPr>
          <p:nvPr/>
        </p:nvSpPr>
        <p:spPr>
          <a:xfrm xmlns:a="http://schemas.openxmlformats.org/drawingml/2006/main">
            <a:off x="571500" y="42195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1">
                <a:solidFill>
                  <a:srgbClr val="008C95"/>
                </a:solidFill>
                <a:latin typeface="DejaVu Sans"/>
                <a:ea typeface="DejaVu Sans"/>
                <a:cs typeface="DejaVu Sans"/>
              </a:defRPr>
            </a:defPPr>
          </a:lstStyle>
          <a:p xmlns:a="http://schemas.openxmlformats.org/drawingml/2006/main">
            <a:pPr>
              <a:defRPr sz="2025" b="1">
                <a:solidFill>
                  <a:srgbClr val="008C95"/>
                </a:solidFill>
                <a:latin typeface="DejaVu Sans"/>
                <a:ea typeface="DejaVu Sans"/>
                <a:cs typeface="DejaVu Sans"/>
              </a:defRPr>
            </a:pPr>
            <a:r>
              <a:rPr sz="2025" b="1">
                <a:solidFill>
                  <a:srgbClr val="008C95"/>
                </a:solidFill>
                <a:latin typeface="DejaVu Sans"/>
                <a:ea typeface="DejaVu Sans"/>
                <a:cs typeface="DejaVu Sans"/>
              </a:rPr>
              <a:t>Прогноз «атака» даёт сигнал при любом запасе.</a:t>
            </a:r>
          </a:p>
          <a:p xmlns:a="http://schemas.openxmlformats.org/drawingml/2006/main">
            <a:pPr>
              <a:defRPr sz="2025" b="1">
                <a:solidFill>
                  <a:srgbClr val="008C95"/>
                </a:solidFill>
                <a:latin typeface="DejaVu Sans"/>
                <a:ea typeface="DejaVu Sans"/>
                <a:cs typeface="DejaVu Sans"/>
              </a:defRPr>
            </a:pPr>
            <a:r>
              <a:rPr sz="2025" b="1">
                <a:solidFill>
                  <a:srgbClr val="008C95"/>
                </a:solidFill>
                <a:latin typeface="DejaVu Sans"/>
                <a:ea typeface="DejaVu Sans"/>
                <a:cs typeface="DejaVu Sans"/>
              </a:rPr>
              <a:t>Малый запас добавляет перепроверку при любом ответе.</a:t>
            </a:r>
          </a:p>
        </p:txBody>
      </p:sp>
      <p:sp>
        <p:nvSpPr>
          <p:cNvPr id="8" name="text-81">
            <a:extLst xmlns:a="http://schemas.openxmlformats.org/drawingml/2006/main">
              <a:ext uri="{FF2B5EF4-FFF2-40B4-BE49-F238E27FC236}">
                <a16:creationId xmlns:a16="http://schemas.microsoft.com/office/drawing/2014/main" id="{C62A906D-6600-4DC0-A5BB-7A593AC178BB}"/>
              </a:ext>
            </a:extLst>
          </p:cNvPr>
          <p:cNvSpPr>
            <a:spLocks xmlns:a="http://schemas.openxmlformats.org/drawingml/2006/main" noGrp="1"/>
          </p:cNvSpPr>
          <p:nvPr/>
        </p:nvSpPr>
        <p:spPr>
          <a:xfrm xmlns:a="http://schemas.openxmlformats.org/drawingml/2006/main">
            <a:off x="571500" y="5276850"/>
            <a:ext cx="11049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01C32"/>
                </a:solidFill>
                <a:latin typeface="DejaVu Sans"/>
                <a:ea typeface="DejaVu Sans"/>
                <a:cs typeface="DejaVu Sans"/>
              </a:defRPr>
            </a:defPPr>
          </a:lstStyle>
          <a:p xmlns:a="http://schemas.openxmlformats.org/drawingml/2006/main">
            <a:pPr>
              <a:defRPr sz="1800" b="0">
                <a:solidFill>
                  <a:srgbClr val="101C32"/>
                </a:solidFill>
                <a:latin typeface="DejaVu Sans"/>
                <a:ea typeface="DejaVu Sans"/>
                <a:cs typeface="DejaVu Sans"/>
              </a:defRPr>
            </a:pPr>
            <a:r>
              <a:rPr sz="1800" b="0">
                <a:solidFill>
                  <a:srgbClr val="101C32"/>
                </a:solidFill>
                <a:latin typeface="DejaVu Sans"/>
                <a:ea typeface="DejaVu Sans"/>
                <a:cs typeface="DejaVu Sans"/>
              </a:rPr>
              <a:t>Аналитик проверяет логи, доступность и очередь соединений.</a:t>
            </a:r>
          </a:p>
          <a:p xmlns:a="http://schemas.openxmlformats.org/drawingml/2006/main">
            <a:pPr>
              <a:defRPr sz="1800" b="0">
                <a:solidFill>
                  <a:srgbClr val="101C32"/>
                </a:solidFill>
                <a:latin typeface="DejaVu Sans"/>
                <a:ea typeface="DejaVu Sans"/>
                <a:cs typeface="DejaVu Sans"/>
              </a:defRPr>
            </a:pPr>
            <a:r>
              <a:rPr sz="1800" b="0">
                <a:solidFill>
                  <a:srgbClr val="101C32"/>
                </a:solidFill>
                <a:latin typeface="DejaVu Sans"/>
                <a:ea typeface="DejaVu Sans"/>
                <a:cs typeface="DejaVu Sans"/>
              </a:rPr>
              <a:t>Реальное качество проверяем на новых данных, а не на 8 учебных окнах.</a:t>
            </a:r>
          </a:p>
        </p:txBody>
      </p:sp>
      <p:sp>
        <p:nvSpPr>
          <p:cNvPr id="9" name="text-82">
            <a:extLst xmlns:a="http://schemas.openxmlformats.org/drawingml/2006/main">
              <a:ext uri="{FF2B5EF4-FFF2-40B4-BE49-F238E27FC236}">
                <a16:creationId xmlns:a16="http://schemas.microsoft.com/office/drawing/2014/main" id="{A7FE1C51-14AD-4B8C-A92F-296CDDAFBA8D}"/>
              </a:ext>
            </a:extLst>
          </p:cNvPr>
          <p:cNvSpPr>
            <a:spLocks xmlns:a="http://schemas.openxmlformats.org/drawingml/2006/main" noGrp="1"/>
          </p:cNvSpPr>
          <p:nvPr/>
        </p:nvSpPr>
        <p:spPr>
          <a:xfrm xmlns:a="http://schemas.openxmlformats.org/drawingml/2006/main">
            <a:off x="571500" y="6057900"/>
            <a:ext cx="11049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00" b="0">
                <a:solidFill>
                  <a:srgbClr val="536377"/>
                </a:solidFill>
                <a:latin typeface="DejaVu Sans"/>
                <a:ea typeface="DejaVu Sans"/>
                <a:cs typeface="DejaVu Sans"/>
              </a:defRPr>
            </a:defPPr>
          </a:lstStyle>
          <a:p xmlns:a="http://schemas.openxmlformats.org/drawingml/2006/main">
            <a:pPr>
              <a:defRPr sz="1500" b="0">
                <a:solidFill>
                  <a:srgbClr val="536377"/>
                </a:solidFill>
                <a:latin typeface="DejaVu Sans"/>
                <a:ea typeface="DejaVu Sans"/>
                <a:cs typeface="DejaVu Sans"/>
              </a:defRPr>
            </a:pPr>
            <a:r>
              <a:rPr sz="1500" b="0">
                <a:solidFill>
                  <a:srgbClr val="536377"/>
                </a:solidFill>
                <a:latin typeface="DejaVu Sans"/>
                <a:ea typeface="DejaVu Sans"/>
                <a:cs typeface="DejaVu Sans"/>
              </a:rPr>
              <a:t>Запас помогает проверить ответ, но не гарантирует его правильность.</a:t>
            </a:r>
          </a:p>
        </p:txBody>
      </p:sp>
    </p:spTree>
    <p:extLst>
      <p:ext uri="{BB962C8B-B14F-4D97-AF65-F5344CB8AC3E}">
        <p14:creationId xmlns:p14="http://schemas.microsoft.com/office/powerpoint/2010/main" val="886957249"/>
      </p:ext>
    </p:extLst>
  </p:cSld>
</p:sld>
</file>

<file path=ppt/slides/slide13.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22" name="text-83">
            <a:extLst xmlns:a="http://schemas.openxmlformats.org/drawingml/2006/main">
              <a:ext uri="{FF2B5EF4-FFF2-40B4-BE49-F238E27FC236}">
                <a16:creationId xmlns:a16="http://schemas.microsoft.com/office/drawing/2014/main" id="{91E4E362-1648-4679-9D0A-0AB57A1B58A4}"/>
              </a:ext>
            </a:extLst>
          </p:cNvPr>
          <p:cNvSpPr>
            <a:spLocks xmlns:a="http://schemas.openxmlformats.org/drawingml/2006/main" noGrp="1"/>
          </p:cNvSpPr>
          <p:nvPr/>
        </p:nvSpPr>
        <p:spPr>
          <a:xfrm xmlns:a="http://schemas.openxmlformats.org/drawingml/2006/main">
            <a:off x="571500" y="4191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000" b="1">
                <a:solidFill>
                  <a:srgbClr val="101C32"/>
                </a:solidFill>
                <a:latin typeface="DejaVu Sans"/>
                <a:ea typeface="DejaVu Sans"/>
                <a:cs typeface="DejaVu Sans"/>
              </a:defRPr>
            </a:defPPr>
          </a:lstStyle>
          <a:p xmlns:a="http://schemas.openxmlformats.org/drawingml/2006/main">
            <a:pPr>
              <a:defRPr sz="3000" b="1">
                <a:solidFill>
                  <a:srgbClr val="101C32"/>
                </a:solidFill>
                <a:latin typeface="DejaVu Sans"/>
                <a:ea typeface="DejaVu Sans"/>
                <a:cs typeface="DejaVu Sans"/>
              </a:defRPr>
            </a:pPr>
            <a:r>
              <a:rPr sz="3000" b="1">
                <a:solidFill>
                  <a:srgbClr val="101C32"/>
                </a:solidFill>
                <a:latin typeface="DejaVu Sans"/>
                <a:ea typeface="DejaVu Sans"/>
                <a:cs typeface="DejaVu Sans"/>
              </a:rPr>
              <a:t>Источники</a:t>
            </a:r>
          </a:p>
        </p:txBody>
      </p:sp>
      <p:sp>
        <p:nvSpPr>
          <p:cNvPr id="2" name="text-84">
            <a:extLst xmlns:a="http://schemas.openxmlformats.org/drawingml/2006/main">
              <a:ext uri="{FF2B5EF4-FFF2-40B4-BE49-F238E27FC236}">
                <a16:creationId xmlns:a16="http://schemas.microsoft.com/office/drawing/2014/main" id="{91C3A37C-0C3E-49F9-B214-57EE79C88E18}"/>
              </a:ext>
            </a:extLst>
          </p:cNvPr>
          <p:cNvSpPr>
            <a:spLocks xmlns:a="http://schemas.openxmlformats.org/drawingml/2006/main" noGrp="1"/>
          </p:cNvSpPr>
          <p:nvPr/>
        </p:nvSpPr>
        <p:spPr>
          <a:xfrm xmlns:a="http://schemas.openxmlformats.org/drawingml/2006/main">
            <a:off x="571500" y="13620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377"/>
                </a:solidFill>
                <a:latin typeface="DejaVu Sans"/>
                <a:ea typeface="DejaVu Sans"/>
                <a:cs typeface="DejaVu Sans"/>
              </a:defRPr>
            </a:defPPr>
          </a:lstStyle>
          <a:p xmlns:a="http://schemas.openxmlformats.org/drawingml/2006/main">
            <a:pPr>
              <a:defRPr sz="1725" b="0">
                <a:solidFill>
                  <a:srgbClr val="536377"/>
                </a:solidFill>
                <a:latin typeface="DejaVu Sans"/>
                <a:ea typeface="DejaVu Sans"/>
                <a:cs typeface="DejaVu Sans"/>
              </a:defRPr>
            </a:pPr>
            <a:r>
              <a:rPr sz="1725" b="0">
                <a:solidFill>
                  <a:srgbClr val="536377"/>
                </a:solidFill>
                <a:latin typeface="DejaVu Sans"/>
                <a:ea typeface="DejaVu Sans"/>
                <a:cs typeface="DejaVu Sans"/>
              </a:rPr>
              <a:t>Публикации и официальные документы. Ссылки открываются по нажатию.</a:t>
            </a:r>
          </a:p>
        </p:txBody>
      </p:sp>
      <p:sp>
        <p:nvSpPr>
          <p:cNvPr id="3" name="">
            <a:extLst xmlns:a="http://schemas.openxmlformats.org/drawingml/2006/main">
              <a:ext uri="{FF2B5EF4-FFF2-40B4-BE49-F238E27FC236}">
                <a16:creationId xmlns:a16="http://schemas.microsoft.com/office/drawing/2014/main" id="{CEB83237-B0B5-4675-80B4-CC41565D7182}"/>
              </a:ext>
            </a:extLst>
          </p:cNvPr>
          <p:cNvSpPr>
            <a:spLocks xmlns:a="http://schemas.openxmlformats.org/drawingml/2006/main" noGrp="1"/>
          </p:cNvSpPr>
          <p:nvPr/>
        </p:nvSpPr>
        <p:spPr>
          <a:xfrm xmlns:a="http://schemas.openxmlformats.org/drawingml/2006/main">
            <a:off x="571500" y="6324600"/>
            <a:ext cx="11049000" cy="19050"/>
          </a:xfrm>
          <a:prstGeom xmlns:a="http://schemas.openxmlformats.org/drawingml/2006/main" prst="rect">
            <a:avLst/>
          </a:prstGeom>
          <a:solidFill xmlns:a="http://schemas.openxmlformats.org/drawingml/2006/main">
            <a:srgbClr val="D8E0E8"/>
          </a:solidFill>
          <a:ln xmlns:a="http://schemas.openxmlformats.org/drawingml/2006/main" w="0">
            <a:noFill/>
          </a:ln>
        </p:spPr>
      </p:sp>
      <p:sp>
        <p:nvSpPr>
          <p:cNvPr id="4" name="text-85">
            <a:extLst xmlns:a="http://schemas.openxmlformats.org/drawingml/2006/main">
              <a:ext uri="{FF2B5EF4-FFF2-40B4-BE49-F238E27FC236}">
                <a16:creationId xmlns:a16="http://schemas.microsoft.com/office/drawing/2014/main" id="{C1C214E1-2CA4-4EF0-A2EE-9E4EF31CDD3F}"/>
              </a:ext>
            </a:extLst>
          </p:cNvPr>
          <p:cNvSpPr>
            <a:spLocks xmlns:a="http://schemas.openxmlformats.org/drawingml/2006/main" noGrp="1"/>
          </p:cNvSpPr>
          <p:nvPr/>
        </p:nvSpPr>
        <p:spPr>
          <a:xfrm xmlns:a="http://schemas.openxmlformats.org/drawingml/2006/main">
            <a:off x="571500" y="647700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1.13</a:t>
            </a:r>
          </a:p>
        </p:txBody>
      </p:sp>
      <p:sp>
        <p:nvSpPr>
          <p:cNvPr id="5" name="text-86">
            <a:extLst xmlns:a="http://schemas.openxmlformats.org/drawingml/2006/main">
              <a:ext uri="{FF2B5EF4-FFF2-40B4-BE49-F238E27FC236}">
                <a16:creationId xmlns:a16="http://schemas.microsoft.com/office/drawing/2014/main" id="{D8449CC4-5E22-46E7-B6F9-790DBDFB4C7A}"/>
              </a:ext>
            </a:extLst>
          </p:cNvPr>
          <p:cNvSpPr>
            <a:spLocks xmlns:a="http://schemas.openxmlformats.org/drawingml/2006/main" noGrp="1"/>
          </p:cNvSpPr>
          <p:nvPr/>
        </p:nvSpPr>
        <p:spPr>
          <a:xfrm xmlns:a="http://schemas.openxmlformats.org/drawingml/2006/main">
            <a:off x="11049000" y="64770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536377"/>
                </a:solidFill>
                <a:latin typeface="DejaVu Sans"/>
                <a:ea typeface="DejaVu Sans"/>
                <a:cs typeface="DejaVu Sans"/>
              </a:defRPr>
            </a:defPPr>
          </a:lstStyle>
          <a:p xmlns:a="http://schemas.openxmlformats.org/drawingml/2006/main">
            <a:pPr>
              <a:defRPr sz="1125" b="0">
                <a:solidFill>
                  <a:srgbClr val="536377"/>
                </a:solidFill>
                <a:latin typeface="DejaVu Sans"/>
                <a:ea typeface="DejaVu Sans"/>
                <a:cs typeface="DejaVu Sans"/>
              </a:defRPr>
            </a:pPr>
            <a:r>
              <a:rPr sz="1125" b="0">
                <a:solidFill>
                  <a:srgbClr val="536377"/>
                </a:solidFill>
                <a:latin typeface="DejaVu Sans"/>
                <a:ea typeface="DejaVu Sans"/>
                <a:cs typeface="DejaVu Sans"/>
              </a:rPr>
              <a:t>13</a:t>
            </a:r>
          </a:p>
        </p:txBody>
      </p:sp>
      <p:sp>
        <p:nvSpPr>
          <p:cNvPr id="6" name="text-87">
            <a:extLst xmlns:a="http://schemas.openxmlformats.org/drawingml/2006/main">
              <a:ext uri="{FF2B5EF4-FFF2-40B4-BE49-F238E27FC236}">
                <a16:creationId xmlns:a16="http://schemas.microsoft.com/office/drawing/2014/main" id="{637DB2FA-A2C7-4694-9AA2-13C52F524EC1}"/>
              </a:ext>
            </a:extLst>
          </p:cNvPr>
          <p:cNvSpPr>
            <a:spLocks xmlns:a="http://schemas.openxmlformats.org/drawingml/2006/main" noGrp="1"/>
          </p:cNvSpPr>
          <p:nvPr/>
        </p:nvSpPr>
        <p:spPr>
          <a:xfrm xmlns:a="http://schemas.openxmlformats.org/drawingml/2006/main">
            <a:off x="571500" y="2066925"/>
            <a:ext cx="52863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1">
                <a:solidFill>
                  <a:srgbClr val="008C95"/>
                </a:solidFill>
                <a:latin typeface="DejaVu Sans"/>
                <a:ea typeface="DejaVu Sans"/>
                <a:cs typeface="DejaVu Sans"/>
              </a:defRPr>
            </a:defPPr>
          </a:lstStyle>
          <a:p xmlns:a="http://schemas.openxmlformats.org/drawingml/2006/main">
            <a:pPr>
              <a:defRPr sz="1725" b="1">
                <a:solidFill>
                  <a:srgbClr val="008C95"/>
                </a:solidFill>
                <a:latin typeface="DejaVu Sans"/>
                <a:ea typeface="DejaVu Sans"/>
                <a:cs typeface="DejaVu Sans"/>
              </a:defRPr>
            </a:pPr>
            <a:r>
              <a:rPr sz="1725" b="1">
                <a:solidFill>
                  <a:srgbClr val="008C95"/>
                </a:solidFill>
                <a:latin typeface="DejaVu Sans"/>
                <a:ea typeface="DejaVu Sans"/>
                <a:cs typeface="DejaVu Sans"/>
                <a:hlinkClick xmlns:r="http://schemas.openxmlformats.org/officeDocument/2006/relationships" r:id="R8433262815004eae"/>
              </a:rPr>
              <a:t>[1] Cortes &amp; Vapnik (1995)</a:t>
            </a:r>
          </a:p>
        </p:txBody>
      </p:sp>
      <p:sp>
        <p:nvSpPr>
          <p:cNvPr id="7" name="text-88">
            <a:extLst xmlns:a="http://schemas.openxmlformats.org/drawingml/2006/main">
              <a:ext uri="{FF2B5EF4-FFF2-40B4-BE49-F238E27FC236}">
                <a16:creationId xmlns:a16="http://schemas.microsoft.com/office/drawing/2014/main" id="{6612043B-2FE0-4311-9E9F-C3832E5FE882}"/>
              </a:ext>
            </a:extLst>
          </p:cNvPr>
          <p:cNvSpPr>
            <a:spLocks xmlns:a="http://schemas.openxmlformats.org/drawingml/2006/main" noGrp="1"/>
          </p:cNvSpPr>
          <p:nvPr/>
        </p:nvSpPr>
        <p:spPr>
          <a:xfrm xmlns:a="http://schemas.openxmlformats.org/drawingml/2006/main">
            <a:off x="571500" y="2600325"/>
            <a:ext cx="5286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377"/>
                </a:solidFill>
                <a:latin typeface="DejaVu Sans"/>
                <a:ea typeface="DejaVu Sans"/>
                <a:cs typeface="DejaVu Sans"/>
              </a:defRPr>
            </a:defPPr>
          </a:lstStyle>
          <a:p xmlns:a="http://schemas.openxmlformats.org/drawingml/2006/main">
            <a:pPr>
              <a:defRPr sz="1575" b="0">
                <a:solidFill>
                  <a:srgbClr val="536377"/>
                </a:solidFill>
                <a:latin typeface="DejaVu Sans"/>
                <a:ea typeface="DejaVu Sans"/>
                <a:cs typeface="DejaVu Sans"/>
              </a:defRPr>
            </a:pPr>
            <a:r>
              <a:rPr sz="1575" b="0">
                <a:solidFill>
                  <a:srgbClr val="536377"/>
                </a:solidFill>
                <a:latin typeface="DejaVu Sans"/>
                <a:ea typeface="DejaVu Sans"/>
                <a:cs typeface="DejaVu Sans"/>
              </a:rPr>
              <a:t>Support-vector networks</a:t>
            </a:r>
          </a:p>
        </p:txBody>
      </p:sp>
      <p:sp>
        <p:nvSpPr>
          <p:cNvPr id="8" name="text-89">
            <a:extLst xmlns:a="http://schemas.openxmlformats.org/drawingml/2006/main">
              <a:ext uri="{FF2B5EF4-FFF2-40B4-BE49-F238E27FC236}">
                <a16:creationId xmlns:a16="http://schemas.microsoft.com/office/drawing/2014/main" id="{A0349572-2144-4FBD-AB19-07DD8F1B7137}"/>
              </a:ext>
            </a:extLst>
          </p:cNvPr>
          <p:cNvSpPr>
            <a:spLocks xmlns:a="http://schemas.openxmlformats.org/drawingml/2006/main" noGrp="1"/>
          </p:cNvSpPr>
          <p:nvPr/>
        </p:nvSpPr>
        <p:spPr>
          <a:xfrm xmlns:a="http://schemas.openxmlformats.org/drawingml/2006/main">
            <a:off x="571500" y="3057525"/>
            <a:ext cx="52863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1">
                <a:solidFill>
                  <a:srgbClr val="008C95"/>
                </a:solidFill>
                <a:latin typeface="DejaVu Sans"/>
                <a:ea typeface="DejaVu Sans"/>
                <a:cs typeface="DejaVu Sans"/>
              </a:defRPr>
            </a:defPPr>
          </a:lstStyle>
          <a:p xmlns:a="http://schemas.openxmlformats.org/drawingml/2006/main">
            <a:pPr>
              <a:defRPr sz="1725" b="1">
                <a:solidFill>
                  <a:srgbClr val="008C95"/>
                </a:solidFill>
                <a:latin typeface="DejaVu Sans"/>
                <a:ea typeface="DejaVu Sans"/>
                <a:cs typeface="DejaVu Sans"/>
              </a:defRPr>
            </a:pPr>
            <a:r>
              <a:rPr sz="1725" b="1">
                <a:solidFill>
                  <a:srgbClr val="008C95"/>
                </a:solidFill>
                <a:latin typeface="DejaVu Sans"/>
                <a:ea typeface="DejaVu Sans"/>
                <a:cs typeface="DejaVu Sans"/>
                <a:hlinkClick xmlns:r="http://schemas.openxmlformats.org/officeDocument/2006/relationships" r:id="Re52f9982260b4f94"/>
              </a:rPr>
              <a:t>[2] Stanford CS229, A. Ng</a:t>
            </a:r>
          </a:p>
        </p:txBody>
      </p:sp>
      <p:sp>
        <p:nvSpPr>
          <p:cNvPr id="9" name="text-90">
            <a:extLst xmlns:a="http://schemas.openxmlformats.org/drawingml/2006/main">
              <a:ext uri="{FF2B5EF4-FFF2-40B4-BE49-F238E27FC236}">
                <a16:creationId xmlns:a16="http://schemas.microsoft.com/office/drawing/2014/main" id="{A1F8B900-29FA-4F7A-B672-5CA210184D9D}"/>
              </a:ext>
            </a:extLst>
          </p:cNvPr>
          <p:cNvSpPr>
            <a:spLocks xmlns:a="http://schemas.openxmlformats.org/drawingml/2006/main" noGrp="1"/>
          </p:cNvSpPr>
          <p:nvPr/>
        </p:nvSpPr>
        <p:spPr>
          <a:xfrm xmlns:a="http://schemas.openxmlformats.org/drawingml/2006/main">
            <a:off x="571500" y="3590925"/>
            <a:ext cx="5286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377"/>
                </a:solidFill>
                <a:latin typeface="DejaVu Sans"/>
                <a:ea typeface="DejaVu Sans"/>
                <a:cs typeface="DejaVu Sans"/>
              </a:defRPr>
            </a:defPPr>
          </a:lstStyle>
          <a:p xmlns:a="http://schemas.openxmlformats.org/drawingml/2006/main">
            <a:pPr>
              <a:defRPr sz="1575" b="0">
                <a:solidFill>
                  <a:srgbClr val="536377"/>
                </a:solidFill>
                <a:latin typeface="DejaVu Sans"/>
                <a:ea typeface="DejaVu Sans"/>
                <a:cs typeface="DejaVu Sans"/>
              </a:defRPr>
            </a:pPr>
            <a:r>
              <a:rPr sz="1575" b="0">
                <a:solidFill>
                  <a:srgbClr val="536377"/>
                </a:solidFill>
                <a:latin typeface="DejaVu Sans"/>
                <a:ea typeface="DejaVu Sans"/>
                <a:cs typeface="DejaVu Sans"/>
              </a:rPr>
              <a:t>Отступы и мягкий зазор</a:t>
            </a:r>
          </a:p>
        </p:txBody>
      </p:sp>
      <p:sp>
        <p:nvSpPr>
          <p:cNvPr id="10" name="text-91">
            <a:extLst xmlns:a="http://schemas.openxmlformats.org/drawingml/2006/main">
              <a:ext uri="{FF2B5EF4-FFF2-40B4-BE49-F238E27FC236}">
                <a16:creationId xmlns:a16="http://schemas.microsoft.com/office/drawing/2014/main" id="{0A2C29F8-F2AA-44E2-ADD0-F981FF988C34}"/>
              </a:ext>
            </a:extLst>
          </p:cNvPr>
          <p:cNvSpPr>
            <a:spLocks xmlns:a="http://schemas.openxmlformats.org/drawingml/2006/main" noGrp="1"/>
          </p:cNvSpPr>
          <p:nvPr/>
        </p:nvSpPr>
        <p:spPr>
          <a:xfrm xmlns:a="http://schemas.openxmlformats.org/drawingml/2006/main">
            <a:off x="571500" y="4048125"/>
            <a:ext cx="52863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1">
                <a:solidFill>
                  <a:srgbClr val="008C95"/>
                </a:solidFill>
                <a:latin typeface="DejaVu Sans"/>
                <a:ea typeface="DejaVu Sans"/>
                <a:cs typeface="DejaVu Sans"/>
              </a:defRPr>
            </a:defPPr>
          </a:lstStyle>
          <a:p xmlns:a="http://schemas.openxmlformats.org/drawingml/2006/main">
            <a:pPr>
              <a:defRPr sz="1725" b="1">
                <a:solidFill>
                  <a:srgbClr val="008C95"/>
                </a:solidFill>
                <a:latin typeface="DejaVu Sans"/>
                <a:ea typeface="DejaVu Sans"/>
                <a:cs typeface="DejaVu Sans"/>
              </a:defRPr>
            </a:pPr>
            <a:r>
              <a:rPr sz="1725" b="1">
                <a:solidFill>
                  <a:srgbClr val="008C95"/>
                </a:solidFill>
                <a:latin typeface="DejaVu Sans"/>
                <a:ea typeface="DejaVu Sans"/>
                <a:cs typeface="DejaVu Sans"/>
                <a:hlinkClick xmlns:r="http://schemas.openxmlformats.org/officeDocument/2006/relationships" r:id="R47991c44c14f4b2b"/>
              </a:rPr>
              <a:t>[3] Schubert &amp; Rousseeuw (2019)</a:t>
            </a:r>
          </a:p>
        </p:txBody>
      </p:sp>
      <p:sp>
        <p:nvSpPr>
          <p:cNvPr id="11" name="text-92">
            <a:extLst xmlns:a="http://schemas.openxmlformats.org/drawingml/2006/main">
              <a:ext uri="{FF2B5EF4-FFF2-40B4-BE49-F238E27FC236}">
                <a16:creationId xmlns:a16="http://schemas.microsoft.com/office/drawing/2014/main" id="{84E2EF7C-532A-43A0-876B-E3C9B7DC2BD2}"/>
              </a:ext>
            </a:extLst>
          </p:cNvPr>
          <p:cNvSpPr>
            <a:spLocks xmlns:a="http://schemas.openxmlformats.org/drawingml/2006/main" noGrp="1"/>
          </p:cNvSpPr>
          <p:nvPr/>
        </p:nvSpPr>
        <p:spPr>
          <a:xfrm xmlns:a="http://schemas.openxmlformats.org/drawingml/2006/main">
            <a:off x="571500" y="4581525"/>
            <a:ext cx="5286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377"/>
                </a:solidFill>
                <a:latin typeface="DejaVu Sans"/>
                <a:ea typeface="DejaVu Sans"/>
                <a:cs typeface="DejaVu Sans"/>
              </a:defRPr>
            </a:defPPr>
          </a:lstStyle>
          <a:p xmlns:a="http://schemas.openxmlformats.org/drawingml/2006/main">
            <a:pPr>
              <a:defRPr sz="1575" b="0">
                <a:solidFill>
                  <a:srgbClr val="536377"/>
                </a:solidFill>
                <a:latin typeface="DejaVu Sans"/>
                <a:ea typeface="DejaVu Sans"/>
                <a:cs typeface="DejaVu Sans"/>
              </a:defRPr>
            </a:pPr>
            <a:r>
              <a:rPr sz="1575" b="0">
                <a:solidFill>
                  <a:srgbClr val="536377"/>
                </a:solidFill>
                <a:latin typeface="DejaVu Sans"/>
                <a:ea typeface="DejaVu Sans"/>
                <a:cs typeface="DejaVu Sans"/>
              </a:rPr>
              <a:t>Faster k-Medoids Clustering</a:t>
            </a:r>
          </a:p>
        </p:txBody>
      </p:sp>
      <p:sp>
        <p:nvSpPr>
          <p:cNvPr id="12" name="text-93">
            <a:extLst xmlns:a="http://schemas.openxmlformats.org/drawingml/2006/main">
              <a:ext uri="{FF2B5EF4-FFF2-40B4-BE49-F238E27FC236}">
                <a16:creationId xmlns:a16="http://schemas.microsoft.com/office/drawing/2014/main" id="{E63CDFF2-7FD3-4FC6-AB06-1E20BACE1500}"/>
              </a:ext>
            </a:extLst>
          </p:cNvPr>
          <p:cNvSpPr>
            <a:spLocks xmlns:a="http://schemas.openxmlformats.org/drawingml/2006/main" noGrp="1"/>
          </p:cNvSpPr>
          <p:nvPr/>
        </p:nvSpPr>
        <p:spPr>
          <a:xfrm xmlns:a="http://schemas.openxmlformats.org/drawingml/2006/main">
            <a:off x="571500" y="5038725"/>
            <a:ext cx="52863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1">
                <a:solidFill>
                  <a:srgbClr val="008C95"/>
                </a:solidFill>
                <a:latin typeface="DejaVu Sans"/>
                <a:ea typeface="DejaVu Sans"/>
                <a:cs typeface="DejaVu Sans"/>
              </a:defRPr>
            </a:defPPr>
          </a:lstStyle>
          <a:p xmlns:a="http://schemas.openxmlformats.org/drawingml/2006/main">
            <a:pPr>
              <a:defRPr sz="1725" b="1">
                <a:solidFill>
                  <a:srgbClr val="008C95"/>
                </a:solidFill>
                <a:latin typeface="DejaVu Sans"/>
                <a:ea typeface="DejaVu Sans"/>
                <a:cs typeface="DejaVu Sans"/>
              </a:defRPr>
            </a:pPr>
            <a:r>
              <a:rPr sz="1725" b="1">
                <a:solidFill>
                  <a:srgbClr val="008C95"/>
                </a:solidFill>
                <a:latin typeface="DejaVu Sans"/>
                <a:ea typeface="DejaVu Sans"/>
                <a:cs typeface="DejaVu Sans"/>
                <a:hlinkClick xmlns:r="http://schemas.openxmlformats.org/officeDocument/2006/relationships" r:id="Rdbe2b4bbbcd14db5"/>
              </a:rPr>
              <a:t>[4] Eddy (2007), RFC 4987</a:t>
            </a:r>
          </a:p>
        </p:txBody>
      </p:sp>
      <p:sp>
        <p:nvSpPr>
          <p:cNvPr id="13" name="text-94">
            <a:extLst xmlns:a="http://schemas.openxmlformats.org/drawingml/2006/main">
              <a:ext uri="{FF2B5EF4-FFF2-40B4-BE49-F238E27FC236}">
                <a16:creationId xmlns:a16="http://schemas.microsoft.com/office/drawing/2014/main" id="{A7FA7357-9086-417A-808C-AD6E3F096E5E}"/>
              </a:ext>
            </a:extLst>
          </p:cNvPr>
          <p:cNvSpPr>
            <a:spLocks xmlns:a="http://schemas.openxmlformats.org/drawingml/2006/main" noGrp="1"/>
          </p:cNvSpPr>
          <p:nvPr/>
        </p:nvSpPr>
        <p:spPr>
          <a:xfrm xmlns:a="http://schemas.openxmlformats.org/drawingml/2006/main">
            <a:off x="571500" y="5572125"/>
            <a:ext cx="5286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377"/>
                </a:solidFill>
                <a:latin typeface="DejaVu Sans"/>
                <a:ea typeface="DejaVu Sans"/>
                <a:cs typeface="DejaVu Sans"/>
              </a:defRPr>
            </a:defPPr>
          </a:lstStyle>
          <a:p xmlns:a="http://schemas.openxmlformats.org/drawingml/2006/main">
            <a:pPr>
              <a:defRPr sz="1575" b="0">
                <a:solidFill>
                  <a:srgbClr val="536377"/>
                </a:solidFill>
                <a:latin typeface="DejaVu Sans"/>
                <a:ea typeface="DejaVu Sans"/>
                <a:cs typeface="DejaVu Sans"/>
              </a:defRPr>
            </a:pPr>
            <a:r>
              <a:rPr sz="1575" b="0">
                <a:solidFill>
                  <a:srgbClr val="536377"/>
                </a:solidFill>
                <a:latin typeface="DejaVu Sans"/>
                <a:ea typeface="DejaVu Sans"/>
                <a:cs typeface="DejaVu Sans"/>
              </a:rPr>
              <a:t>TCP SYN Flooding Attacks and Common Mitigations</a:t>
            </a:r>
          </a:p>
        </p:txBody>
      </p:sp>
      <p:sp>
        <p:nvSpPr>
          <p:cNvPr id="14" name="text-95">
            <a:extLst xmlns:a="http://schemas.openxmlformats.org/drawingml/2006/main">
              <a:ext uri="{FF2B5EF4-FFF2-40B4-BE49-F238E27FC236}">
                <a16:creationId xmlns:a16="http://schemas.microsoft.com/office/drawing/2014/main" id="{B604499A-510E-4EBA-945F-412795F87173}"/>
              </a:ext>
            </a:extLst>
          </p:cNvPr>
          <p:cNvSpPr>
            <a:spLocks xmlns:a="http://schemas.openxmlformats.org/drawingml/2006/main" noGrp="1"/>
          </p:cNvSpPr>
          <p:nvPr/>
        </p:nvSpPr>
        <p:spPr>
          <a:xfrm xmlns:a="http://schemas.openxmlformats.org/drawingml/2006/main">
            <a:off x="6334125" y="2066925"/>
            <a:ext cx="52863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1">
                <a:solidFill>
                  <a:srgbClr val="008C95"/>
                </a:solidFill>
                <a:latin typeface="DejaVu Sans"/>
                <a:ea typeface="DejaVu Sans"/>
                <a:cs typeface="DejaVu Sans"/>
              </a:defRPr>
            </a:defPPr>
          </a:lstStyle>
          <a:p xmlns:a="http://schemas.openxmlformats.org/drawingml/2006/main">
            <a:pPr>
              <a:defRPr sz="1725" b="1">
                <a:solidFill>
                  <a:srgbClr val="008C95"/>
                </a:solidFill>
                <a:latin typeface="DejaVu Sans"/>
                <a:ea typeface="DejaVu Sans"/>
                <a:cs typeface="DejaVu Sans"/>
              </a:defRPr>
            </a:pPr>
            <a:r>
              <a:rPr sz="1725" b="1">
                <a:solidFill>
                  <a:srgbClr val="008C95"/>
                </a:solidFill>
                <a:latin typeface="DejaVu Sans"/>
                <a:ea typeface="DejaVu Sans"/>
                <a:cs typeface="DejaVu Sans"/>
                <a:hlinkClick xmlns:r="http://schemas.openxmlformats.org/officeDocument/2006/relationships" r:id="R7f9028a76cb14db0"/>
              </a:rPr>
              <a:t>[5] scikit-learn: документация</a:t>
            </a:r>
          </a:p>
        </p:txBody>
      </p:sp>
      <p:sp>
        <p:nvSpPr>
          <p:cNvPr id="15" name="text-96">
            <a:extLst xmlns:a="http://schemas.openxmlformats.org/drawingml/2006/main">
              <a:ext uri="{FF2B5EF4-FFF2-40B4-BE49-F238E27FC236}">
                <a16:creationId xmlns:a16="http://schemas.microsoft.com/office/drawing/2014/main" id="{2371C13E-5D42-4975-9802-04EBA8A469BE}"/>
              </a:ext>
            </a:extLst>
          </p:cNvPr>
          <p:cNvSpPr>
            <a:spLocks xmlns:a="http://schemas.openxmlformats.org/drawingml/2006/main" noGrp="1"/>
          </p:cNvSpPr>
          <p:nvPr/>
        </p:nvSpPr>
        <p:spPr>
          <a:xfrm xmlns:a="http://schemas.openxmlformats.org/drawingml/2006/main">
            <a:off x="6334125" y="2600325"/>
            <a:ext cx="5286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377"/>
                </a:solidFill>
                <a:latin typeface="DejaVu Sans"/>
                <a:ea typeface="DejaVu Sans"/>
                <a:cs typeface="DejaVu Sans"/>
              </a:defRPr>
            </a:defPPr>
          </a:lstStyle>
          <a:p xmlns:a="http://schemas.openxmlformats.org/drawingml/2006/main">
            <a:pPr>
              <a:defRPr sz="1575" b="0">
                <a:solidFill>
                  <a:srgbClr val="536377"/>
                </a:solidFill>
                <a:latin typeface="DejaVu Sans"/>
                <a:ea typeface="DejaVu Sans"/>
                <a:cs typeface="DejaVu Sans"/>
              </a:defRPr>
            </a:pPr>
            <a:r>
              <a:rPr sz="1575" b="0">
                <a:solidFill>
                  <a:srgbClr val="536377"/>
                </a:solidFill>
                <a:latin typeface="DejaVu Sans"/>
                <a:ea typeface="DejaVu Sans"/>
                <a:cs typeface="DejaVu Sans"/>
              </a:rPr>
              <a:t>SVC, decision_function, масштабирование</a:t>
            </a:r>
          </a:p>
        </p:txBody>
      </p:sp>
      <p:sp>
        <p:nvSpPr>
          <p:cNvPr id="16" name="text-97">
            <a:extLst xmlns:a="http://schemas.openxmlformats.org/drawingml/2006/main">
              <a:ext uri="{FF2B5EF4-FFF2-40B4-BE49-F238E27FC236}">
                <a16:creationId xmlns:a16="http://schemas.microsoft.com/office/drawing/2014/main" id="{554B7D3C-A567-4A22-8A00-D45A5D71FE1E}"/>
              </a:ext>
            </a:extLst>
          </p:cNvPr>
          <p:cNvSpPr>
            <a:spLocks xmlns:a="http://schemas.openxmlformats.org/drawingml/2006/main" noGrp="1"/>
          </p:cNvSpPr>
          <p:nvPr/>
        </p:nvSpPr>
        <p:spPr>
          <a:xfrm xmlns:a="http://schemas.openxmlformats.org/drawingml/2006/main">
            <a:off x="6334125" y="3057525"/>
            <a:ext cx="52863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1">
                <a:solidFill>
                  <a:srgbClr val="008C95"/>
                </a:solidFill>
                <a:latin typeface="DejaVu Sans"/>
                <a:ea typeface="DejaVu Sans"/>
                <a:cs typeface="DejaVu Sans"/>
              </a:defRPr>
            </a:defPPr>
          </a:lstStyle>
          <a:p xmlns:a="http://schemas.openxmlformats.org/drawingml/2006/main">
            <a:pPr>
              <a:defRPr sz="1725" b="1">
                <a:solidFill>
                  <a:srgbClr val="008C95"/>
                </a:solidFill>
                <a:latin typeface="DejaVu Sans"/>
                <a:ea typeface="DejaVu Sans"/>
                <a:cs typeface="DejaVu Sans"/>
              </a:defRPr>
            </a:pPr>
            <a:r>
              <a:rPr sz="1725" b="1">
                <a:solidFill>
                  <a:srgbClr val="008C95"/>
                </a:solidFill>
                <a:latin typeface="DejaVu Sans"/>
                <a:ea typeface="DejaVu Sans"/>
                <a:cs typeface="DejaVu Sans"/>
                <a:hlinkClick xmlns:r="http://schemas.openxmlformats.org/officeDocument/2006/relationships" r:id="R73f6b6e2b4924b11"/>
              </a:rPr>
              <a:t>[6] Moosavi-Dezfooli et al. (CVPR 2016)</a:t>
            </a:r>
          </a:p>
        </p:txBody>
      </p:sp>
      <p:sp>
        <p:nvSpPr>
          <p:cNvPr id="17" name="text-98">
            <a:extLst xmlns:a="http://schemas.openxmlformats.org/drawingml/2006/main">
              <a:ext uri="{FF2B5EF4-FFF2-40B4-BE49-F238E27FC236}">
                <a16:creationId xmlns:a16="http://schemas.microsoft.com/office/drawing/2014/main" id="{31A451B4-F7FF-4A43-BD74-3D36DB4BFA9B}"/>
              </a:ext>
            </a:extLst>
          </p:cNvPr>
          <p:cNvSpPr>
            <a:spLocks xmlns:a="http://schemas.openxmlformats.org/drawingml/2006/main" noGrp="1"/>
          </p:cNvSpPr>
          <p:nvPr/>
        </p:nvSpPr>
        <p:spPr>
          <a:xfrm xmlns:a="http://schemas.openxmlformats.org/drawingml/2006/main">
            <a:off x="6334125" y="3590925"/>
            <a:ext cx="5286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377"/>
                </a:solidFill>
                <a:latin typeface="DejaVu Sans"/>
                <a:ea typeface="DejaVu Sans"/>
                <a:cs typeface="DejaVu Sans"/>
              </a:defRPr>
            </a:defPPr>
          </a:lstStyle>
          <a:p xmlns:a="http://schemas.openxmlformats.org/drawingml/2006/main">
            <a:pPr>
              <a:defRPr sz="1575" b="0">
                <a:solidFill>
                  <a:srgbClr val="536377"/>
                </a:solidFill>
                <a:latin typeface="DejaVu Sans"/>
                <a:ea typeface="DejaVu Sans"/>
                <a:cs typeface="DejaVu Sans"/>
              </a:defRPr>
            </a:pPr>
            <a:r>
              <a:rPr sz="1575" b="0">
                <a:solidFill>
                  <a:srgbClr val="536377"/>
                </a:solidFill>
                <a:latin typeface="DejaVu Sans"/>
                <a:ea typeface="DejaVu Sans"/>
                <a:cs typeface="DejaVu Sans"/>
              </a:rPr>
              <a:t>DeepFool: расстояние до границы</a:t>
            </a:r>
          </a:p>
        </p:txBody>
      </p:sp>
      <p:sp>
        <p:nvSpPr>
          <p:cNvPr id="18" name="text-99">
            <a:extLst xmlns:a="http://schemas.openxmlformats.org/drawingml/2006/main">
              <a:ext uri="{FF2B5EF4-FFF2-40B4-BE49-F238E27FC236}">
                <a16:creationId xmlns:a16="http://schemas.microsoft.com/office/drawing/2014/main" id="{260E8614-28CC-48D2-B764-216E200C12B1}"/>
              </a:ext>
            </a:extLst>
          </p:cNvPr>
          <p:cNvSpPr>
            <a:spLocks xmlns:a="http://schemas.openxmlformats.org/drawingml/2006/main" noGrp="1"/>
          </p:cNvSpPr>
          <p:nvPr/>
        </p:nvSpPr>
        <p:spPr>
          <a:xfrm xmlns:a="http://schemas.openxmlformats.org/drawingml/2006/main">
            <a:off x="6334125" y="4048125"/>
            <a:ext cx="52863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1">
                <a:solidFill>
                  <a:srgbClr val="008C95"/>
                </a:solidFill>
                <a:latin typeface="DejaVu Sans"/>
                <a:ea typeface="DejaVu Sans"/>
                <a:cs typeface="DejaVu Sans"/>
              </a:defRPr>
            </a:defPPr>
          </a:lstStyle>
          <a:p xmlns:a="http://schemas.openxmlformats.org/drawingml/2006/main">
            <a:pPr>
              <a:defRPr sz="1725" b="1">
                <a:solidFill>
                  <a:srgbClr val="008C95"/>
                </a:solidFill>
                <a:latin typeface="DejaVu Sans"/>
                <a:ea typeface="DejaVu Sans"/>
                <a:cs typeface="DejaVu Sans"/>
              </a:defRPr>
            </a:pPr>
            <a:r>
              <a:rPr sz="1725" b="1">
                <a:solidFill>
                  <a:srgbClr val="008C95"/>
                </a:solidFill>
                <a:latin typeface="DejaVu Sans"/>
                <a:ea typeface="DejaVu Sans"/>
                <a:cs typeface="DejaVu Sans"/>
                <a:hlinkClick xmlns:r="http://schemas.openxmlformats.org/officeDocument/2006/relationships" r:id="R8fe4afb4d55c4338"/>
              </a:rPr>
              <a:t>[7] UNB / CICDDoS2019</a:t>
            </a:r>
          </a:p>
        </p:txBody>
      </p:sp>
      <p:sp>
        <p:nvSpPr>
          <p:cNvPr id="19" name="text-100">
            <a:extLst xmlns:a="http://schemas.openxmlformats.org/drawingml/2006/main">
              <a:ext uri="{FF2B5EF4-FFF2-40B4-BE49-F238E27FC236}">
                <a16:creationId xmlns:a16="http://schemas.microsoft.com/office/drawing/2014/main" id="{23480A1C-D6FC-400F-93AD-21ADE4DBE811}"/>
              </a:ext>
            </a:extLst>
          </p:cNvPr>
          <p:cNvSpPr>
            <a:spLocks xmlns:a="http://schemas.openxmlformats.org/drawingml/2006/main" noGrp="1"/>
          </p:cNvSpPr>
          <p:nvPr/>
        </p:nvSpPr>
        <p:spPr>
          <a:xfrm xmlns:a="http://schemas.openxmlformats.org/drawingml/2006/main">
            <a:off x="6334125" y="4581525"/>
            <a:ext cx="5286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377"/>
                </a:solidFill>
                <a:latin typeface="DejaVu Sans"/>
                <a:ea typeface="DejaVu Sans"/>
                <a:cs typeface="DejaVu Sans"/>
              </a:defRPr>
            </a:defPPr>
          </a:lstStyle>
          <a:p xmlns:a="http://schemas.openxmlformats.org/drawingml/2006/main">
            <a:pPr>
              <a:defRPr sz="1575" b="0">
                <a:solidFill>
                  <a:srgbClr val="536377"/>
                </a:solidFill>
                <a:latin typeface="DejaVu Sans"/>
                <a:ea typeface="DejaVu Sans"/>
                <a:cs typeface="DejaVu Sans"/>
              </a:defRPr>
            </a:pPr>
            <a:r>
              <a:rPr sz="1575" b="0">
                <a:solidFill>
                  <a:srgbClr val="536377"/>
                </a:solidFill>
                <a:latin typeface="DejaVu Sans"/>
                <a:ea typeface="DejaVu Sans"/>
                <a:cs typeface="DejaVu Sans"/>
              </a:rPr>
              <a:t>Данные для следующего этапа проверки</a:t>
            </a:r>
          </a:p>
        </p:txBody>
      </p:sp>
      <p:sp>
        <p:nvSpPr>
          <p:cNvPr id="20" name="text-101">
            <a:extLst xmlns:a="http://schemas.openxmlformats.org/drawingml/2006/main">
              <a:ext uri="{FF2B5EF4-FFF2-40B4-BE49-F238E27FC236}">
                <a16:creationId xmlns:a16="http://schemas.microsoft.com/office/drawing/2014/main" id="{30408F88-E5CE-471B-8531-2AD782A20C75}"/>
              </a:ext>
            </a:extLst>
          </p:cNvPr>
          <p:cNvSpPr>
            <a:spLocks xmlns:a="http://schemas.openxmlformats.org/drawingml/2006/main" noGrp="1"/>
          </p:cNvSpPr>
          <p:nvPr/>
        </p:nvSpPr>
        <p:spPr>
          <a:xfrm xmlns:a="http://schemas.openxmlformats.org/drawingml/2006/main">
            <a:off x="6334125" y="5038725"/>
            <a:ext cx="52863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1">
                <a:solidFill>
                  <a:srgbClr val="008C95"/>
                </a:solidFill>
                <a:latin typeface="DejaVu Sans"/>
                <a:ea typeface="DejaVu Sans"/>
                <a:cs typeface="DejaVu Sans"/>
              </a:defRPr>
            </a:defPPr>
          </a:lstStyle>
          <a:p xmlns:a="http://schemas.openxmlformats.org/drawingml/2006/main">
            <a:pPr>
              <a:defRPr sz="1725" b="1">
                <a:solidFill>
                  <a:srgbClr val="008C95"/>
                </a:solidFill>
                <a:latin typeface="DejaVu Sans"/>
                <a:ea typeface="DejaVu Sans"/>
                <a:cs typeface="DejaVu Sans"/>
              </a:defRPr>
            </a:pPr>
            <a:r>
              <a:rPr sz="1725" b="1">
                <a:solidFill>
                  <a:srgbClr val="008C95"/>
                </a:solidFill>
                <a:latin typeface="DejaVu Sans"/>
                <a:ea typeface="DejaVu Sans"/>
                <a:cs typeface="DejaVu Sans"/>
                <a:hlinkClick xmlns:r="http://schemas.openxmlformats.org/officeDocument/2006/relationships" r:id="R3d763eb9fd524656"/>
              </a:rPr>
              <a:t>[8] NIST SP 800-94</a:t>
            </a:r>
          </a:p>
        </p:txBody>
      </p:sp>
      <p:sp>
        <p:nvSpPr>
          <p:cNvPr id="21" name="text-102">
            <a:extLst xmlns:a="http://schemas.openxmlformats.org/drawingml/2006/main">
              <a:ext uri="{FF2B5EF4-FFF2-40B4-BE49-F238E27FC236}">
                <a16:creationId xmlns:a16="http://schemas.microsoft.com/office/drawing/2014/main" id="{0F7289B4-BCB7-43F3-BE9A-21865FEC7499}"/>
              </a:ext>
            </a:extLst>
          </p:cNvPr>
          <p:cNvSpPr>
            <a:spLocks xmlns:a="http://schemas.openxmlformats.org/drawingml/2006/main" noGrp="1"/>
          </p:cNvSpPr>
          <p:nvPr/>
        </p:nvSpPr>
        <p:spPr>
          <a:xfrm xmlns:a="http://schemas.openxmlformats.org/drawingml/2006/main">
            <a:off x="6334125" y="5572125"/>
            <a:ext cx="5286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377"/>
                </a:solidFill>
                <a:latin typeface="DejaVu Sans"/>
                <a:ea typeface="DejaVu Sans"/>
                <a:cs typeface="DejaVu Sans"/>
              </a:defRPr>
            </a:defPPr>
          </a:lstStyle>
          <a:p xmlns:a="http://schemas.openxmlformats.org/drawingml/2006/main">
            <a:pPr>
              <a:defRPr sz="1575" b="0">
                <a:solidFill>
                  <a:srgbClr val="536377"/>
                </a:solidFill>
                <a:latin typeface="DejaVu Sans"/>
                <a:ea typeface="DejaVu Sans"/>
                <a:cs typeface="DejaVu Sans"/>
              </a:defRPr>
            </a:pPr>
            <a:r>
              <a:rPr sz="1575" b="0">
                <a:solidFill>
                  <a:srgbClr val="536377"/>
                </a:solidFill>
                <a:latin typeface="DejaVu Sans"/>
                <a:ea typeface="DejaVu Sans"/>
                <a:cs typeface="DejaVu Sans"/>
              </a:rPr>
              <a:t>Проверка сигналов IDS и работа с ошибками</a:t>
            </a:r>
          </a:p>
        </p:txBody>
      </p:sp>
    </p:spTree>
    <p:extLst>
      <p:ext uri="{BB962C8B-B14F-4D97-AF65-F5344CB8AC3E}">
        <p14:creationId xmlns:p14="http://schemas.microsoft.com/office/powerpoint/2010/main" val="138988055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2026-10-17T03:36:58.4010000Z</dcterms:created>
  <dcterms:modified xsi:type="dcterms:W3CDTF">2026-10-17T03:36:58.4010000Z</dcterms:modified>
</coreProperties>
</file>