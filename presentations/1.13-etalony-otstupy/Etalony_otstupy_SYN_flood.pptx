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12bbb641bde4531" /><Relationship Type="http://schemas.openxmlformats.org/officeDocument/2006/relationships/extended-properties" Target="/docProps/app.xml" Id="R696dad8010434e7d" /><Relationship Type="http://schemas.openxmlformats.org/officeDocument/2006/relationships/officeDocument" Target="/ppt/presentation.xml" Id="Ree6eb6fbc89b4187" /></Relationships>
</file>

<file path=ppt/presentation.xml><?xml version="1.0" encoding="utf-8"?>
<p:presentation xmlns:p="http://schemas.openxmlformats.org/presentationml/2006/main">
  <p:sldMasterIdLst>
    <p:sldMasterId xmlns:r="http://schemas.openxmlformats.org/officeDocument/2006/relationships" id="2147483648" r:id="R4d79de1eca964830"/>
  </p:sldMasterIdLst>
  <p:notesMasterIdLst>
    <p:notesMasterId xmlns:r="http://schemas.openxmlformats.org/officeDocument/2006/relationships" r:id="R581e39e94cfc4ae5"/>
  </p:notesMasterIdLst>
  <p:sldIdLst>
    <p:sldId xmlns:r="http://schemas.openxmlformats.org/officeDocument/2006/relationships" id="256" r:id="Rad5c206acc3342b8"/>
    <p:sldId xmlns:r="http://schemas.openxmlformats.org/officeDocument/2006/relationships" id="257" r:id="Rb1b1aa7219644892"/>
    <p:sldId xmlns:r="http://schemas.openxmlformats.org/officeDocument/2006/relationships" id="258" r:id="R2b36af17ba7e4622"/>
    <p:sldId xmlns:r="http://schemas.openxmlformats.org/officeDocument/2006/relationships" id="259" r:id="R901abe58dc184a59"/>
    <p:sldId xmlns:r="http://schemas.openxmlformats.org/officeDocument/2006/relationships" id="260" r:id="R8e8a73b560d4414d"/>
    <p:sldId xmlns:r="http://schemas.openxmlformats.org/officeDocument/2006/relationships" id="261" r:id="R6cdd8b45a8dd41d7"/>
    <p:sldId xmlns:r="http://schemas.openxmlformats.org/officeDocument/2006/relationships" id="262" r:id="R5f3787b6cbd74d19"/>
    <p:sldId xmlns:r="http://schemas.openxmlformats.org/officeDocument/2006/relationships" id="263" r:id="R6364ae96ffba4e6d"/>
    <p:sldId xmlns:r="http://schemas.openxmlformats.org/officeDocument/2006/relationships" id="264" r:id="Rc9a3c82b8b7f414c"/>
    <p:sldId xmlns:r="http://schemas.openxmlformats.org/officeDocument/2006/relationships" id="265" r:id="R30945ceeda874d33"/>
    <p:sldId xmlns:r="http://schemas.openxmlformats.org/officeDocument/2006/relationships" id="266" r:id="R73217287bad848d5"/>
    <p:sldId xmlns:r="http://schemas.openxmlformats.org/officeDocument/2006/relationships" id="267" r:id="R353da1f2ff4548a2"/>
    <p:sldId xmlns:r="http://schemas.openxmlformats.org/officeDocument/2006/relationships" id="268" r:id="R193c19824f6a4b32"/>
    <p:sldId xmlns:r="http://schemas.openxmlformats.org/officeDocument/2006/relationships" id="269" r:id="R3e60310c34bf4a60"/>
    <p:sldId xmlns:r="http://schemas.openxmlformats.org/officeDocument/2006/relationships" id="270" r:id="R8c50c535e8b740f0"/>
    <p:sldId xmlns:r="http://schemas.openxmlformats.org/officeDocument/2006/relationships" id="271" r:id="Rdfefa671ef9f44fb"/>
    <p:sldId xmlns:r="http://schemas.openxmlformats.org/officeDocument/2006/relationships" id="272" r:id="R4ea67bd585e04e2c"/>
    <p:sldId xmlns:r="http://schemas.openxmlformats.org/officeDocument/2006/relationships" id="273" r:id="R7f0deb87d5354670"/>
    <p:sldId xmlns:r="http://schemas.openxmlformats.org/officeDocument/2006/relationships" id="274" r:id="R3144546f45544da7"/>
    <p:sldId xmlns:r="http://schemas.openxmlformats.org/officeDocument/2006/relationships" id="275" r:id="R45cb4ca66cf04b6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028901a2c934e6b" /><Relationship Type="http://schemas.openxmlformats.org/officeDocument/2006/relationships/slideMaster" Target="/ppt/slideMasters/slideMaster1.xml" Id="R4d79de1eca964830" /><Relationship Type="http://schemas.openxmlformats.org/officeDocument/2006/relationships/notesMaster" Target="/ppt/notesMasters/notesMaster1.xml" Id="R581e39e94cfc4ae5" /><Relationship Type="http://schemas.openxmlformats.org/officeDocument/2006/relationships/presProps" Target="/ppt/presProps.xml" Id="Rde4072198d4c49b9" /><Relationship Type="http://schemas.openxmlformats.org/officeDocument/2006/relationships/tableStyles" Target="/ppt/tableStyles.xml" Id="R1c047fb9d47f4a62" /><Relationship Type="http://schemas.openxmlformats.org/officeDocument/2006/relationships/slide" Target="/ppt/slides/slide1.xml" Id="Rad5c206acc3342b8" /><Relationship Type="http://schemas.openxmlformats.org/officeDocument/2006/relationships/slide" Target="/ppt/slides/slide2.xml" Id="Rb1b1aa7219644892" /><Relationship Type="http://schemas.openxmlformats.org/officeDocument/2006/relationships/slide" Target="/ppt/slides/slide3.xml" Id="R2b36af17ba7e4622" /><Relationship Type="http://schemas.openxmlformats.org/officeDocument/2006/relationships/slide" Target="/ppt/slides/slide4.xml" Id="R901abe58dc184a59" /><Relationship Type="http://schemas.openxmlformats.org/officeDocument/2006/relationships/slide" Target="/ppt/slides/slide5.xml" Id="R8e8a73b560d4414d" /><Relationship Type="http://schemas.openxmlformats.org/officeDocument/2006/relationships/slide" Target="/ppt/slides/slide6.xml" Id="R6cdd8b45a8dd41d7" /><Relationship Type="http://schemas.openxmlformats.org/officeDocument/2006/relationships/slide" Target="/ppt/slides/slide7.xml" Id="R5f3787b6cbd74d19" /><Relationship Type="http://schemas.openxmlformats.org/officeDocument/2006/relationships/slide" Target="/ppt/slides/slide8.xml" Id="R6364ae96ffba4e6d" /><Relationship Type="http://schemas.openxmlformats.org/officeDocument/2006/relationships/slide" Target="/ppt/slides/slide9.xml" Id="Rc9a3c82b8b7f414c" /><Relationship Type="http://schemas.openxmlformats.org/officeDocument/2006/relationships/slide" Target="/ppt/slides/slide10.xml" Id="R30945ceeda874d33" /><Relationship Type="http://schemas.openxmlformats.org/officeDocument/2006/relationships/slide" Target="/ppt/slides/slide11.xml" Id="R73217287bad848d5" /><Relationship Type="http://schemas.openxmlformats.org/officeDocument/2006/relationships/slide" Target="/ppt/slides/slide12.xml" Id="R353da1f2ff4548a2" /><Relationship Type="http://schemas.openxmlformats.org/officeDocument/2006/relationships/slide" Target="/ppt/slides/slide13.xml" Id="R193c19824f6a4b32" /><Relationship Type="http://schemas.openxmlformats.org/officeDocument/2006/relationships/slide" Target="/ppt/slides/slide14.xml" Id="R3e60310c34bf4a60" /><Relationship Type="http://schemas.openxmlformats.org/officeDocument/2006/relationships/slide" Target="/ppt/slides/slide15.xml" Id="R8c50c535e8b740f0" /><Relationship Type="http://schemas.openxmlformats.org/officeDocument/2006/relationships/slide" Target="/ppt/slides/slide16.xml" Id="Rdfefa671ef9f44fb" /><Relationship Type="http://schemas.openxmlformats.org/officeDocument/2006/relationships/slide" Target="/ppt/slides/slide17.xml" Id="R4ea67bd585e04e2c" /><Relationship Type="http://schemas.openxmlformats.org/officeDocument/2006/relationships/slide" Target="/ppt/slides/slide18.xml" Id="R7f0deb87d5354670" /><Relationship Type="http://schemas.openxmlformats.org/officeDocument/2006/relationships/slide" Target="/ppt/slides/slide19.xml" Id="R3144546f45544da7" /><Relationship Type="http://schemas.openxmlformats.org/officeDocument/2006/relationships/slide" Target="/ppt/slides/slide20.xml" Id="R45cb4ca66cf04b6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68af5dbca3f4a4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f9609c826984910" /><Relationship Type="http://schemas.openxmlformats.org/officeDocument/2006/relationships/notesMaster" Target="/ppt/notesMasters/notesMaster1.xml" Id="R2fb28d2c4cdd4bd9" /></Relationships>
</file>

<file path=ppt/notesSlides/_rels/notesSlide2.xml.rels>&#65279;<?xml version="1.0" encoding="utf-8"?><Relationships xmlns="http://schemas.openxmlformats.org/package/2006/relationships"><Relationship Type="http://schemas.openxmlformats.org/officeDocument/2006/relationships/slide" Target="/ppt/slides/slide2.xml" Id="Rbe91d8e4dd5d42d4" /><Relationship Type="http://schemas.openxmlformats.org/officeDocument/2006/relationships/notesMaster" Target="/ppt/notesMasters/notesMaster1.xml" Id="R41a20745243c43de" /></Relationships>
</file>

<file path=ppt/notesSlides/_rels/notesSlide3.xml.rels>&#65279;<?xml version="1.0" encoding="utf-8"?><Relationships xmlns="http://schemas.openxmlformats.org/package/2006/relationships"><Relationship Type="http://schemas.openxmlformats.org/officeDocument/2006/relationships/slide" Target="/ppt/slides/slide3.xml" Id="R27694c3ce2ae49a4" /><Relationship Type="http://schemas.openxmlformats.org/officeDocument/2006/relationships/notesMaster" Target="/ppt/notesMasters/notesMaster1.xml" Id="R4128b0771cc14fb8" /></Relationships>
</file>

<file path=ppt/notesSlides/_rels/notesSlide4.xml.rels>&#65279;<?xml version="1.0" encoding="utf-8"?><Relationships xmlns="http://schemas.openxmlformats.org/package/2006/relationships"><Relationship Type="http://schemas.openxmlformats.org/officeDocument/2006/relationships/slide" Target="/ppt/slides/slide4.xml" Id="Rc46d8c2faeb1454e" /><Relationship Type="http://schemas.openxmlformats.org/officeDocument/2006/relationships/notesMaster" Target="/ppt/notesMasters/notesMaster1.xml" Id="R3303be54f9344809" /></Relationships>
</file>

<file path=ppt/notesSlides/_rels/notesSlide5.xml.rels>&#65279;<?xml version="1.0" encoding="utf-8"?><Relationships xmlns="http://schemas.openxmlformats.org/package/2006/relationships"><Relationship Type="http://schemas.openxmlformats.org/officeDocument/2006/relationships/slide" Target="/ppt/slides/slide5.xml" Id="Rda97afbc548f43c2" /><Relationship Type="http://schemas.openxmlformats.org/officeDocument/2006/relationships/notesMaster" Target="/ppt/notesMasters/notesMaster1.xml" Id="R004438b192914900" /></Relationships>
</file>

<file path=ppt/notesSlides/_rels/notesSlide6.xml.rels>&#65279;<?xml version="1.0" encoding="utf-8"?><Relationships xmlns="http://schemas.openxmlformats.org/package/2006/relationships"><Relationship Type="http://schemas.openxmlformats.org/officeDocument/2006/relationships/slide" Target="/ppt/slides/slide6.xml" Id="Ra483d67ac15d48f5" /><Relationship Type="http://schemas.openxmlformats.org/officeDocument/2006/relationships/notesMaster" Target="/ppt/notesMasters/notesMaster1.xml" Id="R2a022e8070eb421e" /></Relationships>
</file>

<file path=ppt/notesSlides/_rels/notesSlide7.xml.rels>&#65279;<?xml version="1.0" encoding="utf-8"?><Relationships xmlns="http://schemas.openxmlformats.org/package/2006/relationships"><Relationship Type="http://schemas.openxmlformats.org/officeDocument/2006/relationships/slide" Target="/ppt/slides/slide7.xml" Id="R73abb40d19d847c5" /><Relationship Type="http://schemas.openxmlformats.org/officeDocument/2006/relationships/notesMaster" Target="/ppt/notesMasters/notesMaster1.xml" Id="Re23302f687fd4e58" /></Relationships>
</file>

<file path=ppt/notesSlides/_rels/notesSlide8.xml.rels>&#65279;<?xml version="1.0" encoding="utf-8"?><Relationships xmlns="http://schemas.openxmlformats.org/package/2006/relationships"><Relationship Type="http://schemas.openxmlformats.org/officeDocument/2006/relationships/slide" Target="/ppt/slides/slide8.xml" Id="R88920d3a42434562" /><Relationship Type="http://schemas.openxmlformats.org/officeDocument/2006/relationships/notesMaster" Target="/ppt/notesMasters/notesMaster1.xml" Id="R01dd08ee8beb4c54" /></Relationships>
</file>

<file path=ppt/notesSlides/_rels/notesSlide9.xml.rels>&#65279;<?xml version="1.0" encoding="utf-8"?><Relationships xmlns="http://schemas.openxmlformats.org/package/2006/relationships"><Relationship Type="http://schemas.openxmlformats.org/officeDocument/2006/relationships/slide" Target="/ppt/slides/slide9.xml" Id="R829d0097e6064624" /><Relationship Type="http://schemas.openxmlformats.org/officeDocument/2006/relationships/notesMaster" Target="/ppt/notesMasters/notesMaster1.xml" Id="Rfc0d1422edaa434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e5c6f4a3ce04687" /><Relationship Type="http://schemas.openxmlformats.org/officeDocument/2006/relationships/notesMaster" Target="/ppt/notesMasters/notesMaster1.xml" Id="R885090a19fc24b2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451ab76d2284b1b" /><Relationship Type="http://schemas.openxmlformats.org/officeDocument/2006/relationships/notesMaster" Target="/ppt/notesMasters/notesMaster1.xml" Id="Rbc8e309052ea4a2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07d6c63b1354295" /><Relationship Type="http://schemas.openxmlformats.org/officeDocument/2006/relationships/notesMaster" Target="/ppt/notesMasters/notesMaster1.xml" Id="R07cb574531c24ce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207a60b153c44cf" /><Relationship Type="http://schemas.openxmlformats.org/officeDocument/2006/relationships/notesMaster" Target="/ppt/notesMasters/notesMaster1.xml" Id="Rb943b58e17ec449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47e3578874a4513" /><Relationship Type="http://schemas.openxmlformats.org/officeDocument/2006/relationships/notesMaster" Target="/ppt/notesMasters/notesMaster1.xml" Id="Rdebcb55d0194407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c9911747f1e4b1b" /><Relationship Type="http://schemas.openxmlformats.org/officeDocument/2006/relationships/notesMaster" Target="/ppt/notesMasters/notesMaster1.xml" Id="R32d6a8dbd859411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ddae0019c61415f" /><Relationship Type="http://schemas.openxmlformats.org/officeDocument/2006/relationships/notesMaster" Target="/ppt/notesMasters/notesMaster1.xml" Id="Rb67289bd703242a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3b5f284bc1b4e08" /><Relationship Type="http://schemas.openxmlformats.org/officeDocument/2006/relationships/notesMaster" Target="/ppt/notesMasters/notesMaster1.xml" Id="R393e46ec51a64f7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974d0ec210b4218" /><Relationship Type="http://schemas.openxmlformats.org/officeDocument/2006/relationships/notesMaster" Target="/ppt/notesMasters/notesMaster1.xml" Id="R01292d5f9b1a474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7468591305e4cfc" /><Relationship Type="http://schemas.openxmlformats.org/officeDocument/2006/relationships/notesMaster" Target="/ppt/notesMasters/notesMaster1.xml" Id="Rbb97b0bf153b457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189af6e01a347ac" /><Relationship Type="http://schemas.openxmlformats.org/officeDocument/2006/relationships/notesMaster" Target="/ppt/notesMasters/notesMaster1.xml" Id="R82493ebd319b43b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Точная тема работы — «1.13. Понятие эталона. Отступы и классификация объектов качества». Рассмотрим её на понятной для информационной безопасности задаче: отличить обычный трафик от SYN-flood. Вместо большого количества формул будем отвечать на три вопроса. На какой типичный пример похож трафик? Как модель проводит границу между классами? Насколько близко наблюдение находится к смене решения? Последний вопрос поможет объяснить «запас прочности». Сразу обозначим масштаб результата: подготовлен учебный эксперимент с вымышленными данными и воспроизводимыми расчётами. Мы не запускали атаку и не внедряли детектор в рабочую сеть. Подробная математика и код вынесены в Google Colab, а здесь главное — смысл результатов для специалиста ИБ.</a:t>
            </a:r>
          </a:p>
          <a:p xmlns:a="http://schemas.openxmlformats.org/drawingml/2006/main">
            <a:r>
              <a:t/>
            </a:r>
          </a:p>
          <a:p xmlns:a="http://schemas.openxmlformats.org/drawingml/2006/main">
            <a:r>
              <a:t>Источники:</a:t>
            </a:r>
          </a:p>
          <a:p xmlns:a="http://schemas.openxmlformats.org/drawingml/2006/main">
            <a:r>
              <a:t>https://www.rfc-editor.org/rfc/rfc4987.html</a:t>
            </a:r>
          </a:p>
          <a:p xmlns:a="http://schemas.openxmlformats.org/drawingml/2006/main">
            <a:r>
              <a:t>https://see.stanford.edu/materials/aimlcs229/cs229-notes3.pdf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Доклад организован по трём критериям, каждый из которых оценивается в пять баллов. Это карта содержания, а не обещание получить определённую оценку. Теоретическая часть — слайды с третьего по седьмой: механизм атаки, измеряемые признаки, эталон, отступ и машинное обучение. Выполнение задания — слайды с восьмого по четырнадцатый: выборка, выбранные эталоны, обученная модель, конкретные решения и пограничные случаи. Практическая часть — слайды с пятнадцатого по восемнадцатый: место модели в работе аналитика, демонстрация функции в Colab, проверка тревоги и план реального испытания. В конце свяжем все части. Такая структура позволяет отдельно показать знание понятий, выполненные расчёты и понимание того, как применять результат в ИБ.</a:t>
            </a:r>
          </a:p>
          <a:p xmlns:a="http://schemas.openxmlformats.org/drawingml/2006/main">
            <a:r>
              <a:t/>
            </a:r>
          </a:p>
          <a:p xmlns:a="http://schemas.openxmlformats.org/drawingml/2006/main">
            <a:r>
              <a:t>Источники: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Обычное TCP-соединение начинается с обмена тремя сообщениями: клиент отправляет SYN, сервер отвечает SYN-ACK, клиент подтверждает ответ сообщением ACK. Этот обмен называют рукопожатием: стороны согласуют начало соединения. При SYN-flood сервер получает множество попыток, которые не доходят до завершения. Если для них хранится состояние, очередь незавершённых подключений и ресурсы сервера могут оказаться заняты. Тогда обычным пользователям становится труднее подключиться. Для обнаружения полезно одновременно смотреть на количество SYN и долю незавершённых попыток. Одного большого количества запросов недостаточно: так выглядит и легитимный всплеск посещаемости. А незавершённость бывает связана с потерями или задержками сети. Именно поэтому в задаче нужны два признака и проверка неоднозначных ситуаций.</a:t>
            </a:r>
          </a:p>
          <a:p xmlns:a="http://schemas.openxmlformats.org/drawingml/2006/main">
            <a:r>
              <a:t/>
            </a:r>
          </a:p>
          <a:p xmlns:a="http://schemas.openxmlformats.org/drawingml/2006/main">
            <a:r>
              <a:t>Источники:</a:t>
            </a:r>
          </a:p>
          <a:p xmlns:a="http://schemas.openxmlformats.org/drawingml/2006/main">
            <a:r>
              <a:t>https://www.rfc-editor.org/rfc/rfc4987.html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Один объект для классификации — десятисекундное окно трафика к конкретному IP-адресу и порту сервера. Из него получаем два числа: среднее количество входящих SYN в секунду и процент незавершённых попыток соединения. Скорость считает все SYN, включая повторы. Для доли попыток повторы, наоборот, объединяются: повтор одного запроса не должен становиться новым соединением. Попытку считаем незавершённой, если за три секунды после начального SYN не наблюдаем полное рукопожатие. Поэтому последним попыткам окна нужно дать дополнительное время; признак получается с задержкой. Окна без SYN исключаем, чтобы не делить на ноль. Наблюдатель должен видеть оба направления обмена: иначе отсутствие подтверждения может оказаться отсутствием видимости, а не проблемой соединения.</a:t>
            </a:r>
          </a:p>
          <a:p xmlns:a="http://schemas.openxmlformats.org/drawingml/2006/main">
            <a:r>
              <a:t/>
            </a:r>
          </a:p>
          <a:p xmlns:a="http://schemas.openxmlformats.org/drawingml/2006/main">
            <a:r>
              <a:t>Источники:</a:t>
            </a:r>
          </a:p>
          <a:p xmlns:a="http://schemas.openxmlformats.org/drawingml/2006/main">
            <a:r>
              <a:t>https://www.rfc-editor.org/rfc/rfc4987.html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Представим два образца: обычную работу сервиса и SYN-flood. Эталон нужен, чтобы сравнивать новое наблюдение с характерным представителем каждого класса. Здесь это не самый безопасный сервер и не максимально сильная атака, а типичный объект нашей выборки. Для выбора используем медоид. Простыми словами, перебираем примеры одного класса и ищем тот, который в сумме ближе всего к остальным. Поэтому эталон обязательно совпадает с одним из обучающих примеров. Это удобно для объяснения: можно показать конкретную скорость и долю незавершённых соединений. Правило близости зависит от масштаба признаков. Если обычный трафик имеет несколько разных режимов, одного эталона может оказаться недостаточно. В работе берём по одному для наглядного учебного сравнения.</a:t>
            </a:r>
          </a:p>
          <a:p xmlns:a="http://schemas.openxmlformats.org/drawingml/2006/main">
            <a:r>
              <a:t/>
            </a:r>
          </a:p>
          <a:p xmlns:a="http://schemas.openxmlformats.org/drawingml/2006/main">
            <a:r>
              <a:t>Источники:</a:t>
            </a:r>
          </a:p>
          <a:p xmlns:a="http://schemas.openxmlformats.org/drawingml/2006/main">
            <a:r>
              <a:t>https://arxiv.org/abs/1810.05691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После выбора правила появляется граница: по одну сторону модель говорит «норма», по другую — «атака». Если наблюдение почти на границе, небольшое изменение его признаков может изменить ответ. Если далеко — для изменения ответа потребуется большее изменение признаков. Это и есть идея запаса прочности решения. Для нового трафика нам доступно расстояние до границы, но настоящая метка обычно неизвестна. В учебных данных метку знаем, поэтому можем дополнительно проверить правильность: положительный размеченный отступ соответствует верному ответу, отрицательный — ошибке. Малое расстояние означает пограничность и встречается у обоих классов. Оно не является вероятностью атаки. Большое расстояние также не подтверждает правильность: модель может устойчиво ошибаться.</a:t>
            </a:r>
          </a:p>
          <a:p xmlns:a="http://schemas.openxmlformats.org/drawingml/2006/main">
            <a:r>
              <a:t/>
            </a:r>
          </a:p>
          <a:p xmlns:a="http://schemas.openxmlformats.org/drawingml/2006/main">
            <a:r>
              <a:t>Источники:</a:t>
            </a:r>
          </a:p>
          <a:p xmlns:a="http://schemas.openxmlformats.org/drawingml/2006/main">
            <a:r>
              <a:t>https://see.stanford.edu/materials/aimlcs229/cs229-notes3.pdf</a:t>
            </a:r>
          </a:p>
          <a:p xmlns:a="http://schemas.openxmlformats.org/drawingml/2006/main">
            <a:r>
              <a:t>https://www.cv-foundation.org/openaccess/content_cvpr_2016/papers/Moosavi-Dezfooli_DeepFool_A_Simple_CVPR_2016_paper.pdf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SVM, или машина опорных векторов, — метод, который обучается разделять классы по размеченным примерам. В нашем случае он строит прямую на плоскости двух признаков. Метод старается оставить вокруг неё полосу, отделяющую типичные решения от трудных. Мягкий зазор означает, что отдельным обучающим объектам разрешено попадать внутрь этой полосы, а иногда и на неверную сторону. Это компромисс, которым управляет параметр C. Для демонстрации заранее выбрали C, равное единице; это не универсальная настройка защиты. Опорные векторы — обучающие примеры, участвующие в определении границы. Их не следует путать с эталонами: эталон представляет класс, а опорные примеры влияют на решение модели. Формулы оптимизации доступны в ноутбуке.</a:t>
            </a:r>
          </a:p>
          <a:p xmlns:a="http://schemas.openxmlformats.org/drawingml/2006/main">
            <a:r>
              <a:t/>
            </a:r>
          </a:p>
          <a:p xmlns:a="http://schemas.openxmlformats.org/drawingml/2006/main">
            <a:r>
              <a:t>Источники:</a:t>
            </a:r>
          </a:p>
          <a:p xmlns:a="http://schemas.openxmlformats.org/drawingml/2006/main">
            <a:r>
              <a:t>https://doi.org/10.1007/BF00994018</a:t>
            </a:r>
          </a:p>
          <a:p xmlns:a="http://schemas.openxmlformats.org/drawingml/2006/main">
            <a:r>
              <a:t>https://see.stanford.edu/materials/aimlcs229/cs229-notes3.pdf</a:t>
            </a:r>
          </a:p>
          <a:p xmlns:a="http://schemas.openxmlformats.org/drawingml/2006/main">
            <a:r>
              <a:t>https://scikit-learn.org/stable/modules/svm.html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Для эксперимента вручную составлены двадцать обучающих объектов: десять нормальных и десять атакующих. Дополнительно выбраны восемь проверочных примеров, среди которых есть очевидные и неоднозначные ситуации. Проверочные объекты не участвовали в выборе эталонов или обучении модели. Но это всё равно не полноценный тест детектора: данные синтетические, малочисленные и специально подобраны для объяснения. Они позволяют проверить расчёты и увидеть ошибки, а не заявить качество на реальной сети. Все координаты, классы и шаги доступны в Google Colab — онлайн-ноутбуке, где можно выполнить код последовательно. Никаких сетевых запросов атаки он не отправляет: обрабатывает только числовую таблицу. Поэтому результат можно воспроизвести на занятии без проведения SYN-flood.</a:t>
            </a:r>
          </a:p>
          <a:p xmlns:a="http://schemas.openxmlformats.org/drawingml/2006/main">
            <a:r>
              <a:t/>
            </a:r>
          </a:p>
          <a:p xmlns:a="http://schemas.openxmlformats.org/drawingml/2006/main">
            <a:r>
              <a:t>Источники: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 обучающим объектам алгоритм выбрал нормальный эталон N05: 600 SYN в секунду и 15 процентов незавершённых попыток. Эталон атакующего класса — A06: 1300 SYN в секунду и 65 процентов незавершённых попыток. Эти числа описывают характерные примеры именно нашей таблицы. Они не устанавливают правило «1300 — всегда атака», потому что интенсивность зависит от сервиса и обычной нагрузки. В ноутбуке показан перебор кандидатов и сумма расстояний для каждого. Сначала можно понять результат по исходным единицам, а затем проверить вычисление. При классификации по эталонам выбирается ближайший представитель. Это простое объяснимое правило полезно как отправная точка; далее сравниваем его с границей, обученной на всех двадцати примерах.</a:t>
            </a:r>
          </a:p>
          <a:p xmlns:a="http://schemas.openxmlformats.org/drawingml/2006/main">
            <a:r>
              <a:t/>
            </a:r>
          </a:p>
          <a:p xmlns:a="http://schemas.openxmlformats.org/drawingml/2006/main">
            <a:r>
              <a:t>Источники:</a:t>
            </a:r>
          </a:p>
          <a:p xmlns:a="http://schemas.openxmlformats.org/drawingml/2006/main">
            <a:r>
              <a:t>https://arxiv.org/abs/1810.05691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 ноутбуке используем линейный SVC из библиотеки scikit-learn — готовую реализацию классификатора SVM. Сначала отделяем обучающие строки от проверочных. Затем переводим признаки в согласованный масштаб: количество SYN в секунду делим на тысячу, а процент незавершённых попыток — на сто. Например, 900 SYN и 40 процентов превращаются в числа 0,90 и 0,40. Этот масштаб выбран заранее, поэтому ничего не подгоняется по проверочным объектам. После обучения модель выдаёт класс и позволяет вычислить расстояние до границы. Колаб хранит коэффициенты, подробный расчёт отступа и таблицу всех восьми проверок. Для понимания результата достаточно помнить: мы подаём два измерения, получаем прогноз и отдельно оцениваем его близость к смене ответа.</a:t>
            </a:r>
          </a:p>
          <a:p xmlns:a="http://schemas.openxmlformats.org/drawingml/2006/main">
            <a:r>
              <a:t/>
            </a:r>
          </a:p>
          <a:p xmlns:a="http://schemas.openxmlformats.org/drawingml/2006/main">
            <a:r>
              <a:t>Источники:</a:t>
            </a:r>
          </a:p>
          <a:p xmlns:a="http://schemas.openxmlformats.org/drawingml/2006/main">
            <a:r>
              <a:t>https://scikit-learn.org/stable/modules/svm.html</a:t>
            </a:r>
          </a:p>
          <a:p xmlns:a="http://schemas.openxmlformats.org/drawingml/2006/main">
            <a:r>
              <a:t>https://see.stanford.edu/materials/aimlcs229/cs229-notes3.pdf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 диаграмме показаны двадцать обучающих наблюдений. По горизонтали — реальное количество SYN в секунду, по вертикали — процент незавершённых попыток. Цвета обозначают известные учебные классы. Центральная прямая показывает, где модель меняет прогноз между нормой и SYN-flood. Серая полоса и её штриховые границы выделяют учебную область перепроверки: расстояние до границы решения меньше 0,10. Само расстояние по-прежнему вычисляется в масштабированных признаках, как в ноутбуке. Внутри этой области могут оказаться оба класса, поэтому она помогает заметить пограничные решения. Изображение объясняет поведение конкретной модели, однако хорошее разделение этих точек ещё не доказывает качество в рабочей сети. Для этого нужны другие данные и отдельная проверка, к которой вернёмся в практической части.</a:t>
            </a:r>
          </a:p>
          <a:p xmlns:a="http://schemas.openxmlformats.org/drawingml/2006/main">
            <a:r>
              <a:t/>
            </a:r>
          </a:p>
          <a:p xmlns:a="http://schemas.openxmlformats.org/drawingml/2006/main">
            <a:r>
              <a:t>Источники:</a:t>
            </a:r>
          </a:p>
          <a:p xmlns:a="http://schemas.openxmlformats.org/drawingml/2006/main">
            <a:r>
              <a:t>https://doi.org/10.1007/BF00994018</a:t>
            </a:r>
          </a:p>
          <a:p xmlns:a="http://schemas.openxmlformats.org/drawingml/2006/main">
            <a:r>
              <a:t>https://see.stanford.edu/materials/aimlcs229/cs229-notes3.pdf</a:t>
            </a:r>
          </a:p>
          <a:p xmlns:a="http://schemas.openxmlformats.org/drawingml/2006/main">
            <a:r>
              <a:t>https://scikit-learn.org/stable/modules/svm.html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Сравним четыре наблюдения в исходных понятных единицах. T01: 420 SYN в секунду, 9 процентов незавершённых попыток. Это нормальный объект, модель верно отвечает «норма», расстояние около 0,551. T02: 1550 SYN и 88 процентов. Это атака, прогноз верен, расстояние около 0,697. T04: 900 SYN и 40 процентов. По учебной метке это атака, но модель отвечает «норма»; расстояние всего 0,043. T05: 1000 SYN и 42 процента. Это нормальный объект, а модель считает его атакой; расстояние около 0,024. Числа расстояния выражены в выбранном масштабе признаков, не в процентах уверенности. Два последних примера специально показывают ошибки разных типов рядом с границей.</a:t>
            </a:r>
          </a:p>
          <a:p xmlns:a="http://schemas.openxmlformats.org/drawingml/2006/main">
            <a:r>
              <a:t/>
            </a:r>
          </a:p>
          <a:p xmlns:a="http://schemas.openxmlformats.org/drawingml/2006/main">
            <a:r>
              <a:t>Источники: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Ошибка T04 — пропуск атаки. По-английски это false negative, сокращённо FN: вредоносный объект получил ответ «норма». Для ИБ это риск оставить атаку без нужного внимания. Ошибка T05 — ложная тревога, false positive или FP: обычный трафик получил ответ «атака». Это нагрузка на аналитиков, а при необоснованной блокировке — риск помешать пользователям. В лабораторной таблице мы знаем истинные метки и поэтому можем назвать ошибки. Для нового наблюдения такой готовой подсказки обычно нет. Модель предоставляет сигнал для анализа, а не подтверждённый инцидент. При настройке нужно учитывать обе цены ошибок: большое число тревог не равнозначно хорошей защите, а редкие тревоги не гарантируют, что атаки не пропускаются.</a:t>
            </a:r>
          </a:p>
          <a:p xmlns:a="http://schemas.openxmlformats.org/drawingml/2006/main">
            <a:r>
              <a:t/>
            </a:r>
          </a:p>
          <a:p xmlns:a="http://schemas.openxmlformats.org/drawingml/2006/main">
            <a:r>
              <a:t>Источники:</a:t>
            </a:r>
          </a:p>
          <a:p xmlns:a="http://schemas.openxmlformats.org/drawingml/2006/main">
            <a:r>
              <a:t>https://csrc.nist.gov/pubs/sp/800/94/final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Для учебного примера выделяем наблюдения с расстоянием меньше 0,1. Среди восьми проверок это T03, T04, T05 и T06. Порог выбран для демонстрации; его нельзя переносить в другую сеть без проверки. Флаг пограничности ставится для обоих прогнозов, поэтому позволяет заметить и сомнительную «норму». Такие объекты можно помещать в дополнительную очередь проверки. Это отдельное правило, а не единственный способ формирования тревог. Если модель прогнозирует атаку далеко от границы, большое расстояние не отменяет сигнал об атаке. Внутри пограничной очереди удобно сначала смотреть ближайшие к границе случаи. Общий приоритет работы аналитика также зависит от критичности сервиса и других признаков инцидента. Отступ помогает организовать анализ, но не заменяет эти решения.</a:t>
            </a:r>
          </a:p>
          <a:p xmlns:a="http://schemas.openxmlformats.org/drawingml/2006/main">
            <a:r>
              <a:t/>
            </a:r>
          </a:p>
          <a:p xmlns:a="http://schemas.openxmlformats.org/drawingml/2006/main">
            <a:r>
              <a:t>Источники:</a:t>
            </a:r>
          </a:p>
          <a:p xmlns:a="http://schemas.openxmlformats.org/drawingml/2006/main">
            <a:r>
              <a:t>https://see.stanford.edu/materials/aimlcs229/cs229-notes3.pdf</a:t>
            </a:r>
          </a:p>
          <a:p xmlns:a="http://schemas.openxmlformats.org/drawingml/2006/main">
            <a:r>
              <a:t>https://csrc.nist.gov/pubs/sp/800/94/final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Рассмотрим возможный процесс применения. Сначала средство наблюдения собирает сетевую телеметрию — измерения происходящего в сети. Из неё каждые десять секунд формируются два признака для нужного сервера. Модель выдаёт прогноз, а расстояние даёт дополнительный флаг пограничности. Результаты поступают аналитику SOC. SOC — центр мониторинга информационной безопасности, где специалисты проверяют события и разбирают возможные инциденты. Это схема учебного прототипа первичной сортировки, а не описание выполненного внедрения. Сигнал об атаке и запрос проверки пограничного случая нужно хранить отдельно. Атака, предсказанная далеко от границы, тоже требует предусмотренной реакции. Новых истинных меток заранее нет: их получают позднее из расследования, контролируемого эксперимента или подтверждённой разметки. Эти сведения нужны и для последующего улучшения модели.</a:t>
            </a:r>
          </a:p>
          <a:p xmlns:a="http://schemas.openxmlformats.org/drawingml/2006/main">
            <a:r>
              <a:t/>
            </a:r>
          </a:p>
          <a:p xmlns:a="http://schemas.openxmlformats.org/drawingml/2006/main">
            <a:r>
              <a:t>Источники:</a:t>
            </a:r>
          </a:p>
          <a:p xmlns:a="http://schemas.openxmlformats.org/drawingml/2006/main">
            <a:r>
              <a:t>https://csrc.nist.gov/pubs/sp/800/94/final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 ноутбуке функция triage выполняет первичную сортировку одного наблюдения. Передаём ей скорость SYN и процент незавершённых попыток; получаем прогноз и два отдельных флага. Для входа 900 и 40 результат: predicted_class=«норма», attack_alert=False, boundary_review=True. Это означает «прогноз норма, сигнала атаки от модели нет, пограничная проверка нужна». Для 1550 и 88 результат: predicted_class=«SYN-flood», attack_alert=True, boundary_review=False. Здесь модель сообщает об атаке, а дополнительный флаг пограничности не ставится. Отсутствие этого флага не означает отсутствие опасности и не отменяет тревогу об атаке. Два вызова повторяют выбранные учебные примеры, поэтому не являются проверкой общей точности. Их задача — показать, как превратить класс и расстояние в понятные отдельные выходы для дальнейшего анализа.</a:t>
            </a:r>
          </a:p>
          <a:p xmlns:a="http://schemas.openxmlformats.org/drawingml/2006/main">
            <a:r>
              <a:t/>
            </a:r>
          </a:p>
          <a:p xmlns:a="http://schemas.openxmlformats.org/drawingml/2006/main">
            <a:r>
              <a:t>Источники:</a:t>
            </a:r>
          </a:p>
          <a:p xmlns:a="http://schemas.openxmlformats.org/drawingml/2006/main">
            <a:r>
              <a:t>https://scikit-learn.org/stable/modules/svm.html</a:t>
            </a:r>
          </a:p>
          <a:p xmlns:a="http://schemas.openxmlformats.org/drawingml/2006/main">
            <a:r>
              <a:t>https://csrc.nist.gov/pubs/sp/800/94/final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Получив сигнал, аналитик проверяет контекст. Совпало ли время всплеска с ростом посещаемости или плановыми работами? Видны ли на сервере незавершённые подключения и признаки перегрузки очереди? Есть ли потери сети или пропуски в сборе трафика? Полезно сравнить несколько соседних окон, посмотреть сетевые и серверные журналы, сопоставить события с другими средствами обнаружения. Если TCP-соединения принимает и завершает балансировщик — узел, распределяющий запросы между серверами, — клиентские и серверные соединения анализируют отдельно. Если подозрение подтверждается, с технической командой проверяют настройки SYN cookies и политику ограничений. SYN cookies — механизм, помогающий серверу уменьшить потребность в хранении состояния незавершённых соединений. Уместность и ограничения мер зависят от среды. Наш прототип не принимает решение об автоматической блокировке: по двум признакам нельзя обоснованно выбрать всю реакцию. Проверка нужна как для пограничных наблюдений, так и для сигналов атаки.</a:t>
            </a:r>
          </a:p>
          <a:p xmlns:a="http://schemas.openxmlformats.org/drawingml/2006/main">
            <a:r>
              <a:t/>
            </a:r>
          </a:p>
          <a:p xmlns:a="http://schemas.openxmlformats.org/drawingml/2006/main">
            <a:r>
              <a:t>Источники:</a:t>
            </a:r>
          </a:p>
          <a:p xmlns:a="http://schemas.openxmlformats.org/drawingml/2006/main">
            <a:r>
              <a:t>https://www.rfc-editor.org/rfc/rfc4987.html</a:t>
            </a:r>
          </a:p>
          <a:p xmlns:a="http://schemas.openxmlformats.org/drawingml/2006/main">
            <a:r>
              <a:t>https://csrc.nist.gov/pubs/sp/800/94/final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Для следующего этапа нужны записи пакетов с обоими направлениями обмена и подтверждённые метки. Формат PCAP хранит такие записи; один из возможных источников исследования — CICDDoS2019. Наш эксперимент этот набор не использовал. Обучение, настройку и итоговую проверку разделяют по времени и сеансам, чтобы связанные примеры не оказались одновременно в разных частях. Эталоны и любые оцениваемые преобразования строят по обучению; C и порог пограничности выбирают на валидации — отдельной части для настройки. Затем измеряют precision: какая доля тревог действительно связана с атакой; recall: какую долю атак нашли; FPR: какую долю нормальных окон ошибочно сочли атакой. Дополнительно оценивают задержку и размер очереди ручной проверки. В этой работе реального испытания не проводили.</a:t>
            </a:r>
          </a:p>
          <a:p xmlns:a="http://schemas.openxmlformats.org/drawingml/2006/main">
            <a:r>
              <a:t/>
            </a:r>
          </a:p>
          <a:p xmlns:a="http://schemas.openxmlformats.org/drawingml/2006/main">
            <a:r>
              <a:t>Источники:</a:t>
            </a:r>
          </a:p>
          <a:p xmlns:a="http://schemas.openxmlformats.org/drawingml/2006/main">
            <a:r>
              <a:t>https://www.unb.ca/cic/datasets/ddos-2019.html</a:t>
            </a:r>
          </a:p>
          <a:p xmlns:a="http://schemas.openxmlformats.org/drawingml/2006/main">
            <a:r>
              <a:t>https://scikit-learn.org/stable/modules/svm.html</a:t>
            </a:r>
          </a:p>
          <a:p xmlns:a="http://schemas.openxmlformats.org/drawingml/2006/main">
            <a:r>
              <a:t>https://csrc.nist.gov/pubs/sp/800/94/final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 теории можно объяснить три различия своими словами. Эталон — типичный представитель класса; модель — правило, проводящее границу; запас прочности — расстояние до смены её текущего решения, а не вероятность атаки. По выполнению задания можно показать конкретные эталоны N05 и A06, обученную SVM, таблицу решений и четыре пограничных примера. По практике — запустить Colab, получить отдельно сигнал атаки и запрос пограничной проверки, объяснить действия аналитика и план настоящего испытания. Главный вывод для ИБ: одного ответа «норма» или «атака» недостаточно. Нужно понимать, как он получен, какие наблюдения близки к границе, какие ошибки возможны и какими независимыми наблюдениями проверять ситуацию перед реакцией.</a:t>
            </a:r>
          </a:p>
          <a:p xmlns:a="http://schemas.openxmlformats.org/drawingml/2006/main">
            <a:r>
              <a:t/>
            </a:r>
          </a:p>
          <a:p xmlns:a="http://schemas.openxmlformats.org/drawingml/2006/main">
            <a:r>
              <a:t>Источники:</a:t>
            </a:r>
          </a:p>
          <a:p xmlns:a="http://schemas.openxmlformats.org/drawingml/2006/main">
            <a:r>
              <a:t>https://see.stanford.edu/materials/aimlcs229/cs229-notes3.pdf</a:t>
            </a:r>
          </a:p>
          <a:p xmlns:a="http://schemas.openxmlformats.org/drawingml/2006/main">
            <a:r>
              <a:t>https://csrc.nist.gov/pubs/sp/800/94/final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Теория SVM опирается на статью Кортеса и Вапника, конспект Stanford CS229 и официальную документацию scikit-learn. Медоиды описаны в работе Шуберта и Руссеу. Механизм SYN-flood и меры противодействия рассматриваются в RFC 4987. Работа DeepFool помогает связать границу классификатора с минимальным изменением признаков; здесь используем понятный линейный случай. CICDDoS2019 указан как возможный источник будущего исследования, а руководство NIST SP 800-94 — как материал об обнаружении вторжений и работе с тревогами. Это руководство опубликовано в 2007 году, поэтому его роль здесь — общие понятия, а не текущая инструкция по настройке конкретного продукта. Все численные примеры и расчёты нашего доклада являются учебными и доступны в ноутбуке.</a:t>
            </a:r>
          </a:p>
          <a:p xmlns:a="http://schemas.openxmlformats.org/drawingml/2006/main">
            <a:r>
              <a:t/>
            </a:r>
          </a:p>
          <a:p xmlns:a="http://schemas.openxmlformats.org/drawingml/2006/main">
            <a:r>
              <a:t>Источники:</a:t>
            </a:r>
          </a:p>
          <a:p xmlns:a="http://schemas.openxmlformats.org/drawingml/2006/main">
            <a:r>
              <a:t>https://doi.org/10.1007/BF00994018</a:t>
            </a:r>
          </a:p>
          <a:p xmlns:a="http://schemas.openxmlformats.org/drawingml/2006/main">
            <a:r>
              <a:t>https://see.stanford.edu/materials/aimlcs229/cs229-notes3.pdf</a:t>
            </a:r>
          </a:p>
          <a:p xmlns:a="http://schemas.openxmlformats.org/drawingml/2006/main">
            <a:r>
              <a:t>https://arxiv.org/abs/1810.05691</a:t>
            </a:r>
          </a:p>
          <a:p xmlns:a="http://schemas.openxmlformats.org/drawingml/2006/main">
            <a:r>
              <a:t>https://www.rfc-editor.org/rfc/rfc4987.html</a:t>
            </a:r>
          </a:p>
          <a:p xmlns:a="http://schemas.openxmlformats.org/drawingml/2006/main">
            <a:r>
              <a:t>https://scikit-learn.org/stable/modules/svm.html</a:t>
            </a:r>
          </a:p>
          <a:p xmlns:a="http://schemas.openxmlformats.org/drawingml/2006/main">
            <a:r>
              <a:t>https://www.cv-foundation.org/openaccess/content_cvpr_2016/papers/Moosavi-Dezfooli_DeepFool_A_Simple_CVPR_2016_paper.pdf</a:t>
            </a:r>
          </a:p>
          <a:p xmlns:a="http://schemas.openxmlformats.org/drawingml/2006/main">
            <a:r>
              <a:t>https://www.unb.ca/cic/datasets/ddos-2019.html</a:t>
            </a:r>
          </a:p>
          <a:p xmlns:a="http://schemas.openxmlformats.org/drawingml/2006/main">
            <a:r>
              <a:t>https://csrc.nist.gov/pubs/sp/800/94/final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16fbc5256604fd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4774a23ee07484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02d3b575bee46b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906a8bbf0a2428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c223c68fb1d4e8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9dda276c67647e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D5F6064-64A5-4F34-92C4-89C97E8EDB0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FF97C3E-40A9-45F0-9BDE-F5586445D31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F34C00F-D9DE-43A6-B578-058925B6CAD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E33F6A2-020A-4B84-8C28-812FBDEEA2F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0877D68-7DBF-470D-B951-91046B9802C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E366F87-8F7E-47D8-A491-A9D2482D57F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530C96C-417B-46C2-8B47-F30674F45C2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F94E8A6-26DF-43CE-A0B6-A4C58A67456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95CD65B-ABA7-4B16-A74C-B4DB8DE256D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6C58161-77EF-43E5-BC0B-712093D7DD1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e0bb2d658fa439a" /><Relationship Type="http://schemas.openxmlformats.org/officeDocument/2006/relationships/slideLayout" Target="/ppt/slideLayouts/slideLayout1.xml" Id="R8277f6cd30954e94" /><Relationship Type="http://schemas.openxmlformats.org/officeDocument/2006/relationships/slideLayout" Target="/ppt/slideLayouts/slideLayout2.xml" Id="R091ad297ef00485d" /><Relationship Type="http://schemas.openxmlformats.org/officeDocument/2006/relationships/slideLayout" Target="/ppt/slideLayouts/slideLayout3.xml" Id="Rcac1b879e1bc43af" /><Relationship Type="http://schemas.openxmlformats.org/officeDocument/2006/relationships/slideLayout" Target="/ppt/slideLayouts/slideLayout4.xml" Id="R654587102e18441c" /><Relationship Type="http://schemas.openxmlformats.org/officeDocument/2006/relationships/slideLayout" Target="/ppt/slideLayouts/slideLayout5.xml" Id="R9f1717506f214943" /><Relationship Type="http://schemas.openxmlformats.org/officeDocument/2006/relationships/slideLayout" Target="/ppt/slideLayouts/slideLayout6.xml" Id="Rcf39279aca844a7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277f6cd30954e94"/>
    <p:sldLayoutId xmlns:r="http://schemas.openxmlformats.org/officeDocument/2006/relationships" id="2147483650" r:id="R091ad297ef00485d"/>
    <p:sldLayoutId xmlns:r="http://schemas.openxmlformats.org/officeDocument/2006/relationships" id="2147483651" r:id="Rcac1b879e1bc43af"/>
    <p:sldLayoutId xmlns:r="http://schemas.openxmlformats.org/officeDocument/2006/relationships" id="2147483652" r:id="R654587102e18441c"/>
    <p:sldLayoutId xmlns:r="http://schemas.openxmlformats.org/officeDocument/2006/relationships" id="2147483653" r:id="R9f1717506f214943"/>
    <p:sldLayoutId xmlns:r="http://schemas.openxmlformats.org/officeDocument/2006/relationships" id="2147483654" r:id="Rcf39279aca844a7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df5a74211e64942" /><Relationship Type="http://schemas.openxmlformats.org/officeDocument/2006/relationships/notesSlide" Target="/ppt/notesSlides/notesSlide1.xml" Id="Rf7cb348f36a3438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9d49a68187e4d80" /><Relationship Type="http://schemas.openxmlformats.org/officeDocument/2006/relationships/notesSlide" Target="/ppt/notesSlides/notesSlide2.xml" Id="R776767ae8fd44cd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1a635c6ff484bd8" /><Relationship Type="http://schemas.openxmlformats.org/officeDocument/2006/relationships/notesSlide" Target="/ppt/notesSlides/notesSlide3.xml" Id="Re38eeef5d007407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f8105ee1f5543eb" /><Relationship Type="http://schemas.openxmlformats.org/officeDocument/2006/relationships/notesSlide" Target="/ppt/notesSlides/notesSlide4.xml" Id="R4fdc2264a0ba471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dc9d4eb4a704fa2" /><Relationship Type="http://schemas.openxmlformats.org/officeDocument/2006/relationships/notesSlide" Target="/ppt/notesSlides/notesSlide5.xml" Id="R92e0e7b085e4497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45b16c9ca824e3c" /><Relationship Type="http://schemas.openxmlformats.org/officeDocument/2006/relationships/notesSlide" Target="/ppt/notesSlides/notesSlide6.xml" Id="Rc0d93bb364164d8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2312981b5b14d20" /><Relationship Type="http://schemas.openxmlformats.org/officeDocument/2006/relationships/notesSlide" Target="/ppt/notesSlides/notesSlide7.xml" Id="Rcaa969af950f466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bcef24f07bb4bec" /><Relationship Type="http://schemas.openxmlformats.org/officeDocument/2006/relationships/notesSlide" Target="/ppt/notesSlides/notesSlide8.xml" Id="R4c68f7e809df46b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98c09807bbd4019" /><Relationship Type="http://schemas.openxmlformats.org/officeDocument/2006/relationships/notesSlide" Target="/ppt/notesSlides/notesSlide9.xml" Id="Rb33febf23695457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f8b1196f6854b54" /><Relationship Type="http://schemas.openxmlformats.org/officeDocument/2006/relationships/notesSlide" Target="/ppt/notesSlides/notesSlide10.xml" Id="R18e36930256f4ea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710908f22904806" /><Relationship Type="http://schemas.openxmlformats.org/officeDocument/2006/relationships/notesSlide" Target="/ppt/notesSlides/notesSlide11.xml" Id="R4584a59660b94a4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95843ed3b5d4683" /><Relationship Type="http://schemas.openxmlformats.org/officeDocument/2006/relationships/notesSlide" Target="/ppt/notesSlides/notesSlide12.xml" Id="R65c23631292745d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ada0329f4e04d4f" /><Relationship Type="http://schemas.openxmlformats.org/officeDocument/2006/relationships/notesSlide" Target="/ppt/notesSlides/notesSlide13.xml" Id="R384728cc910e4d7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d142cd9018e4a95" /><Relationship Type="http://schemas.openxmlformats.org/officeDocument/2006/relationships/chart" Target="/ppt/slides/charts/chart1.xml" Id="Ra8ebe910f64d4a35" /><Relationship Type="http://schemas.openxmlformats.org/officeDocument/2006/relationships/notesSlide" Target="/ppt/notesSlides/notesSlide14.xml" Id="Ra40fac0daae441d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1bd40bf5933c4544" /><Relationship Type="http://schemas.openxmlformats.org/officeDocument/2006/relationships/notesSlide" Target="/ppt/notesSlides/notesSlide15.xml" Id="Rb044b7695a794b0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86deebe388824c6f" /><Relationship Type="http://schemas.openxmlformats.org/officeDocument/2006/relationships/notesSlide" Target="/ppt/notesSlides/notesSlide16.xml" Id="Rbc79460713bb4df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d8edc22398434ad7" /><Relationship Type="http://schemas.openxmlformats.org/officeDocument/2006/relationships/notesSlide" Target="/ppt/notesSlides/notesSlide17.xml" Id="R4d4c3ebf91c6428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95777adc53f24ba3" /><Relationship Type="http://schemas.openxmlformats.org/officeDocument/2006/relationships/notesSlide" Target="/ppt/notesSlides/notesSlide18.xml" Id="Rd273a016c04f42f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e103cf4fe7d94dd8" /><Relationship Type="http://schemas.openxmlformats.org/officeDocument/2006/relationships/notesSlide" Target="/ppt/notesSlides/notesSlide19.xml" Id="R61c754a63a1345e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7bec002aba9c4b68" /><Relationship Type="http://schemas.openxmlformats.org/officeDocument/2006/relationships/hyperlink" Target="https://doi.org/10.1007/BF00994018" TargetMode="External" Id="R0570086d0d4c45b3" /><Relationship Type="http://schemas.openxmlformats.org/officeDocument/2006/relationships/hyperlink" Target="https://see.stanford.edu/materials/aimlcs229/cs229-notes3.pdf" TargetMode="External" Id="Re6c595715c1e4b54" /><Relationship Type="http://schemas.openxmlformats.org/officeDocument/2006/relationships/hyperlink" Target="https://arxiv.org/abs/1810.05691" TargetMode="External" Id="R8d4ac1efa15e43b9" /><Relationship Type="http://schemas.openxmlformats.org/officeDocument/2006/relationships/hyperlink" Target="https://www.rfc-editor.org/rfc/rfc4987.html" TargetMode="External" Id="Rc14ba5ea598f4f45" /><Relationship Type="http://schemas.openxmlformats.org/officeDocument/2006/relationships/hyperlink" Target="https://scikit-learn.org/stable/modules/svm.html" TargetMode="External" Id="R177b4708d9994527" /><Relationship Type="http://schemas.openxmlformats.org/officeDocument/2006/relationships/hyperlink" Target="https://www.cv-foundation.org/openaccess/content_cvpr_2016/papers/Moosavi-Dezfooli_DeepFool_A_Simple_CVPR_2016_paper.pdf" TargetMode="External" Id="R87bc25e434374f1e" /><Relationship Type="http://schemas.openxmlformats.org/officeDocument/2006/relationships/hyperlink" Target="https://www.unb.ca/cic/datasets/ddos-2019.html" TargetMode="External" Id="Rd4f1debe7c334147" /><Relationship Type="http://schemas.openxmlformats.org/officeDocument/2006/relationships/hyperlink" Target="https://csrc.nist.gov/pubs/sp/800/94/final" TargetMode="External" Id="R9f1de5fed8d04cbf" /><Relationship Type="http://schemas.openxmlformats.org/officeDocument/2006/relationships/notesSlide" Target="/ppt/notesSlides/notesSlide20.xml" Id="R3a20ccccfc244b1e"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varyColors val="0"/>
        <c:ser>
          <c:idx val="0"/>
          <c:order val="0"/>
          <c:tx>
            <c:v>Запас до смены ответа</c:v>
          </c:tx>
          <c:spPr>
            <a:solidFill xmlns:a="http://schemas.openxmlformats.org/drawingml/2006/main">
              <a:srgbClr val="008C95"/>
            </a:solidFill>
          </c:spPr>
          <c:dPt>
            <c:idx val="0"/>
            <c:invertIfNegative val="0"/>
            <c:spPr>
              <a:solidFill xmlns:a="http://schemas.openxmlformats.org/drawingml/2006/main">
                <a:srgbClr val="E5B64A"/>
              </a:solidFill>
            </c:spPr>
          </c:dPt>
          <c:dPt>
            <c:idx val="1"/>
            <c:invertIfNegative val="0"/>
            <c:spPr>
              <a:solidFill xmlns:a="http://schemas.openxmlformats.org/drawingml/2006/main">
                <a:srgbClr val="E5B64A"/>
              </a:solidFill>
            </c:spPr>
          </c:dPt>
          <c:dPt>
            <c:idx val="2"/>
            <c:invertIfNegative val="0"/>
            <c:spPr>
              <a:solidFill xmlns:a="http://schemas.openxmlformats.org/drawingml/2006/main">
                <a:srgbClr val="E5B64A"/>
              </a:solidFill>
            </c:spPr>
          </c:dPt>
          <c:dPt>
            <c:idx val="3"/>
            <c:invertIfNegative val="0"/>
            <c:spPr>
              <a:solidFill xmlns:a="http://schemas.openxmlformats.org/drawingml/2006/main">
                <a:srgbClr val="E5B64A"/>
              </a:solidFill>
            </c:spPr>
          </c:dPt>
          <c:dPt>
            <c:idx val="4"/>
            <c:invertIfNegative val="0"/>
            <c:spPr>
              <a:solidFill xmlns:a="http://schemas.openxmlformats.org/drawingml/2006/main">
                <a:srgbClr val="008C95"/>
              </a:solidFill>
            </c:spPr>
          </c:dPt>
          <c:dPt>
            <c:idx val="5"/>
            <c:invertIfNegative val="0"/>
            <c:spPr>
              <a:solidFill xmlns:a="http://schemas.openxmlformats.org/drawingml/2006/main">
                <a:srgbClr val="008C95"/>
              </a:solidFill>
            </c:spPr>
          </c:dPt>
          <c:dPt>
            <c:idx val="6"/>
            <c:invertIfNegative val="0"/>
            <c:spPr>
              <a:solidFill xmlns:a="http://schemas.openxmlformats.org/drawingml/2006/main">
                <a:srgbClr val="008C95"/>
              </a:solidFill>
            </c:spPr>
          </c:dPt>
          <c:dPt>
            <c:idx val="7"/>
            <c:invertIfNegative val="0"/>
            <c:spPr>
              <a:solidFill xmlns:a="http://schemas.openxmlformats.org/drawingml/2006/main">
                <a:srgbClr val="008C95"/>
              </a:solidFill>
            </c:spPr>
          </c:dPt>
          <c:cat>
            <c:strRef>
              <c:f>'Chart Data'!$A$2:$A$9</c:f>
              <c:strCache>
                <c:ptCount val="8"/>
                <c:pt idx="0">
                  <c:v>T03</c:v>
                </c:pt>
                <c:pt idx="1">
                  <c:v>T05</c:v>
                </c:pt>
                <c:pt idx="2">
                  <c:v>T06</c:v>
                </c:pt>
                <c:pt idx="3">
                  <c:v>T04</c:v>
                </c:pt>
                <c:pt idx="4">
                  <c:v>T07</c:v>
                </c:pt>
                <c:pt idx="5">
                  <c:v>T08</c:v>
                </c:pt>
                <c:pt idx="6">
                  <c:v>T01</c:v>
                </c:pt>
                <c:pt idx="7">
                  <c:v>T02</c:v>
                </c:pt>
              </c:strCache>
            </c:strRef>
          </c:cat>
          <c:val>
            <c:numRef>
              <c:f>'Chart Data'!$B$2:$B$9</c:f>
              <c:numCache>
                <c:formatCode>0.0</c:formatCode>
                <c:ptCount val="8"/>
                <c:pt idx="0">
                  <c:v>0.018432</c:v>
                </c:pt>
                <c:pt idx="1">
                  <c:v>0.023825</c:v>
                </c:pt>
                <c:pt idx="2">
                  <c:v>0.033587</c:v>
                </c:pt>
                <c:pt idx="3">
                  <c:v>0.043349</c:v>
                </c:pt>
                <c:pt idx="4">
                  <c:v>0.101921</c:v>
                </c:pt>
                <c:pt idx="5">
                  <c:v>0.285011</c:v>
                </c:pt>
                <c:pt idx="6">
                  <c:v>0.551317</c:v>
                </c:pt>
                <c:pt idx="7">
                  <c:v>0.696724</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350">
                  <a:solidFill>
                    <a:srgbClr val="101C32"/>
                  </a:solidFill>
                  <a:latin typeface="DejaVu Sans"/>
                  <a:ea typeface="DejaVu Sans"/>
                  <a:cs typeface="DejaVu Sans"/>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101C32"/>
                </a:solidFill>
                <a:latin typeface="DejaVu Sans"/>
                <a:ea typeface="DejaVu Sans"/>
                <a:cs typeface="DejaVu Sans"/>
              </a:defRPr>
            </a:pPr>
          </a:p>
        </c:txPr>
        <c:crossAx val="48672768"/>
      </c:catAx>
      <c:valAx>
        <c:axId val="48672768"/>
        <c:scaling>
          <c:orientation val="minMax"/>
          <c:max val="0.9"/>
          <c:min val="0"/>
        </c:scaling>
        <c:delete val="0"/>
        <c:axPos val="b"/>
        <c:majorGridlines>
          <c:spPr>
            <a:ln xmlns:a="http://schemas.openxmlformats.org/drawingml/2006/main" w="9525">
              <a:solidFill>
                <a:srgbClr val="D8E0E8"/>
              </a:solidFill>
            </a:ln>
          </c:spPr>
        </c:majorGridlines>
        <c:title>
          <c:tx>
            <c:rich>
              <a:bodyPr xmlns:a="http://schemas.openxmlformats.org/drawingml/2006/main"/>
              <a:lstStyle xmlns:a="http://schemas.openxmlformats.org/drawingml/2006/main"/>
              <a:p xmlns:a="http://schemas.openxmlformats.org/drawingml/2006/main">
                <a:r>
                  <a:rPr sz="1500">
                    <a:solidFill>
                      <a:srgbClr val="101C32"/>
                    </a:solidFill>
                    <a:latin typeface="DejaVu Sans"/>
                    <a:ea typeface="DejaVu Sans"/>
                    <a:cs typeface="DejaVu Sans"/>
                  </a:rPr>
                  <a:t>Расстояние до границы</a:t>
                </a:r>
              </a:p>
            </c:rich>
          </c:tx>
          <c:overlay val="0"/>
          <c:txPr>
            <a:bodyPr xmlns:a="http://schemas.openxmlformats.org/drawingml/2006/main" anchorCtr="1"/>
            <a:lstStyle xmlns:a="http://schemas.openxmlformats.org/drawingml/2006/main"/>
            <a:p xmlns:a="http://schemas.openxmlformats.org/drawingml/2006/main">
              <a:pPr>
                <a:defRPr sz="1500">
                  <a:solidFill>
                    <a:srgbClr val="101C32"/>
                  </a:solidFill>
                  <a:latin typeface="DejaVu Sans"/>
                  <a:ea typeface="DejaVu Sans"/>
                  <a:cs typeface="DejaVu Sans"/>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536377"/>
                </a:solidFill>
                <a:latin typeface="DejaVu Sans"/>
                <a:ea typeface="DejaVu Sans"/>
                <a:cs typeface="DejaVu Sans"/>
              </a:defRPr>
            </a:pPr>
          </a:p>
        </c:txPr>
        <c:crossAx val="48650112"/>
        <c:crossBetween val="between"/>
        <c:majorUnit val="0.2"/>
      </c:valAx>
      <c:spPr>
        <a:solidFill xmlns:a="http://schemas.openxmlformats.org/drawingml/2006/main">
          <a:srgbClr val="FFFFFF"/>
        </a:solidFill>
      </c:spPr>
    </c:plotArea>
    <c:plotVisOnly val="1"/>
  </c:chart>
  <c:spPr>
    <a:solidFill xmlns:a="http://schemas.openxmlformats.org/drawingml/2006/main">
      <a:srgbClr val="F4F7FA"/>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1C32"/>
        </a:solidFill>
      </p:bgPr>
    </p:bg>
    <p:spTree>
      <p:nvGrpSpPr>
        <p:cNvPr id="1" name=""/>
        <p:cNvGrpSpPr/>
        <p:nvPr/>
      </p:nvGrpSpPr>
      <p:grpSpPr>
        <a:xfrm xmlns:a="http://schemas.openxmlformats.org/drawingml/2006/main"/>
      </p:grpSpPr>
      <p:sp>
        <p:nvSpPr>
          <p:cNvPr id="9" name="text-1">
            <a:extLst xmlns:a="http://schemas.openxmlformats.org/drawingml/2006/main">
              <a:ext uri="{FF2B5EF4-FFF2-40B4-BE49-F238E27FC236}">
                <a16:creationId xmlns:a16="http://schemas.microsoft.com/office/drawing/2014/main" id="{33E6A01F-D194-4919-9A03-AB976D977011}"/>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r>
              <a:t/>
            </a:r>
          </a:p>
        </p:txBody>
      </p:sp>
      <p:sp>
        <p:nvSpPr>
          <p:cNvPr id="2" name="">
            <a:extLst xmlns:a="http://schemas.openxmlformats.org/drawingml/2006/main">
              <a:ext uri="{FF2B5EF4-FFF2-40B4-BE49-F238E27FC236}">
                <a16:creationId xmlns:a16="http://schemas.microsoft.com/office/drawing/2014/main" id="{C23E7F12-7640-4115-BE91-659056EA8AAD}"/>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3" name="text-2">
            <a:extLst xmlns:a="http://schemas.openxmlformats.org/drawingml/2006/main">
              <a:ext uri="{FF2B5EF4-FFF2-40B4-BE49-F238E27FC236}">
                <a16:creationId xmlns:a16="http://schemas.microsoft.com/office/drawing/2014/main" id="{DA9401E0-F748-40D5-BF0C-2ABE34CCF65C}"/>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  Учебный пример: SYN-flood</a:t>
            </a:r>
          </a:p>
        </p:txBody>
      </p:sp>
      <p:sp>
        <p:nvSpPr>
          <p:cNvPr id="4" name="text-3">
            <a:extLst xmlns:a="http://schemas.openxmlformats.org/drawingml/2006/main">
              <a:ext uri="{FF2B5EF4-FFF2-40B4-BE49-F238E27FC236}">
                <a16:creationId xmlns:a16="http://schemas.microsoft.com/office/drawing/2014/main" id="{A04FF7D4-633C-47AF-9354-B6FEF4ED065F}"/>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01</a:t>
            </a:r>
          </a:p>
        </p:txBody>
      </p:sp>
      <p:sp>
        <p:nvSpPr>
          <p:cNvPr id="5" name="text-4">
            <a:extLst xmlns:a="http://schemas.openxmlformats.org/drawingml/2006/main">
              <a:ext uri="{FF2B5EF4-FFF2-40B4-BE49-F238E27FC236}">
                <a16:creationId xmlns:a16="http://schemas.microsoft.com/office/drawing/2014/main" id="{4CED3352-4831-4B79-AA14-57F3C0F69865}"/>
              </a:ext>
            </a:extLst>
          </p:cNvPr>
          <p:cNvSpPr>
            <a:spLocks xmlns:a="http://schemas.openxmlformats.org/drawingml/2006/main" noGrp="1"/>
          </p:cNvSpPr>
          <p:nvPr/>
        </p:nvSpPr>
        <p:spPr>
          <a:xfrm xmlns:a="http://schemas.openxmlformats.org/drawingml/2006/main">
            <a:off x="609600" y="52387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E5B64A"/>
                </a:solidFill>
                <a:latin typeface="DejaVu Sans"/>
                <a:ea typeface="DejaVu Sans"/>
                <a:cs typeface="DejaVu Sans"/>
              </a:defRPr>
            </a:defPPr>
          </a:lstStyle>
          <a:p xmlns:a="http://schemas.openxmlformats.org/drawingml/2006/main">
            <a:pPr>
              <a:defRPr sz="1725" b="1">
                <a:solidFill>
                  <a:srgbClr val="E5B64A"/>
                </a:solidFill>
                <a:latin typeface="DejaVu Sans"/>
                <a:ea typeface="DejaVu Sans"/>
                <a:cs typeface="DejaVu Sans"/>
              </a:defRPr>
            </a:pPr>
            <a:r>
              <a:rPr sz="1725" b="1">
                <a:solidFill>
                  <a:srgbClr val="E5B64A"/>
                </a:solidFill>
                <a:latin typeface="DejaVu Sans"/>
                <a:ea typeface="DejaVu Sans"/>
                <a:cs typeface="DejaVu Sans"/>
              </a:rPr>
              <a:t>ТЕМА 1.13  ·  ИНФОРМАЦИОННАЯ БЕЗОПАСНОСТЬ</a:t>
            </a:r>
          </a:p>
        </p:txBody>
      </p:sp>
      <p:sp>
        <p:nvSpPr>
          <p:cNvPr id="6" name="text-5">
            <a:extLst xmlns:a="http://schemas.openxmlformats.org/drawingml/2006/main">
              <a:ext uri="{FF2B5EF4-FFF2-40B4-BE49-F238E27FC236}">
                <a16:creationId xmlns:a16="http://schemas.microsoft.com/office/drawing/2014/main" id="{89A77457-B12D-490E-BB41-B32DFE06326C}"/>
              </a:ext>
            </a:extLst>
          </p:cNvPr>
          <p:cNvSpPr>
            <a:spLocks xmlns:a="http://schemas.openxmlformats.org/drawingml/2006/main" noGrp="1"/>
          </p:cNvSpPr>
          <p:nvPr/>
        </p:nvSpPr>
        <p:spPr>
          <a:xfrm xmlns:a="http://schemas.openxmlformats.org/drawingml/2006/main">
            <a:off x="609600" y="1600200"/>
            <a:ext cx="109537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050" b="1">
                <a:solidFill>
                  <a:srgbClr val="FFFFFF"/>
                </a:solidFill>
                <a:latin typeface="DejaVu Sans"/>
                <a:ea typeface="DejaVu Sans"/>
                <a:cs typeface="DejaVu Sans"/>
              </a:defRPr>
            </a:defPPr>
          </a:lstStyle>
          <a:p xmlns:a="http://schemas.openxmlformats.org/drawingml/2006/main">
            <a:pPr>
              <a:defRPr sz="4050" b="1">
                <a:solidFill>
                  <a:srgbClr val="FFFFFF"/>
                </a:solidFill>
                <a:latin typeface="DejaVu Sans"/>
                <a:ea typeface="DejaVu Sans"/>
                <a:cs typeface="DejaVu Sans"/>
              </a:defRPr>
            </a:pPr>
            <a:r>
              <a:rPr sz="4050" b="1">
                <a:solidFill>
                  <a:srgbClr val="FFFFFF"/>
                </a:solidFill>
                <a:latin typeface="DejaVu Sans"/>
                <a:ea typeface="DejaVu Sans"/>
                <a:cs typeface="DejaVu Sans"/>
              </a:rPr>
              <a:t>Эталоны и отступы</a:t>
            </a:r>
          </a:p>
          <a:p xmlns:a="http://schemas.openxmlformats.org/drawingml/2006/main">
            <a:pPr>
              <a:defRPr sz="4050" b="1">
                <a:solidFill>
                  <a:srgbClr val="FFFFFF"/>
                </a:solidFill>
                <a:latin typeface="DejaVu Sans"/>
                <a:ea typeface="DejaVu Sans"/>
                <a:cs typeface="DejaVu Sans"/>
              </a:defRPr>
            </a:pPr>
            <a:r>
              <a:rPr sz="4050" b="1">
                <a:solidFill>
                  <a:srgbClr val="FFFFFF"/>
                </a:solidFill>
                <a:latin typeface="DejaVu Sans"/>
                <a:ea typeface="DejaVu Sans"/>
                <a:cs typeface="DejaVu Sans"/>
              </a:rPr>
              <a:t>в обнаружении SYN-flood</a:t>
            </a:r>
          </a:p>
        </p:txBody>
      </p:sp>
      <p:sp>
        <p:nvSpPr>
          <p:cNvPr id="7" name="text-6">
            <a:extLst xmlns:a="http://schemas.openxmlformats.org/drawingml/2006/main">
              <a:ext uri="{FF2B5EF4-FFF2-40B4-BE49-F238E27FC236}">
                <a16:creationId xmlns:a16="http://schemas.microsoft.com/office/drawing/2014/main" id="{3ACC3D76-6C5C-45E2-90B1-6B18C23DA275}"/>
              </a:ext>
            </a:extLst>
          </p:cNvPr>
          <p:cNvSpPr>
            <a:spLocks xmlns:a="http://schemas.openxmlformats.org/drawingml/2006/main" noGrp="1"/>
          </p:cNvSpPr>
          <p:nvPr/>
        </p:nvSpPr>
        <p:spPr>
          <a:xfrm xmlns:a="http://schemas.openxmlformats.org/drawingml/2006/main">
            <a:off x="609600" y="3619500"/>
            <a:ext cx="109061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A9DDE0"/>
                </a:solidFill>
                <a:latin typeface="DejaVu Sans"/>
                <a:ea typeface="DejaVu Sans"/>
                <a:cs typeface="DejaVu Sans"/>
              </a:defRPr>
            </a:defPPr>
          </a:lstStyle>
          <a:p xmlns:a="http://schemas.openxmlformats.org/drawingml/2006/main">
            <a:pPr>
              <a:defRPr sz="2175" b="0">
                <a:solidFill>
                  <a:srgbClr val="A9DDE0"/>
                </a:solidFill>
                <a:latin typeface="DejaVu Sans"/>
                <a:ea typeface="DejaVu Sans"/>
                <a:cs typeface="DejaVu Sans"/>
              </a:defRPr>
            </a:pPr>
            <a:r>
              <a:rPr sz="2175" b="0">
                <a:solidFill>
                  <a:srgbClr val="A9DDE0"/>
                </a:solidFill>
                <a:latin typeface="DejaVu Sans"/>
                <a:ea typeface="DejaVu Sans"/>
                <a:cs typeface="DejaVu Sans"/>
              </a:rPr>
              <a:t>Понятие эталона. Отступы и классификация</a:t>
            </a:r>
          </a:p>
          <a:p xmlns:a="http://schemas.openxmlformats.org/drawingml/2006/main">
            <a:pPr>
              <a:defRPr sz="2175" b="0">
                <a:solidFill>
                  <a:srgbClr val="A9DDE0"/>
                </a:solidFill>
                <a:latin typeface="DejaVu Sans"/>
                <a:ea typeface="DejaVu Sans"/>
                <a:cs typeface="DejaVu Sans"/>
              </a:defRPr>
            </a:pPr>
            <a:r>
              <a:rPr sz="2175" b="0">
                <a:solidFill>
                  <a:srgbClr val="A9DDE0"/>
                </a:solidFill>
                <a:latin typeface="DejaVu Sans"/>
                <a:ea typeface="DejaVu Sans"/>
                <a:cs typeface="DejaVu Sans"/>
              </a:rPr>
              <a:t>объектов качества</a:t>
            </a:r>
          </a:p>
        </p:txBody>
      </p:sp>
      <p:sp>
        <p:nvSpPr>
          <p:cNvPr id="8" name="text-7">
            <a:extLst xmlns:a="http://schemas.openxmlformats.org/drawingml/2006/main">
              <a:ext uri="{FF2B5EF4-FFF2-40B4-BE49-F238E27FC236}">
                <a16:creationId xmlns:a16="http://schemas.microsoft.com/office/drawing/2014/main" id="{5DDE2B9C-7A60-40DD-B86E-4A6DCCF0FF9A}"/>
              </a:ext>
            </a:extLst>
          </p:cNvPr>
          <p:cNvSpPr>
            <a:spLocks xmlns:a="http://schemas.openxmlformats.org/drawingml/2006/main" noGrp="1"/>
          </p:cNvSpPr>
          <p:nvPr/>
        </p:nvSpPr>
        <p:spPr>
          <a:xfrm xmlns:a="http://schemas.openxmlformats.org/drawingml/2006/main">
            <a:off x="609600" y="5124450"/>
            <a:ext cx="10763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FFFFFF"/>
                </a:solidFill>
                <a:latin typeface="DejaVu Sans"/>
                <a:ea typeface="DejaVu Sans"/>
                <a:cs typeface="DejaVu Sans"/>
              </a:defRPr>
            </a:defPPr>
          </a:lstStyle>
          <a:p xmlns:a="http://schemas.openxmlformats.org/drawingml/2006/main">
            <a:pPr>
              <a:defRPr sz="2100" b="0">
                <a:solidFill>
                  <a:srgbClr val="FFFFFF"/>
                </a:solidFill>
                <a:latin typeface="DejaVu Sans"/>
                <a:ea typeface="DejaVu Sans"/>
                <a:cs typeface="DejaVu Sans"/>
              </a:defRPr>
            </a:pPr>
            <a:r>
              <a:rPr sz="2100" b="0">
                <a:solidFill>
                  <a:srgbClr val="FFFFFF"/>
                </a:solidFill>
                <a:latin typeface="DejaVu Sans"/>
                <a:ea typeface="DejaVu Sans"/>
                <a:cs typeface="DejaVu Sans"/>
              </a:rPr>
              <a:t>Как объяснить решение детектора и найти случаи для перепроверки</a:t>
            </a:r>
          </a:p>
        </p:txBody>
      </p:sp>
    </p:spTree>
    <p:extLst>
      <p:ext uri="{BB962C8B-B14F-4D97-AF65-F5344CB8AC3E}">
        <p14:creationId xmlns:p14="http://schemas.microsoft.com/office/powerpoint/2010/main" val="1879880905"/>
      </p:ext>
    </p:extLst>
  </p:cSld>
</p:sld>
</file>

<file path=ppt/slides/slide2.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9" name="text-8">
            <a:extLst xmlns:a="http://schemas.openxmlformats.org/drawingml/2006/main">
              <a:ext uri="{FF2B5EF4-FFF2-40B4-BE49-F238E27FC236}">
                <a16:creationId xmlns:a16="http://schemas.microsoft.com/office/drawing/2014/main" id="{48216A6D-EA68-46C9-B01F-553C05921FEA}"/>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Три части доклада: 5 + 5 + 5</a:t>
            </a:r>
          </a:p>
        </p:txBody>
      </p:sp>
      <p:sp>
        <p:nvSpPr>
          <p:cNvPr id="2" name="text-9">
            <a:extLst xmlns:a="http://schemas.openxmlformats.org/drawingml/2006/main">
              <a:ext uri="{FF2B5EF4-FFF2-40B4-BE49-F238E27FC236}">
                <a16:creationId xmlns:a16="http://schemas.microsoft.com/office/drawing/2014/main" id="{C1EC2C91-7DD9-4E5E-A0EF-864B7ED6CBB6}"/>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Объяснение метода → выполнение задания → применение в работе ИБ</a:t>
            </a:r>
          </a:p>
        </p:txBody>
      </p:sp>
      <p:sp>
        <p:nvSpPr>
          <p:cNvPr id="3" name="">
            <a:extLst xmlns:a="http://schemas.openxmlformats.org/drawingml/2006/main">
              <a:ext uri="{FF2B5EF4-FFF2-40B4-BE49-F238E27FC236}">
                <a16:creationId xmlns:a16="http://schemas.microsoft.com/office/drawing/2014/main" id="{B67498BD-69E1-4305-BC18-6E073BAB2BE6}"/>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10">
            <a:extLst xmlns:a="http://schemas.openxmlformats.org/drawingml/2006/main">
              <a:ext uri="{FF2B5EF4-FFF2-40B4-BE49-F238E27FC236}">
                <a16:creationId xmlns:a16="http://schemas.microsoft.com/office/drawing/2014/main" id="{985DA614-531A-41CA-934A-104EE9DDDC4E}"/>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  Учебный пример: SYN-flood</a:t>
            </a:r>
          </a:p>
        </p:txBody>
      </p:sp>
      <p:sp>
        <p:nvSpPr>
          <p:cNvPr id="5" name="text-11">
            <a:extLst xmlns:a="http://schemas.openxmlformats.org/drawingml/2006/main">
              <a:ext uri="{FF2B5EF4-FFF2-40B4-BE49-F238E27FC236}">
                <a16:creationId xmlns:a16="http://schemas.microsoft.com/office/drawing/2014/main" id="{9648E900-65CD-4886-AC70-150EEFA3EE7B}"/>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02</a:t>
            </a:r>
          </a:p>
        </p:txBody>
      </p:sp>
      <p:graphicFrame>
        <p:nvGraphicFramePr>
          <p:cNvPr id="6" name="">
            <a:extLst xmlns:a="http://schemas.openxmlformats.org/drawingml/2006/main">
              <a:ext uri="{FF2B5EF4-FFF2-40B4-BE49-F238E27FC236}">
                <a16:creationId xmlns:a16="http://schemas.microsoft.com/office/drawing/2014/main" id="{E8DCBEFC-D443-4F43-A961-D6E5A6DB7606}"/>
              </a:ext>
            </a:extLst>
          </p:cNvPr>
          <p:cNvGraphicFramePr/>
          <p:nvPr/>
        </p:nvGraphicFramePr>
        <p:xfrm>
          <a:off xmlns:a="http://schemas.openxmlformats.org/drawingml/2006/main" x="571500" y="2200275"/>
          <a:ext xmlns:a="http://schemas.openxmlformats.org/drawingml/2006/main" cx="11049000" cy="2695575"/>
        </p:xfrm>
        <a:graphic xmlns:a="http://schemas.openxmlformats.org/drawingml/2006/main">
          <a:graphicData uri="http://schemas.openxmlformats.org/drawingml/2006/table">
            <a:tbl>
              <a:tblPr/>
              <a:tblGrid>
                <a:gridCol w="2809068"/>
                <a:gridCol w="5992678"/>
                <a:gridCol w="2247254"/>
              </a:tblGrid>
              <a:tr h="673894">
                <a:tc>
                  <a:txBody>
                    <a:bodyPr lIns="114300" tIns="95250" rIns="95250" bIns="76200"/>
                    <a:lstStyle/>
                    <a:p>
                      <a:r>
                        <a:rPr sz="1875" b="1">
                          <a:solidFill>
                            <a:srgbClr val="FFFFFF"/>
                          </a:solidFill>
                          <a:latin typeface="DejaVu Sans"/>
                          <a:ea typeface="DejaVu Sans"/>
                          <a:cs typeface="DejaVu Sans"/>
                        </a:rPr>
                        <a:t>Критерий</a:t>
                      </a:r>
                    </a:p>
                  </a:txBody>
                  <a:tcPr marL="91440" marR="91440" marT="45720" marB="45720" anchor="ctr">
                    <a:solidFill>
                      <a:srgbClr val="101C32"/>
                    </a:solidFill>
                  </a:tcPr>
                </a:tc>
                <a:tc>
                  <a:txBody>
                    <a:bodyPr lIns="114300" tIns="95250" rIns="95250" bIns="76200"/>
                    <a:lstStyle/>
                    <a:p>
                      <a:r>
                        <a:rPr sz="1875" b="1">
                          <a:solidFill>
                            <a:srgbClr val="FFFFFF"/>
                          </a:solidFill>
                          <a:latin typeface="DejaVu Sans"/>
                          <a:ea typeface="DejaVu Sans"/>
                          <a:cs typeface="DejaVu Sans"/>
                        </a:rPr>
                        <a:t>Что показываем</a:t>
                      </a:r>
                    </a:p>
                  </a:txBody>
                  <a:tcPr marL="91440" marR="91440" marT="45720" marB="45720" anchor="ctr">
                    <a:solidFill>
                      <a:srgbClr val="101C32"/>
                    </a:solidFill>
                  </a:tcPr>
                </a:tc>
                <a:tc>
                  <a:txBody>
                    <a:bodyPr lIns="114300" tIns="95250" rIns="95250" bIns="76200"/>
                    <a:lstStyle/>
                    <a:p>
                      <a:r>
                        <a:rPr sz="1875" b="1">
                          <a:solidFill>
                            <a:srgbClr val="FFFFFF"/>
                          </a:solidFill>
                          <a:latin typeface="DejaVu Sans"/>
                          <a:ea typeface="DejaVu Sans"/>
                          <a:cs typeface="DejaVu Sans"/>
                        </a:rPr>
                        <a:t>Где</a:t>
                      </a:r>
                    </a:p>
                  </a:txBody>
                  <a:tcPr marL="91440" marR="91440" marT="45720" marB="45720" anchor="ctr">
                    <a:solidFill>
                      <a:srgbClr val="101C32"/>
                    </a:solidFill>
                  </a:tcPr>
                </a:tc>
              </a:tr>
              <a:tr h="673894">
                <a:tc>
                  <a:txBody>
                    <a:bodyPr lIns="114300" tIns="95250" rIns="95250" bIns="76200"/>
                    <a:lstStyle/>
                    <a:p>
                      <a:r>
                        <a:rPr sz="1875" b="0">
                          <a:solidFill>
                            <a:srgbClr val="101C32"/>
                          </a:solidFill>
                          <a:latin typeface="DejaVu Sans"/>
                          <a:ea typeface="DejaVu Sans"/>
                          <a:cs typeface="DejaVu Sans"/>
                        </a:rPr>
                        <a:t>Теория · 5 баллов</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Эталон, отступ, мягкий зазор SVM</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Слайды 3–7</a:t>
                      </a:r>
                    </a:p>
                  </a:txBody>
                  <a:tcPr marL="91440" marR="91440" marT="45720" marB="45720" anchor="ctr">
                    <a:solidFill>
                      <a:srgbClr val="FFFFFF"/>
                    </a:solidFill>
                  </a:tcPr>
                </a:tc>
              </a:tr>
              <a:tr h="673894">
                <a:tc>
                  <a:txBody>
                    <a:bodyPr lIns="114300" tIns="95250" rIns="95250" bIns="76200"/>
                    <a:lstStyle/>
                    <a:p>
                      <a:r>
                        <a:rPr sz="1875" b="0">
                          <a:solidFill>
                            <a:srgbClr val="101C32"/>
                          </a:solidFill>
                          <a:latin typeface="DejaVu Sans"/>
                          <a:ea typeface="DejaVu Sans"/>
                          <a:cs typeface="DejaVu Sans"/>
                        </a:rPr>
                        <a:t>Задание · 5 баллов</a:t>
                      </a:r>
                    </a:p>
                  </a:txBody>
                  <a:tcPr marL="91440" marR="91440" marT="45720" marB="45720" anchor="ctr">
                    <a:solidFill>
                      <a:srgbClr val="EAF0F4"/>
                    </a:solidFill>
                  </a:tcPr>
                </a:tc>
                <a:tc>
                  <a:txBody>
                    <a:bodyPr lIns="114300" tIns="95250" rIns="95250" bIns="76200"/>
                    <a:lstStyle/>
                    <a:p>
                      <a:r>
                        <a:rPr sz="1875" b="0">
                          <a:solidFill>
                            <a:srgbClr val="101C32"/>
                          </a:solidFill>
                          <a:latin typeface="DejaVu Sans"/>
                          <a:ea typeface="DejaVu Sans"/>
                          <a:cs typeface="DejaVu Sans"/>
                        </a:rPr>
                        <a:t>Выбор эталонов, расчёты, пограничные окна</a:t>
                      </a:r>
                    </a:p>
                  </a:txBody>
                  <a:tcPr marL="91440" marR="91440" marT="45720" marB="45720" anchor="ctr">
                    <a:solidFill>
                      <a:srgbClr val="EAF0F4"/>
                    </a:solidFill>
                  </a:tcPr>
                </a:tc>
                <a:tc>
                  <a:txBody>
                    <a:bodyPr lIns="114300" tIns="95250" rIns="95250" bIns="76200"/>
                    <a:lstStyle/>
                    <a:p>
                      <a:r>
                        <a:rPr sz="1875" b="0">
                          <a:solidFill>
                            <a:srgbClr val="101C32"/>
                          </a:solidFill>
                          <a:latin typeface="DejaVu Sans"/>
                          <a:ea typeface="DejaVu Sans"/>
                          <a:cs typeface="DejaVu Sans"/>
                        </a:rPr>
                        <a:t>Слайды 8–14</a:t>
                      </a:r>
                    </a:p>
                  </a:txBody>
                  <a:tcPr marL="91440" marR="91440" marT="45720" marB="45720" anchor="ctr">
                    <a:solidFill>
                      <a:srgbClr val="EAF0F4"/>
                    </a:solidFill>
                  </a:tcPr>
                </a:tc>
              </a:tr>
              <a:tr h="673894">
                <a:tc>
                  <a:txBody>
                    <a:bodyPr lIns="114300" tIns="95250" rIns="95250" bIns="76200"/>
                    <a:lstStyle/>
                    <a:p>
                      <a:r>
                        <a:rPr sz="1875" b="0">
                          <a:solidFill>
                            <a:srgbClr val="101C32"/>
                          </a:solidFill>
                          <a:latin typeface="DejaVu Sans"/>
                          <a:ea typeface="DejaVu Sans"/>
                          <a:cs typeface="DejaVu Sans"/>
                        </a:rPr>
                        <a:t>Применение · 5 баллов</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Сигнал детектора и действия аналитика</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Слайды 15–18</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FBB62D80-1E86-4546-84E2-A351F568C909}"/>
              </a:ext>
            </a:extLst>
          </p:cNvPr>
          <p:cNvSpPr>
            <a:spLocks xmlns:a="http://schemas.openxmlformats.org/drawingml/2006/main" noGrp="1"/>
          </p:cNvSpPr>
          <p:nvPr/>
        </p:nvSpPr>
        <p:spPr>
          <a:xfrm xmlns:a="http://schemas.openxmlformats.org/drawingml/2006/main">
            <a:off x="571500" y="5438775"/>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8" name="text-12">
            <a:extLst xmlns:a="http://schemas.openxmlformats.org/drawingml/2006/main">
              <a:ext uri="{FF2B5EF4-FFF2-40B4-BE49-F238E27FC236}">
                <a16:creationId xmlns:a16="http://schemas.microsoft.com/office/drawing/2014/main" id="{9BD8BEB1-FE21-44E5-A5A0-A60149A3653F}"/>
              </a:ext>
            </a:extLst>
          </p:cNvPr>
          <p:cNvSpPr>
            <a:spLocks xmlns:a="http://schemas.openxmlformats.org/drawingml/2006/main" noGrp="1"/>
          </p:cNvSpPr>
          <p:nvPr/>
        </p:nvSpPr>
        <p:spPr>
          <a:xfrm xmlns:a="http://schemas.openxmlformats.org/drawingml/2006/main">
            <a:off x="571500" y="5600700"/>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Подробные расчёты — в Google Colab; на слайдах — смысл для ИБ</a:t>
            </a:r>
          </a:p>
        </p:txBody>
      </p:sp>
    </p:spTree>
    <p:extLst>
      <p:ext uri="{BB962C8B-B14F-4D97-AF65-F5344CB8AC3E}">
        <p14:creationId xmlns:p14="http://schemas.microsoft.com/office/powerpoint/2010/main" val="1254594408"/>
      </p:ext>
    </p:extLst>
  </p:cSld>
</p:sld>
</file>

<file path=ppt/slides/slide3.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3" name="text-13">
            <a:extLst xmlns:a="http://schemas.openxmlformats.org/drawingml/2006/main">
              <a:ext uri="{FF2B5EF4-FFF2-40B4-BE49-F238E27FC236}">
                <a16:creationId xmlns:a16="http://schemas.microsoft.com/office/drawing/2014/main" id="{5A9AB2DC-7FFB-4BB5-A23A-98D5B3ACABF1}"/>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SYN-flood: почему страдает сервер</a:t>
            </a:r>
          </a:p>
        </p:txBody>
      </p:sp>
      <p:sp>
        <p:nvSpPr>
          <p:cNvPr id="2" name="text-14">
            <a:extLst xmlns:a="http://schemas.openxmlformats.org/drawingml/2006/main">
              <a:ext uri="{FF2B5EF4-FFF2-40B4-BE49-F238E27FC236}">
                <a16:creationId xmlns:a16="http://schemas.microsoft.com/office/drawing/2014/main" id="{4D5666F3-3CCA-4663-A9C2-B3D4F9D5D077}"/>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Теория · сначала разберём сетевую проблему</a:t>
            </a:r>
          </a:p>
        </p:txBody>
      </p:sp>
      <p:sp>
        <p:nvSpPr>
          <p:cNvPr id="3" name="">
            <a:extLst xmlns:a="http://schemas.openxmlformats.org/drawingml/2006/main">
              <a:ext uri="{FF2B5EF4-FFF2-40B4-BE49-F238E27FC236}">
                <a16:creationId xmlns:a16="http://schemas.microsoft.com/office/drawing/2014/main" id="{BA9A2FA4-7C96-44FC-85CC-1C005CB396F9}"/>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15">
            <a:extLst xmlns:a="http://schemas.openxmlformats.org/drawingml/2006/main">
              <a:ext uri="{FF2B5EF4-FFF2-40B4-BE49-F238E27FC236}">
                <a16:creationId xmlns:a16="http://schemas.microsoft.com/office/drawing/2014/main" id="{28BEDE21-8991-479F-9B3B-46ECC08FB1BE}"/>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  Теория · источник [4]</a:t>
            </a:r>
          </a:p>
        </p:txBody>
      </p:sp>
      <p:sp>
        <p:nvSpPr>
          <p:cNvPr id="5" name="text-16">
            <a:extLst xmlns:a="http://schemas.openxmlformats.org/drawingml/2006/main">
              <a:ext uri="{FF2B5EF4-FFF2-40B4-BE49-F238E27FC236}">
                <a16:creationId xmlns:a16="http://schemas.microsoft.com/office/drawing/2014/main" id="{3F53E235-4051-412E-B4C2-F9EE69CF492E}"/>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03</a:t>
            </a:r>
          </a:p>
        </p:txBody>
      </p:sp>
      <p:sp>
        <p:nvSpPr>
          <p:cNvPr id="6" name="text-17">
            <a:extLst xmlns:a="http://schemas.openxmlformats.org/drawingml/2006/main">
              <a:ext uri="{FF2B5EF4-FFF2-40B4-BE49-F238E27FC236}">
                <a16:creationId xmlns:a16="http://schemas.microsoft.com/office/drawing/2014/main" id="{986D7020-A623-4F19-AD23-39E390149644}"/>
              </a:ext>
            </a:extLst>
          </p:cNvPr>
          <p:cNvSpPr>
            <a:spLocks xmlns:a="http://schemas.openxmlformats.org/drawingml/2006/main" noGrp="1"/>
          </p:cNvSpPr>
          <p:nvPr/>
        </p:nvSpPr>
        <p:spPr>
          <a:xfrm xmlns:a="http://schemas.openxmlformats.org/drawingml/2006/main">
            <a:off x="571500" y="2162175"/>
            <a:ext cx="5095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008C95"/>
                </a:solidFill>
                <a:latin typeface="DejaVu Sans"/>
                <a:ea typeface="DejaVu Sans"/>
                <a:cs typeface="DejaVu Sans"/>
              </a:defRPr>
            </a:defPPr>
          </a:lstStyle>
          <a:p xmlns:a="http://schemas.openxmlformats.org/drawingml/2006/main">
            <a:pPr>
              <a:defRPr sz="2175" b="1">
                <a:solidFill>
                  <a:srgbClr val="008C95"/>
                </a:solidFill>
                <a:latin typeface="DejaVu Sans"/>
                <a:ea typeface="DejaVu Sans"/>
                <a:cs typeface="DejaVu Sans"/>
              </a:defRPr>
            </a:pPr>
            <a:r>
              <a:rPr sz="2175" b="1">
                <a:solidFill>
                  <a:srgbClr val="008C95"/>
                </a:solidFill>
                <a:latin typeface="DejaVu Sans"/>
                <a:ea typeface="DejaVu Sans"/>
                <a:cs typeface="DejaVu Sans"/>
              </a:rPr>
              <a:t>Обычное подключение</a:t>
            </a:r>
          </a:p>
        </p:txBody>
      </p:sp>
      <p:sp>
        <p:nvSpPr>
          <p:cNvPr id="7" name="text-18">
            <a:extLst xmlns:a="http://schemas.openxmlformats.org/drawingml/2006/main">
              <a:ext uri="{FF2B5EF4-FFF2-40B4-BE49-F238E27FC236}">
                <a16:creationId xmlns:a16="http://schemas.microsoft.com/office/drawing/2014/main" id="{0CBE8314-4CDB-4FB2-B5CE-7197E983A714}"/>
              </a:ext>
            </a:extLst>
          </p:cNvPr>
          <p:cNvSpPr>
            <a:spLocks xmlns:a="http://schemas.openxmlformats.org/drawingml/2006/main" noGrp="1"/>
          </p:cNvSpPr>
          <p:nvPr/>
        </p:nvSpPr>
        <p:spPr>
          <a:xfrm xmlns:a="http://schemas.openxmlformats.org/drawingml/2006/main">
            <a:off x="571500" y="2695575"/>
            <a:ext cx="509587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a:ea typeface="DejaVu Sans"/>
                <a:cs typeface="DejaVu Sans"/>
              </a:defRPr>
            </a:defPPr>
          </a:lstStyle>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Клиент просит соединение →</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сервер отвечает → клиент</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подтверждает. Можно работать.</a:t>
            </a:r>
          </a:p>
        </p:txBody>
      </p:sp>
      <p:sp>
        <p:nvSpPr>
          <p:cNvPr id="8" name="text-19">
            <a:extLst xmlns:a="http://schemas.openxmlformats.org/drawingml/2006/main">
              <a:ext uri="{FF2B5EF4-FFF2-40B4-BE49-F238E27FC236}">
                <a16:creationId xmlns:a16="http://schemas.microsoft.com/office/drawing/2014/main" id="{C37F4F1C-8CCE-47EC-BABB-E77EA5A0A8B7}"/>
              </a:ext>
            </a:extLst>
          </p:cNvPr>
          <p:cNvSpPr>
            <a:spLocks xmlns:a="http://schemas.openxmlformats.org/drawingml/2006/main" noGrp="1"/>
          </p:cNvSpPr>
          <p:nvPr/>
        </p:nvSpPr>
        <p:spPr>
          <a:xfrm xmlns:a="http://schemas.openxmlformats.org/drawingml/2006/main">
            <a:off x="6334125" y="2162175"/>
            <a:ext cx="5095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E85555"/>
                </a:solidFill>
                <a:latin typeface="DejaVu Sans"/>
                <a:ea typeface="DejaVu Sans"/>
                <a:cs typeface="DejaVu Sans"/>
              </a:defRPr>
            </a:defPPr>
          </a:lstStyle>
          <a:p xmlns:a="http://schemas.openxmlformats.org/drawingml/2006/main">
            <a:pPr>
              <a:defRPr sz="2175" b="1">
                <a:solidFill>
                  <a:srgbClr val="E85555"/>
                </a:solidFill>
                <a:latin typeface="DejaVu Sans"/>
                <a:ea typeface="DejaVu Sans"/>
                <a:cs typeface="DejaVu Sans"/>
              </a:defRPr>
            </a:pPr>
            <a:r>
              <a:rPr sz="2175" b="1">
                <a:solidFill>
                  <a:srgbClr val="E85555"/>
                </a:solidFill>
                <a:latin typeface="DejaVu Sans"/>
                <a:ea typeface="DejaVu Sans"/>
                <a:cs typeface="DejaVu Sans"/>
              </a:rPr>
              <a:t>SYN-flood</a:t>
            </a:r>
          </a:p>
        </p:txBody>
      </p:sp>
      <p:sp>
        <p:nvSpPr>
          <p:cNvPr id="9" name="text-20">
            <a:extLst xmlns:a="http://schemas.openxmlformats.org/drawingml/2006/main">
              <a:ext uri="{FF2B5EF4-FFF2-40B4-BE49-F238E27FC236}">
                <a16:creationId xmlns:a16="http://schemas.microsoft.com/office/drawing/2014/main" id="{6327ECCD-DDC2-4F1B-B50B-BC0DB10CEE70}"/>
              </a:ext>
            </a:extLst>
          </p:cNvPr>
          <p:cNvSpPr>
            <a:spLocks xmlns:a="http://schemas.openxmlformats.org/drawingml/2006/main" noGrp="1"/>
          </p:cNvSpPr>
          <p:nvPr/>
        </p:nvSpPr>
        <p:spPr>
          <a:xfrm xmlns:a="http://schemas.openxmlformats.org/drawingml/2006/main">
            <a:off x="6334125" y="2695575"/>
            <a:ext cx="509587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a:ea typeface="DejaVu Sans"/>
                <a:cs typeface="DejaVu Sans"/>
              </a:defRPr>
            </a:defPPr>
          </a:lstStyle>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Много запросов на соединение</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остаются без завершения.</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Очередь может заполниться.</a:t>
            </a:r>
          </a:p>
        </p:txBody>
      </p:sp>
      <p:sp>
        <p:nvSpPr>
          <p:cNvPr id="10" name="text-21">
            <a:extLst xmlns:a="http://schemas.openxmlformats.org/drawingml/2006/main">
              <a:ext uri="{FF2B5EF4-FFF2-40B4-BE49-F238E27FC236}">
                <a16:creationId xmlns:a16="http://schemas.microsoft.com/office/drawing/2014/main" id="{7732409B-0035-464C-8D38-26D094CD09BC}"/>
              </a:ext>
            </a:extLst>
          </p:cNvPr>
          <p:cNvSpPr>
            <a:spLocks xmlns:a="http://schemas.openxmlformats.org/drawingml/2006/main" noGrp="1"/>
          </p:cNvSpPr>
          <p:nvPr/>
        </p:nvSpPr>
        <p:spPr>
          <a:xfrm xmlns:a="http://schemas.openxmlformats.org/drawingml/2006/main">
            <a:off x="571500" y="4371975"/>
            <a:ext cx="1104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b="1">
                <a:solidFill>
                  <a:srgbClr val="101C32"/>
                </a:solidFill>
                <a:latin typeface="DejaVu Sans"/>
                <a:ea typeface="DejaVu Sans"/>
                <a:cs typeface="DejaVu Sans"/>
              </a:defRPr>
            </a:defPPr>
          </a:lstStyle>
          <a:p xmlns:a="http://schemas.openxmlformats.org/drawingml/2006/main">
            <a:pPr>
              <a:defRPr sz="2400" b="1">
                <a:solidFill>
                  <a:srgbClr val="101C32"/>
                </a:solidFill>
                <a:latin typeface="DejaVu Sans"/>
                <a:ea typeface="DejaVu Sans"/>
                <a:cs typeface="DejaVu Sans"/>
              </a:defRPr>
            </a:pPr>
            <a:r>
              <a:rPr sz="2400" b="1">
                <a:solidFill>
                  <a:srgbClr val="101C32"/>
                </a:solidFill>
                <a:latin typeface="DejaVu Sans"/>
                <a:ea typeface="DejaVu Sans"/>
                <a:cs typeface="DejaVu Sans"/>
              </a:rPr>
              <a:t>В результате новые легитимные клиенты могут не подключиться к сервису.</a:t>
            </a:r>
          </a:p>
        </p:txBody>
      </p:sp>
      <p:sp>
        <p:nvSpPr>
          <p:cNvPr id="11" name="">
            <a:extLst xmlns:a="http://schemas.openxmlformats.org/drawingml/2006/main">
              <a:ext uri="{FF2B5EF4-FFF2-40B4-BE49-F238E27FC236}">
                <a16:creationId xmlns:a16="http://schemas.microsoft.com/office/drawing/2014/main" id="{EACC8BFB-44AA-4E27-8009-391C641DD45F}"/>
              </a:ext>
            </a:extLst>
          </p:cNvPr>
          <p:cNvSpPr>
            <a:spLocks xmlns:a="http://schemas.openxmlformats.org/drawingml/2006/main" noGrp="1"/>
          </p:cNvSpPr>
          <p:nvPr/>
        </p:nvSpPr>
        <p:spPr>
          <a:xfrm xmlns:a="http://schemas.openxmlformats.org/drawingml/2006/main">
            <a:off x="571500" y="5514975"/>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12" name="text-22">
            <a:extLst xmlns:a="http://schemas.openxmlformats.org/drawingml/2006/main">
              <a:ext uri="{FF2B5EF4-FFF2-40B4-BE49-F238E27FC236}">
                <a16:creationId xmlns:a16="http://schemas.microsoft.com/office/drawing/2014/main" id="{B8D3CA62-3053-42E7-B4E3-90837C070DE4}"/>
              </a:ext>
            </a:extLst>
          </p:cNvPr>
          <p:cNvSpPr>
            <a:spLocks xmlns:a="http://schemas.openxmlformats.org/drawingml/2006/main" noGrp="1"/>
          </p:cNvSpPr>
          <p:nvPr/>
        </p:nvSpPr>
        <p:spPr>
          <a:xfrm xmlns:a="http://schemas.openxmlformats.org/drawingml/2006/main">
            <a:off x="571500" y="5676900"/>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Много пользователей и много SYN — ещё не доказательство атаки</a:t>
            </a:r>
          </a:p>
        </p:txBody>
      </p:sp>
    </p:spTree>
    <p:extLst>
      <p:ext uri="{BB962C8B-B14F-4D97-AF65-F5344CB8AC3E}">
        <p14:creationId xmlns:p14="http://schemas.microsoft.com/office/powerpoint/2010/main" val="1324258791"/>
      </p:ext>
    </p:extLst>
  </p:cSld>
</p:sld>
</file>

<file path=ppt/slides/slide4.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9" name="text-23">
            <a:extLst xmlns:a="http://schemas.openxmlformats.org/drawingml/2006/main">
              <a:ext uri="{FF2B5EF4-FFF2-40B4-BE49-F238E27FC236}">
                <a16:creationId xmlns:a16="http://schemas.microsoft.com/office/drawing/2014/main" id="{D9477B27-A001-4FFB-9543-951DB07B1A19}"/>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Что видит наш детектор</a:t>
            </a:r>
          </a:p>
        </p:txBody>
      </p:sp>
      <p:sp>
        <p:nvSpPr>
          <p:cNvPr id="2" name="text-24">
            <a:extLst xmlns:a="http://schemas.openxmlformats.org/drawingml/2006/main">
              <a:ext uri="{FF2B5EF4-FFF2-40B4-BE49-F238E27FC236}">
                <a16:creationId xmlns:a16="http://schemas.microsoft.com/office/drawing/2014/main" id="{01648DBC-B879-4536-9FBA-358299866CE6}"/>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Одно наблюдение — 10 секунд трафика к выбранному IP и TCP-порту</a:t>
            </a:r>
          </a:p>
        </p:txBody>
      </p:sp>
      <p:sp>
        <p:nvSpPr>
          <p:cNvPr id="3" name="">
            <a:extLst xmlns:a="http://schemas.openxmlformats.org/drawingml/2006/main">
              <a:ext uri="{FF2B5EF4-FFF2-40B4-BE49-F238E27FC236}">
                <a16:creationId xmlns:a16="http://schemas.microsoft.com/office/drawing/2014/main" id="{4BFB9A6E-EBFB-4FB3-A108-0E8CD9CBFF6B}"/>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25">
            <a:extLst xmlns:a="http://schemas.openxmlformats.org/drawingml/2006/main">
              <a:ext uri="{FF2B5EF4-FFF2-40B4-BE49-F238E27FC236}">
                <a16:creationId xmlns:a16="http://schemas.microsoft.com/office/drawing/2014/main" id="{3ABA88FF-494E-4F6F-9F6B-7A44BC485912}"/>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  Теория · [4]; определения измерений — учебные</a:t>
            </a:r>
          </a:p>
        </p:txBody>
      </p:sp>
      <p:sp>
        <p:nvSpPr>
          <p:cNvPr id="5" name="text-26">
            <a:extLst xmlns:a="http://schemas.openxmlformats.org/drawingml/2006/main">
              <a:ext uri="{FF2B5EF4-FFF2-40B4-BE49-F238E27FC236}">
                <a16:creationId xmlns:a16="http://schemas.microsoft.com/office/drawing/2014/main" id="{287DA254-41A3-45C4-88BF-4DEE5EDB026E}"/>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04</a:t>
            </a:r>
          </a:p>
        </p:txBody>
      </p:sp>
      <p:graphicFrame>
        <p:nvGraphicFramePr>
          <p:cNvPr id="6" name="">
            <a:extLst xmlns:a="http://schemas.openxmlformats.org/drawingml/2006/main">
              <a:ext uri="{FF2B5EF4-FFF2-40B4-BE49-F238E27FC236}">
                <a16:creationId xmlns:a16="http://schemas.microsoft.com/office/drawing/2014/main" id="{ED598670-5774-4233-A92D-46D1C087F5E2}"/>
              </a:ext>
            </a:extLst>
          </p:cNvPr>
          <p:cNvGraphicFramePr/>
          <p:nvPr/>
        </p:nvGraphicFramePr>
        <p:xfrm>
          <a:off xmlns:a="http://schemas.openxmlformats.org/drawingml/2006/main" x="571500" y="2181225"/>
          <a:ext xmlns:a="http://schemas.openxmlformats.org/drawingml/2006/main" cx="11049000" cy="2333625"/>
        </p:xfrm>
        <a:graphic xmlns:a="http://schemas.openxmlformats.org/drawingml/2006/main">
          <a:graphicData uri="http://schemas.openxmlformats.org/drawingml/2006/table">
            <a:tbl>
              <a:tblPr/>
              <a:tblGrid>
                <a:gridCol w="3207774"/>
                <a:gridCol w="4098823"/>
                <a:gridCol w="3742403"/>
              </a:tblGrid>
              <a:tr h="777875">
                <a:tc>
                  <a:txBody>
                    <a:bodyPr lIns="114300" tIns="95250" rIns="95250" bIns="76200"/>
                    <a:lstStyle/>
                    <a:p>
                      <a:r>
                        <a:rPr sz="1875" b="1">
                          <a:solidFill>
                            <a:srgbClr val="FFFFFF"/>
                          </a:solidFill>
                          <a:latin typeface="DejaVu Sans"/>
                          <a:ea typeface="DejaVu Sans"/>
                          <a:cs typeface="DejaVu Sans"/>
                        </a:rPr>
                        <a:t>Что измеряем</a:t>
                      </a:r>
                    </a:p>
                  </a:txBody>
                  <a:tcPr marL="91440" marR="91440" marT="45720" marB="45720" anchor="ctr">
                    <a:solidFill>
                      <a:srgbClr val="101C32"/>
                    </a:solidFill>
                  </a:tcPr>
                </a:tc>
                <a:tc>
                  <a:txBody>
                    <a:bodyPr lIns="114300" tIns="95250" rIns="95250" bIns="76200"/>
                    <a:lstStyle/>
                    <a:p>
                      <a:r>
                        <a:rPr sz="1875" b="1">
                          <a:solidFill>
                            <a:srgbClr val="FFFFFF"/>
                          </a:solidFill>
                          <a:latin typeface="DejaVu Sans"/>
                          <a:ea typeface="DejaVu Sans"/>
                          <a:cs typeface="DejaVu Sans"/>
                        </a:rPr>
                        <a:t>Как читаем</a:t>
                      </a:r>
                    </a:p>
                  </a:txBody>
                  <a:tcPr marL="91440" marR="91440" marT="45720" marB="45720" anchor="ctr">
                    <a:solidFill>
                      <a:srgbClr val="101C32"/>
                    </a:solidFill>
                  </a:tcPr>
                </a:tc>
                <a:tc>
                  <a:txBody>
                    <a:bodyPr lIns="114300" tIns="95250" rIns="95250" bIns="76200"/>
                    <a:lstStyle/>
                    <a:p>
                      <a:r>
                        <a:rPr sz="1875" b="1">
                          <a:solidFill>
                            <a:srgbClr val="FFFFFF"/>
                          </a:solidFill>
                          <a:latin typeface="DejaVu Sans"/>
                          <a:ea typeface="DejaVu Sans"/>
                          <a:cs typeface="DejaVu Sans"/>
                        </a:rPr>
                        <a:t>Зачем это нужно</a:t>
                      </a:r>
                    </a:p>
                  </a:txBody>
                  <a:tcPr marL="91440" marR="91440" marT="45720" marB="45720" anchor="ctr">
                    <a:solidFill>
                      <a:srgbClr val="101C32"/>
                    </a:solidFill>
                  </a:tcPr>
                </a:tc>
              </a:tr>
              <a:tr h="777875">
                <a:tc>
                  <a:txBody>
                    <a:bodyPr lIns="114300" tIns="95250" rIns="95250" bIns="76200"/>
                    <a:lstStyle/>
                    <a:p>
                      <a:r>
                        <a:rPr sz="1875" b="0">
                          <a:solidFill>
                            <a:srgbClr val="101C32"/>
                          </a:solidFill>
                          <a:latin typeface="DejaVu Sans"/>
                          <a:ea typeface="DejaVu Sans"/>
                          <a:cs typeface="DejaVu Sans"/>
                        </a:rPr>
                        <a:t>Входящие SYN/с</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Сколько запросов на соединение</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Оценить интенсивность</a:t>
                      </a:r>
                    </a:p>
                  </a:txBody>
                  <a:tcPr marL="91440" marR="91440" marT="45720" marB="45720" anchor="ctr">
                    <a:solidFill>
                      <a:srgbClr val="FFFFFF"/>
                    </a:solidFill>
                  </a:tcPr>
                </a:tc>
              </a:tr>
              <a:tr h="777875">
                <a:tc>
                  <a:txBody>
                    <a:bodyPr lIns="114300" tIns="95250" rIns="95250" bIns="76200"/>
                    <a:lstStyle/>
                    <a:p>
                      <a:r>
                        <a:rPr sz="1875" b="0">
                          <a:solidFill>
                            <a:srgbClr val="101C32"/>
                          </a:solidFill>
                          <a:latin typeface="DejaVu Sans"/>
                          <a:ea typeface="DejaVu Sans"/>
                          <a:cs typeface="DejaVu Sans"/>
                        </a:rPr>
                        <a:t>Незавершённые рукопожатия, %</a:t>
                      </a:r>
                    </a:p>
                  </a:txBody>
                  <a:tcPr marL="91440" marR="91440" marT="45720" marB="45720" anchor="ctr">
                    <a:solidFill>
                      <a:srgbClr val="EAF0F4"/>
                    </a:solidFill>
                  </a:tcPr>
                </a:tc>
                <a:tc>
                  <a:txBody>
                    <a:bodyPr lIns="114300" tIns="95250" rIns="95250" bIns="76200"/>
                    <a:lstStyle/>
                    <a:p>
                      <a:r>
                        <a:rPr sz="1875" b="0">
                          <a:solidFill>
                            <a:srgbClr val="101C32"/>
                          </a:solidFill>
                          <a:latin typeface="DejaVu Sans"/>
                          <a:ea typeface="DejaVu Sans"/>
                          <a:cs typeface="DejaVu Sans"/>
                        </a:rPr>
                        <a:t>Сколько попыток не завершилось за 3 с</a:t>
                      </a:r>
                    </a:p>
                  </a:txBody>
                  <a:tcPr marL="91440" marR="91440" marT="45720" marB="45720" anchor="ctr">
                    <a:solidFill>
                      <a:srgbClr val="EAF0F4"/>
                    </a:solidFill>
                  </a:tcPr>
                </a:tc>
                <a:tc>
                  <a:txBody>
                    <a:bodyPr lIns="114300" tIns="95250" rIns="95250" bIns="76200"/>
                    <a:lstStyle/>
                    <a:p>
                      <a:r>
                        <a:rPr sz="1875" b="0">
                          <a:solidFill>
                            <a:srgbClr val="101C32"/>
                          </a:solidFill>
                          <a:latin typeface="DejaVu Sans"/>
                          <a:ea typeface="DejaVu Sans"/>
                          <a:cs typeface="DejaVu Sans"/>
                        </a:rPr>
                        <a:t>Оценить характер нагрузки</a:t>
                      </a:r>
                    </a:p>
                  </a:txBody>
                  <a:tcPr marL="91440" marR="91440" marT="45720" marB="45720" anchor="ctr">
                    <a:solidFill>
                      <a:srgbClr val="EAF0F4"/>
                    </a:solidFill>
                  </a:tcPr>
                </a:tc>
              </a:tr>
            </a:tbl>
          </a:graphicData>
        </a:graphic>
      </p:graphicFrame>
      <p:sp>
        <p:nvSpPr>
          <p:cNvPr id="7" name="text-27">
            <a:extLst xmlns:a="http://schemas.openxmlformats.org/drawingml/2006/main">
              <a:ext uri="{FF2B5EF4-FFF2-40B4-BE49-F238E27FC236}">
                <a16:creationId xmlns:a16="http://schemas.microsoft.com/office/drawing/2014/main" id="{03F19773-B8F1-4973-9738-A68068667D53}"/>
              </a:ext>
            </a:extLst>
          </p:cNvPr>
          <p:cNvSpPr>
            <a:spLocks xmlns:a="http://schemas.openxmlformats.org/drawingml/2006/main" noGrp="1"/>
          </p:cNvSpPr>
          <p:nvPr/>
        </p:nvSpPr>
        <p:spPr>
          <a:xfrm xmlns:a="http://schemas.openxmlformats.org/drawingml/2006/main">
            <a:off x="571500" y="49053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0">
                <a:solidFill>
                  <a:srgbClr val="101C32"/>
                </a:solidFill>
                <a:latin typeface="DejaVu Sans"/>
                <a:ea typeface="DejaVu Sans"/>
                <a:cs typeface="DejaVu Sans"/>
              </a:defRPr>
            </a:defPPr>
          </a:lstStyle>
          <a:p xmlns:a="http://schemas.openxmlformats.org/drawingml/2006/main">
            <a:pPr>
              <a:defRPr sz="1950" b="0">
                <a:solidFill>
                  <a:srgbClr val="101C32"/>
                </a:solidFill>
                <a:latin typeface="DejaVu Sans"/>
                <a:ea typeface="DejaVu Sans"/>
                <a:cs typeface="DejaVu Sans"/>
              </a:defRPr>
            </a:pPr>
            <a:r>
              <a:rPr sz="1950" b="0">
                <a:solidFill>
                  <a:srgbClr val="101C32"/>
                </a:solidFill>
                <a:latin typeface="DejaVu Sans"/>
                <a:ea typeface="DejaVu Sans"/>
                <a:cs typeface="DejaVu Sans"/>
              </a:rPr>
              <a:t>Смотрим на оба признака вместе. В коде: SYN/с делим на 1000,</a:t>
            </a:r>
          </a:p>
          <a:p xmlns:a="http://schemas.openxmlformats.org/drawingml/2006/main">
            <a:pPr>
              <a:defRPr sz="1950" b="0">
                <a:solidFill>
                  <a:srgbClr val="101C32"/>
                </a:solidFill>
                <a:latin typeface="DejaVu Sans"/>
                <a:ea typeface="DejaVu Sans"/>
                <a:cs typeface="DejaVu Sans"/>
              </a:defRPr>
            </a:pPr>
            <a:r>
              <a:rPr sz="1950" b="0">
                <a:solidFill>
                  <a:srgbClr val="101C32"/>
                </a:solidFill>
                <a:latin typeface="DejaVu Sans"/>
                <a:ea typeface="DejaVu Sans"/>
                <a:cs typeface="DejaVu Sans"/>
              </a:rPr>
              <a:t>проценты — на 100, чтобы сравнивать окна в выбранном масштабе.</a:t>
            </a:r>
          </a:p>
        </p:txBody>
      </p:sp>
      <p:sp>
        <p:nvSpPr>
          <p:cNvPr id="8" name="text-28">
            <a:extLst xmlns:a="http://schemas.openxmlformats.org/drawingml/2006/main">
              <a:ext uri="{FF2B5EF4-FFF2-40B4-BE49-F238E27FC236}">
                <a16:creationId xmlns:a16="http://schemas.microsoft.com/office/drawing/2014/main" id="{E0D7D607-BD9B-418E-82FE-F9E42C297167}"/>
              </a:ext>
            </a:extLst>
          </p:cNvPr>
          <p:cNvSpPr>
            <a:spLocks xmlns:a="http://schemas.openxmlformats.org/drawingml/2006/main" noGrp="1"/>
          </p:cNvSpPr>
          <p:nvPr/>
        </p:nvSpPr>
        <p:spPr>
          <a:xfrm xmlns:a="http://schemas.openxmlformats.org/drawingml/2006/main">
            <a:off x="571500" y="5934075"/>
            <a:ext cx="11049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0">
                <a:solidFill>
                  <a:srgbClr val="536377"/>
                </a:solidFill>
                <a:latin typeface="DejaVu Sans"/>
                <a:ea typeface="DejaVu Sans"/>
                <a:cs typeface="DejaVu Sans"/>
              </a:defRPr>
            </a:defPPr>
          </a:lstStyle>
          <a:p xmlns:a="http://schemas.openxmlformats.org/drawingml/2006/main">
            <a:pPr>
              <a:defRPr sz="1425" b="0">
                <a:solidFill>
                  <a:srgbClr val="536377"/>
                </a:solidFill>
                <a:latin typeface="DejaVu Sans"/>
                <a:ea typeface="DejaVu Sans"/>
                <a:cs typeface="DejaVu Sans"/>
              </a:defRPr>
            </a:pPr>
            <a:r>
              <a:rPr sz="1425" b="0">
                <a:solidFill>
                  <a:srgbClr val="536377"/>
                </a:solidFill>
                <a:latin typeface="DejaVu Sans"/>
                <a:ea typeface="DejaVu Sans"/>
                <a:cs typeface="DejaVu Sans"/>
              </a:rPr>
              <a:t>Нужна видимость обоих направлений. Повторы SYN учитываем в скорости, но не как новые попытки.</a:t>
            </a:r>
          </a:p>
        </p:txBody>
      </p:sp>
    </p:spTree>
    <p:extLst>
      <p:ext uri="{BB962C8B-B14F-4D97-AF65-F5344CB8AC3E}">
        <p14:creationId xmlns:p14="http://schemas.microsoft.com/office/powerpoint/2010/main" val="1594806453"/>
      </p:ext>
    </p:extLst>
  </p:cSld>
</p:sld>
</file>

<file path=ppt/slides/slide5.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3" name="text-29">
            <a:extLst xmlns:a="http://schemas.openxmlformats.org/drawingml/2006/main">
              <a:ext uri="{FF2B5EF4-FFF2-40B4-BE49-F238E27FC236}">
                <a16:creationId xmlns:a16="http://schemas.microsoft.com/office/drawing/2014/main" id="{AE30B1AB-1B19-42F2-9E54-488BCA1B7119}"/>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Эталон — типичный представитель класса</a:t>
            </a:r>
          </a:p>
        </p:txBody>
      </p:sp>
      <p:sp>
        <p:nvSpPr>
          <p:cNvPr id="2" name="text-30">
            <a:extLst xmlns:a="http://schemas.openxmlformats.org/drawingml/2006/main">
              <a:ext uri="{FF2B5EF4-FFF2-40B4-BE49-F238E27FC236}">
                <a16:creationId xmlns:a16="http://schemas.microsoft.com/office/drawing/2014/main" id="{9CEB5917-A824-40D7-B16C-1865C0FF1B6B}"/>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Это опорный пример для сравнения наблюдений</a:t>
            </a:r>
          </a:p>
        </p:txBody>
      </p:sp>
      <p:sp>
        <p:nvSpPr>
          <p:cNvPr id="3" name="">
            <a:extLst xmlns:a="http://schemas.openxmlformats.org/drawingml/2006/main">
              <a:ext uri="{FF2B5EF4-FFF2-40B4-BE49-F238E27FC236}">
                <a16:creationId xmlns:a16="http://schemas.microsoft.com/office/drawing/2014/main" id="{CAD8CF1B-C8D7-4FC6-BF72-4C4373ADDF8E}"/>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31">
            <a:extLst xmlns:a="http://schemas.openxmlformats.org/drawingml/2006/main">
              <a:ext uri="{FF2B5EF4-FFF2-40B4-BE49-F238E27FC236}">
                <a16:creationId xmlns:a16="http://schemas.microsoft.com/office/drawing/2014/main" id="{C9785825-2A55-4173-8586-E1FBAAB4B693}"/>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  Теория · источник [3]</a:t>
            </a:r>
          </a:p>
        </p:txBody>
      </p:sp>
      <p:sp>
        <p:nvSpPr>
          <p:cNvPr id="5" name="text-32">
            <a:extLst xmlns:a="http://schemas.openxmlformats.org/drawingml/2006/main">
              <a:ext uri="{FF2B5EF4-FFF2-40B4-BE49-F238E27FC236}">
                <a16:creationId xmlns:a16="http://schemas.microsoft.com/office/drawing/2014/main" id="{48CD7145-9608-46C7-BDE3-73C2BF238B82}"/>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05</a:t>
            </a:r>
          </a:p>
        </p:txBody>
      </p:sp>
      <p:sp>
        <p:nvSpPr>
          <p:cNvPr id="6" name="text-33">
            <a:extLst xmlns:a="http://schemas.openxmlformats.org/drawingml/2006/main">
              <a:ext uri="{FF2B5EF4-FFF2-40B4-BE49-F238E27FC236}">
                <a16:creationId xmlns:a16="http://schemas.microsoft.com/office/drawing/2014/main" id="{B444D6B5-C441-4B35-AFE9-BC41EB4363AB}"/>
              </a:ext>
            </a:extLst>
          </p:cNvPr>
          <p:cNvSpPr>
            <a:spLocks xmlns:a="http://schemas.openxmlformats.org/drawingml/2006/main" noGrp="1"/>
          </p:cNvSpPr>
          <p:nvPr/>
        </p:nvSpPr>
        <p:spPr>
          <a:xfrm xmlns:a="http://schemas.openxmlformats.org/drawingml/2006/main">
            <a:off x="571500" y="2209800"/>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008C95"/>
                </a:solidFill>
                <a:latin typeface="DejaVu Sans"/>
                <a:ea typeface="DejaVu Sans"/>
                <a:cs typeface="DejaVu Sans"/>
              </a:defRPr>
            </a:defPPr>
          </a:lstStyle>
          <a:p xmlns:a="http://schemas.openxmlformats.org/drawingml/2006/main">
            <a:pPr>
              <a:defRPr sz="2175" b="1">
                <a:solidFill>
                  <a:srgbClr val="008C95"/>
                </a:solidFill>
                <a:latin typeface="DejaVu Sans"/>
                <a:ea typeface="DejaVu Sans"/>
                <a:cs typeface="DejaVu Sans"/>
              </a:defRPr>
            </a:pPr>
            <a:r>
              <a:rPr sz="2175" b="1">
                <a:solidFill>
                  <a:srgbClr val="008C95"/>
                </a:solidFill>
                <a:latin typeface="DejaVu Sans"/>
                <a:ea typeface="DejaVu Sans"/>
                <a:cs typeface="DejaVu Sans"/>
              </a:rPr>
              <a:t>Эталон нормы</a:t>
            </a:r>
          </a:p>
        </p:txBody>
      </p:sp>
      <p:sp>
        <p:nvSpPr>
          <p:cNvPr id="7" name="text-34">
            <a:extLst xmlns:a="http://schemas.openxmlformats.org/drawingml/2006/main">
              <a:ext uri="{FF2B5EF4-FFF2-40B4-BE49-F238E27FC236}">
                <a16:creationId xmlns:a16="http://schemas.microsoft.com/office/drawing/2014/main" id="{E8032192-8217-491F-BF10-293250807240}"/>
              </a:ext>
            </a:extLst>
          </p:cNvPr>
          <p:cNvSpPr>
            <a:spLocks xmlns:a="http://schemas.openxmlformats.org/drawingml/2006/main" noGrp="1"/>
          </p:cNvSpPr>
          <p:nvPr/>
        </p:nvSpPr>
        <p:spPr>
          <a:xfrm xmlns:a="http://schemas.openxmlformats.org/drawingml/2006/main">
            <a:off x="571500" y="2743200"/>
            <a:ext cx="5143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a:ea typeface="DejaVu Sans"/>
                <a:cs typeface="DejaVu Sans"/>
              </a:defRPr>
            </a:defPPr>
          </a:lstStyle>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Окно, похожее на другие</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подтверждённые нормальные окна</a:t>
            </a:r>
          </a:p>
        </p:txBody>
      </p:sp>
      <p:sp>
        <p:nvSpPr>
          <p:cNvPr id="8" name="text-35">
            <a:extLst xmlns:a="http://schemas.openxmlformats.org/drawingml/2006/main">
              <a:ext uri="{FF2B5EF4-FFF2-40B4-BE49-F238E27FC236}">
                <a16:creationId xmlns:a16="http://schemas.microsoft.com/office/drawing/2014/main" id="{4E75A40A-F4FA-414F-90AF-D14A91F2906F}"/>
              </a:ext>
            </a:extLst>
          </p:cNvPr>
          <p:cNvSpPr>
            <a:spLocks xmlns:a="http://schemas.openxmlformats.org/drawingml/2006/main" noGrp="1"/>
          </p:cNvSpPr>
          <p:nvPr/>
        </p:nvSpPr>
        <p:spPr>
          <a:xfrm xmlns:a="http://schemas.openxmlformats.org/drawingml/2006/main">
            <a:off x="6286500" y="2209800"/>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E85555"/>
                </a:solidFill>
                <a:latin typeface="DejaVu Sans"/>
                <a:ea typeface="DejaVu Sans"/>
                <a:cs typeface="DejaVu Sans"/>
              </a:defRPr>
            </a:defPPr>
          </a:lstStyle>
          <a:p xmlns:a="http://schemas.openxmlformats.org/drawingml/2006/main">
            <a:pPr>
              <a:defRPr sz="2175" b="1">
                <a:solidFill>
                  <a:srgbClr val="E85555"/>
                </a:solidFill>
                <a:latin typeface="DejaVu Sans"/>
                <a:ea typeface="DejaVu Sans"/>
                <a:cs typeface="DejaVu Sans"/>
              </a:defRPr>
            </a:pPr>
            <a:r>
              <a:rPr sz="2175" b="1">
                <a:solidFill>
                  <a:srgbClr val="E85555"/>
                </a:solidFill>
                <a:latin typeface="DejaVu Sans"/>
                <a:ea typeface="DejaVu Sans"/>
                <a:cs typeface="DejaVu Sans"/>
              </a:rPr>
              <a:t>Эталон SYN-flood</a:t>
            </a:r>
          </a:p>
        </p:txBody>
      </p:sp>
      <p:sp>
        <p:nvSpPr>
          <p:cNvPr id="9" name="text-36">
            <a:extLst xmlns:a="http://schemas.openxmlformats.org/drawingml/2006/main">
              <a:ext uri="{FF2B5EF4-FFF2-40B4-BE49-F238E27FC236}">
                <a16:creationId xmlns:a16="http://schemas.microsoft.com/office/drawing/2014/main" id="{EA7BD536-E1A8-4303-A86E-1F6A55D634E7}"/>
              </a:ext>
            </a:extLst>
          </p:cNvPr>
          <p:cNvSpPr>
            <a:spLocks xmlns:a="http://schemas.openxmlformats.org/drawingml/2006/main" noGrp="1"/>
          </p:cNvSpPr>
          <p:nvPr/>
        </p:nvSpPr>
        <p:spPr>
          <a:xfrm xmlns:a="http://schemas.openxmlformats.org/drawingml/2006/main">
            <a:off x="6286500" y="2743200"/>
            <a:ext cx="5143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a:ea typeface="DejaVu Sans"/>
                <a:cs typeface="DejaVu Sans"/>
              </a:defRPr>
            </a:defPPr>
          </a:lstStyle>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Окно, похожее на другие</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подтверждённые окна этой атаки</a:t>
            </a:r>
          </a:p>
        </p:txBody>
      </p:sp>
      <p:sp>
        <p:nvSpPr>
          <p:cNvPr id="10" name="text-37">
            <a:extLst xmlns:a="http://schemas.openxmlformats.org/drawingml/2006/main">
              <a:ext uri="{FF2B5EF4-FFF2-40B4-BE49-F238E27FC236}">
                <a16:creationId xmlns:a16="http://schemas.microsoft.com/office/drawing/2014/main" id="{C6F94B26-3E71-43E9-B5A3-9E0E3F0C536F}"/>
              </a:ext>
            </a:extLst>
          </p:cNvPr>
          <p:cNvSpPr>
            <a:spLocks xmlns:a="http://schemas.openxmlformats.org/drawingml/2006/main" noGrp="1"/>
          </p:cNvSpPr>
          <p:nvPr/>
        </p:nvSpPr>
        <p:spPr>
          <a:xfrm xmlns:a="http://schemas.openxmlformats.org/drawingml/2006/main">
            <a:off x="571500" y="42386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101C32"/>
                </a:solidFill>
                <a:latin typeface="DejaVu Sans"/>
                <a:ea typeface="DejaVu Sans"/>
                <a:cs typeface="DejaVu Sans"/>
              </a:defRPr>
            </a:defPPr>
          </a:lstStyle>
          <a:p xmlns:a="http://schemas.openxmlformats.org/drawingml/2006/main">
            <a:pPr>
              <a:defRPr sz="2175" b="1">
                <a:solidFill>
                  <a:srgbClr val="101C32"/>
                </a:solidFill>
                <a:latin typeface="DejaVu Sans"/>
                <a:ea typeface="DejaVu Sans"/>
                <a:cs typeface="DejaVu Sans"/>
              </a:defRPr>
            </a:pPr>
            <a:r>
              <a:rPr sz="2175" b="1">
                <a:solidFill>
                  <a:srgbClr val="101C32"/>
                </a:solidFill>
                <a:latin typeface="DejaVu Sans"/>
                <a:ea typeface="DejaVu Sans"/>
                <a:cs typeface="DejaVu Sans"/>
              </a:rPr>
              <a:t>Выбираем медоид: реальный объект с наименьшей суммой</a:t>
            </a:r>
          </a:p>
          <a:p xmlns:a="http://schemas.openxmlformats.org/drawingml/2006/main">
            <a:pPr>
              <a:defRPr sz="2175" b="1">
                <a:solidFill>
                  <a:srgbClr val="101C32"/>
                </a:solidFill>
                <a:latin typeface="DejaVu Sans"/>
                <a:ea typeface="DejaVu Sans"/>
                <a:cs typeface="DejaVu Sans"/>
              </a:defRPr>
            </a:pPr>
            <a:r>
              <a:rPr sz="2175" b="1">
                <a:solidFill>
                  <a:srgbClr val="101C32"/>
                </a:solidFill>
                <a:latin typeface="DejaVu Sans"/>
                <a:ea typeface="DejaVu Sans"/>
                <a:cs typeface="DejaVu Sans"/>
              </a:rPr>
              <a:t>расстояний до остальных объектов своего класса.</a:t>
            </a:r>
          </a:p>
        </p:txBody>
      </p:sp>
      <p:sp>
        <p:nvSpPr>
          <p:cNvPr id="11" name="">
            <a:extLst xmlns:a="http://schemas.openxmlformats.org/drawingml/2006/main">
              <a:ext uri="{FF2B5EF4-FFF2-40B4-BE49-F238E27FC236}">
                <a16:creationId xmlns:a16="http://schemas.microsoft.com/office/drawing/2014/main" id="{F1E892ED-360A-45B0-B13D-67F7BA3A833B}"/>
              </a:ext>
            </a:extLst>
          </p:cNvPr>
          <p:cNvSpPr>
            <a:spLocks xmlns:a="http://schemas.openxmlformats.org/drawingml/2006/main" noGrp="1"/>
          </p:cNvSpPr>
          <p:nvPr/>
        </p:nvSpPr>
        <p:spPr>
          <a:xfrm xmlns:a="http://schemas.openxmlformats.org/drawingml/2006/main">
            <a:off x="571500" y="5514975"/>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12" name="text-38">
            <a:extLst xmlns:a="http://schemas.openxmlformats.org/drawingml/2006/main">
              <a:ext uri="{FF2B5EF4-FFF2-40B4-BE49-F238E27FC236}">
                <a16:creationId xmlns:a16="http://schemas.microsoft.com/office/drawing/2014/main" id="{D71BE878-17A3-42E4-A985-EA1F10480B9E}"/>
              </a:ext>
            </a:extLst>
          </p:cNvPr>
          <p:cNvSpPr>
            <a:spLocks xmlns:a="http://schemas.openxmlformats.org/drawingml/2006/main" noGrp="1"/>
          </p:cNvSpPr>
          <p:nvPr/>
        </p:nvSpPr>
        <p:spPr>
          <a:xfrm xmlns:a="http://schemas.openxmlformats.org/drawingml/2006/main">
            <a:off x="571500" y="5676900"/>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Эталон показывает типичное поведение; он не описывает все возможные случаи</a:t>
            </a:r>
          </a:p>
        </p:txBody>
      </p:sp>
    </p:spTree>
    <p:extLst>
      <p:ext uri="{BB962C8B-B14F-4D97-AF65-F5344CB8AC3E}">
        <p14:creationId xmlns:p14="http://schemas.microsoft.com/office/powerpoint/2010/main" val="2086306522"/>
      </p:ext>
    </p:extLst>
  </p:cSld>
</p:sld>
</file>

<file path=ppt/slides/slide6.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7" name="text-39">
            <a:extLst xmlns:a="http://schemas.openxmlformats.org/drawingml/2006/main">
              <a:ext uri="{FF2B5EF4-FFF2-40B4-BE49-F238E27FC236}">
                <a16:creationId xmlns:a16="http://schemas.microsoft.com/office/drawing/2014/main" id="{08F3BDDE-F51D-4649-8827-CC6EE25BDFCB}"/>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Отступ: насколько близка смена решения</a:t>
            </a:r>
          </a:p>
        </p:txBody>
      </p:sp>
      <p:sp>
        <p:nvSpPr>
          <p:cNvPr id="2" name="text-40">
            <a:extLst xmlns:a="http://schemas.openxmlformats.org/drawingml/2006/main">
              <a:ext uri="{FF2B5EF4-FFF2-40B4-BE49-F238E27FC236}">
                <a16:creationId xmlns:a16="http://schemas.microsoft.com/office/drawing/2014/main" id="{3C2E0AB4-EB2F-48BD-AD63-7EC118D198DD}"/>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Чем ближе окно к границе, тем легче модели «передумать»</a:t>
            </a:r>
          </a:p>
        </p:txBody>
      </p:sp>
      <p:sp>
        <p:nvSpPr>
          <p:cNvPr id="3" name="">
            <a:extLst xmlns:a="http://schemas.openxmlformats.org/drawingml/2006/main">
              <a:ext uri="{FF2B5EF4-FFF2-40B4-BE49-F238E27FC236}">
                <a16:creationId xmlns:a16="http://schemas.microsoft.com/office/drawing/2014/main" id="{7C1C03F7-7EB4-4CF1-B478-FFEC7F926E26}"/>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41">
            <a:extLst xmlns:a="http://schemas.openxmlformats.org/drawingml/2006/main">
              <a:ext uri="{FF2B5EF4-FFF2-40B4-BE49-F238E27FC236}">
                <a16:creationId xmlns:a16="http://schemas.microsoft.com/office/drawing/2014/main" id="{842C5E84-C058-4F17-90B3-3F4B42B52D0E}"/>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  Теория · источники [2, 6]</a:t>
            </a:r>
          </a:p>
        </p:txBody>
      </p:sp>
      <p:sp>
        <p:nvSpPr>
          <p:cNvPr id="5" name="text-42">
            <a:extLst xmlns:a="http://schemas.openxmlformats.org/drawingml/2006/main">
              <a:ext uri="{FF2B5EF4-FFF2-40B4-BE49-F238E27FC236}">
                <a16:creationId xmlns:a16="http://schemas.microsoft.com/office/drawing/2014/main" id="{1E47A82C-336B-4C9B-A54F-73E5722B0469}"/>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06</a:t>
            </a:r>
          </a:p>
        </p:txBody>
      </p:sp>
      <p:sp>
        <p:nvSpPr>
          <p:cNvPr id="6" name="">
            <a:extLst xmlns:a="http://schemas.openxmlformats.org/drawingml/2006/main">
              <a:ext uri="{FF2B5EF4-FFF2-40B4-BE49-F238E27FC236}">
                <a16:creationId xmlns:a16="http://schemas.microsoft.com/office/drawing/2014/main" id="{ABFAB0B7-E412-46BA-B883-0BACE61DF655}"/>
              </a:ext>
            </a:extLst>
          </p:cNvPr>
          <p:cNvSpPr>
            <a:spLocks xmlns:a="http://schemas.openxmlformats.org/drawingml/2006/main" noGrp="1"/>
          </p:cNvSpPr>
          <p:nvPr/>
        </p:nvSpPr>
        <p:spPr>
          <a:xfrm xmlns:a="http://schemas.openxmlformats.org/drawingml/2006/main">
            <a:off x="1285875" y="3209925"/>
            <a:ext cx="9620250" cy="28575"/>
          </a:xfrm>
          <a:prstGeom xmlns:a="http://schemas.openxmlformats.org/drawingml/2006/main" prst="rect">
            <a:avLst/>
          </a:prstGeom>
          <a:solidFill xmlns:a="http://schemas.openxmlformats.org/drawingml/2006/main">
            <a:srgbClr val="101C32"/>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3D9567B-A8C9-4E7D-A584-BD854CAD8B76}"/>
              </a:ext>
            </a:extLst>
          </p:cNvPr>
          <p:cNvSpPr>
            <a:spLocks xmlns:a="http://schemas.openxmlformats.org/drawingml/2006/main" noGrp="1"/>
          </p:cNvSpPr>
          <p:nvPr/>
        </p:nvSpPr>
        <p:spPr>
          <a:xfrm xmlns:a="http://schemas.openxmlformats.org/drawingml/2006/main">
            <a:off x="7048500" y="2619375"/>
            <a:ext cx="28575" cy="1171575"/>
          </a:xfrm>
          <a:prstGeom xmlns:a="http://schemas.openxmlformats.org/drawingml/2006/main" prst="rect">
            <a:avLst/>
          </a:prstGeom>
          <a:solidFill xmlns:a="http://schemas.openxmlformats.org/drawingml/2006/main">
            <a:srgbClr val="101C32"/>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0127E5E-F013-4655-A0FC-17FE6676DF1A}"/>
              </a:ext>
            </a:extLst>
          </p:cNvPr>
          <p:cNvSpPr>
            <a:spLocks xmlns:a="http://schemas.openxmlformats.org/drawingml/2006/main" noGrp="1"/>
          </p:cNvSpPr>
          <p:nvPr/>
        </p:nvSpPr>
        <p:spPr>
          <a:xfrm xmlns:a="http://schemas.openxmlformats.org/drawingml/2006/main">
            <a:off x="2571750" y="3086100"/>
            <a:ext cx="266700" cy="266700"/>
          </a:xfrm>
          <a:prstGeom xmlns:a="http://schemas.openxmlformats.org/drawingml/2006/main" prst="ellipse">
            <a:avLst/>
          </a:prstGeom>
          <a:solidFill xmlns:a="http://schemas.openxmlformats.org/drawingml/2006/main">
            <a:srgbClr val="008C95"/>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70C9C39-85F8-48C5-AE95-8F6615214886}"/>
              </a:ext>
            </a:extLst>
          </p:cNvPr>
          <p:cNvSpPr>
            <a:spLocks xmlns:a="http://schemas.openxmlformats.org/drawingml/2006/main" noGrp="1"/>
          </p:cNvSpPr>
          <p:nvPr/>
        </p:nvSpPr>
        <p:spPr>
          <a:xfrm xmlns:a="http://schemas.openxmlformats.org/drawingml/2006/main">
            <a:off x="6734175" y="3086100"/>
            <a:ext cx="266700" cy="266700"/>
          </a:xfrm>
          <a:prstGeom xmlns:a="http://schemas.openxmlformats.org/drawingml/2006/main" prst="ellipse">
            <a:avLst/>
          </a:prstGeom>
          <a:solidFill xmlns:a="http://schemas.openxmlformats.org/drawingml/2006/main">
            <a:srgbClr val="E5B64A"/>
          </a:solidFill>
          <a:ln xmlns:a="http://schemas.openxmlformats.org/drawingml/2006/main" w="0">
            <a:noFill/>
          </a:ln>
        </p:spPr>
      </p:sp>
      <p:sp>
        <p:nvSpPr>
          <p:cNvPr id="10" name="text-43">
            <a:extLst xmlns:a="http://schemas.openxmlformats.org/drawingml/2006/main">
              <a:ext uri="{FF2B5EF4-FFF2-40B4-BE49-F238E27FC236}">
                <a16:creationId xmlns:a16="http://schemas.microsoft.com/office/drawing/2014/main" id="{82B5E5D9-2EC7-4476-86C7-8D13A8EE213D}"/>
              </a:ext>
            </a:extLst>
          </p:cNvPr>
          <p:cNvSpPr>
            <a:spLocks xmlns:a="http://schemas.openxmlformats.org/drawingml/2006/main" noGrp="1"/>
          </p:cNvSpPr>
          <p:nvPr/>
        </p:nvSpPr>
        <p:spPr>
          <a:xfrm xmlns:a="http://schemas.openxmlformats.org/drawingml/2006/main">
            <a:off x="1285875" y="2200275"/>
            <a:ext cx="4572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1">
                <a:solidFill>
                  <a:srgbClr val="008C95"/>
                </a:solidFill>
                <a:latin typeface="DejaVu Sans"/>
                <a:ea typeface="DejaVu Sans"/>
                <a:cs typeface="DejaVu Sans"/>
              </a:defRPr>
            </a:defPPr>
          </a:lstStyle>
          <a:p xmlns:a="http://schemas.openxmlformats.org/drawingml/2006/main">
            <a:pPr>
              <a:defRPr sz="2250" b="1">
                <a:solidFill>
                  <a:srgbClr val="008C95"/>
                </a:solidFill>
                <a:latin typeface="DejaVu Sans"/>
                <a:ea typeface="DejaVu Sans"/>
                <a:cs typeface="DejaVu Sans"/>
              </a:defRPr>
            </a:pPr>
            <a:r>
              <a:rPr sz="2250" b="1">
                <a:solidFill>
                  <a:srgbClr val="008C95"/>
                </a:solidFill>
                <a:latin typeface="DejaVu Sans"/>
                <a:ea typeface="DejaVu Sans"/>
                <a:cs typeface="DejaVu Sans"/>
              </a:rPr>
              <a:t>Далеко от границы</a:t>
            </a:r>
          </a:p>
        </p:txBody>
      </p:sp>
      <p:sp>
        <p:nvSpPr>
          <p:cNvPr id="11" name="text-44">
            <a:extLst xmlns:a="http://schemas.openxmlformats.org/drawingml/2006/main">
              <a:ext uri="{FF2B5EF4-FFF2-40B4-BE49-F238E27FC236}">
                <a16:creationId xmlns:a16="http://schemas.microsoft.com/office/drawing/2014/main" id="{60FBA313-ABCF-4D3A-AE02-D208971D7F04}"/>
              </a:ext>
            </a:extLst>
          </p:cNvPr>
          <p:cNvSpPr>
            <a:spLocks xmlns:a="http://schemas.openxmlformats.org/drawingml/2006/main" noGrp="1"/>
          </p:cNvSpPr>
          <p:nvPr/>
        </p:nvSpPr>
        <p:spPr>
          <a:xfrm xmlns:a="http://schemas.openxmlformats.org/drawingml/2006/main">
            <a:off x="7239000" y="2200275"/>
            <a:ext cx="4238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1">
                <a:solidFill>
                  <a:srgbClr val="9C700C"/>
                </a:solidFill>
                <a:latin typeface="DejaVu Sans"/>
                <a:ea typeface="DejaVu Sans"/>
                <a:cs typeface="DejaVu Sans"/>
              </a:defRPr>
            </a:defPPr>
          </a:lstStyle>
          <a:p xmlns:a="http://schemas.openxmlformats.org/drawingml/2006/main">
            <a:pPr>
              <a:defRPr sz="2250" b="1">
                <a:solidFill>
                  <a:srgbClr val="9C700C"/>
                </a:solidFill>
                <a:latin typeface="DejaVu Sans"/>
                <a:ea typeface="DejaVu Sans"/>
                <a:cs typeface="DejaVu Sans"/>
              </a:defRPr>
            </a:pPr>
            <a:r>
              <a:rPr sz="2250" b="1">
                <a:solidFill>
                  <a:srgbClr val="9C700C"/>
                </a:solidFill>
                <a:latin typeface="DejaVu Sans"/>
                <a:ea typeface="DejaVu Sans"/>
                <a:cs typeface="DejaVu Sans"/>
              </a:rPr>
              <a:t>Пограничное окно</a:t>
            </a:r>
          </a:p>
        </p:txBody>
      </p:sp>
      <p:sp>
        <p:nvSpPr>
          <p:cNvPr id="12" name="text-45">
            <a:extLst xmlns:a="http://schemas.openxmlformats.org/drawingml/2006/main">
              <a:ext uri="{FF2B5EF4-FFF2-40B4-BE49-F238E27FC236}">
                <a16:creationId xmlns:a16="http://schemas.microsoft.com/office/drawing/2014/main" id="{CD5D70C5-DCCF-4D2E-B4B3-512615CA4BC1}"/>
              </a:ext>
            </a:extLst>
          </p:cNvPr>
          <p:cNvSpPr>
            <a:spLocks xmlns:a="http://schemas.openxmlformats.org/drawingml/2006/main" noGrp="1"/>
          </p:cNvSpPr>
          <p:nvPr/>
        </p:nvSpPr>
        <p:spPr>
          <a:xfrm xmlns:a="http://schemas.openxmlformats.org/drawingml/2006/main">
            <a:off x="1285875" y="3848100"/>
            <a:ext cx="5238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0">
                <a:solidFill>
                  <a:srgbClr val="536377"/>
                </a:solidFill>
                <a:latin typeface="DejaVu Sans"/>
                <a:ea typeface="DejaVu Sans"/>
                <a:cs typeface="DejaVu Sans"/>
              </a:defRPr>
            </a:defPPr>
          </a:lstStyle>
          <a:p xmlns:a="http://schemas.openxmlformats.org/drawingml/2006/main">
            <a:pPr>
              <a:defRPr sz="1950" b="0">
                <a:solidFill>
                  <a:srgbClr val="536377"/>
                </a:solidFill>
                <a:latin typeface="DejaVu Sans"/>
                <a:ea typeface="DejaVu Sans"/>
                <a:cs typeface="DejaVu Sans"/>
              </a:defRPr>
            </a:pPr>
            <a:r>
              <a:rPr sz="1950" b="0">
                <a:solidFill>
                  <a:srgbClr val="536377"/>
                </a:solidFill>
                <a:latin typeface="DejaVu Sans"/>
                <a:ea typeface="DejaVu Sans"/>
                <a:cs typeface="DejaVu Sans"/>
              </a:rPr>
              <a:t>Условная область «норма»</a:t>
            </a:r>
          </a:p>
        </p:txBody>
      </p:sp>
      <p:sp>
        <p:nvSpPr>
          <p:cNvPr id="13" name="text-46">
            <a:extLst xmlns:a="http://schemas.openxmlformats.org/drawingml/2006/main">
              <a:ext uri="{FF2B5EF4-FFF2-40B4-BE49-F238E27FC236}">
                <a16:creationId xmlns:a16="http://schemas.microsoft.com/office/drawing/2014/main" id="{CA677F3C-365A-4C2F-A4DA-DCDC3C1808A6}"/>
              </a:ext>
            </a:extLst>
          </p:cNvPr>
          <p:cNvSpPr>
            <a:spLocks xmlns:a="http://schemas.openxmlformats.org/drawingml/2006/main" noGrp="1"/>
          </p:cNvSpPr>
          <p:nvPr/>
        </p:nvSpPr>
        <p:spPr>
          <a:xfrm xmlns:a="http://schemas.openxmlformats.org/drawingml/2006/main">
            <a:off x="6000750" y="4476750"/>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01C32"/>
                </a:solidFill>
                <a:latin typeface="DejaVu Sans"/>
                <a:ea typeface="DejaVu Sans"/>
                <a:cs typeface="DejaVu Sans"/>
              </a:defRPr>
            </a:defPPr>
          </a:lstStyle>
          <a:p xmlns:a="http://schemas.openxmlformats.org/drawingml/2006/main">
            <a:pPr>
              <a:defRPr sz="2025" b="1">
                <a:solidFill>
                  <a:srgbClr val="101C32"/>
                </a:solidFill>
                <a:latin typeface="DejaVu Sans"/>
                <a:ea typeface="DejaVu Sans"/>
                <a:cs typeface="DejaVu Sans"/>
              </a:defRPr>
            </a:pPr>
            <a:r>
              <a:rPr sz="2025" b="1">
                <a:solidFill>
                  <a:srgbClr val="101C32"/>
                </a:solidFill>
                <a:latin typeface="DejaVu Sans"/>
                <a:ea typeface="DejaVu Sans"/>
                <a:cs typeface="DejaVu Sans"/>
              </a:rPr>
              <a:t>Граница</a:t>
            </a:r>
          </a:p>
        </p:txBody>
      </p:sp>
      <p:sp>
        <p:nvSpPr>
          <p:cNvPr id="14" name="text-47">
            <a:extLst xmlns:a="http://schemas.openxmlformats.org/drawingml/2006/main">
              <a:ext uri="{FF2B5EF4-FFF2-40B4-BE49-F238E27FC236}">
                <a16:creationId xmlns:a16="http://schemas.microsoft.com/office/drawing/2014/main" id="{27D22F48-2256-4E5E-823B-86ACEA360BE0}"/>
              </a:ext>
            </a:extLst>
          </p:cNvPr>
          <p:cNvSpPr>
            <a:spLocks xmlns:a="http://schemas.openxmlformats.org/drawingml/2006/main" noGrp="1"/>
          </p:cNvSpPr>
          <p:nvPr/>
        </p:nvSpPr>
        <p:spPr>
          <a:xfrm xmlns:a="http://schemas.openxmlformats.org/drawingml/2006/main">
            <a:off x="571500" y="5105400"/>
            <a:ext cx="1104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Схема: здесь показана идея расстояния, а не один из двух сетевых признаков.</a:t>
            </a:r>
          </a:p>
        </p:txBody>
      </p:sp>
      <p:sp>
        <p:nvSpPr>
          <p:cNvPr id="15" name="">
            <a:extLst xmlns:a="http://schemas.openxmlformats.org/drawingml/2006/main">
              <a:ext uri="{FF2B5EF4-FFF2-40B4-BE49-F238E27FC236}">
                <a16:creationId xmlns:a16="http://schemas.microsoft.com/office/drawing/2014/main" id="{1935AD7A-3276-432A-9B40-3E4E8E4AC78D}"/>
              </a:ext>
            </a:extLst>
          </p:cNvPr>
          <p:cNvSpPr>
            <a:spLocks xmlns:a="http://schemas.openxmlformats.org/drawingml/2006/main" noGrp="1"/>
          </p:cNvSpPr>
          <p:nvPr/>
        </p:nvSpPr>
        <p:spPr>
          <a:xfrm xmlns:a="http://schemas.openxmlformats.org/drawingml/2006/main">
            <a:off x="571500" y="5581650"/>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16" name="text-48">
            <a:extLst xmlns:a="http://schemas.openxmlformats.org/drawingml/2006/main">
              <a:ext uri="{FF2B5EF4-FFF2-40B4-BE49-F238E27FC236}">
                <a16:creationId xmlns:a16="http://schemas.microsoft.com/office/drawing/2014/main" id="{3D824308-858A-4ECC-BF05-4C6E772870F0}"/>
              </a:ext>
            </a:extLst>
          </p:cNvPr>
          <p:cNvSpPr>
            <a:spLocks xmlns:a="http://schemas.openxmlformats.org/drawingml/2006/main" noGrp="1"/>
          </p:cNvSpPr>
          <p:nvPr/>
        </p:nvSpPr>
        <p:spPr>
          <a:xfrm xmlns:a="http://schemas.openxmlformats.org/drawingml/2006/main">
            <a:off x="571500" y="5743575"/>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Это запас сохранения ответа модели, а не вероятность атаки</a:t>
            </a:r>
          </a:p>
        </p:txBody>
      </p:sp>
    </p:spTree>
    <p:extLst>
      <p:ext uri="{BB962C8B-B14F-4D97-AF65-F5344CB8AC3E}">
        <p14:creationId xmlns:p14="http://schemas.microsoft.com/office/powerpoint/2010/main" val="1258216146"/>
      </p:ext>
    </p:extLst>
  </p:cSld>
</p:sld>
</file>

<file path=ppt/slides/slide7.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3" name="text-49">
            <a:extLst xmlns:a="http://schemas.openxmlformats.org/drawingml/2006/main">
              <a:ext uri="{FF2B5EF4-FFF2-40B4-BE49-F238E27FC236}">
                <a16:creationId xmlns:a16="http://schemas.microsoft.com/office/drawing/2014/main" id="{189017FA-F06E-4730-9469-622C387BCC3E}"/>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SVM учится проводить границу</a:t>
            </a:r>
          </a:p>
        </p:txBody>
      </p:sp>
      <p:sp>
        <p:nvSpPr>
          <p:cNvPr id="2" name="text-50">
            <a:extLst xmlns:a="http://schemas.openxmlformats.org/drawingml/2006/main">
              <a:ext uri="{FF2B5EF4-FFF2-40B4-BE49-F238E27FC236}">
                <a16:creationId xmlns:a16="http://schemas.microsoft.com/office/drawing/2014/main" id="{B02CB65F-D591-4C75-B5ED-BCF94AA2D645}"/>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SVM — алгоритм, который разделяет два класса по обучающим примерам</a:t>
            </a:r>
          </a:p>
        </p:txBody>
      </p:sp>
      <p:sp>
        <p:nvSpPr>
          <p:cNvPr id="3" name="">
            <a:extLst xmlns:a="http://schemas.openxmlformats.org/drawingml/2006/main">
              <a:ext uri="{FF2B5EF4-FFF2-40B4-BE49-F238E27FC236}">
                <a16:creationId xmlns:a16="http://schemas.microsoft.com/office/drawing/2014/main" id="{BBBC4901-7A5A-49FB-8450-F7AB959724DD}"/>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51">
            <a:extLst xmlns:a="http://schemas.openxmlformats.org/drawingml/2006/main">
              <a:ext uri="{FF2B5EF4-FFF2-40B4-BE49-F238E27FC236}">
                <a16:creationId xmlns:a16="http://schemas.microsoft.com/office/drawing/2014/main" id="{FE039187-E9FE-4F32-9796-06954B026BA6}"/>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  Теория · [1, 2, 5]</a:t>
            </a:r>
          </a:p>
        </p:txBody>
      </p:sp>
      <p:sp>
        <p:nvSpPr>
          <p:cNvPr id="5" name="text-52">
            <a:extLst xmlns:a="http://schemas.openxmlformats.org/drawingml/2006/main">
              <a:ext uri="{FF2B5EF4-FFF2-40B4-BE49-F238E27FC236}">
                <a16:creationId xmlns:a16="http://schemas.microsoft.com/office/drawing/2014/main" id="{CBE203E8-3380-44EA-BF26-D254E291F27D}"/>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07</a:t>
            </a:r>
          </a:p>
        </p:txBody>
      </p:sp>
      <p:sp>
        <p:nvSpPr>
          <p:cNvPr id="6" name="text-53">
            <a:extLst xmlns:a="http://schemas.openxmlformats.org/drawingml/2006/main">
              <a:ext uri="{FF2B5EF4-FFF2-40B4-BE49-F238E27FC236}">
                <a16:creationId xmlns:a16="http://schemas.microsoft.com/office/drawing/2014/main" id="{31F1D973-3D2D-4CD2-99F1-6DA67D6CE94F}"/>
              </a:ext>
            </a:extLst>
          </p:cNvPr>
          <p:cNvSpPr>
            <a:spLocks xmlns:a="http://schemas.openxmlformats.org/drawingml/2006/main" noGrp="1"/>
          </p:cNvSpPr>
          <p:nvPr/>
        </p:nvSpPr>
        <p:spPr>
          <a:xfrm xmlns:a="http://schemas.openxmlformats.org/drawingml/2006/main">
            <a:off x="571500" y="2162175"/>
            <a:ext cx="5095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008C95"/>
                </a:solidFill>
                <a:latin typeface="DejaVu Sans"/>
                <a:ea typeface="DejaVu Sans"/>
                <a:cs typeface="DejaVu Sans"/>
              </a:defRPr>
            </a:defPPr>
          </a:lstStyle>
          <a:p xmlns:a="http://schemas.openxmlformats.org/drawingml/2006/main">
            <a:pPr>
              <a:defRPr sz="2175" b="1">
                <a:solidFill>
                  <a:srgbClr val="008C95"/>
                </a:solidFill>
                <a:latin typeface="DejaVu Sans"/>
                <a:ea typeface="DejaVu Sans"/>
                <a:cs typeface="DejaVu Sans"/>
              </a:defRPr>
            </a:pPr>
            <a:r>
              <a:rPr sz="2175" b="1">
                <a:solidFill>
                  <a:srgbClr val="008C95"/>
                </a:solidFill>
                <a:latin typeface="DejaVu Sans"/>
                <a:ea typeface="DejaVu Sans"/>
                <a:cs typeface="DejaVu Sans"/>
              </a:rPr>
              <a:t>Что делает модель</a:t>
            </a:r>
          </a:p>
        </p:txBody>
      </p:sp>
      <p:sp>
        <p:nvSpPr>
          <p:cNvPr id="7" name="text-54">
            <a:extLst xmlns:a="http://schemas.openxmlformats.org/drawingml/2006/main">
              <a:ext uri="{FF2B5EF4-FFF2-40B4-BE49-F238E27FC236}">
                <a16:creationId xmlns:a16="http://schemas.microsoft.com/office/drawing/2014/main" id="{2AD55CB6-C309-4AE0-87EE-417539BDB9BE}"/>
              </a:ext>
            </a:extLst>
          </p:cNvPr>
          <p:cNvSpPr>
            <a:spLocks xmlns:a="http://schemas.openxmlformats.org/drawingml/2006/main" noGrp="1"/>
          </p:cNvSpPr>
          <p:nvPr/>
        </p:nvSpPr>
        <p:spPr>
          <a:xfrm xmlns:a="http://schemas.openxmlformats.org/drawingml/2006/main">
            <a:off x="571500" y="2695575"/>
            <a:ext cx="509587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a:ea typeface="DejaVu Sans"/>
                <a:cs typeface="DejaVu Sans"/>
              </a:defRPr>
            </a:defPPr>
          </a:lstStyle>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Смотрит на все обучающие окна</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и строит разделяющее правило</a:t>
            </a:r>
          </a:p>
        </p:txBody>
      </p:sp>
      <p:sp>
        <p:nvSpPr>
          <p:cNvPr id="8" name="text-55">
            <a:extLst xmlns:a="http://schemas.openxmlformats.org/drawingml/2006/main">
              <a:ext uri="{FF2B5EF4-FFF2-40B4-BE49-F238E27FC236}">
                <a16:creationId xmlns:a16="http://schemas.microsoft.com/office/drawing/2014/main" id="{F529DD5A-B029-4982-8F29-AD95789538ED}"/>
              </a:ext>
            </a:extLst>
          </p:cNvPr>
          <p:cNvSpPr>
            <a:spLocks xmlns:a="http://schemas.openxmlformats.org/drawingml/2006/main" noGrp="1"/>
          </p:cNvSpPr>
          <p:nvPr/>
        </p:nvSpPr>
        <p:spPr>
          <a:xfrm xmlns:a="http://schemas.openxmlformats.org/drawingml/2006/main">
            <a:off x="6286500" y="216217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101C32"/>
                </a:solidFill>
                <a:latin typeface="DejaVu Sans"/>
                <a:ea typeface="DejaVu Sans"/>
                <a:cs typeface="DejaVu Sans"/>
              </a:defRPr>
            </a:defPPr>
          </a:lstStyle>
          <a:p xmlns:a="http://schemas.openxmlformats.org/drawingml/2006/main">
            <a:pPr>
              <a:defRPr sz="2175" b="1">
                <a:solidFill>
                  <a:srgbClr val="101C32"/>
                </a:solidFill>
                <a:latin typeface="DejaVu Sans"/>
                <a:ea typeface="DejaVu Sans"/>
                <a:cs typeface="DejaVu Sans"/>
              </a:defRPr>
            </a:pPr>
            <a:r>
              <a:rPr sz="2175" b="1">
                <a:solidFill>
                  <a:srgbClr val="101C32"/>
                </a:solidFill>
                <a:latin typeface="DejaVu Sans"/>
                <a:ea typeface="DejaVu Sans"/>
                <a:cs typeface="DejaVu Sans"/>
              </a:rPr>
              <a:t>Что означает мягкий зазор</a:t>
            </a:r>
          </a:p>
        </p:txBody>
      </p:sp>
      <p:sp>
        <p:nvSpPr>
          <p:cNvPr id="9" name="text-56">
            <a:extLst xmlns:a="http://schemas.openxmlformats.org/drawingml/2006/main">
              <a:ext uri="{FF2B5EF4-FFF2-40B4-BE49-F238E27FC236}">
                <a16:creationId xmlns:a16="http://schemas.microsoft.com/office/drawing/2014/main" id="{5AC7CDDD-0263-4DCF-9B33-263EBA9397A1}"/>
              </a:ext>
            </a:extLst>
          </p:cNvPr>
          <p:cNvSpPr>
            <a:spLocks xmlns:a="http://schemas.openxmlformats.org/drawingml/2006/main" noGrp="1"/>
          </p:cNvSpPr>
          <p:nvPr/>
        </p:nvSpPr>
        <p:spPr>
          <a:xfrm xmlns:a="http://schemas.openxmlformats.org/drawingml/2006/main">
            <a:off x="6286500" y="2695575"/>
            <a:ext cx="5238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a:ea typeface="DejaVu Sans"/>
                <a:cs typeface="DejaVu Sans"/>
              </a:defRPr>
            </a:defPPr>
          </a:lstStyle>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Допускает трудные примеры</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рядом с границей и нарушения,</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вместо требования идеального разделения</a:t>
            </a:r>
          </a:p>
        </p:txBody>
      </p:sp>
      <p:sp>
        <p:nvSpPr>
          <p:cNvPr id="10" name="text-57">
            <a:extLst xmlns:a="http://schemas.openxmlformats.org/drawingml/2006/main">
              <a:ext uri="{FF2B5EF4-FFF2-40B4-BE49-F238E27FC236}">
                <a16:creationId xmlns:a16="http://schemas.microsoft.com/office/drawing/2014/main" id="{6915BCD3-9828-4657-AFE1-251E7805FD8D}"/>
              </a:ext>
            </a:extLst>
          </p:cNvPr>
          <p:cNvSpPr>
            <a:spLocks xmlns:a="http://schemas.openxmlformats.org/drawingml/2006/main" noGrp="1"/>
          </p:cNvSpPr>
          <p:nvPr/>
        </p:nvSpPr>
        <p:spPr>
          <a:xfrm xmlns:a="http://schemas.openxmlformats.org/drawingml/2006/main">
            <a:off x="571500" y="4371975"/>
            <a:ext cx="11049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01C32"/>
                </a:solidFill>
                <a:latin typeface="DejaVu Sans"/>
                <a:ea typeface="DejaVu Sans"/>
                <a:cs typeface="DejaVu Sans"/>
              </a:defRPr>
            </a:defPPr>
          </a:lstStyle>
          <a:p xmlns:a="http://schemas.openxmlformats.org/drawingml/2006/main">
            <a:pPr>
              <a:defRPr sz="2025" b="0">
                <a:solidFill>
                  <a:srgbClr val="101C32"/>
                </a:solidFill>
                <a:latin typeface="DejaVu Sans"/>
                <a:ea typeface="DejaVu Sans"/>
                <a:cs typeface="DejaVu Sans"/>
              </a:defRPr>
            </a:pPr>
            <a:r>
              <a:rPr sz="2025" b="0">
                <a:solidFill>
                  <a:srgbClr val="101C32"/>
                </a:solidFill>
                <a:latin typeface="DejaVu Sans"/>
                <a:ea typeface="DejaVu Sans"/>
                <a:cs typeface="DejaVu Sans"/>
              </a:rPr>
              <a:t>Параметр C регулирует штраф за нарушения. В демонстрации C = 1.</a:t>
            </a:r>
          </a:p>
          <a:p xmlns:a="http://schemas.openxmlformats.org/drawingml/2006/main">
            <a:pPr>
              <a:defRPr sz="2025" b="0">
                <a:solidFill>
                  <a:srgbClr val="101C32"/>
                </a:solidFill>
                <a:latin typeface="DejaVu Sans"/>
                <a:ea typeface="DejaVu Sans"/>
                <a:cs typeface="DejaVu Sans"/>
              </a:defRPr>
            </a:pPr>
            <a:r>
              <a:rPr sz="2025" b="0">
                <a:solidFill>
                  <a:srgbClr val="101C32"/>
                </a:solidFill>
                <a:latin typeface="DejaVu Sans"/>
                <a:ea typeface="DejaVu Sans"/>
                <a:cs typeface="DejaVu Sans"/>
              </a:rPr>
              <a:t>Опорные векторы — обучающие точки, которые участвуют в построении границы.</a:t>
            </a:r>
          </a:p>
        </p:txBody>
      </p:sp>
      <p:sp>
        <p:nvSpPr>
          <p:cNvPr id="11" name="">
            <a:extLst xmlns:a="http://schemas.openxmlformats.org/drawingml/2006/main">
              <a:ext uri="{FF2B5EF4-FFF2-40B4-BE49-F238E27FC236}">
                <a16:creationId xmlns:a16="http://schemas.microsoft.com/office/drawing/2014/main" id="{899031A1-8517-4DE9-9250-F641250C8134}"/>
              </a:ext>
            </a:extLst>
          </p:cNvPr>
          <p:cNvSpPr>
            <a:spLocks xmlns:a="http://schemas.openxmlformats.org/drawingml/2006/main" noGrp="1"/>
          </p:cNvSpPr>
          <p:nvPr/>
        </p:nvSpPr>
        <p:spPr>
          <a:xfrm xmlns:a="http://schemas.openxmlformats.org/drawingml/2006/main">
            <a:off x="571500" y="5514975"/>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12" name="text-58">
            <a:extLst xmlns:a="http://schemas.openxmlformats.org/drawingml/2006/main">
              <a:ext uri="{FF2B5EF4-FFF2-40B4-BE49-F238E27FC236}">
                <a16:creationId xmlns:a16="http://schemas.microsoft.com/office/drawing/2014/main" id="{0B0F5735-CC1D-4444-8E12-D67664306C0F}"/>
              </a:ext>
            </a:extLst>
          </p:cNvPr>
          <p:cNvSpPr>
            <a:spLocks xmlns:a="http://schemas.openxmlformats.org/drawingml/2006/main" noGrp="1"/>
          </p:cNvSpPr>
          <p:nvPr/>
        </p:nvSpPr>
        <p:spPr>
          <a:xfrm xmlns:a="http://schemas.openxmlformats.org/drawingml/2006/main">
            <a:off x="571500" y="5676900"/>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Эталоны объясняют типичные примеры; SVM обучается по всей выборке</a:t>
            </a:r>
          </a:p>
        </p:txBody>
      </p:sp>
    </p:spTree>
    <p:extLst>
      <p:ext uri="{BB962C8B-B14F-4D97-AF65-F5344CB8AC3E}">
        <p14:creationId xmlns:p14="http://schemas.microsoft.com/office/powerpoint/2010/main" val="486521940"/>
      </p:ext>
    </p:extLst>
  </p:cSld>
</p:sld>
</file>

<file path=ppt/slides/slide8.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3" name="text-59">
            <a:extLst xmlns:a="http://schemas.openxmlformats.org/drawingml/2006/main">
              <a:ext uri="{FF2B5EF4-FFF2-40B4-BE49-F238E27FC236}">
                <a16:creationId xmlns:a16="http://schemas.microsoft.com/office/drawing/2014/main" id="{3511423E-A40A-4A83-AA61-0EF345B82EB5}"/>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Наш учебный эксперимент</a:t>
            </a:r>
          </a:p>
        </p:txBody>
      </p:sp>
      <p:sp>
        <p:nvSpPr>
          <p:cNvPr id="2" name="text-60">
            <a:extLst xmlns:a="http://schemas.openxmlformats.org/drawingml/2006/main">
              <a:ext uri="{FF2B5EF4-FFF2-40B4-BE49-F238E27FC236}">
                <a16:creationId xmlns:a16="http://schemas.microsoft.com/office/drawing/2014/main" id="{1BA5E8A9-A4CB-4E88-84BF-8C6FC278414F}"/>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Задание · все расчёты воспроизводятся в одном ноутбуке Google Colab</a:t>
            </a:r>
          </a:p>
        </p:txBody>
      </p:sp>
      <p:sp>
        <p:nvSpPr>
          <p:cNvPr id="3" name="">
            <a:extLst xmlns:a="http://schemas.openxmlformats.org/drawingml/2006/main">
              <a:ext uri="{FF2B5EF4-FFF2-40B4-BE49-F238E27FC236}">
                <a16:creationId xmlns:a16="http://schemas.microsoft.com/office/drawing/2014/main" id="{CE51688C-4ABD-43B4-929F-52BB31DE356E}"/>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61">
            <a:extLst xmlns:a="http://schemas.openxmlformats.org/drawingml/2006/main">
              <a:ext uri="{FF2B5EF4-FFF2-40B4-BE49-F238E27FC236}">
                <a16:creationId xmlns:a16="http://schemas.microsoft.com/office/drawing/2014/main" id="{F9DE88F2-58EC-4F0B-B019-2A3777F58C8E}"/>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  Учебный пример: SYN-flood</a:t>
            </a:r>
          </a:p>
        </p:txBody>
      </p:sp>
      <p:sp>
        <p:nvSpPr>
          <p:cNvPr id="5" name="text-62">
            <a:extLst xmlns:a="http://schemas.openxmlformats.org/drawingml/2006/main">
              <a:ext uri="{FF2B5EF4-FFF2-40B4-BE49-F238E27FC236}">
                <a16:creationId xmlns:a16="http://schemas.microsoft.com/office/drawing/2014/main" id="{B495208D-DFE3-4AF7-9A0C-D64C7955A35E}"/>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08</a:t>
            </a:r>
          </a:p>
        </p:txBody>
      </p:sp>
      <p:sp>
        <p:nvSpPr>
          <p:cNvPr id="6" name="text-63">
            <a:extLst xmlns:a="http://schemas.openxmlformats.org/drawingml/2006/main">
              <a:ext uri="{FF2B5EF4-FFF2-40B4-BE49-F238E27FC236}">
                <a16:creationId xmlns:a16="http://schemas.microsoft.com/office/drawing/2014/main" id="{A764D5A1-2EE0-4E7B-8EA7-4A360364EDA7}"/>
              </a:ext>
            </a:extLst>
          </p:cNvPr>
          <p:cNvSpPr>
            <a:spLocks xmlns:a="http://schemas.openxmlformats.org/drawingml/2006/main" noGrp="1"/>
          </p:cNvSpPr>
          <p:nvPr/>
        </p:nvSpPr>
        <p:spPr>
          <a:xfrm xmlns:a="http://schemas.openxmlformats.org/drawingml/2006/main">
            <a:off x="571500" y="2238375"/>
            <a:ext cx="4191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6150" b="1">
                <a:solidFill>
                  <a:srgbClr val="008C95"/>
                </a:solidFill>
                <a:latin typeface="DejaVu Sans"/>
                <a:ea typeface="DejaVu Sans"/>
                <a:cs typeface="DejaVu Sans"/>
              </a:defRPr>
            </a:defPPr>
          </a:lstStyle>
          <a:p xmlns:a="http://schemas.openxmlformats.org/drawingml/2006/main">
            <a:pPr>
              <a:defRPr sz="6150" b="1">
                <a:solidFill>
                  <a:srgbClr val="008C95"/>
                </a:solidFill>
                <a:latin typeface="DejaVu Sans"/>
                <a:ea typeface="DejaVu Sans"/>
                <a:cs typeface="DejaVu Sans"/>
              </a:defRPr>
            </a:pPr>
            <a:r>
              <a:rPr sz="6150" b="1">
                <a:solidFill>
                  <a:srgbClr val="008C95"/>
                </a:solidFill>
                <a:latin typeface="DejaVu Sans"/>
                <a:ea typeface="DejaVu Sans"/>
                <a:cs typeface="DejaVu Sans"/>
              </a:rPr>
              <a:t>20</a:t>
            </a:r>
          </a:p>
        </p:txBody>
      </p:sp>
      <p:sp>
        <p:nvSpPr>
          <p:cNvPr id="7" name="text-64">
            <a:extLst xmlns:a="http://schemas.openxmlformats.org/drawingml/2006/main">
              <a:ext uri="{FF2B5EF4-FFF2-40B4-BE49-F238E27FC236}">
                <a16:creationId xmlns:a16="http://schemas.microsoft.com/office/drawing/2014/main" id="{58D4B851-2562-40AE-B5D4-6A64D282F0B9}"/>
              </a:ext>
            </a:extLst>
          </p:cNvPr>
          <p:cNvSpPr>
            <a:spLocks xmlns:a="http://schemas.openxmlformats.org/drawingml/2006/main" noGrp="1"/>
          </p:cNvSpPr>
          <p:nvPr/>
        </p:nvSpPr>
        <p:spPr>
          <a:xfrm xmlns:a="http://schemas.openxmlformats.org/drawingml/2006/main">
            <a:off x="571500" y="3352800"/>
            <a:ext cx="5000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01C32"/>
                </a:solidFill>
                <a:latin typeface="DejaVu Sans"/>
                <a:ea typeface="DejaVu Sans"/>
                <a:cs typeface="DejaVu Sans"/>
              </a:defRPr>
            </a:defPPr>
          </a:lstStyle>
          <a:p xmlns:a="http://schemas.openxmlformats.org/drawingml/2006/main">
            <a:pPr>
              <a:defRPr sz="2100" b="0">
                <a:solidFill>
                  <a:srgbClr val="101C32"/>
                </a:solidFill>
                <a:latin typeface="DejaVu Sans"/>
                <a:ea typeface="DejaVu Sans"/>
                <a:cs typeface="DejaVu Sans"/>
              </a:defRPr>
            </a:pPr>
            <a:r>
              <a:rPr sz="2100" b="0">
                <a:solidFill>
                  <a:srgbClr val="101C32"/>
                </a:solidFill>
                <a:latin typeface="DejaVu Sans"/>
                <a:ea typeface="DejaVu Sans"/>
                <a:cs typeface="DejaVu Sans"/>
              </a:rPr>
              <a:t>окон для обучения</a:t>
            </a:r>
          </a:p>
          <a:p xmlns:a="http://schemas.openxmlformats.org/drawingml/2006/main">
            <a:pPr>
              <a:defRPr sz="2100" b="0">
                <a:solidFill>
                  <a:srgbClr val="101C32"/>
                </a:solidFill>
                <a:latin typeface="DejaVu Sans"/>
                <a:ea typeface="DejaVu Sans"/>
                <a:cs typeface="DejaVu Sans"/>
              </a:defRPr>
            </a:pPr>
            <a:r>
              <a:rPr sz="2100" b="0">
                <a:solidFill>
                  <a:srgbClr val="101C32"/>
                </a:solidFill>
                <a:latin typeface="DejaVu Sans"/>
                <a:ea typeface="DejaVu Sans"/>
                <a:cs typeface="DejaVu Sans"/>
              </a:rPr>
              <a:t>10 нормальных + 10 SYN-flood</a:t>
            </a:r>
          </a:p>
        </p:txBody>
      </p:sp>
      <p:sp>
        <p:nvSpPr>
          <p:cNvPr id="8" name="text-65">
            <a:extLst xmlns:a="http://schemas.openxmlformats.org/drawingml/2006/main">
              <a:ext uri="{FF2B5EF4-FFF2-40B4-BE49-F238E27FC236}">
                <a16:creationId xmlns:a16="http://schemas.microsoft.com/office/drawing/2014/main" id="{6922AC15-147E-4483-856B-D760515C7D86}"/>
              </a:ext>
            </a:extLst>
          </p:cNvPr>
          <p:cNvSpPr>
            <a:spLocks xmlns:a="http://schemas.openxmlformats.org/drawingml/2006/main" noGrp="1"/>
          </p:cNvSpPr>
          <p:nvPr/>
        </p:nvSpPr>
        <p:spPr>
          <a:xfrm xmlns:a="http://schemas.openxmlformats.org/drawingml/2006/main">
            <a:off x="6381750" y="2238375"/>
            <a:ext cx="4191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6150" b="1">
                <a:solidFill>
                  <a:srgbClr val="101C32"/>
                </a:solidFill>
                <a:latin typeface="DejaVu Sans"/>
                <a:ea typeface="DejaVu Sans"/>
                <a:cs typeface="DejaVu Sans"/>
              </a:defRPr>
            </a:defPPr>
          </a:lstStyle>
          <a:p xmlns:a="http://schemas.openxmlformats.org/drawingml/2006/main">
            <a:pPr>
              <a:defRPr sz="6150" b="1">
                <a:solidFill>
                  <a:srgbClr val="101C32"/>
                </a:solidFill>
                <a:latin typeface="DejaVu Sans"/>
                <a:ea typeface="DejaVu Sans"/>
                <a:cs typeface="DejaVu Sans"/>
              </a:defRPr>
            </a:pPr>
            <a:r>
              <a:rPr sz="6150" b="1">
                <a:solidFill>
                  <a:srgbClr val="101C32"/>
                </a:solidFill>
                <a:latin typeface="DejaVu Sans"/>
                <a:ea typeface="DejaVu Sans"/>
                <a:cs typeface="DejaVu Sans"/>
              </a:rPr>
              <a:t>8</a:t>
            </a:r>
          </a:p>
        </p:txBody>
      </p:sp>
      <p:sp>
        <p:nvSpPr>
          <p:cNvPr id="9" name="text-66">
            <a:extLst xmlns:a="http://schemas.openxmlformats.org/drawingml/2006/main">
              <a:ext uri="{FF2B5EF4-FFF2-40B4-BE49-F238E27FC236}">
                <a16:creationId xmlns:a16="http://schemas.microsoft.com/office/drawing/2014/main" id="{80CE172C-05EC-4901-AB8A-FE7C6A8F6E39}"/>
              </a:ext>
            </a:extLst>
          </p:cNvPr>
          <p:cNvSpPr>
            <a:spLocks xmlns:a="http://schemas.openxmlformats.org/drawingml/2006/main" noGrp="1"/>
          </p:cNvSpPr>
          <p:nvPr/>
        </p:nvSpPr>
        <p:spPr>
          <a:xfrm xmlns:a="http://schemas.openxmlformats.org/drawingml/2006/main">
            <a:off x="6381750" y="3352800"/>
            <a:ext cx="5238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01C32"/>
                </a:solidFill>
                <a:latin typeface="DejaVu Sans"/>
                <a:ea typeface="DejaVu Sans"/>
                <a:cs typeface="DejaVu Sans"/>
              </a:defRPr>
            </a:defPPr>
          </a:lstStyle>
          <a:p xmlns:a="http://schemas.openxmlformats.org/drawingml/2006/main">
            <a:pPr>
              <a:defRPr sz="2100" b="0">
                <a:solidFill>
                  <a:srgbClr val="101C32"/>
                </a:solidFill>
                <a:latin typeface="DejaVu Sans"/>
                <a:ea typeface="DejaVu Sans"/>
                <a:cs typeface="DejaVu Sans"/>
              </a:defRPr>
            </a:pPr>
            <a:r>
              <a:rPr sz="2100" b="0">
                <a:solidFill>
                  <a:srgbClr val="101C32"/>
                </a:solidFill>
                <a:latin typeface="DejaVu Sans"/>
                <a:ea typeface="DejaVu Sans"/>
                <a:cs typeface="DejaVu Sans"/>
              </a:rPr>
              <a:t>отдельных проверочных окон</a:t>
            </a:r>
          </a:p>
          <a:p xmlns:a="http://schemas.openxmlformats.org/drawingml/2006/main">
            <a:pPr>
              <a:defRPr sz="2100" b="0">
                <a:solidFill>
                  <a:srgbClr val="101C32"/>
                </a:solidFill>
                <a:latin typeface="DejaVu Sans"/>
                <a:ea typeface="DejaVu Sans"/>
                <a:cs typeface="DejaVu Sans"/>
              </a:defRPr>
            </a:pPr>
            <a:r>
              <a:rPr sz="2100" b="0">
                <a:solidFill>
                  <a:srgbClr val="101C32"/>
                </a:solidFill>
                <a:latin typeface="DejaVu Sans"/>
                <a:ea typeface="DejaVu Sans"/>
                <a:cs typeface="DejaVu Sans"/>
              </a:rPr>
              <a:t>Есть типичные случаи и ошибки</a:t>
            </a:r>
          </a:p>
        </p:txBody>
      </p:sp>
      <p:sp>
        <p:nvSpPr>
          <p:cNvPr id="10" name="text-67">
            <a:extLst xmlns:a="http://schemas.openxmlformats.org/drawingml/2006/main">
              <a:ext uri="{FF2B5EF4-FFF2-40B4-BE49-F238E27FC236}">
                <a16:creationId xmlns:a16="http://schemas.microsoft.com/office/drawing/2014/main" id="{7D6FC739-27DD-4083-BA2A-749E8C41BD5A}"/>
              </a:ext>
            </a:extLst>
          </p:cNvPr>
          <p:cNvSpPr>
            <a:spLocks xmlns:a="http://schemas.openxmlformats.org/drawingml/2006/main" noGrp="1"/>
          </p:cNvSpPr>
          <p:nvPr/>
        </p:nvSpPr>
        <p:spPr>
          <a:xfrm xmlns:a="http://schemas.openxmlformats.org/drawingml/2006/main">
            <a:off x="571500" y="4714875"/>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101C32"/>
                </a:solidFill>
                <a:latin typeface="DejaVu Sans"/>
                <a:ea typeface="DejaVu Sans"/>
                <a:cs typeface="DejaVu Sans"/>
              </a:defRPr>
            </a:defPPr>
          </a:lstStyle>
          <a:p xmlns:a="http://schemas.openxmlformats.org/drawingml/2006/main">
            <a:pPr>
              <a:defRPr sz="2175" b="1">
                <a:solidFill>
                  <a:srgbClr val="101C32"/>
                </a:solidFill>
                <a:latin typeface="DejaVu Sans"/>
                <a:ea typeface="DejaVu Sans"/>
                <a:cs typeface="DejaVu Sans"/>
              </a:defRPr>
            </a:pPr>
            <a:r>
              <a:rPr sz="2175" b="1">
                <a:solidFill>
                  <a:srgbClr val="101C32"/>
                </a:solidFill>
                <a:latin typeface="DejaVu Sans"/>
                <a:ea typeface="DejaVu Sans"/>
                <a:cs typeface="DejaVu Sans"/>
              </a:rPr>
              <a:t>Данные придуманы для объяснения метода. Реальная атака не запускается.</a:t>
            </a:r>
          </a:p>
        </p:txBody>
      </p:sp>
      <p:sp>
        <p:nvSpPr>
          <p:cNvPr id="11" name="">
            <a:extLst xmlns:a="http://schemas.openxmlformats.org/drawingml/2006/main">
              <a:ext uri="{FF2B5EF4-FFF2-40B4-BE49-F238E27FC236}">
                <a16:creationId xmlns:a16="http://schemas.microsoft.com/office/drawing/2014/main" id="{BD7E7BD5-52FC-45B1-8736-D1510E659611}"/>
              </a:ext>
            </a:extLst>
          </p:cNvPr>
          <p:cNvSpPr>
            <a:spLocks xmlns:a="http://schemas.openxmlformats.org/drawingml/2006/main" noGrp="1"/>
          </p:cNvSpPr>
          <p:nvPr/>
        </p:nvSpPr>
        <p:spPr>
          <a:xfrm xmlns:a="http://schemas.openxmlformats.org/drawingml/2006/main">
            <a:off x="571500" y="5514975"/>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12" name="text-68">
            <a:extLst xmlns:a="http://schemas.openxmlformats.org/drawingml/2006/main">
              <a:ext uri="{FF2B5EF4-FFF2-40B4-BE49-F238E27FC236}">
                <a16:creationId xmlns:a16="http://schemas.microsoft.com/office/drawing/2014/main" id="{DFB20E0D-3718-4FCC-8A16-472E8A2C73B6}"/>
              </a:ext>
            </a:extLst>
          </p:cNvPr>
          <p:cNvSpPr>
            <a:spLocks xmlns:a="http://schemas.openxmlformats.org/drawingml/2006/main" noGrp="1"/>
          </p:cNvSpPr>
          <p:nvPr/>
        </p:nvSpPr>
        <p:spPr>
          <a:xfrm xmlns:a="http://schemas.openxmlformats.org/drawingml/2006/main">
            <a:off x="571500" y="5676900"/>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Эти восемь примеров не доказывают качество детектора на реальной сети</a:t>
            </a:r>
          </a:p>
        </p:txBody>
      </p:sp>
    </p:spTree>
    <p:extLst>
      <p:ext uri="{BB962C8B-B14F-4D97-AF65-F5344CB8AC3E}">
        <p14:creationId xmlns:p14="http://schemas.microsoft.com/office/powerpoint/2010/main" val="1470315522"/>
      </p:ext>
    </p:extLst>
  </p:cSld>
</p:sld>
</file>

<file path=ppt/slides/slide9.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0" name="text-69">
            <a:extLst xmlns:a="http://schemas.openxmlformats.org/drawingml/2006/main">
              <a:ext uri="{FF2B5EF4-FFF2-40B4-BE49-F238E27FC236}">
                <a16:creationId xmlns:a16="http://schemas.microsoft.com/office/drawing/2014/main" id="{9D3B7D53-2F94-4C5B-AB22-3A7291A71E79}"/>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Шаг 1. Выбираем эталоны</a:t>
            </a:r>
          </a:p>
        </p:txBody>
      </p:sp>
      <p:sp>
        <p:nvSpPr>
          <p:cNvPr id="2" name="text-70">
            <a:extLst xmlns:a="http://schemas.openxmlformats.org/drawingml/2006/main">
              <a:ext uri="{FF2B5EF4-FFF2-40B4-BE49-F238E27FC236}">
                <a16:creationId xmlns:a16="http://schemas.microsoft.com/office/drawing/2014/main" id="{5A62A72C-3EBF-4B0A-BA45-ACE744FFD44A}"/>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Медоиды найдены кодом по 20 обучающим объектам</a:t>
            </a:r>
          </a:p>
        </p:txBody>
      </p:sp>
      <p:sp>
        <p:nvSpPr>
          <p:cNvPr id="3" name="">
            <a:extLst xmlns:a="http://schemas.openxmlformats.org/drawingml/2006/main">
              <a:ext uri="{FF2B5EF4-FFF2-40B4-BE49-F238E27FC236}">
                <a16:creationId xmlns:a16="http://schemas.microsoft.com/office/drawing/2014/main" id="{87FCE991-9D0B-4161-9069-B113ECD05BF0}"/>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71">
            <a:extLst xmlns:a="http://schemas.openxmlformats.org/drawingml/2006/main">
              <a:ext uri="{FF2B5EF4-FFF2-40B4-BE49-F238E27FC236}">
                <a16:creationId xmlns:a16="http://schemas.microsoft.com/office/drawing/2014/main" id="{7D0BEBF6-D1A3-4447-9D3F-1C57A39A7549}"/>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  Задание · [3]; собственный расчёт</a:t>
            </a:r>
          </a:p>
        </p:txBody>
      </p:sp>
      <p:sp>
        <p:nvSpPr>
          <p:cNvPr id="5" name="text-72">
            <a:extLst xmlns:a="http://schemas.openxmlformats.org/drawingml/2006/main">
              <a:ext uri="{FF2B5EF4-FFF2-40B4-BE49-F238E27FC236}">
                <a16:creationId xmlns:a16="http://schemas.microsoft.com/office/drawing/2014/main" id="{C1FA58C9-7FC4-4AE8-B0FC-D4FF4BE8CE72}"/>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09</a:t>
            </a:r>
          </a:p>
        </p:txBody>
      </p:sp>
      <p:graphicFrame>
        <p:nvGraphicFramePr>
          <p:cNvPr id="6" name="">
            <a:extLst xmlns:a="http://schemas.openxmlformats.org/drawingml/2006/main">
              <a:ext uri="{FF2B5EF4-FFF2-40B4-BE49-F238E27FC236}">
                <a16:creationId xmlns:a16="http://schemas.microsoft.com/office/drawing/2014/main" id="{42E5011E-8ADE-4EE9-8CDB-264E6BC80E0F}"/>
              </a:ext>
            </a:extLst>
          </p:cNvPr>
          <p:cNvGraphicFramePr/>
          <p:nvPr/>
        </p:nvGraphicFramePr>
        <p:xfrm>
          <a:off xmlns:a="http://schemas.openxmlformats.org/drawingml/2006/main" x="571500" y="2266950"/>
          <a:ext xmlns:a="http://schemas.openxmlformats.org/drawingml/2006/main" cx="11049000" cy="1962150"/>
        </p:xfrm>
        <a:graphic xmlns:a="http://schemas.openxmlformats.org/drawingml/2006/main">
          <a:graphicData uri="http://schemas.openxmlformats.org/drawingml/2006/table">
            <a:tbl>
              <a:tblPr/>
              <a:tblGrid>
                <a:gridCol w="3683000"/>
                <a:gridCol w="1841500"/>
                <a:gridCol w="2762250"/>
                <a:gridCol w="2762250"/>
              </a:tblGrid>
              <a:tr h="654050">
                <a:tc>
                  <a:txBody>
                    <a:bodyPr lIns="114300" tIns="95250" rIns="95250" bIns="76200"/>
                    <a:lstStyle/>
                    <a:p>
                      <a:r>
                        <a:rPr sz="2025" b="1">
                          <a:solidFill>
                            <a:srgbClr val="FFFFFF"/>
                          </a:solidFill>
                          <a:latin typeface="DejaVu Sans"/>
                          <a:ea typeface="DejaVu Sans"/>
                          <a:cs typeface="DejaVu Sans"/>
                        </a:rPr>
                        <a:t>Класс</a:t>
                      </a:r>
                    </a:p>
                  </a:txBody>
                  <a:tcPr marL="91440" marR="91440" marT="45720" marB="45720" anchor="ctr">
                    <a:solidFill>
                      <a:srgbClr val="101C32"/>
                    </a:solidFill>
                  </a:tcPr>
                </a:tc>
                <a:tc>
                  <a:txBody>
                    <a:bodyPr lIns="114300" tIns="95250" rIns="95250" bIns="76200"/>
                    <a:lstStyle/>
                    <a:p>
                      <a:r>
                        <a:rPr sz="2025" b="1">
                          <a:solidFill>
                            <a:srgbClr val="FFFFFF"/>
                          </a:solidFill>
                          <a:latin typeface="DejaVu Sans"/>
                          <a:ea typeface="DejaVu Sans"/>
                          <a:cs typeface="DejaVu Sans"/>
                        </a:rPr>
                        <a:t>Окно</a:t>
                      </a:r>
                    </a:p>
                  </a:txBody>
                  <a:tcPr marL="91440" marR="91440" marT="45720" marB="45720" anchor="ctr">
                    <a:solidFill>
                      <a:srgbClr val="101C32"/>
                    </a:solidFill>
                  </a:tcPr>
                </a:tc>
                <a:tc>
                  <a:txBody>
                    <a:bodyPr lIns="114300" tIns="95250" rIns="95250" bIns="76200"/>
                    <a:lstStyle/>
                    <a:p>
                      <a:r>
                        <a:rPr sz="2025" b="1">
                          <a:solidFill>
                            <a:srgbClr val="FFFFFF"/>
                          </a:solidFill>
                          <a:latin typeface="DejaVu Sans"/>
                          <a:ea typeface="DejaVu Sans"/>
                          <a:cs typeface="DejaVu Sans"/>
                        </a:rPr>
                        <a:t>Входящие SYN/с</a:t>
                      </a:r>
                    </a:p>
                  </a:txBody>
                  <a:tcPr marL="91440" marR="91440" marT="45720" marB="45720" anchor="ctr">
                    <a:solidFill>
                      <a:srgbClr val="101C32"/>
                    </a:solidFill>
                  </a:tcPr>
                </a:tc>
                <a:tc>
                  <a:txBody>
                    <a:bodyPr lIns="114300" tIns="95250" rIns="95250" bIns="76200"/>
                    <a:lstStyle/>
                    <a:p>
                      <a:r>
                        <a:rPr sz="2025" b="1">
                          <a:solidFill>
                            <a:srgbClr val="FFFFFF"/>
                          </a:solidFill>
                          <a:latin typeface="DejaVu Sans"/>
                          <a:ea typeface="DejaVu Sans"/>
                          <a:cs typeface="DejaVu Sans"/>
                        </a:rPr>
                        <a:t>Не завершены</a:t>
                      </a:r>
                    </a:p>
                  </a:txBody>
                  <a:tcPr marL="91440" marR="91440" marT="45720" marB="45720" anchor="ctr">
                    <a:solidFill>
                      <a:srgbClr val="101C32"/>
                    </a:solidFill>
                  </a:tcPr>
                </a:tc>
              </a:tr>
              <a:tr h="654050">
                <a:tc>
                  <a:txBody>
                    <a:bodyPr lIns="114300" tIns="95250" rIns="95250" bIns="76200"/>
                    <a:lstStyle/>
                    <a:p>
                      <a:r>
                        <a:rPr sz="2025" b="0">
                          <a:solidFill>
                            <a:srgbClr val="101C32"/>
                          </a:solidFill>
                          <a:latin typeface="DejaVu Sans"/>
                          <a:ea typeface="DejaVu Sans"/>
                          <a:cs typeface="DejaVu Sans"/>
                        </a:rPr>
                        <a:t>Нормальный трафик</a:t>
                      </a:r>
                    </a:p>
                  </a:txBody>
                  <a:tcPr marL="91440" marR="91440" marT="45720" marB="45720" anchor="ctr">
                    <a:solidFill>
                      <a:srgbClr val="FFFFFF"/>
                    </a:solidFill>
                  </a:tcPr>
                </a:tc>
                <a:tc>
                  <a:txBody>
                    <a:bodyPr lIns="114300" tIns="95250" rIns="95250" bIns="76200"/>
                    <a:lstStyle/>
                    <a:p>
                      <a:r>
                        <a:rPr sz="2025" b="0">
                          <a:solidFill>
                            <a:srgbClr val="101C32"/>
                          </a:solidFill>
                          <a:latin typeface="DejaVu Sans"/>
                          <a:ea typeface="DejaVu Sans"/>
                          <a:cs typeface="DejaVu Sans"/>
                        </a:rPr>
                        <a:t>N05</a:t>
                      </a:r>
                    </a:p>
                  </a:txBody>
                  <a:tcPr marL="91440" marR="91440" marT="45720" marB="45720" anchor="ctr">
                    <a:solidFill>
                      <a:srgbClr val="FFFFFF"/>
                    </a:solidFill>
                  </a:tcPr>
                </a:tc>
                <a:tc>
                  <a:txBody>
                    <a:bodyPr lIns="114300" tIns="95250" rIns="95250" bIns="76200"/>
                    <a:lstStyle/>
                    <a:p>
                      <a:r>
                        <a:rPr sz="2025" b="0">
                          <a:solidFill>
                            <a:srgbClr val="101C32"/>
                          </a:solidFill>
                          <a:latin typeface="DejaVu Sans"/>
                          <a:ea typeface="DejaVu Sans"/>
                          <a:cs typeface="DejaVu Sans"/>
                        </a:rPr>
                        <a:t>600</a:t>
                      </a:r>
                    </a:p>
                  </a:txBody>
                  <a:tcPr marL="91440" marR="91440" marT="45720" marB="45720" anchor="ctr">
                    <a:solidFill>
                      <a:srgbClr val="FFFFFF"/>
                    </a:solidFill>
                  </a:tcPr>
                </a:tc>
                <a:tc>
                  <a:txBody>
                    <a:bodyPr lIns="114300" tIns="95250" rIns="95250" bIns="76200"/>
                    <a:lstStyle/>
                    <a:p>
                      <a:r>
                        <a:rPr sz="2025" b="0">
                          <a:solidFill>
                            <a:srgbClr val="101C32"/>
                          </a:solidFill>
                          <a:latin typeface="DejaVu Sans"/>
                          <a:ea typeface="DejaVu Sans"/>
                          <a:cs typeface="DejaVu Sans"/>
                        </a:rPr>
                        <a:t>15%</a:t>
                      </a:r>
                    </a:p>
                  </a:txBody>
                  <a:tcPr marL="91440" marR="91440" marT="45720" marB="45720" anchor="ctr">
                    <a:solidFill>
                      <a:srgbClr val="FFFFFF"/>
                    </a:solidFill>
                  </a:tcPr>
                </a:tc>
              </a:tr>
              <a:tr h="654050">
                <a:tc>
                  <a:txBody>
                    <a:bodyPr lIns="114300" tIns="95250" rIns="95250" bIns="76200"/>
                    <a:lstStyle/>
                    <a:p>
                      <a:r>
                        <a:rPr sz="2025" b="0">
                          <a:solidFill>
                            <a:srgbClr val="101C32"/>
                          </a:solidFill>
                          <a:latin typeface="DejaVu Sans"/>
                          <a:ea typeface="DejaVu Sans"/>
                          <a:cs typeface="DejaVu Sans"/>
                        </a:rPr>
                        <a:t>SYN-flood</a:t>
                      </a:r>
                    </a:p>
                  </a:txBody>
                  <a:tcPr marL="91440" marR="91440" marT="45720" marB="45720" anchor="ctr">
                    <a:solidFill>
                      <a:srgbClr val="EAF0F4"/>
                    </a:solidFill>
                  </a:tcPr>
                </a:tc>
                <a:tc>
                  <a:txBody>
                    <a:bodyPr lIns="114300" tIns="95250" rIns="95250" bIns="76200"/>
                    <a:lstStyle/>
                    <a:p>
                      <a:r>
                        <a:rPr sz="2025" b="0">
                          <a:solidFill>
                            <a:srgbClr val="101C32"/>
                          </a:solidFill>
                          <a:latin typeface="DejaVu Sans"/>
                          <a:ea typeface="DejaVu Sans"/>
                          <a:cs typeface="DejaVu Sans"/>
                        </a:rPr>
                        <a:t>A06</a:t>
                      </a:r>
                    </a:p>
                  </a:txBody>
                  <a:tcPr marL="91440" marR="91440" marT="45720" marB="45720" anchor="ctr">
                    <a:solidFill>
                      <a:srgbClr val="EAF0F4"/>
                    </a:solidFill>
                  </a:tcPr>
                </a:tc>
                <a:tc>
                  <a:txBody>
                    <a:bodyPr lIns="114300" tIns="95250" rIns="95250" bIns="76200"/>
                    <a:lstStyle/>
                    <a:p>
                      <a:r>
                        <a:rPr sz="2025" b="0">
                          <a:solidFill>
                            <a:srgbClr val="101C32"/>
                          </a:solidFill>
                          <a:latin typeface="DejaVu Sans"/>
                          <a:ea typeface="DejaVu Sans"/>
                          <a:cs typeface="DejaVu Sans"/>
                        </a:rPr>
                        <a:t>1300</a:t>
                      </a:r>
                    </a:p>
                  </a:txBody>
                  <a:tcPr marL="91440" marR="91440" marT="45720" marB="45720" anchor="ctr">
                    <a:solidFill>
                      <a:srgbClr val="EAF0F4"/>
                    </a:solidFill>
                  </a:tcPr>
                </a:tc>
                <a:tc>
                  <a:txBody>
                    <a:bodyPr lIns="114300" tIns="95250" rIns="95250" bIns="76200"/>
                    <a:lstStyle/>
                    <a:p>
                      <a:r>
                        <a:rPr sz="2025" b="0">
                          <a:solidFill>
                            <a:srgbClr val="101C32"/>
                          </a:solidFill>
                          <a:latin typeface="DejaVu Sans"/>
                          <a:ea typeface="DejaVu Sans"/>
                          <a:cs typeface="DejaVu Sans"/>
                        </a:rPr>
                        <a:t>65%</a:t>
                      </a:r>
                    </a:p>
                  </a:txBody>
                  <a:tcPr marL="91440" marR="91440" marT="45720" marB="45720" anchor="ctr">
                    <a:solidFill>
                      <a:srgbClr val="EAF0F4"/>
                    </a:solidFill>
                  </a:tcPr>
                </a:tc>
              </a:tr>
            </a:tbl>
          </a:graphicData>
        </a:graphic>
      </p:graphicFrame>
      <p:sp>
        <p:nvSpPr>
          <p:cNvPr id="7" name="text-73">
            <a:extLst xmlns:a="http://schemas.openxmlformats.org/drawingml/2006/main">
              <a:ext uri="{FF2B5EF4-FFF2-40B4-BE49-F238E27FC236}">
                <a16:creationId xmlns:a16="http://schemas.microsoft.com/office/drawing/2014/main" id="{1F779B53-EFBB-4290-AF25-E24BF4F62278}"/>
              </a:ext>
            </a:extLst>
          </p:cNvPr>
          <p:cNvSpPr>
            <a:spLocks xmlns:a="http://schemas.openxmlformats.org/drawingml/2006/main" noGrp="1"/>
          </p:cNvSpPr>
          <p:nvPr/>
        </p:nvSpPr>
        <p:spPr>
          <a:xfrm xmlns:a="http://schemas.openxmlformats.org/drawingml/2006/main">
            <a:off x="571500" y="4600575"/>
            <a:ext cx="1104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101C32"/>
                </a:solidFill>
                <a:latin typeface="DejaVu Sans"/>
                <a:ea typeface="DejaVu Sans"/>
                <a:cs typeface="DejaVu Sans"/>
              </a:defRPr>
            </a:defPPr>
          </a:lstStyle>
          <a:p xmlns:a="http://schemas.openxmlformats.org/drawingml/2006/main">
            <a:pPr>
              <a:defRPr sz="2175" b="0">
                <a:solidFill>
                  <a:srgbClr val="101C32"/>
                </a:solidFill>
                <a:latin typeface="DejaVu Sans"/>
                <a:ea typeface="DejaVu Sans"/>
                <a:cs typeface="DejaVu Sans"/>
              </a:defRPr>
            </a:pPr>
            <a:r>
              <a:rPr sz="2175" b="0">
                <a:solidFill>
                  <a:srgbClr val="101C32"/>
                </a:solidFill>
                <a:latin typeface="DejaVu Sans"/>
                <a:ea typeface="DejaVu Sans"/>
                <a:cs typeface="DejaVu Sans"/>
              </a:rPr>
              <a:t>Код сравнивает окна внутри каждого класса и выбирает</a:t>
            </a:r>
          </a:p>
          <a:p xmlns:a="http://schemas.openxmlformats.org/drawingml/2006/main">
            <a:pPr>
              <a:defRPr sz="2175" b="0">
                <a:solidFill>
                  <a:srgbClr val="101C32"/>
                </a:solidFill>
                <a:latin typeface="DejaVu Sans"/>
                <a:ea typeface="DejaVu Sans"/>
                <a:cs typeface="DejaVu Sans"/>
              </a:defRPr>
            </a:pPr>
            <a:r>
              <a:rPr sz="2175" b="0">
                <a:solidFill>
                  <a:srgbClr val="101C32"/>
                </a:solidFill>
                <a:latin typeface="DejaVu Sans"/>
                <a:ea typeface="DejaVu Sans"/>
                <a:cs typeface="DejaVu Sans"/>
              </a:rPr>
              <a:t>представителя с наименьшей суммой расстояний.</a:t>
            </a:r>
          </a:p>
        </p:txBody>
      </p:sp>
      <p:sp>
        <p:nvSpPr>
          <p:cNvPr id="8" name="">
            <a:extLst xmlns:a="http://schemas.openxmlformats.org/drawingml/2006/main">
              <a:ext uri="{FF2B5EF4-FFF2-40B4-BE49-F238E27FC236}">
                <a16:creationId xmlns:a16="http://schemas.microsoft.com/office/drawing/2014/main" id="{8A9B25FC-9AD7-4E82-AFEE-71605079F74E}"/>
              </a:ext>
            </a:extLst>
          </p:cNvPr>
          <p:cNvSpPr>
            <a:spLocks xmlns:a="http://schemas.openxmlformats.org/drawingml/2006/main" noGrp="1"/>
          </p:cNvSpPr>
          <p:nvPr/>
        </p:nvSpPr>
        <p:spPr>
          <a:xfrm xmlns:a="http://schemas.openxmlformats.org/drawingml/2006/main">
            <a:off x="571500" y="5514975"/>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9" name="text-74">
            <a:extLst xmlns:a="http://schemas.openxmlformats.org/drawingml/2006/main">
              <a:ext uri="{FF2B5EF4-FFF2-40B4-BE49-F238E27FC236}">
                <a16:creationId xmlns:a16="http://schemas.microsoft.com/office/drawing/2014/main" id="{199AFDCC-B212-43E4-AFCC-BF53AA3ED141}"/>
              </a:ext>
            </a:extLst>
          </p:cNvPr>
          <p:cNvSpPr>
            <a:spLocks xmlns:a="http://schemas.openxmlformats.org/drawingml/2006/main" noGrp="1"/>
          </p:cNvSpPr>
          <p:nvPr/>
        </p:nvSpPr>
        <p:spPr>
          <a:xfrm xmlns:a="http://schemas.openxmlformats.org/drawingml/2006/main">
            <a:off x="571500" y="5676900"/>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Эталоны выбираем на обучении. Проверочные окна в этот выбор не попадают</a:t>
            </a:r>
          </a:p>
        </p:txBody>
      </p:sp>
    </p:spTree>
    <p:extLst>
      <p:ext uri="{BB962C8B-B14F-4D97-AF65-F5344CB8AC3E}">
        <p14:creationId xmlns:p14="http://schemas.microsoft.com/office/powerpoint/2010/main" val="1005836256"/>
      </p:ext>
    </p:extLst>
  </p:cSld>
</p:sld>
</file>

<file path=ppt/slides/slide10.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0" name="text-75">
            <a:extLst xmlns:a="http://schemas.openxmlformats.org/drawingml/2006/main">
              <a:ext uri="{FF2B5EF4-FFF2-40B4-BE49-F238E27FC236}">
                <a16:creationId xmlns:a16="http://schemas.microsoft.com/office/drawing/2014/main" id="{38402DD7-0DE9-45A3-A1B9-83502166174A}"/>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Шаг 2. Обучаем SVM в Google Colab</a:t>
            </a:r>
          </a:p>
        </p:txBody>
      </p:sp>
      <p:sp>
        <p:nvSpPr>
          <p:cNvPr id="2" name="text-76">
            <a:extLst xmlns:a="http://schemas.openxmlformats.org/drawingml/2006/main">
              <a:ext uri="{FF2B5EF4-FFF2-40B4-BE49-F238E27FC236}">
                <a16:creationId xmlns:a16="http://schemas.microsoft.com/office/drawing/2014/main" id="{358720A5-488F-4C33-A4BF-788DA8AC5A53}"/>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Открываем ноутбук → выбираем «Выполнить все» → читаем таблицы</a:t>
            </a:r>
          </a:p>
        </p:txBody>
      </p:sp>
      <p:sp>
        <p:nvSpPr>
          <p:cNvPr id="3" name="">
            <a:extLst xmlns:a="http://schemas.openxmlformats.org/drawingml/2006/main">
              <a:ext uri="{FF2B5EF4-FFF2-40B4-BE49-F238E27FC236}">
                <a16:creationId xmlns:a16="http://schemas.microsoft.com/office/drawing/2014/main" id="{B4EB48CB-7359-460E-B2CC-37EA0ACBA7EC}"/>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77">
            <a:extLst xmlns:a="http://schemas.openxmlformats.org/drawingml/2006/main">
              <a:ext uri="{FF2B5EF4-FFF2-40B4-BE49-F238E27FC236}">
                <a16:creationId xmlns:a16="http://schemas.microsoft.com/office/drawing/2014/main" id="{79F94FC1-F1AD-4401-9BC3-0B135ACE84F1}"/>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  Задание · реализация [5]</a:t>
            </a:r>
          </a:p>
        </p:txBody>
      </p:sp>
      <p:sp>
        <p:nvSpPr>
          <p:cNvPr id="5" name="text-78">
            <a:extLst xmlns:a="http://schemas.openxmlformats.org/drawingml/2006/main">
              <a:ext uri="{FF2B5EF4-FFF2-40B4-BE49-F238E27FC236}">
                <a16:creationId xmlns:a16="http://schemas.microsoft.com/office/drawing/2014/main" id="{E78514E4-0309-4A32-BC79-26BB8E477DCD}"/>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10</a:t>
            </a:r>
          </a:p>
        </p:txBody>
      </p:sp>
      <p:sp>
        <p:nvSpPr>
          <p:cNvPr id="6" name="text-79">
            <a:extLst xmlns:a="http://schemas.openxmlformats.org/drawingml/2006/main">
              <a:ext uri="{FF2B5EF4-FFF2-40B4-BE49-F238E27FC236}">
                <a16:creationId xmlns:a16="http://schemas.microsoft.com/office/drawing/2014/main" id="{245F9491-2AA6-423E-82DC-3B4D138BA432}"/>
              </a:ext>
            </a:extLst>
          </p:cNvPr>
          <p:cNvSpPr>
            <a:spLocks xmlns:a="http://schemas.openxmlformats.org/drawingml/2006/main" noGrp="1"/>
          </p:cNvSpPr>
          <p:nvPr/>
        </p:nvSpPr>
        <p:spPr>
          <a:xfrm xmlns:a="http://schemas.openxmlformats.org/drawingml/2006/main">
            <a:off x="571500" y="2219325"/>
            <a:ext cx="11049000"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01C32"/>
                </a:solidFill>
                <a:latin typeface="DejaVu Sans Mono"/>
                <a:ea typeface="DejaVu Sans Mono"/>
                <a:cs typeface="DejaVu Sans Mono"/>
              </a:defRPr>
            </a:defPPr>
          </a:lstStyle>
          <a:p xmlns:a="http://schemas.openxmlformats.org/drawingml/2006/main">
            <a:pPr>
              <a:defRPr sz="1800" b="0">
                <a:solidFill>
                  <a:srgbClr val="101C32"/>
                </a:solidFill>
                <a:latin typeface="DejaVu Sans Mono"/>
                <a:ea typeface="DejaVu Sans Mono"/>
                <a:cs typeface="DejaVu Sans Mono"/>
              </a:defRPr>
            </a:pPr>
            <a:r>
              <a:rPr sz="1800" b="0">
                <a:solidFill>
                  <a:srgbClr val="101C32"/>
                </a:solidFill>
                <a:latin typeface="DejaVu Sans Mono"/>
                <a:ea typeface="DejaVu Sans Mono"/>
                <a:cs typeface="DejaVu Sans Mono"/>
              </a:rPr>
              <a:t>model = SVC(kernel="linear", C=1, tol=1e-10, shrinking=False)</a:t>
            </a:r>
          </a:p>
          <a:p xmlns:a="http://schemas.openxmlformats.org/drawingml/2006/main">
            <a:pPr>
              <a:defRPr sz="1800" b="0">
                <a:solidFill>
                  <a:srgbClr val="101C32"/>
                </a:solidFill>
                <a:latin typeface="DejaVu Sans Mono"/>
                <a:ea typeface="DejaVu Sans Mono"/>
                <a:cs typeface="DejaVu Sans Mono"/>
              </a:defRPr>
            </a:pPr>
            <a:r>
              <a:rPr sz="1800" b="0">
                <a:solidFill>
                  <a:srgbClr val="101C32"/>
                </a:solidFill>
                <a:latin typeface="DejaVu Sans Mono"/>
                <a:ea typeface="DejaVu Sans Mono"/>
                <a:cs typeface="DejaVu Sans Mono"/>
              </a:rPr>
              <a:t>model.fit(X_train, y_train)</a:t>
            </a:r>
          </a:p>
          <a:p xmlns:a="http://schemas.openxmlformats.org/drawingml/2006/main">
            <a:pPr>
              <a:defRPr sz="1800" b="0">
                <a:solidFill>
                  <a:srgbClr val="101C32"/>
                </a:solidFill>
                <a:latin typeface="DejaVu Sans Mono"/>
                <a:ea typeface="DejaVu Sans Mono"/>
                <a:cs typeface="DejaVu Sans Mono"/>
              </a:defRPr>
            </a:pPr>
            <a:r>
              <a:rPr sz="1800" b="0">
                <a:solidFill>
                  <a:srgbClr val="101C32"/>
                </a:solidFill>
                <a:latin typeface="DejaVu Sans Mono"/>
                <a:ea typeface="DejaVu Sans Mono"/>
                <a:cs typeface="DejaVu Sans Mono"/>
              </a:rPr>
              <a:t>f = model.decision_function(X_check)</a:t>
            </a:r>
          </a:p>
          <a:p xmlns:a="http://schemas.openxmlformats.org/drawingml/2006/main">
            <a:pPr>
              <a:defRPr sz="1800" b="0">
                <a:solidFill>
                  <a:srgbClr val="101C32"/>
                </a:solidFill>
                <a:latin typeface="DejaVu Sans Mono"/>
                <a:ea typeface="DejaVu Sans Mono"/>
                <a:cs typeface="DejaVu Sans Mono"/>
              </a:defRPr>
            </a:pPr>
            <a:r>
              <a:rPr sz="1800" b="0">
                <a:solidFill>
                  <a:srgbClr val="101C32"/>
                </a:solidFill>
                <a:latin typeface="DejaVu Sans Mono"/>
                <a:ea typeface="DejaVu Sans Mono"/>
                <a:cs typeface="DejaVu Sans Mono"/>
              </a:rPr>
              <a:t>distance = np.abs(f) / np.linalg.norm(model.coef_)</a:t>
            </a:r>
          </a:p>
        </p:txBody>
      </p:sp>
      <p:sp>
        <p:nvSpPr>
          <p:cNvPr id="7" name="text-80">
            <a:extLst xmlns:a="http://schemas.openxmlformats.org/drawingml/2006/main">
              <a:ext uri="{FF2B5EF4-FFF2-40B4-BE49-F238E27FC236}">
                <a16:creationId xmlns:a16="http://schemas.microsoft.com/office/drawing/2014/main" id="{FB2264D2-32C4-43F5-942C-02BD808F322B}"/>
              </a:ext>
            </a:extLst>
          </p:cNvPr>
          <p:cNvSpPr>
            <a:spLocks xmlns:a="http://schemas.openxmlformats.org/drawingml/2006/main" noGrp="1"/>
          </p:cNvSpPr>
          <p:nvPr/>
        </p:nvSpPr>
        <p:spPr>
          <a:xfrm xmlns:a="http://schemas.openxmlformats.org/drawingml/2006/main">
            <a:off x="571500" y="4543425"/>
            <a:ext cx="11049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01C32"/>
                </a:solidFill>
                <a:latin typeface="DejaVu Sans"/>
                <a:ea typeface="DejaVu Sans"/>
                <a:cs typeface="DejaVu Sans"/>
              </a:defRPr>
            </a:defPPr>
          </a:lstStyle>
          <a:p xmlns:a="http://schemas.openxmlformats.org/drawingml/2006/main">
            <a:pPr>
              <a:defRPr sz="2100" b="0">
                <a:solidFill>
                  <a:srgbClr val="101C32"/>
                </a:solidFill>
                <a:latin typeface="DejaVu Sans"/>
                <a:ea typeface="DejaVu Sans"/>
                <a:cs typeface="DejaVu Sans"/>
              </a:defRPr>
            </a:pPr>
            <a:r>
              <a:rPr sz="2100" b="0">
                <a:solidFill>
                  <a:srgbClr val="101C32"/>
                </a:solidFill>
                <a:latin typeface="DejaVu Sans"/>
                <a:ea typeface="DejaVu Sans"/>
                <a:cs typeface="DejaVu Sans"/>
              </a:rPr>
              <a:t>distance — расстояние до границы. Меньше значение → ближе</a:t>
            </a:r>
          </a:p>
          <a:p xmlns:a="http://schemas.openxmlformats.org/drawingml/2006/main">
            <a:pPr>
              <a:defRPr sz="2100" b="0">
                <a:solidFill>
                  <a:srgbClr val="101C32"/>
                </a:solidFill>
                <a:latin typeface="DejaVu Sans"/>
                <a:ea typeface="DejaVu Sans"/>
                <a:cs typeface="DejaVu Sans"/>
              </a:defRPr>
            </a:pPr>
            <a:r>
              <a:rPr sz="2100" b="0">
                <a:solidFill>
                  <a:srgbClr val="101C32"/>
                </a:solidFill>
                <a:latin typeface="DejaVu Sans"/>
                <a:ea typeface="DejaVu Sans"/>
                <a:cs typeface="DejaVu Sans"/>
              </a:rPr>
              <a:t>смена текущего ответа при изменении измерений.</a:t>
            </a:r>
          </a:p>
        </p:txBody>
      </p:sp>
      <p:sp>
        <p:nvSpPr>
          <p:cNvPr id="8" name="">
            <a:extLst xmlns:a="http://schemas.openxmlformats.org/drawingml/2006/main">
              <a:ext uri="{FF2B5EF4-FFF2-40B4-BE49-F238E27FC236}">
                <a16:creationId xmlns:a16="http://schemas.microsoft.com/office/drawing/2014/main" id="{F3784300-33EC-48A4-B618-BDBCBF5B8A16}"/>
              </a:ext>
            </a:extLst>
          </p:cNvPr>
          <p:cNvSpPr>
            <a:spLocks xmlns:a="http://schemas.openxmlformats.org/drawingml/2006/main" noGrp="1"/>
          </p:cNvSpPr>
          <p:nvPr/>
        </p:nvSpPr>
        <p:spPr>
          <a:xfrm xmlns:a="http://schemas.openxmlformats.org/drawingml/2006/main">
            <a:off x="571500" y="5514975"/>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9" name="text-81">
            <a:extLst xmlns:a="http://schemas.openxmlformats.org/drawingml/2006/main">
              <a:ext uri="{FF2B5EF4-FFF2-40B4-BE49-F238E27FC236}">
                <a16:creationId xmlns:a16="http://schemas.microsoft.com/office/drawing/2014/main" id="{20762DD5-419F-4B62-986E-6FF65D6216E0}"/>
              </a:ext>
            </a:extLst>
          </p:cNvPr>
          <p:cNvSpPr>
            <a:spLocks xmlns:a="http://schemas.openxmlformats.org/drawingml/2006/main" noGrp="1"/>
          </p:cNvSpPr>
          <p:nvPr/>
        </p:nvSpPr>
        <p:spPr>
          <a:xfrm xmlns:a="http://schemas.openxmlformats.org/drawingml/2006/main">
            <a:off x="571500" y="5676900"/>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В ноутбуке есть данные, пояснения к каждому шагу и полные расчёты</a:t>
            </a:r>
          </a:p>
        </p:txBody>
      </p:sp>
    </p:spTree>
    <p:extLst>
      <p:ext uri="{BB962C8B-B14F-4D97-AF65-F5344CB8AC3E}">
        <p14:creationId xmlns:p14="http://schemas.microsoft.com/office/powerpoint/2010/main" val="639063444"/>
      </p:ext>
    </p:extLst>
  </p:cSld>
</p:sld>
</file>

<file path=ppt/slides/slide11.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60" name="text-82">
            <a:extLst xmlns:a="http://schemas.openxmlformats.org/drawingml/2006/main">
              <a:ext uri="{FF2B5EF4-FFF2-40B4-BE49-F238E27FC236}">
                <a16:creationId xmlns:a16="http://schemas.microsoft.com/office/drawing/2014/main" id="{89D7C3C9-0C25-41E0-8AD5-22D8BBBDCF58}"/>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Как модель разделяет трафик</a:t>
            </a:r>
          </a:p>
        </p:txBody>
      </p:sp>
      <p:sp>
        <p:nvSpPr>
          <p:cNvPr id="2" name="text-83">
            <a:extLst xmlns:a="http://schemas.openxmlformats.org/drawingml/2006/main">
              <a:ext uri="{FF2B5EF4-FFF2-40B4-BE49-F238E27FC236}">
                <a16:creationId xmlns:a16="http://schemas.microsoft.com/office/drawing/2014/main" id="{A0C019DD-E198-4C78-8E4B-254A63FD69DD}"/>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Цвет точки — учебный класс; серая полоса — пограничные решения</a:t>
            </a:r>
          </a:p>
        </p:txBody>
      </p:sp>
      <p:sp>
        <p:nvSpPr>
          <p:cNvPr id="3" name="">
            <a:extLst xmlns:a="http://schemas.openxmlformats.org/drawingml/2006/main">
              <a:ext uri="{FF2B5EF4-FFF2-40B4-BE49-F238E27FC236}">
                <a16:creationId xmlns:a16="http://schemas.microsoft.com/office/drawing/2014/main" id="{EE7D449D-24D1-4912-9A81-3F0611EE2AE7}"/>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84">
            <a:extLst xmlns:a="http://schemas.openxmlformats.org/drawingml/2006/main">
              <a:ext uri="{FF2B5EF4-FFF2-40B4-BE49-F238E27FC236}">
                <a16:creationId xmlns:a16="http://schemas.microsoft.com/office/drawing/2014/main" id="{B5B2F08A-1D22-4FBB-94A6-759C0AA4764B}"/>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  Задание · [1, 2]; собственный расчёт</a:t>
            </a:r>
          </a:p>
        </p:txBody>
      </p:sp>
      <p:sp>
        <p:nvSpPr>
          <p:cNvPr id="5" name="text-85">
            <a:extLst xmlns:a="http://schemas.openxmlformats.org/drawingml/2006/main">
              <a:ext uri="{FF2B5EF4-FFF2-40B4-BE49-F238E27FC236}">
                <a16:creationId xmlns:a16="http://schemas.microsoft.com/office/drawing/2014/main" id="{52346105-1230-41BF-8F28-072731966F67}"/>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a:t>
            </a:r>
          </a:p>
        </p:txBody>
      </p:sp>
      <p:sp>
        <p:nvSpPr>
          <p:cNvPr id="6" name="">
            <a:extLst xmlns:a="http://schemas.openxmlformats.org/drawingml/2006/main">
              <a:ext uri="{FF2B5EF4-FFF2-40B4-BE49-F238E27FC236}">
                <a16:creationId xmlns:a16="http://schemas.microsoft.com/office/drawing/2014/main" id="{1FF336BD-65FB-4287-BE63-3B0D9BFB1FBA}"/>
              </a:ext>
            </a:extLst>
          </p:cNvPr>
          <p:cNvSpPr>
            <a:spLocks xmlns:a="http://schemas.openxmlformats.org/drawingml/2006/main" noGrp="1"/>
          </p:cNvSpPr>
          <p:nvPr/>
        </p:nvSpPr>
        <p:spPr>
          <a:xfrm xmlns:a="http://schemas.openxmlformats.org/drawingml/2006/main">
            <a:off x="1285875" y="2152650"/>
            <a:ext cx="6667500" cy="3067050"/>
          </a:xfrm>
          <a:prstGeom xmlns:a="http://schemas.openxmlformats.org/drawingml/2006/main" prst="rect">
            <a:avLst/>
          </a:prstGeom>
          <a:solidFill xmlns:a="http://schemas.openxmlformats.org/drawingml/2006/main">
            <a:srgbClr val="FFFFFF"/>
          </a:solidFill>
          <a:ln xmlns:a="http://schemas.openxmlformats.org/drawingml/2006/main" w="9525">
            <a:solidFill>
              <a:srgbClr val="D8E0E8"/>
            </a:solidFill>
          </a:ln>
        </p:spPr>
      </p:sp>
      <p:sp>
        <p:nvSpPr>
          <p:cNvPr id="7" name="">
            <a:extLst xmlns:a="http://schemas.openxmlformats.org/drawingml/2006/main">
              <a:ext uri="{FF2B5EF4-FFF2-40B4-BE49-F238E27FC236}">
                <a16:creationId xmlns:a16="http://schemas.microsoft.com/office/drawing/2014/main" id="{057E95DA-9265-4702-B9FE-5E01E6A4DBB5}"/>
              </a:ext>
            </a:extLst>
          </p:cNvPr>
          <p:cNvSpPr>
            <a:spLocks xmlns:a="http://schemas.openxmlformats.org/drawingml/2006/main" noGrp="1"/>
          </p:cNvSpPr>
          <p:nvPr/>
        </p:nvSpPr>
        <p:spPr>
          <a:xfrm xmlns:a="http://schemas.openxmlformats.org/drawingml/2006/main">
            <a:off x="1285875" y="2152650"/>
            <a:ext cx="6667500" cy="3067050"/>
          </a:xfrm>
          <a:custGeom xmlns:a="http://schemas.openxmlformats.org/drawingml/2006/main">
            <a:pathLst>
              <a:path w="6667500" h="3067050">
                <a:moveTo>
                  <a:pt x="4941323" y="3067050"/>
                </a:moveTo>
                <a:lnTo>
                  <a:pt x="6279257" y="3067050"/>
                </a:lnTo>
                <a:lnTo>
                  <a:pt x="479446" y="0"/>
                </a:lnTo>
                <a:lnTo>
                  <a:pt x="0" y="0"/>
                </a:lnTo>
                <a:lnTo>
                  <a:pt x="0" y="453985"/>
                </a:lnTo>
                <a:close/>
              </a:path>
            </a:pathLst>
          </a:custGeom>
          <a:solidFill xmlns:a="http://schemas.openxmlformats.org/drawingml/2006/main">
            <a:srgbClr val="E1E7ED"/>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022FF2A-754A-4C7A-8110-6482E464E9DE}"/>
              </a:ext>
            </a:extLst>
          </p:cNvPr>
          <p:cNvSpPr>
            <a:spLocks xmlns:a="http://schemas.openxmlformats.org/drawingml/2006/main" noGrp="1"/>
          </p:cNvSpPr>
          <p:nvPr/>
        </p:nvSpPr>
        <p:spPr>
          <a:xfrm xmlns:a="http://schemas.openxmlformats.org/drawingml/2006/main">
            <a:off x="1285875" y="2152650"/>
            <a:ext cx="9525" cy="3067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9" name="text-86">
            <a:extLst xmlns:a="http://schemas.openxmlformats.org/drawingml/2006/main">
              <a:ext uri="{FF2B5EF4-FFF2-40B4-BE49-F238E27FC236}">
                <a16:creationId xmlns:a16="http://schemas.microsoft.com/office/drawing/2014/main" id="{5CC92068-CC62-4466-9EC3-3CE7EFFE6B1F}"/>
              </a:ext>
            </a:extLst>
          </p:cNvPr>
          <p:cNvSpPr>
            <a:spLocks xmlns:a="http://schemas.openxmlformats.org/drawingml/2006/main" noGrp="1"/>
          </p:cNvSpPr>
          <p:nvPr/>
        </p:nvSpPr>
        <p:spPr>
          <a:xfrm xmlns:a="http://schemas.openxmlformats.org/drawingml/2006/main">
            <a:off x="1028700" y="5314950"/>
            <a:ext cx="809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377"/>
                </a:solidFill>
                <a:latin typeface="DejaVu Sans"/>
                <a:ea typeface="DejaVu Sans"/>
                <a:cs typeface="DejaVu Sans"/>
              </a:defRPr>
            </a:defPPr>
          </a:lstStyle>
          <a:p xmlns:a="http://schemas.openxmlformats.org/drawingml/2006/main">
            <a:pPr>
              <a:defRPr sz="1350" b="0">
                <a:solidFill>
                  <a:srgbClr val="536377"/>
                </a:solidFill>
                <a:latin typeface="DejaVu Sans"/>
                <a:ea typeface="DejaVu Sans"/>
                <a:cs typeface="DejaVu Sans"/>
              </a:defRPr>
            </a:pPr>
            <a:r>
              <a:rPr sz="1350" b="0">
                <a:solidFill>
                  <a:srgbClr val="536377"/>
                </a:solidFill>
                <a:latin typeface="DejaVu Sans"/>
                <a:ea typeface="DejaVu Sans"/>
                <a:cs typeface="DejaVu Sans"/>
              </a:rPr>
              <a:t>0</a:t>
            </a:r>
          </a:p>
        </p:txBody>
      </p:sp>
      <p:sp>
        <p:nvSpPr>
          <p:cNvPr id="10" name="">
            <a:extLst xmlns:a="http://schemas.openxmlformats.org/drawingml/2006/main">
              <a:ext uri="{FF2B5EF4-FFF2-40B4-BE49-F238E27FC236}">
                <a16:creationId xmlns:a16="http://schemas.microsoft.com/office/drawing/2014/main" id="{E9A9BEF6-13DA-402C-B4DB-727165180495}"/>
              </a:ext>
            </a:extLst>
          </p:cNvPr>
          <p:cNvSpPr>
            <a:spLocks xmlns:a="http://schemas.openxmlformats.org/drawingml/2006/main" noGrp="1"/>
          </p:cNvSpPr>
          <p:nvPr/>
        </p:nvSpPr>
        <p:spPr>
          <a:xfrm xmlns:a="http://schemas.openxmlformats.org/drawingml/2006/main">
            <a:off x="2952750" y="2152650"/>
            <a:ext cx="9525" cy="3067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11" name="text-87">
            <a:extLst xmlns:a="http://schemas.openxmlformats.org/drawingml/2006/main">
              <a:ext uri="{FF2B5EF4-FFF2-40B4-BE49-F238E27FC236}">
                <a16:creationId xmlns:a16="http://schemas.microsoft.com/office/drawing/2014/main" id="{F446578B-12B8-4532-8246-D4EF3A381B9A}"/>
              </a:ext>
            </a:extLst>
          </p:cNvPr>
          <p:cNvSpPr>
            <a:spLocks xmlns:a="http://schemas.openxmlformats.org/drawingml/2006/main" noGrp="1"/>
          </p:cNvSpPr>
          <p:nvPr/>
        </p:nvSpPr>
        <p:spPr>
          <a:xfrm xmlns:a="http://schemas.openxmlformats.org/drawingml/2006/main">
            <a:off x="2695575" y="5314950"/>
            <a:ext cx="809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377"/>
                </a:solidFill>
                <a:latin typeface="DejaVu Sans"/>
                <a:ea typeface="DejaVu Sans"/>
                <a:cs typeface="DejaVu Sans"/>
              </a:defRPr>
            </a:defPPr>
          </a:lstStyle>
          <a:p xmlns:a="http://schemas.openxmlformats.org/drawingml/2006/main">
            <a:pPr>
              <a:defRPr sz="1350" b="0">
                <a:solidFill>
                  <a:srgbClr val="536377"/>
                </a:solidFill>
                <a:latin typeface="DejaVu Sans"/>
                <a:ea typeface="DejaVu Sans"/>
                <a:cs typeface="DejaVu Sans"/>
              </a:defRPr>
            </a:pPr>
            <a:r>
              <a:rPr sz="1350" b="0">
                <a:solidFill>
                  <a:srgbClr val="536377"/>
                </a:solidFill>
                <a:latin typeface="DejaVu Sans"/>
                <a:ea typeface="DejaVu Sans"/>
                <a:cs typeface="DejaVu Sans"/>
              </a:rPr>
              <a:t>500</a:t>
            </a:r>
          </a:p>
        </p:txBody>
      </p:sp>
      <p:sp>
        <p:nvSpPr>
          <p:cNvPr id="12" name="">
            <a:extLst xmlns:a="http://schemas.openxmlformats.org/drawingml/2006/main">
              <a:ext uri="{FF2B5EF4-FFF2-40B4-BE49-F238E27FC236}">
                <a16:creationId xmlns:a16="http://schemas.microsoft.com/office/drawing/2014/main" id="{58BF0899-D24B-47A6-97C4-FE1A95BDF9E3}"/>
              </a:ext>
            </a:extLst>
          </p:cNvPr>
          <p:cNvSpPr>
            <a:spLocks xmlns:a="http://schemas.openxmlformats.org/drawingml/2006/main" noGrp="1"/>
          </p:cNvSpPr>
          <p:nvPr/>
        </p:nvSpPr>
        <p:spPr>
          <a:xfrm xmlns:a="http://schemas.openxmlformats.org/drawingml/2006/main">
            <a:off x="4619625" y="2152650"/>
            <a:ext cx="9525" cy="3067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13" name="text-88">
            <a:extLst xmlns:a="http://schemas.openxmlformats.org/drawingml/2006/main">
              <a:ext uri="{FF2B5EF4-FFF2-40B4-BE49-F238E27FC236}">
                <a16:creationId xmlns:a16="http://schemas.microsoft.com/office/drawing/2014/main" id="{001AD620-7936-40D1-A175-0EB2C5B9CB2C}"/>
              </a:ext>
            </a:extLst>
          </p:cNvPr>
          <p:cNvSpPr>
            <a:spLocks xmlns:a="http://schemas.openxmlformats.org/drawingml/2006/main" noGrp="1"/>
          </p:cNvSpPr>
          <p:nvPr/>
        </p:nvSpPr>
        <p:spPr>
          <a:xfrm xmlns:a="http://schemas.openxmlformats.org/drawingml/2006/main">
            <a:off x="4362450" y="5314950"/>
            <a:ext cx="809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377"/>
                </a:solidFill>
                <a:latin typeface="DejaVu Sans"/>
                <a:ea typeface="DejaVu Sans"/>
                <a:cs typeface="DejaVu Sans"/>
              </a:defRPr>
            </a:defPPr>
          </a:lstStyle>
          <a:p xmlns:a="http://schemas.openxmlformats.org/drawingml/2006/main">
            <a:pPr>
              <a:defRPr sz="1350" b="0">
                <a:solidFill>
                  <a:srgbClr val="536377"/>
                </a:solidFill>
                <a:latin typeface="DejaVu Sans"/>
                <a:ea typeface="DejaVu Sans"/>
                <a:cs typeface="DejaVu Sans"/>
              </a:defRPr>
            </a:pPr>
            <a:r>
              <a:rPr sz="1350" b="0">
                <a:solidFill>
                  <a:srgbClr val="536377"/>
                </a:solidFill>
                <a:latin typeface="DejaVu Sans"/>
                <a:ea typeface="DejaVu Sans"/>
                <a:cs typeface="DejaVu Sans"/>
              </a:rPr>
              <a:t>1000</a:t>
            </a:r>
          </a:p>
        </p:txBody>
      </p:sp>
      <p:sp>
        <p:nvSpPr>
          <p:cNvPr id="14" name="">
            <a:extLst xmlns:a="http://schemas.openxmlformats.org/drawingml/2006/main">
              <a:ext uri="{FF2B5EF4-FFF2-40B4-BE49-F238E27FC236}">
                <a16:creationId xmlns:a16="http://schemas.microsoft.com/office/drawing/2014/main" id="{E5FBABCE-3BEF-4D38-A824-C6E7A68E0F9A}"/>
              </a:ext>
            </a:extLst>
          </p:cNvPr>
          <p:cNvSpPr>
            <a:spLocks xmlns:a="http://schemas.openxmlformats.org/drawingml/2006/main" noGrp="1"/>
          </p:cNvSpPr>
          <p:nvPr/>
        </p:nvSpPr>
        <p:spPr>
          <a:xfrm xmlns:a="http://schemas.openxmlformats.org/drawingml/2006/main">
            <a:off x="6286500" y="2152650"/>
            <a:ext cx="9525" cy="3067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15" name="text-89">
            <a:extLst xmlns:a="http://schemas.openxmlformats.org/drawingml/2006/main">
              <a:ext uri="{FF2B5EF4-FFF2-40B4-BE49-F238E27FC236}">
                <a16:creationId xmlns:a16="http://schemas.microsoft.com/office/drawing/2014/main" id="{10F96114-D5E1-4B23-9B17-6F3FF1060C90}"/>
              </a:ext>
            </a:extLst>
          </p:cNvPr>
          <p:cNvSpPr>
            <a:spLocks xmlns:a="http://schemas.openxmlformats.org/drawingml/2006/main" noGrp="1"/>
          </p:cNvSpPr>
          <p:nvPr/>
        </p:nvSpPr>
        <p:spPr>
          <a:xfrm xmlns:a="http://schemas.openxmlformats.org/drawingml/2006/main">
            <a:off x="6029325" y="5314950"/>
            <a:ext cx="809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377"/>
                </a:solidFill>
                <a:latin typeface="DejaVu Sans"/>
                <a:ea typeface="DejaVu Sans"/>
                <a:cs typeface="DejaVu Sans"/>
              </a:defRPr>
            </a:defPPr>
          </a:lstStyle>
          <a:p xmlns:a="http://schemas.openxmlformats.org/drawingml/2006/main">
            <a:pPr>
              <a:defRPr sz="1350" b="0">
                <a:solidFill>
                  <a:srgbClr val="536377"/>
                </a:solidFill>
                <a:latin typeface="DejaVu Sans"/>
                <a:ea typeface="DejaVu Sans"/>
                <a:cs typeface="DejaVu Sans"/>
              </a:defRPr>
            </a:pPr>
            <a:r>
              <a:rPr sz="1350" b="0">
                <a:solidFill>
                  <a:srgbClr val="536377"/>
                </a:solidFill>
                <a:latin typeface="DejaVu Sans"/>
                <a:ea typeface="DejaVu Sans"/>
                <a:cs typeface="DejaVu Sans"/>
              </a:rPr>
              <a:t>1500</a:t>
            </a:r>
          </a:p>
        </p:txBody>
      </p:sp>
      <p:sp>
        <p:nvSpPr>
          <p:cNvPr id="16" name="">
            <a:extLst xmlns:a="http://schemas.openxmlformats.org/drawingml/2006/main">
              <a:ext uri="{FF2B5EF4-FFF2-40B4-BE49-F238E27FC236}">
                <a16:creationId xmlns:a16="http://schemas.microsoft.com/office/drawing/2014/main" id="{78ADFF97-B469-46BA-8091-5BD2EADDC2EB}"/>
              </a:ext>
            </a:extLst>
          </p:cNvPr>
          <p:cNvSpPr>
            <a:spLocks xmlns:a="http://schemas.openxmlformats.org/drawingml/2006/main" noGrp="1"/>
          </p:cNvSpPr>
          <p:nvPr/>
        </p:nvSpPr>
        <p:spPr>
          <a:xfrm xmlns:a="http://schemas.openxmlformats.org/drawingml/2006/main">
            <a:off x="7953375" y="2152650"/>
            <a:ext cx="9525" cy="3067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17" name="text-90">
            <a:extLst xmlns:a="http://schemas.openxmlformats.org/drawingml/2006/main">
              <a:ext uri="{FF2B5EF4-FFF2-40B4-BE49-F238E27FC236}">
                <a16:creationId xmlns:a16="http://schemas.microsoft.com/office/drawing/2014/main" id="{42BBA68B-A5B8-4C97-8D54-7A6E19BB2FAF}"/>
              </a:ext>
            </a:extLst>
          </p:cNvPr>
          <p:cNvSpPr>
            <a:spLocks xmlns:a="http://schemas.openxmlformats.org/drawingml/2006/main" noGrp="1"/>
          </p:cNvSpPr>
          <p:nvPr/>
        </p:nvSpPr>
        <p:spPr>
          <a:xfrm xmlns:a="http://schemas.openxmlformats.org/drawingml/2006/main">
            <a:off x="7696200" y="5314950"/>
            <a:ext cx="809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377"/>
                </a:solidFill>
                <a:latin typeface="DejaVu Sans"/>
                <a:ea typeface="DejaVu Sans"/>
                <a:cs typeface="DejaVu Sans"/>
              </a:defRPr>
            </a:defPPr>
          </a:lstStyle>
          <a:p xmlns:a="http://schemas.openxmlformats.org/drawingml/2006/main">
            <a:pPr>
              <a:defRPr sz="1350" b="0">
                <a:solidFill>
                  <a:srgbClr val="536377"/>
                </a:solidFill>
                <a:latin typeface="DejaVu Sans"/>
                <a:ea typeface="DejaVu Sans"/>
                <a:cs typeface="DejaVu Sans"/>
              </a:defRPr>
            </a:pPr>
            <a:r>
              <a:rPr sz="1350" b="0">
                <a:solidFill>
                  <a:srgbClr val="536377"/>
                </a:solidFill>
                <a:latin typeface="DejaVu Sans"/>
                <a:ea typeface="DejaVu Sans"/>
                <a:cs typeface="DejaVu Sans"/>
              </a:rPr>
              <a:t>2000</a:t>
            </a:r>
          </a:p>
        </p:txBody>
      </p:sp>
      <p:sp>
        <p:nvSpPr>
          <p:cNvPr id="18" name="">
            <a:extLst xmlns:a="http://schemas.openxmlformats.org/drawingml/2006/main">
              <a:ext uri="{FF2B5EF4-FFF2-40B4-BE49-F238E27FC236}">
                <a16:creationId xmlns:a16="http://schemas.microsoft.com/office/drawing/2014/main" id="{7577EA3D-5F35-48D6-96A1-761F49E1996A}"/>
              </a:ext>
            </a:extLst>
          </p:cNvPr>
          <p:cNvSpPr>
            <a:spLocks xmlns:a="http://schemas.openxmlformats.org/drawingml/2006/main" noGrp="1"/>
          </p:cNvSpPr>
          <p:nvPr/>
        </p:nvSpPr>
        <p:spPr>
          <a:xfrm xmlns:a="http://schemas.openxmlformats.org/drawingml/2006/main">
            <a:off x="1285875" y="5219700"/>
            <a:ext cx="6667500" cy="9525"/>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19" name="text-91">
            <a:extLst xmlns:a="http://schemas.openxmlformats.org/drawingml/2006/main">
              <a:ext uri="{FF2B5EF4-FFF2-40B4-BE49-F238E27FC236}">
                <a16:creationId xmlns:a16="http://schemas.microsoft.com/office/drawing/2014/main" id="{9383F521-D7E8-4BA8-BD26-6C29380EFEDA}"/>
              </a:ext>
            </a:extLst>
          </p:cNvPr>
          <p:cNvSpPr>
            <a:spLocks xmlns:a="http://schemas.openxmlformats.org/drawingml/2006/main" noGrp="1"/>
          </p:cNvSpPr>
          <p:nvPr/>
        </p:nvSpPr>
        <p:spPr>
          <a:xfrm xmlns:a="http://schemas.openxmlformats.org/drawingml/2006/main">
            <a:off x="742950" y="5114925"/>
            <a:ext cx="4953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377"/>
                </a:solidFill>
                <a:latin typeface="DejaVu Sans"/>
                <a:ea typeface="DejaVu Sans"/>
                <a:cs typeface="DejaVu Sans"/>
              </a:defRPr>
            </a:defPPr>
          </a:lstStyle>
          <a:p xmlns:a="http://schemas.openxmlformats.org/drawingml/2006/main">
            <a:pPr>
              <a:defRPr sz="1350" b="0">
                <a:solidFill>
                  <a:srgbClr val="536377"/>
                </a:solidFill>
                <a:latin typeface="DejaVu Sans"/>
                <a:ea typeface="DejaVu Sans"/>
                <a:cs typeface="DejaVu Sans"/>
              </a:defRPr>
            </a:pPr>
            <a:r>
              <a:rPr sz="1350" b="0">
                <a:solidFill>
                  <a:srgbClr val="536377"/>
                </a:solidFill>
                <a:latin typeface="DejaVu Sans"/>
                <a:ea typeface="DejaVu Sans"/>
                <a:cs typeface="DejaVu Sans"/>
              </a:rPr>
              <a:t>0%</a:t>
            </a:r>
          </a:p>
        </p:txBody>
      </p:sp>
      <p:sp>
        <p:nvSpPr>
          <p:cNvPr id="20" name="">
            <a:extLst xmlns:a="http://schemas.openxmlformats.org/drawingml/2006/main">
              <a:ext uri="{FF2B5EF4-FFF2-40B4-BE49-F238E27FC236}">
                <a16:creationId xmlns:a16="http://schemas.microsoft.com/office/drawing/2014/main" id="{5F89BCFA-30D3-43AB-B8C8-B98ED92CEF77}"/>
              </a:ext>
            </a:extLst>
          </p:cNvPr>
          <p:cNvSpPr>
            <a:spLocks xmlns:a="http://schemas.openxmlformats.org/drawingml/2006/main" noGrp="1"/>
          </p:cNvSpPr>
          <p:nvPr/>
        </p:nvSpPr>
        <p:spPr>
          <a:xfrm xmlns:a="http://schemas.openxmlformats.org/drawingml/2006/main">
            <a:off x="1285875" y="4606290"/>
            <a:ext cx="6667500" cy="9525"/>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21" name="text-92">
            <a:extLst xmlns:a="http://schemas.openxmlformats.org/drawingml/2006/main">
              <a:ext uri="{FF2B5EF4-FFF2-40B4-BE49-F238E27FC236}">
                <a16:creationId xmlns:a16="http://schemas.microsoft.com/office/drawing/2014/main" id="{342E29C1-DE91-4975-AFC3-1AB50EB47B42}"/>
              </a:ext>
            </a:extLst>
          </p:cNvPr>
          <p:cNvSpPr>
            <a:spLocks xmlns:a="http://schemas.openxmlformats.org/drawingml/2006/main" noGrp="1"/>
          </p:cNvSpPr>
          <p:nvPr/>
        </p:nvSpPr>
        <p:spPr>
          <a:xfrm xmlns:a="http://schemas.openxmlformats.org/drawingml/2006/main">
            <a:off x="742950" y="4501515"/>
            <a:ext cx="4953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377"/>
                </a:solidFill>
                <a:latin typeface="DejaVu Sans"/>
                <a:ea typeface="DejaVu Sans"/>
                <a:cs typeface="DejaVu Sans"/>
              </a:defRPr>
            </a:defPPr>
          </a:lstStyle>
          <a:p xmlns:a="http://schemas.openxmlformats.org/drawingml/2006/main">
            <a:pPr>
              <a:defRPr sz="1350" b="0">
                <a:solidFill>
                  <a:srgbClr val="536377"/>
                </a:solidFill>
                <a:latin typeface="DejaVu Sans"/>
                <a:ea typeface="DejaVu Sans"/>
                <a:cs typeface="DejaVu Sans"/>
              </a:defRPr>
            </a:pPr>
            <a:r>
              <a:rPr sz="1350" b="0">
                <a:solidFill>
                  <a:srgbClr val="536377"/>
                </a:solidFill>
                <a:latin typeface="DejaVu Sans"/>
                <a:ea typeface="DejaVu Sans"/>
                <a:cs typeface="DejaVu Sans"/>
              </a:rPr>
              <a:t>20%</a:t>
            </a:r>
          </a:p>
        </p:txBody>
      </p:sp>
      <p:sp>
        <p:nvSpPr>
          <p:cNvPr id="22" name="">
            <a:extLst xmlns:a="http://schemas.openxmlformats.org/drawingml/2006/main">
              <a:ext uri="{FF2B5EF4-FFF2-40B4-BE49-F238E27FC236}">
                <a16:creationId xmlns:a16="http://schemas.microsoft.com/office/drawing/2014/main" id="{8755130F-DEB9-482A-AD17-22B9987A7F6E}"/>
              </a:ext>
            </a:extLst>
          </p:cNvPr>
          <p:cNvSpPr>
            <a:spLocks xmlns:a="http://schemas.openxmlformats.org/drawingml/2006/main" noGrp="1"/>
          </p:cNvSpPr>
          <p:nvPr/>
        </p:nvSpPr>
        <p:spPr>
          <a:xfrm xmlns:a="http://schemas.openxmlformats.org/drawingml/2006/main">
            <a:off x="1285875" y="3992880"/>
            <a:ext cx="6667500" cy="9525"/>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23" name="text-93">
            <a:extLst xmlns:a="http://schemas.openxmlformats.org/drawingml/2006/main">
              <a:ext uri="{FF2B5EF4-FFF2-40B4-BE49-F238E27FC236}">
                <a16:creationId xmlns:a16="http://schemas.microsoft.com/office/drawing/2014/main" id="{D7F7C4D9-A660-43AE-8179-9425EAB1199A}"/>
              </a:ext>
            </a:extLst>
          </p:cNvPr>
          <p:cNvSpPr>
            <a:spLocks xmlns:a="http://schemas.openxmlformats.org/drawingml/2006/main" noGrp="1"/>
          </p:cNvSpPr>
          <p:nvPr/>
        </p:nvSpPr>
        <p:spPr>
          <a:xfrm xmlns:a="http://schemas.openxmlformats.org/drawingml/2006/main">
            <a:off x="742950" y="3888105"/>
            <a:ext cx="4953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377"/>
                </a:solidFill>
                <a:latin typeface="DejaVu Sans"/>
                <a:ea typeface="DejaVu Sans"/>
                <a:cs typeface="DejaVu Sans"/>
              </a:defRPr>
            </a:defPPr>
          </a:lstStyle>
          <a:p xmlns:a="http://schemas.openxmlformats.org/drawingml/2006/main">
            <a:pPr>
              <a:defRPr sz="1350" b="0">
                <a:solidFill>
                  <a:srgbClr val="536377"/>
                </a:solidFill>
                <a:latin typeface="DejaVu Sans"/>
                <a:ea typeface="DejaVu Sans"/>
                <a:cs typeface="DejaVu Sans"/>
              </a:defRPr>
            </a:pPr>
            <a:r>
              <a:rPr sz="1350" b="0">
                <a:solidFill>
                  <a:srgbClr val="536377"/>
                </a:solidFill>
                <a:latin typeface="DejaVu Sans"/>
                <a:ea typeface="DejaVu Sans"/>
                <a:cs typeface="DejaVu Sans"/>
              </a:rPr>
              <a:t>40%</a:t>
            </a:r>
          </a:p>
        </p:txBody>
      </p:sp>
      <p:sp>
        <p:nvSpPr>
          <p:cNvPr id="24" name="">
            <a:extLst xmlns:a="http://schemas.openxmlformats.org/drawingml/2006/main">
              <a:ext uri="{FF2B5EF4-FFF2-40B4-BE49-F238E27FC236}">
                <a16:creationId xmlns:a16="http://schemas.microsoft.com/office/drawing/2014/main" id="{855F6677-FC76-4B09-A60F-959A78C50ACA}"/>
              </a:ext>
            </a:extLst>
          </p:cNvPr>
          <p:cNvSpPr>
            <a:spLocks xmlns:a="http://schemas.openxmlformats.org/drawingml/2006/main" noGrp="1"/>
          </p:cNvSpPr>
          <p:nvPr/>
        </p:nvSpPr>
        <p:spPr>
          <a:xfrm xmlns:a="http://schemas.openxmlformats.org/drawingml/2006/main">
            <a:off x="1285875" y="3379470"/>
            <a:ext cx="6667500" cy="9525"/>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25" name="text-94">
            <a:extLst xmlns:a="http://schemas.openxmlformats.org/drawingml/2006/main">
              <a:ext uri="{FF2B5EF4-FFF2-40B4-BE49-F238E27FC236}">
                <a16:creationId xmlns:a16="http://schemas.microsoft.com/office/drawing/2014/main" id="{60A49D72-5A14-4DB1-915F-C9D337BCFD92}"/>
              </a:ext>
            </a:extLst>
          </p:cNvPr>
          <p:cNvSpPr>
            <a:spLocks xmlns:a="http://schemas.openxmlformats.org/drawingml/2006/main" noGrp="1"/>
          </p:cNvSpPr>
          <p:nvPr/>
        </p:nvSpPr>
        <p:spPr>
          <a:xfrm xmlns:a="http://schemas.openxmlformats.org/drawingml/2006/main">
            <a:off x="742950" y="3274695"/>
            <a:ext cx="4953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377"/>
                </a:solidFill>
                <a:latin typeface="DejaVu Sans"/>
                <a:ea typeface="DejaVu Sans"/>
                <a:cs typeface="DejaVu Sans"/>
              </a:defRPr>
            </a:defPPr>
          </a:lstStyle>
          <a:p xmlns:a="http://schemas.openxmlformats.org/drawingml/2006/main">
            <a:pPr>
              <a:defRPr sz="1350" b="0">
                <a:solidFill>
                  <a:srgbClr val="536377"/>
                </a:solidFill>
                <a:latin typeface="DejaVu Sans"/>
                <a:ea typeface="DejaVu Sans"/>
                <a:cs typeface="DejaVu Sans"/>
              </a:defRPr>
            </a:pPr>
            <a:r>
              <a:rPr sz="1350" b="0">
                <a:solidFill>
                  <a:srgbClr val="536377"/>
                </a:solidFill>
                <a:latin typeface="DejaVu Sans"/>
                <a:ea typeface="DejaVu Sans"/>
                <a:cs typeface="DejaVu Sans"/>
              </a:rPr>
              <a:t>60%</a:t>
            </a:r>
          </a:p>
        </p:txBody>
      </p:sp>
      <p:sp>
        <p:nvSpPr>
          <p:cNvPr id="26" name="">
            <a:extLst xmlns:a="http://schemas.openxmlformats.org/drawingml/2006/main">
              <a:ext uri="{FF2B5EF4-FFF2-40B4-BE49-F238E27FC236}">
                <a16:creationId xmlns:a16="http://schemas.microsoft.com/office/drawing/2014/main" id="{F5E41B36-C42A-4E46-9CB3-8BB5B68F0CB7}"/>
              </a:ext>
            </a:extLst>
          </p:cNvPr>
          <p:cNvSpPr>
            <a:spLocks xmlns:a="http://schemas.openxmlformats.org/drawingml/2006/main" noGrp="1"/>
          </p:cNvSpPr>
          <p:nvPr/>
        </p:nvSpPr>
        <p:spPr>
          <a:xfrm xmlns:a="http://schemas.openxmlformats.org/drawingml/2006/main">
            <a:off x="1285875" y="2766060"/>
            <a:ext cx="6667500" cy="9525"/>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27" name="text-95">
            <a:extLst xmlns:a="http://schemas.openxmlformats.org/drawingml/2006/main">
              <a:ext uri="{FF2B5EF4-FFF2-40B4-BE49-F238E27FC236}">
                <a16:creationId xmlns:a16="http://schemas.microsoft.com/office/drawing/2014/main" id="{9D708518-8027-4BB7-8684-7182AA5243EE}"/>
              </a:ext>
            </a:extLst>
          </p:cNvPr>
          <p:cNvSpPr>
            <a:spLocks xmlns:a="http://schemas.openxmlformats.org/drawingml/2006/main" noGrp="1"/>
          </p:cNvSpPr>
          <p:nvPr/>
        </p:nvSpPr>
        <p:spPr>
          <a:xfrm xmlns:a="http://schemas.openxmlformats.org/drawingml/2006/main">
            <a:off x="742950" y="2661285"/>
            <a:ext cx="4953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377"/>
                </a:solidFill>
                <a:latin typeface="DejaVu Sans"/>
                <a:ea typeface="DejaVu Sans"/>
                <a:cs typeface="DejaVu Sans"/>
              </a:defRPr>
            </a:defPPr>
          </a:lstStyle>
          <a:p xmlns:a="http://schemas.openxmlformats.org/drawingml/2006/main">
            <a:pPr>
              <a:defRPr sz="1350" b="0">
                <a:solidFill>
                  <a:srgbClr val="536377"/>
                </a:solidFill>
                <a:latin typeface="DejaVu Sans"/>
                <a:ea typeface="DejaVu Sans"/>
                <a:cs typeface="DejaVu Sans"/>
              </a:defRPr>
            </a:pPr>
            <a:r>
              <a:rPr sz="1350" b="0">
                <a:solidFill>
                  <a:srgbClr val="536377"/>
                </a:solidFill>
                <a:latin typeface="DejaVu Sans"/>
                <a:ea typeface="DejaVu Sans"/>
                <a:cs typeface="DejaVu Sans"/>
              </a:rPr>
              <a:t>80%</a:t>
            </a:r>
          </a:p>
        </p:txBody>
      </p:sp>
      <p:sp>
        <p:nvSpPr>
          <p:cNvPr id="28" name="">
            <a:extLst xmlns:a="http://schemas.openxmlformats.org/drawingml/2006/main">
              <a:ext uri="{FF2B5EF4-FFF2-40B4-BE49-F238E27FC236}">
                <a16:creationId xmlns:a16="http://schemas.microsoft.com/office/drawing/2014/main" id="{C6DFB8E3-6269-4543-A110-F447C0B3FB4F}"/>
              </a:ext>
            </a:extLst>
          </p:cNvPr>
          <p:cNvSpPr>
            <a:spLocks xmlns:a="http://schemas.openxmlformats.org/drawingml/2006/main" noGrp="1"/>
          </p:cNvSpPr>
          <p:nvPr/>
        </p:nvSpPr>
        <p:spPr>
          <a:xfrm xmlns:a="http://schemas.openxmlformats.org/drawingml/2006/main">
            <a:off x="1285875" y="2152650"/>
            <a:ext cx="6667500" cy="9525"/>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29" name="text-96">
            <a:extLst xmlns:a="http://schemas.openxmlformats.org/drawingml/2006/main">
              <a:ext uri="{FF2B5EF4-FFF2-40B4-BE49-F238E27FC236}">
                <a16:creationId xmlns:a16="http://schemas.microsoft.com/office/drawing/2014/main" id="{F8F71229-5A9D-4801-B838-6B505A7B0BA0}"/>
              </a:ext>
            </a:extLst>
          </p:cNvPr>
          <p:cNvSpPr>
            <a:spLocks xmlns:a="http://schemas.openxmlformats.org/drawingml/2006/main" noGrp="1"/>
          </p:cNvSpPr>
          <p:nvPr/>
        </p:nvSpPr>
        <p:spPr>
          <a:xfrm xmlns:a="http://schemas.openxmlformats.org/drawingml/2006/main">
            <a:off x="742950" y="2047875"/>
            <a:ext cx="4953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377"/>
                </a:solidFill>
                <a:latin typeface="DejaVu Sans"/>
                <a:ea typeface="DejaVu Sans"/>
                <a:cs typeface="DejaVu Sans"/>
              </a:defRPr>
            </a:defPPr>
          </a:lstStyle>
          <a:p xmlns:a="http://schemas.openxmlformats.org/drawingml/2006/main">
            <a:pPr>
              <a:defRPr sz="1350" b="0">
                <a:solidFill>
                  <a:srgbClr val="536377"/>
                </a:solidFill>
                <a:latin typeface="DejaVu Sans"/>
                <a:ea typeface="DejaVu Sans"/>
                <a:cs typeface="DejaVu Sans"/>
              </a:defRPr>
            </a:pPr>
            <a:r>
              <a:rPr sz="1350" b="0">
                <a:solidFill>
                  <a:srgbClr val="536377"/>
                </a:solidFill>
                <a:latin typeface="DejaVu Sans"/>
                <a:ea typeface="DejaVu Sans"/>
                <a:cs typeface="DejaVu Sans"/>
              </a:rPr>
              <a:t>100%</a:t>
            </a:r>
          </a:p>
        </p:txBody>
      </p:sp>
      <p:sp>
        <p:nvSpPr>
          <p:cNvPr id="30" name="text-97">
            <a:extLst xmlns:a="http://schemas.openxmlformats.org/drawingml/2006/main">
              <a:ext uri="{FF2B5EF4-FFF2-40B4-BE49-F238E27FC236}">
                <a16:creationId xmlns:a16="http://schemas.microsoft.com/office/drawing/2014/main" id="{88CFDF0C-C4C6-497D-997B-AE6AE2B7EA6C}"/>
              </a:ext>
            </a:extLst>
          </p:cNvPr>
          <p:cNvSpPr>
            <a:spLocks xmlns:a="http://schemas.openxmlformats.org/drawingml/2006/main" noGrp="1"/>
          </p:cNvSpPr>
          <p:nvPr/>
        </p:nvSpPr>
        <p:spPr>
          <a:xfrm xmlns:a="http://schemas.openxmlformats.org/drawingml/2006/main">
            <a:off x="1285875" y="1866900"/>
            <a:ext cx="666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101C32"/>
                </a:solidFill>
                <a:latin typeface="DejaVu Sans"/>
                <a:ea typeface="DejaVu Sans"/>
                <a:cs typeface="DejaVu Sans"/>
              </a:defRPr>
            </a:defPPr>
          </a:lstStyle>
          <a:p xmlns:a="http://schemas.openxmlformats.org/drawingml/2006/main">
            <a:pPr>
              <a:defRPr sz="1350" b="0">
                <a:solidFill>
                  <a:srgbClr val="101C32"/>
                </a:solidFill>
                <a:latin typeface="DejaVu Sans"/>
                <a:ea typeface="DejaVu Sans"/>
                <a:cs typeface="DejaVu Sans"/>
              </a:defRPr>
            </a:pPr>
            <a:r>
              <a:rPr sz="1350" b="0">
                <a:solidFill>
                  <a:srgbClr val="101C32"/>
                </a:solidFill>
                <a:latin typeface="DejaVu Sans"/>
                <a:ea typeface="DejaVu Sans"/>
                <a:cs typeface="DejaVu Sans"/>
              </a:rPr>
              <a:t>Не завершены рукопожатия, %</a:t>
            </a:r>
          </a:p>
        </p:txBody>
      </p:sp>
      <p:sp>
        <p:nvSpPr>
          <p:cNvPr id="31" name="text-98">
            <a:extLst xmlns:a="http://schemas.openxmlformats.org/drawingml/2006/main">
              <a:ext uri="{FF2B5EF4-FFF2-40B4-BE49-F238E27FC236}">
                <a16:creationId xmlns:a16="http://schemas.microsoft.com/office/drawing/2014/main" id="{E07B97BD-9C8E-49F1-A941-0D18A5FCF48E}"/>
              </a:ext>
            </a:extLst>
          </p:cNvPr>
          <p:cNvSpPr>
            <a:spLocks xmlns:a="http://schemas.openxmlformats.org/drawingml/2006/main" noGrp="1"/>
          </p:cNvSpPr>
          <p:nvPr/>
        </p:nvSpPr>
        <p:spPr>
          <a:xfrm xmlns:a="http://schemas.openxmlformats.org/drawingml/2006/main">
            <a:off x="3286125" y="5600700"/>
            <a:ext cx="3810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101C32"/>
                </a:solidFill>
                <a:latin typeface="DejaVu Sans"/>
                <a:ea typeface="DejaVu Sans"/>
                <a:cs typeface="DejaVu Sans"/>
              </a:defRPr>
            </a:defPPr>
          </a:lstStyle>
          <a:p xmlns:a="http://schemas.openxmlformats.org/drawingml/2006/main">
            <a:pPr>
              <a:defRPr sz="1650" b="0">
                <a:solidFill>
                  <a:srgbClr val="101C32"/>
                </a:solidFill>
                <a:latin typeface="DejaVu Sans"/>
                <a:ea typeface="DejaVu Sans"/>
                <a:cs typeface="DejaVu Sans"/>
              </a:defRPr>
            </a:pPr>
            <a:r>
              <a:rPr sz="1650" b="0">
                <a:solidFill>
                  <a:srgbClr val="101C32"/>
                </a:solidFill>
                <a:latin typeface="DejaVu Sans"/>
                <a:ea typeface="DejaVu Sans"/>
                <a:cs typeface="DejaVu Sans"/>
              </a:rPr>
              <a:t>Входящие SYN/с</a:t>
            </a:r>
          </a:p>
        </p:txBody>
      </p:sp>
      <p:sp>
        <p:nvSpPr>
          <p:cNvPr id="32" name="">
            <a:extLst xmlns:a="http://schemas.openxmlformats.org/drawingml/2006/main">
              <a:ext uri="{FF2B5EF4-FFF2-40B4-BE49-F238E27FC236}">
                <a16:creationId xmlns:a16="http://schemas.microsoft.com/office/drawing/2014/main" id="{8425388A-4B49-4DEE-9299-998EB181E094}"/>
              </a:ext>
            </a:extLst>
          </p:cNvPr>
          <p:cNvSpPr>
            <a:spLocks xmlns:a="http://schemas.openxmlformats.org/drawingml/2006/main" noGrp="1"/>
          </p:cNvSpPr>
          <p:nvPr/>
        </p:nvSpPr>
        <p:spPr>
          <a:xfrm xmlns:a="http://schemas.openxmlformats.org/drawingml/2006/main">
            <a:off x="1285875" y="2606635"/>
            <a:ext cx="4941323" cy="2613065"/>
          </a:xfrm>
          <a:prstGeom xmlns:a="http://schemas.openxmlformats.org/drawingml/2006/main" prst="line">
            <a:avLst/>
          </a:prstGeom>
          <a:noFill xmlns:a="http://schemas.openxmlformats.org/drawingml/2006/main"/>
          <a:ln xmlns:a="http://schemas.openxmlformats.org/drawingml/2006/main" w="12383">
            <a:solidFill>
              <a:srgbClr val="536377"/>
            </a:solidFill>
            <a:prstDash val="dash"/>
          </a:ln>
        </p:spPr>
      </p:sp>
      <p:sp>
        <p:nvSpPr>
          <p:cNvPr id="33" name="">
            <a:extLst xmlns:a="http://schemas.openxmlformats.org/drawingml/2006/main">
              <a:ext uri="{FF2B5EF4-FFF2-40B4-BE49-F238E27FC236}">
                <a16:creationId xmlns:a16="http://schemas.microsoft.com/office/drawing/2014/main" id="{B0BA2DCA-4B99-4C16-A6BD-645AA0134932}"/>
              </a:ext>
            </a:extLst>
          </p:cNvPr>
          <p:cNvSpPr>
            <a:spLocks xmlns:a="http://schemas.openxmlformats.org/drawingml/2006/main" noGrp="1"/>
          </p:cNvSpPr>
          <p:nvPr/>
        </p:nvSpPr>
        <p:spPr>
          <a:xfrm xmlns:a="http://schemas.openxmlformats.org/drawingml/2006/main">
            <a:off x="1285875" y="2252872"/>
            <a:ext cx="5610290" cy="2966828"/>
          </a:xfrm>
          <a:prstGeom xmlns:a="http://schemas.openxmlformats.org/drawingml/2006/main" prst="line">
            <a:avLst/>
          </a:prstGeom>
          <a:noFill xmlns:a="http://schemas.openxmlformats.org/drawingml/2006/main"/>
          <a:ln xmlns:a="http://schemas.openxmlformats.org/drawingml/2006/main" w="23813">
            <a:solidFill>
              <a:srgbClr val="101C32"/>
            </a:solidFill>
            <a:prstDash val="solid"/>
          </a:ln>
        </p:spPr>
      </p:sp>
      <p:sp>
        <p:nvSpPr>
          <p:cNvPr id="34" name="">
            <a:extLst xmlns:a="http://schemas.openxmlformats.org/drawingml/2006/main">
              <a:ext uri="{FF2B5EF4-FFF2-40B4-BE49-F238E27FC236}">
                <a16:creationId xmlns:a16="http://schemas.microsoft.com/office/drawing/2014/main" id="{3D255792-D7CE-4E75-B563-7A3C88CF5D02}"/>
              </a:ext>
            </a:extLst>
          </p:cNvPr>
          <p:cNvSpPr>
            <a:spLocks xmlns:a="http://schemas.openxmlformats.org/drawingml/2006/main" noGrp="1"/>
          </p:cNvSpPr>
          <p:nvPr/>
        </p:nvSpPr>
        <p:spPr>
          <a:xfrm xmlns:a="http://schemas.openxmlformats.org/drawingml/2006/main">
            <a:off x="1765321" y="2152650"/>
            <a:ext cx="5799811" cy="3067050"/>
          </a:xfrm>
          <a:prstGeom xmlns:a="http://schemas.openxmlformats.org/drawingml/2006/main" prst="line">
            <a:avLst/>
          </a:prstGeom>
          <a:noFill xmlns:a="http://schemas.openxmlformats.org/drawingml/2006/main"/>
          <a:ln xmlns:a="http://schemas.openxmlformats.org/drawingml/2006/main" w="12383">
            <a:solidFill>
              <a:srgbClr val="536377"/>
            </a:solidFill>
            <a:prstDash val="dash"/>
          </a:ln>
        </p:spPr>
      </p:sp>
      <p:sp>
        <p:nvSpPr>
          <p:cNvPr id="35" name="training-window-N01">
            <a:extLst xmlns:a="http://schemas.openxmlformats.org/drawingml/2006/main">
              <a:ext uri="{FF2B5EF4-FFF2-40B4-BE49-F238E27FC236}">
                <a16:creationId xmlns:a16="http://schemas.microsoft.com/office/drawing/2014/main" id="{7E60E60E-AA13-4F10-8F33-ACDE3B44C61D}"/>
              </a:ext>
            </a:extLst>
          </p:cNvPr>
          <p:cNvSpPr>
            <a:spLocks xmlns:a="http://schemas.openxmlformats.org/drawingml/2006/main" noGrp="1"/>
          </p:cNvSpPr>
          <p:nvPr/>
        </p:nvSpPr>
        <p:spPr>
          <a:xfrm xmlns:a="http://schemas.openxmlformats.org/drawingml/2006/main">
            <a:off x="1900238" y="5013960"/>
            <a:ext cx="104775" cy="104775"/>
          </a:xfrm>
          <a:prstGeom xmlns:a="http://schemas.openxmlformats.org/drawingml/2006/main" prst="ellipse">
            <a:avLst/>
          </a:prstGeom>
          <a:solidFill xmlns:a="http://schemas.openxmlformats.org/drawingml/2006/main">
            <a:srgbClr val="008C95"/>
          </a:solidFill>
          <a:ln xmlns:a="http://schemas.openxmlformats.org/drawingml/2006/main" w="9525">
            <a:solidFill>
              <a:srgbClr val="F4F7FA"/>
            </a:solidFill>
          </a:ln>
        </p:spPr>
      </p:sp>
      <p:sp>
        <p:nvSpPr>
          <p:cNvPr id="36" name="training-window-N02">
            <a:extLst xmlns:a="http://schemas.openxmlformats.org/drawingml/2006/main">
              <a:ext uri="{FF2B5EF4-FFF2-40B4-BE49-F238E27FC236}">
                <a16:creationId xmlns:a16="http://schemas.microsoft.com/office/drawing/2014/main" id="{61749547-225E-4213-B56C-4A2AD0DD2745}"/>
              </a:ext>
            </a:extLst>
          </p:cNvPr>
          <p:cNvSpPr>
            <a:spLocks xmlns:a="http://schemas.openxmlformats.org/drawingml/2006/main" noGrp="1"/>
          </p:cNvSpPr>
          <p:nvPr/>
        </p:nvSpPr>
        <p:spPr>
          <a:xfrm xmlns:a="http://schemas.openxmlformats.org/drawingml/2006/main">
            <a:off x="2300288" y="4921949"/>
            <a:ext cx="104775" cy="104775"/>
          </a:xfrm>
          <a:prstGeom xmlns:a="http://schemas.openxmlformats.org/drawingml/2006/main" prst="ellipse">
            <a:avLst/>
          </a:prstGeom>
          <a:solidFill xmlns:a="http://schemas.openxmlformats.org/drawingml/2006/main">
            <a:srgbClr val="008C95"/>
          </a:solidFill>
          <a:ln xmlns:a="http://schemas.openxmlformats.org/drawingml/2006/main" w="9525">
            <a:solidFill>
              <a:srgbClr val="F4F7FA"/>
            </a:solidFill>
          </a:ln>
        </p:spPr>
      </p:sp>
      <p:sp>
        <p:nvSpPr>
          <p:cNvPr id="37" name="training-window-N03">
            <a:extLst xmlns:a="http://schemas.openxmlformats.org/drawingml/2006/main">
              <a:ext uri="{FF2B5EF4-FFF2-40B4-BE49-F238E27FC236}">
                <a16:creationId xmlns:a16="http://schemas.microsoft.com/office/drawing/2014/main" id="{8240B138-48FC-4E6A-97BD-9E232F460477}"/>
              </a:ext>
            </a:extLst>
          </p:cNvPr>
          <p:cNvSpPr>
            <a:spLocks xmlns:a="http://schemas.openxmlformats.org/drawingml/2006/main" noGrp="1"/>
          </p:cNvSpPr>
          <p:nvPr/>
        </p:nvSpPr>
        <p:spPr>
          <a:xfrm xmlns:a="http://schemas.openxmlformats.org/drawingml/2006/main">
            <a:off x="2733675" y="4860608"/>
            <a:ext cx="104775" cy="104775"/>
          </a:xfrm>
          <a:prstGeom xmlns:a="http://schemas.openxmlformats.org/drawingml/2006/main" prst="ellipse">
            <a:avLst/>
          </a:prstGeom>
          <a:solidFill xmlns:a="http://schemas.openxmlformats.org/drawingml/2006/main">
            <a:srgbClr val="008C95"/>
          </a:solidFill>
          <a:ln xmlns:a="http://schemas.openxmlformats.org/drawingml/2006/main" w="9525">
            <a:solidFill>
              <a:srgbClr val="F4F7FA"/>
            </a:solidFill>
          </a:ln>
        </p:spPr>
      </p:sp>
      <p:sp>
        <p:nvSpPr>
          <p:cNvPr id="38" name="training-window-N04">
            <a:extLst xmlns:a="http://schemas.openxmlformats.org/drawingml/2006/main">
              <a:ext uri="{FF2B5EF4-FFF2-40B4-BE49-F238E27FC236}">
                <a16:creationId xmlns:a16="http://schemas.microsoft.com/office/drawing/2014/main" id="{8FCA4E1B-4DC9-4ACD-A932-0DBAEC7FA8B6}"/>
              </a:ext>
            </a:extLst>
          </p:cNvPr>
          <p:cNvSpPr>
            <a:spLocks xmlns:a="http://schemas.openxmlformats.org/drawingml/2006/main" noGrp="1"/>
          </p:cNvSpPr>
          <p:nvPr/>
        </p:nvSpPr>
        <p:spPr>
          <a:xfrm xmlns:a="http://schemas.openxmlformats.org/drawingml/2006/main">
            <a:off x="3067050" y="4921949"/>
            <a:ext cx="104775" cy="104775"/>
          </a:xfrm>
          <a:prstGeom xmlns:a="http://schemas.openxmlformats.org/drawingml/2006/main" prst="ellipse">
            <a:avLst/>
          </a:prstGeom>
          <a:solidFill xmlns:a="http://schemas.openxmlformats.org/drawingml/2006/main">
            <a:srgbClr val="008C95"/>
          </a:solidFill>
          <a:ln xmlns:a="http://schemas.openxmlformats.org/drawingml/2006/main" w="9525">
            <a:solidFill>
              <a:srgbClr val="F4F7FA"/>
            </a:solidFill>
          </a:ln>
        </p:spPr>
      </p:sp>
      <p:sp>
        <p:nvSpPr>
          <p:cNvPr id="39" name="training-window-N05">
            <a:extLst xmlns:a="http://schemas.openxmlformats.org/drawingml/2006/main">
              <a:ext uri="{FF2B5EF4-FFF2-40B4-BE49-F238E27FC236}">
                <a16:creationId xmlns:a16="http://schemas.microsoft.com/office/drawing/2014/main" id="{958B2F74-987B-4356-AC93-0137FBBF6006}"/>
              </a:ext>
            </a:extLst>
          </p:cNvPr>
          <p:cNvSpPr>
            <a:spLocks xmlns:a="http://schemas.openxmlformats.org/drawingml/2006/main" noGrp="1"/>
          </p:cNvSpPr>
          <p:nvPr/>
        </p:nvSpPr>
        <p:spPr>
          <a:xfrm xmlns:a="http://schemas.openxmlformats.org/drawingml/2006/main">
            <a:off x="3233738" y="4707255"/>
            <a:ext cx="104775" cy="104775"/>
          </a:xfrm>
          <a:prstGeom xmlns:a="http://schemas.openxmlformats.org/drawingml/2006/main" prst="ellipse">
            <a:avLst/>
          </a:prstGeom>
          <a:solidFill xmlns:a="http://schemas.openxmlformats.org/drawingml/2006/main">
            <a:srgbClr val="008C95"/>
          </a:solidFill>
          <a:ln xmlns:a="http://schemas.openxmlformats.org/drawingml/2006/main" w="9525">
            <a:solidFill>
              <a:srgbClr val="F4F7FA"/>
            </a:solidFill>
          </a:ln>
        </p:spPr>
      </p:sp>
      <p:sp>
        <p:nvSpPr>
          <p:cNvPr id="40" name="training-window-N06">
            <a:extLst xmlns:a="http://schemas.openxmlformats.org/drawingml/2006/main">
              <a:ext uri="{FF2B5EF4-FFF2-40B4-BE49-F238E27FC236}">
                <a16:creationId xmlns:a16="http://schemas.microsoft.com/office/drawing/2014/main" id="{E3421F0A-15B2-4FFF-BBAD-780F87B21F96}"/>
              </a:ext>
            </a:extLst>
          </p:cNvPr>
          <p:cNvSpPr>
            <a:spLocks xmlns:a="http://schemas.openxmlformats.org/drawingml/2006/main" noGrp="1"/>
          </p:cNvSpPr>
          <p:nvPr/>
        </p:nvSpPr>
        <p:spPr>
          <a:xfrm xmlns:a="http://schemas.openxmlformats.org/drawingml/2006/main">
            <a:off x="3633788" y="4799267"/>
            <a:ext cx="104775" cy="104775"/>
          </a:xfrm>
          <a:prstGeom xmlns:a="http://schemas.openxmlformats.org/drawingml/2006/main" prst="ellipse">
            <a:avLst/>
          </a:prstGeom>
          <a:solidFill xmlns:a="http://schemas.openxmlformats.org/drawingml/2006/main">
            <a:srgbClr val="008C95"/>
          </a:solidFill>
          <a:ln xmlns:a="http://schemas.openxmlformats.org/drawingml/2006/main" w="9525">
            <a:solidFill>
              <a:srgbClr val="F4F7FA"/>
            </a:solidFill>
          </a:ln>
        </p:spPr>
      </p:sp>
      <p:sp>
        <p:nvSpPr>
          <p:cNvPr id="41" name="training-window-N07">
            <a:extLst xmlns:a="http://schemas.openxmlformats.org/drawingml/2006/main">
              <a:ext uri="{FF2B5EF4-FFF2-40B4-BE49-F238E27FC236}">
                <a16:creationId xmlns:a16="http://schemas.microsoft.com/office/drawing/2014/main" id="{C9CABEAE-DEC0-4E28-BC3A-FF17D82C2ABA}"/>
              </a:ext>
            </a:extLst>
          </p:cNvPr>
          <p:cNvSpPr>
            <a:spLocks xmlns:a="http://schemas.openxmlformats.org/drawingml/2006/main" noGrp="1"/>
          </p:cNvSpPr>
          <p:nvPr/>
        </p:nvSpPr>
        <p:spPr>
          <a:xfrm xmlns:a="http://schemas.openxmlformats.org/drawingml/2006/main">
            <a:off x="4067175" y="4615244"/>
            <a:ext cx="104775" cy="104775"/>
          </a:xfrm>
          <a:prstGeom xmlns:a="http://schemas.openxmlformats.org/drawingml/2006/main" prst="ellipse">
            <a:avLst/>
          </a:prstGeom>
          <a:solidFill xmlns:a="http://schemas.openxmlformats.org/drawingml/2006/main">
            <a:srgbClr val="008C95"/>
          </a:solidFill>
          <a:ln xmlns:a="http://schemas.openxmlformats.org/drawingml/2006/main" w="9525">
            <a:solidFill>
              <a:srgbClr val="F4F7FA"/>
            </a:solidFill>
          </a:ln>
        </p:spPr>
      </p:sp>
      <p:sp>
        <p:nvSpPr>
          <p:cNvPr id="42" name="training-window-N08">
            <a:extLst xmlns:a="http://schemas.openxmlformats.org/drawingml/2006/main">
              <a:ext uri="{FF2B5EF4-FFF2-40B4-BE49-F238E27FC236}">
                <a16:creationId xmlns:a16="http://schemas.microsoft.com/office/drawing/2014/main" id="{E44C3D26-C4C0-459B-8F14-99490720429C}"/>
              </a:ext>
            </a:extLst>
          </p:cNvPr>
          <p:cNvSpPr>
            <a:spLocks xmlns:a="http://schemas.openxmlformats.org/drawingml/2006/main" noGrp="1"/>
          </p:cNvSpPr>
          <p:nvPr/>
        </p:nvSpPr>
        <p:spPr>
          <a:xfrm xmlns:a="http://schemas.openxmlformats.org/drawingml/2006/main">
            <a:off x="4733925" y="4707255"/>
            <a:ext cx="104775" cy="104775"/>
          </a:xfrm>
          <a:prstGeom xmlns:a="http://schemas.openxmlformats.org/drawingml/2006/main" prst="ellipse">
            <a:avLst/>
          </a:prstGeom>
          <a:solidFill xmlns:a="http://schemas.openxmlformats.org/drawingml/2006/main">
            <a:srgbClr val="008C95"/>
          </a:solidFill>
          <a:ln xmlns:a="http://schemas.openxmlformats.org/drawingml/2006/main" w="9525">
            <a:solidFill>
              <a:srgbClr val="F4F7FA"/>
            </a:solidFill>
          </a:ln>
        </p:spPr>
      </p:sp>
      <p:sp>
        <p:nvSpPr>
          <p:cNvPr id="43" name="training-window-N09">
            <a:extLst xmlns:a="http://schemas.openxmlformats.org/drawingml/2006/main">
              <a:ext uri="{FF2B5EF4-FFF2-40B4-BE49-F238E27FC236}">
                <a16:creationId xmlns:a16="http://schemas.microsoft.com/office/drawing/2014/main" id="{365AF01C-8092-44E1-8ED3-03F3575DD2B6}"/>
              </a:ext>
            </a:extLst>
          </p:cNvPr>
          <p:cNvSpPr>
            <a:spLocks xmlns:a="http://schemas.openxmlformats.org/drawingml/2006/main" noGrp="1"/>
          </p:cNvSpPr>
          <p:nvPr/>
        </p:nvSpPr>
        <p:spPr>
          <a:xfrm xmlns:a="http://schemas.openxmlformats.org/drawingml/2006/main">
            <a:off x="4300538" y="4247198"/>
            <a:ext cx="104775" cy="104775"/>
          </a:xfrm>
          <a:prstGeom xmlns:a="http://schemas.openxmlformats.org/drawingml/2006/main" prst="ellipse">
            <a:avLst/>
          </a:prstGeom>
          <a:solidFill xmlns:a="http://schemas.openxmlformats.org/drawingml/2006/main">
            <a:srgbClr val="008C95"/>
          </a:solidFill>
          <a:ln xmlns:a="http://schemas.openxmlformats.org/drawingml/2006/main" w="9525">
            <a:solidFill>
              <a:srgbClr val="F4F7FA"/>
            </a:solidFill>
          </a:ln>
        </p:spPr>
      </p:sp>
      <p:sp>
        <p:nvSpPr>
          <p:cNvPr id="44" name="training-window-N10">
            <a:extLst xmlns:a="http://schemas.openxmlformats.org/drawingml/2006/main">
              <a:ext uri="{FF2B5EF4-FFF2-40B4-BE49-F238E27FC236}">
                <a16:creationId xmlns:a16="http://schemas.microsoft.com/office/drawing/2014/main" id="{908C396B-EB77-45C3-AABD-93B79797BAEF}"/>
              </a:ext>
            </a:extLst>
          </p:cNvPr>
          <p:cNvSpPr>
            <a:spLocks xmlns:a="http://schemas.openxmlformats.org/drawingml/2006/main" noGrp="1"/>
          </p:cNvSpPr>
          <p:nvPr/>
        </p:nvSpPr>
        <p:spPr>
          <a:xfrm xmlns:a="http://schemas.openxmlformats.org/drawingml/2006/main">
            <a:off x="3733800" y="3940493"/>
            <a:ext cx="104775" cy="104775"/>
          </a:xfrm>
          <a:prstGeom xmlns:a="http://schemas.openxmlformats.org/drawingml/2006/main" prst="ellipse">
            <a:avLst/>
          </a:prstGeom>
          <a:solidFill xmlns:a="http://schemas.openxmlformats.org/drawingml/2006/main">
            <a:srgbClr val="008C95"/>
          </a:solidFill>
          <a:ln xmlns:a="http://schemas.openxmlformats.org/drawingml/2006/main" w="9525">
            <a:solidFill>
              <a:srgbClr val="F4F7FA"/>
            </a:solidFill>
          </a:ln>
        </p:spPr>
      </p:sp>
      <p:sp>
        <p:nvSpPr>
          <p:cNvPr id="45" name="training-window-A01">
            <a:extLst xmlns:a="http://schemas.openxmlformats.org/drawingml/2006/main">
              <a:ext uri="{FF2B5EF4-FFF2-40B4-BE49-F238E27FC236}">
                <a16:creationId xmlns:a16="http://schemas.microsoft.com/office/drawing/2014/main" id="{5050BB8D-4B2C-491B-8511-A726DCB2A17E}"/>
              </a:ext>
            </a:extLst>
          </p:cNvPr>
          <p:cNvSpPr>
            <a:spLocks xmlns:a="http://schemas.openxmlformats.org/drawingml/2006/main" noGrp="1"/>
          </p:cNvSpPr>
          <p:nvPr/>
        </p:nvSpPr>
        <p:spPr>
          <a:xfrm xmlns:a="http://schemas.openxmlformats.org/drawingml/2006/main">
            <a:off x="4733925" y="3173730"/>
            <a:ext cx="104775" cy="104775"/>
          </a:xfrm>
          <a:prstGeom xmlns:a="http://schemas.openxmlformats.org/drawingml/2006/main" prst="ellipse">
            <a:avLst/>
          </a:prstGeom>
          <a:solidFill xmlns:a="http://schemas.openxmlformats.org/drawingml/2006/main">
            <a:srgbClr val="E85555"/>
          </a:solidFill>
          <a:ln xmlns:a="http://schemas.openxmlformats.org/drawingml/2006/main" w="9525">
            <a:solidFill>
              <a:srgbClr val="F4F7FA"/>
            </a:solidFill>
          </a:ln>
        </p:spPr>
      </p:sp>
      <p:sp>
        <p:nvSpPr>
          <p:cNvPr id="46" name="training-window-A02">
            <a:extLst xmlns:a="http://schemas.openxmlformats.org/drawingml/2006/main">
              <a:ext uri="{FF2B5EF4-FFF2-40B4-BE49-F238E27FC236}">
                <a16:creationId xmlns:a16="http://schemas.microsoft.com/office/drawing/2014/main" id="{C1B2FE31-0981-4215-B487-5F0C1F88D0D7}"/>
              </a:ext>
            </a:extLst>
          </p:cNvPr>
          <p:cNvSpPr>
            <a:spLocks xmlns:a="http://schemas.openxmlformats.org/drawingml/2006/main" noGrp="1"/>
          </p:cNvSpPr>
          <p:nvPr/>
        </p:nvSpPr>
        <p:spPr>
          <a:xfrm xmlns:a="http://schemas.openxmlformats.org/drawingml/2006/main">
            <a:off x="5233988" y="2867025"/>
            <a:ext cx="104775" cy="104775"/>
          </a:xfrm>
          <a:prstGeom xmlns:a="http://schemas.openxmlformats.org/drawingml/2006/main" prst="ellipse">
            <a:avLst/>
          </a:prstGeom>
          <a:solidFill xmlns:a="http://schemas.openxmlformats.org/drawingml/2006/main">
            <a:srgbClr val="E85555"/>
          </a:solidFill>
          <a:ln xmlns:a="http://schemas.openxmlformats.org/drawingml/2006/main" w="9525">
            <a:solidFill>
              <a:srgbClr val="F4F7FA"/>
            </a:solidFill>
          </a:ln>
        </p:spPr>
      </p:sp>
      <p:sp>
        <p:nvSpPr>
          <p:cNvPr id="47" name="training-window-A03">
            <a:extLst xmlns:a="http://schemas.openxmlformats.org/drawingml/2006/main">
              <a:ext uri="{FF2B5EF4-FFF2-40B4-BE49-F238E27FC236}">
                <a16:creationId xmlns:a16="http://schemas.microsoft.com/office/drawing/2014/main" id="{CD1F5A56-4D95-4901-9240-2E5F348FA08B}"/>
              </a:ext>
            </a:extLst>
          </p:cNvPr>
          <p:cNvSpPr>
            <a:spLocks xmlns:a="http://schemas.openxmlformats.org/drawingml/2006/main" noGrp="1"/>
          </p:cNvSpPr>
          <p:nvPr/>
        </p:nvSpPr>
        <p:spPr>
          <a:xfrm xmlns:a="http://schemas.openxmlformats.org/drawingml/2006/main">
            <a:off x="5900738" y="2652332"/>
            <a:ext cx="104775" cy="104775"/>
          </a:xfrm>
          <a:prstGeom xmlns:a="http://schemas.openxmlformats.org/drawingml/2006/main" prst="ellipse">
            <a:avLst/>
          </a:prstGeom>
          <a:solidFill xmlns:a="http://schemas.openxmlformats.org/drawingml/2006/main">
            <a:srgbClr val="E85555"/>
          </a:solidFill>
          <a:ln xmlns:a="http://schemas.openxmlformats.org/drawingml/2006/main" w="9525">
            <a:solidFill>
              <a:srgbClr val="F4F7FA"/>
            </a:solidFill>
          </a:ln>
        </p:spPr>
      </p:sp>
      <p:sp>
        <p:nvSpPr>
          <p:cNvPr id="48" name="training-window-A04">
            <a:extLst xmlns:a="http://schemas.openxmlformats.org/drawingml/2006/main">
              <a:ext uri="{FF2B5EF4-FFF2-40B4-BE49-F238E27FC236}">
                <a16:creationId xmlns:a16="http://schemas.microsoft.com/office/drawing/2014/main" id="{623E2E29-12EF-47C8-B2DD-0560EA871E9A}"/>
              </a:ext>
            </a:extLst>
          </p:cNvPr>
          <p:cNvSpPr>
            <a:spLocks xmlns:a="http://schemas.openxmlformats.org/drawingml/2006/main" noGrp="1"/>
          </p:cNvSpPr>
          <p:nvPr/>
        </p:nvSpPr>
        <p:spPr>
          <a:xfrm xmlns:a="http://schemas.openxmlformats.org/drawingml/2006/main">
            <a:off x="6567488" y="2406968"/>
            <a:ext cx="104775" cy="104775"/>
          </a:xfrm>
          <a:prstGeom xmlns:a="http://schemas.openxmlformats.org/drawingml/2006/main" prst="ellipse">
            <a:avLst/>
          </a:prstGeom>
          <a:solidFill xmlns:a="http://schemas.openxmlformats.org/drawingml/2006/main">
            <a:srgbClr val="E85555"/>
          </a:solidFill>
          <a:ln xmlns:a="http://schemas.openxmlformats.org/drawingml/2006/main" w="9525">
            <a:solidFill>
              <a:srgbClr val="F4F7FA"/>
            </a:solidFill>
          </a:ln>
        </p:spPr>
      </p:sp>
      <p:sp>
        <p:nvSpPr>
          <p:cNvPr id="49" name="training-window-A05">
            <a:extLst xmlns:a="http://schemas.openxmlformats.org/drawingml/2006/main">
              <a:ext uri="{FF2B5EF4-FFF2-40B4-BE49-F238E27FC236}">
                <a16:creationId xmlns:a16="http://schemas.microsoft.com/office/drawing/2014/main" id="{EBBA6337-40D4-4FB6-BE58-32323CF6C066}"/>
              </a:ext>
            </a:extLst>
          </p:cNvPr>
          <p:cNvSpPr>
            <a:spLocks xmlns:a="http://schemas.openxmlformats.org/drawingml/2006/main" noGrp="1"/>
          </p:cNvSpPr>
          <p:nvPr/>
        </p:nvSpPr>
        <p:spPr>
          <a:xfrm xmlns:a="http://schemas.openxmlformats.org/drawingml/2006/main">
            <a:off x="7234238" y="2345627"/>
            <a:ext cx="104775" cy="104775"/>
          </a:xfrm>
          <a:prstGeom xmlns:a="http://schemas.openxmlformats.org/drawingml/2006/main" prst="ellipse">
            <a:avLst/>
          </a:prstGeom>
          <a:solidFill xmlns:a="http://schemas.openxmlformats.org/drawingml/2006/main">
            <a:srgbClr val="E85555"/>
          </a:solidFill>
          <a:ln xmlns:a="http://schemas.openxmlformats.org/drawingml/2006/main" w="9525">
            <a:solidFill>
              <a:srgbClr val="F4F7FA"/>
            </a:solidFill>
          </a:ln>
        </p:spPr>
      </p:sp>
      <p:sp>
        <p:nvSpPr>
          <p:cNvPr id="50" name="training-window-A06">
            <a:extLst xmlns:a="http://schemas.openxmlformats.org/drawingml/2006/main">
              <a:ext uri="{FF2B5EF4-FFF2-40B4-BE49-F238E27FC236}">
                <a16:creationId xmlns:a16="http://schemas.microsoft.com/office/drawing/2014/main" id="{08174B41-4930-4156-8A76-5775B3165727}"/>
              </a:ext>
            </a:extLst>
          </p:cNvPr>
          <p:cNvSpPr>
            <a:spLocks xmlns:a="http://schemas.openxmlformats.org/drawingml/2006/main" noGrp="1"/>
          </p:cNvSpPr>
          <p:nvPr/>
        </p:nvSpPr>
        <p:spPr>
          <a:xfrm xmlns:a="http://schemas.openxmlformats.org/drawingml/2006/main">
            <a:off x="5567363" y="3173730"/>
            <a:ext cx="104775" cy="104775"/>
          </a:xfrm>
          <a:prstGeom xmlns:a="http://schemas.openxmlformats.org/drawingml/2006/main" prst="ellipse">
            <a:avLst/>
          </a:prstGeom>
          <a:solidFill xmlns:a="http://schemas.openxmlformats.org/drawingml/2006/main">
            <a:srgbClr val="E85555"/>
          </a:solidFill>
          <a:ln xmlns:a="http://schemas.openxmlformats.org/drawingml/2006/main" w="9525">
            <a:solidFill>
              <a:srgbClr val="F4F7FA"/>
            </a:solidFill>
          </a:ln>
        </p:spPr>
      </p:sp>
      <p:sp>
        <p:nvSpPr>
          <p:cNvPr id="51" name="training-window-A07">
            <a:extLst xmlns:a="http://schemas.openxmlformats.org/drawingml/2006/main">
              <a:ext uri="{FF2B5EF4-FFF2-40B4-BE49-F238E27FC236}">
                <a16:creationId xmlns:a16="http://schemas.microsoft.com/office/drawing/2014/main" id="{DD64682B-AD31-45BE-9BDA-44A20025FC19}"/>
              </a:ext>
            </a:extLst>
          </p:cNvPr>
          <p:cNvSpPr>
            <a:spLocks xmlns:a="http://schemas.openxmlformats.org/drawingml/2006/main" noGrp="1"/>
          </p:cNvSpPr>
          <p:nvPr/>
        </p:nvSpPr>
        <p:spPr>
          <a:xfrm xmlns:a="http://schemas.openxmlformats.org/drawingml/2006/main">
            <a:off x="6234113" y="2867025"/>
            <a:ext cx="104775" cy="104775"/>
          </a:xfrm>
          <a:prstGeom xmlns:a="http://schemas.openxmlformats.org/drawingml/2006/main" prst="ellipse">
            <a:avLst/>
          </a:prstGeom>
          <a:solidFill xmlns:a="http://schemas.openxmlformats.org/drawingml/2006/main">
            <a:srgbClr val="E85555"/>
          </a:solidFill>
          <a:ln xmlns:a="http://schemas.openxmlformats.org/drawingml/2006/main" w="9525">
            <a:solidFill>
              <a:srgbClr val="F4F7FA"/>
            </a:solidFill>
          </a:ln>
        </p:spPr>
      </p:sp>
      <p:sp>
        <p:nvSpPr>
          <p:cNvPr id="52" name="training-window-A08">
            <a:extLst xmlns:a="http://schemas.openxmlformats.org/drawingml/2006/main">
              <a:ext uri="{FF2B5EF4-FFF2-40B4-BE49-F238E27FC236}">
                <a16:creationId xmlns:a16="http://schemas.microsoft.com/office/drawing/2014/main" id="{AAB1AAC5-41FD-4BE0-B9D7-091CF9D756FC}"/>
              </a:ext>
            </a:extLst>
          </p:cNvPr>
          <p:cNvSpPr>
            <a:spLocks xmlns:a="http://schemas.openxmlformats.org/drawingml/2006/main" noGrp="1"/>
          </p:cNvSpPr>
          <p:nvPr/>
        </p:nvSpPr>
        <p:spPr>
          <a:xfrm xmlns:a="http://schemas.openxmlformats.org/drawingml/2006/main">
            <a:off x="4400550" y="3327083"/>
            <a:ext cx="104775" cy="104775"/>
          </a:xfrm>
          <a:prstGeom xmlns:a="http://schemas.openxmlformats.org/drawingml/2006/main" prst="ellipse">
            <a:avLst/>
          </a:prstGeom>
          <a:solidFill xmlns:a="http://schemas.openxmlformats.org/drawingml/2006/main">
            <a:srgbClr val="E85555"/>
          </a:solidFill>
          <a:ln xmlns:a="http://schemas.openxmlformats.org/drawingml/2006/main" w="9525">
            <a:solidFill>
              <a:srgbClr val="F4F7FA"/>
            </a:solidFill>
          </a:ln>
        </p:spPr>
      </p:sp>
      <p:sp>
        <p:nvSpPr>
          <p:cNvPr id="53" name="training-window-A09">
            <a:extLst xmlns:a="http://schemas.openxmlformats.org/drawingml/2006/main">
              <a:ext uri="{FF2B5EF4-FFF2-40B4-BE49-F238E27FC236}">
                <a16:creationId xmlns:a16="http://schemas.microsoft.com/office/drawing/2014/main" id="{97E7AF14-4F43-410C-B462-5EED3FCD8395}"/>
              </a:ext>
            </a:extLst>
          </p:cNvPr>
          <p:cNvSpPr>
            <a:spLocks xmlns:a="http://schemas.openxmlformats.org/drawingml/2006/main" noGrp="1"/>
          </p:cNvSpPr>
          <p:nvPr/>
        </p:nvSpPr>
        <p:spPr>
          <a:xfrm xmlns:a="http://schemas.openxmlformats.org/drawingml/2006/main">
            <a:off x="4900613" y="3633788"/>
            <a:ext cx="104775" cy="104775"/>
          </a:xfrm>
          <a:prstGeom xmlns:a="http://schemas.openxmlformats.org/drawingml/2006/main" prst="ellipse">
            <a:avLst/>
          </a:prstGeom>
          <a:solidFill xmlns:a="http://schemas.openxmlformats.org/drawingml/2006/main">
            <a:srgbClr val="E85555"/>
          </a:solidFill>
          <a:ln xmlns:a="http://schemas.openxmlformats.org/drawingml/2006/main" w="9525">
            <a:solidFill>
              <a:srgbClr val="F4F7FA"/>
            </a:solidFill>
          </a:ln>
        </p:spPr>
      </p:sp>
      <p:sp>
        <p:nvSpPr>
          <p:cNvPr id="54" name="training-window-A10">
            <a:extLst xmlns:a="http://schemas.openxmlformats.org/drawingml/2006/main">
              <a:ext uri="{FF2B5EF4-FFF2-40B4-BE49-F238E27FC236}">
                <a16:creationId xmlns:a16="http://schemas.microsoft.com/office/drawing/2014/main" id="{D07FDDCD-9AD8-4022-AF04-5A985B47916D}"/>
              </a:ext>
            </a:extLst>
          </p:cNvPr>
          <p:cNvSpPr>
            <a:spLocks xmlns:a="http://schemas.openxmlformats.org/drawingml/2006/main" noGrp="1"/>
          </p:cNvSpPr>
          <p:nvPr/>
        </p:nvSpPr>
        <p:spPr>
          <a:xfrm xmlns:a="http://schemas.openxmlformats.org/drawingml/2006/main">
            <a:off x="3900488" y="3449764"/>
            <a:ext cx="104775" cy="104775"/>
          </a:xfrm>
          <a:prstGeom xmlns:a="http://schemas.openxmlformats.org/drawingml/2006/main" prst="ellipse">
            <a:avLst/>
          </a:prstGeom>
          <a:solidFill xmlns:a="http://schemas.openxmlformats.org/drawingml/2006/main">
            <a:srgbClr val="E85555"/>
          </a:solidFill>
          <a:ln xmlns:a="http://schemas.openxmlformats.org/drawingml/2006/main" w="9525">
            <a:solidFill>
              <a:srgbClr val="F4F7FA"/>
            </a:solidFill>
          </a:ln>
        </p:spPr>
      </p:sp>
      <p:sp>
        <p:nvSpPr>
          <p:cNvPr id="55" name="text-99">
            <a:extLst xmlns:a="http://schemas.openxmlformats.org/drawingml/2006/main">
              <a:ext uri="{FF2B5EF4-FFF2-40B4-BE49-F238E27FC236}">
                <a16:creationId xmlns:a16="http://schemas.microsoft.com/office/drawing/2014/main" id="{8157DE06-7B98-40F2-A290-60B1A6F1E01A}"/>
              </a:ext>
            </a:extLst>
          </p:cNvPr>
          <p:cNvSpPr>
            <a:spLocks xmlns:a="http://schemas.openxmlformats.org/drawingml/2006/main" noGrp="1"/>
          </p:cNvSpPr>
          <p:nvPr/>
        </p:nvSpPr>
        <p:spPr>
          <a:xfrm xmlns:a="http://schemas.openxmlformats.org/drawingml/2006/main">
            <a:off x="8686800" y="2457450"/>
            <a:ext cx="28098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b="1">
                <a:solidFill>
                  <a:srgbClr val="008C95"/>
                </a:solidFill>
                <a:latin typeface="DejaVu Sans"/>
                <a:ea typeface="DejaVu Sans"/>
                <a:cs typeface="DejaVu Sans"/>
              </a:defRPr>
            </a:defPPr>
          </a:lstStyle>
          <a:p xmlns:a="http://schemas.openxmlformats.org/drawingml/2006/main">
            <a:pPr>
              <a:defRPr sz="2400" b="1">
                <a:solidFill>
                  <a:srgbClr val="008C95"/>
                </a:solidFill>
                <a:latin typeface="DejaVu Sans"/>
                <a:ea typeface="DejaVu Sans"/>
                <a:cs typeface="DejaVu Sans"/>
              </a:defRPr>
            </a:pPr>
            <a:r>
              <a:rPr sz="2400" b="1">
                <a:solidFill>
                  <a:srgbClr val="008C95"/>
                </a:solidFill>
                <a:latin typeface="DejaVu Sans"/>
                <a:ea typeface="DejaVu Sans"/>
                <a:cs typeface="DejaVu Sans"/>
              </a:rPr>
              <a:t>Норма</a:t>
            </a:r>
          </a:p>
        </p:txBody>
      </p:sp>
      <p:sp>
        <p:nvSpPr>
          <p:cNvPr id="56" name="text-100">
            <a:extLst xmlns:a="http://schemas.openxmlformats.org/drawingml/2006/main">
              <a:ext uri="{FF2B5EF4-FFF2-40B4-BE49-F238E27FC236}">
                <a16:creationId xmlns:a16="http://schemas.microsoft.com/office/drawing/2014/main" id="{44512602-A010-4DB3-A664-DC430DA9C37D}"/>
              </a:ext>
            </a:extLst>
          </p:cNvPr>
          <p:cNvSpPr>
            <a:spLocks xmlns:a="http://schemas.openxmlformats.org/drawingml/2006/main" noGrp="1"/>
          </p:cNvSpPr>
          <p:nvPr/>
        </p:nvSpPr>
        <p:spPr>
          <a:xfrm xmlns:a="http://schemas.openxmlformats.org/drawingml/2006/main">
            <a:off x="8686800" y="2962275"/>
            <a:ext cx="2809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a:ea typeface="DejaVu Sans"/>
                <a:cs typeface="DejaVu Sans"/>
              </a:defRPr>
            </a:defPPr>
          </a:lstStyle>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ниже границы</a:t>
            </a:r>
          </a:p>
        </p:txBody>
      </p:sp>
      <p:sp>
        <p:nvSpPr>
          <p:cNvPr id="57" name="text-101">
            <a:extLst xmlns:a="http://schemas.openxmlformats.org/drawingml/2006/main">
              <a:ext uri="{FF2B5EF4-FFF2-40B4-BE49-F238E27FC236}">
                <a16:creationId xmlns:a16="http://schemas.microsoft.com/office/drawing/2014/main" id="{41073224-380E-4A0A-BA23-D88C245AFEA2}"/>
              </a:ext>
            </a:extLst>
          </p:cNvPr>
          <p:cNvSpPr>
            <a:spLocks xmlns:a="http://schemas.openxmlformats.org/drawingml/2006/main" noGrp="1"/>
          </p:cNvSpPr>
          <p:nvPr/>
        </p:nvSpPr>
        <p:spPr>
          <a:xfrm xmlns:a="http://schemas.openxmlformats.org/drawingml/2006/main">
            <a:off x="8686800" y="3810000"/>
            <a:ext cx="28098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b="1">
                <a:solidFill>
                  <a:srgbClr val="E85555"/>
                </a:solidFill>
                <a:latin typeface="DejaVu Sans"/>
                <a:ea typeface="DejaVu Sans"/>
                <a:cs typeface="DejaVu Sans"/>
              </a:defRPr>
            </a:defPPr>
          </a:lstStyle>
          <a:p xmlns:a="http://schemas.openxmlformats.org/drawingml/2006/main">
            <a:pPr>
              <a:defRPr sz="2400" b="1">
                <a:solidFill>
                  <a:srgbClr val="E85555"/>
                </a:solidFill>
                <a:latin typeface="DejaVu Sans"/>
                <a:ea typeface="DejaVu Sans"/>
                <a:cs typeface="DejaVu Sans"/>
              </a:defRPr>
            </a:pPr>
            <a:r>
              <a:rPr sz="2400" b="1">
                <a:solidFill>
                  <a:srgbClr val="E85555"/>
                </a:solidFill>
                <a:latin typeface="DejaVu Sans"/>
                <a:ea typeface="DejaVu Sans"/>
                <a:cs typeface="DejaVu Sans"/>
              </a:rPr>
              <a:t>SYN-flood</a:t>
            </a:r>
          </a:p>
        </p:txBody>
      </p:sp>
      <p:sp>
        <p:nvSpPr>
          <p:cNvPr id="58" name="text-102">
            <a:extLst xmlns:a="http://schemas.openxmlformats.org/drawingml/2006/main">
              <a:ext uri="{FF2B5EF4-FFF2-40B4-BE49-F238E27FC236}">
                <a16:creationId xmlns:a16="http://schemas.microsoft.com/office/drawing/2014/main" id="{B7EB2D96-6F51-4160-8748-2C2DB17C82B8}"/>
              </a:ext>
            </a:extLst>
          </p:cNvPr>
          <p:cNvSpPr>
            <a:spLocks xmlns:a="http://schemas.openxmlformats.org/drawingml/2006/main" noGrp="1"/>
          </p:cNvSpPr>
          <p:nvPr/>
        </p:nvSpPr>
        <p:spPr>
          <a:xfrm xmlns:a="http://schemas.openxmlformats.org/drawingml/2006/main">
            <a:off x="8686800" y="4314825"/>
            <a:ext cx="2809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a:ea typeface="DejaVu Sans"/>
                <a:cs typeface="DejaVu Sans"/>
              </a:defRPr>
            </a:defPPr>
          </a:lstStyle>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выше границы</a:t>
            </a:r>
          </a:p>
        </p:txBody>
      </p:sp>
      <p:sp>
        <p:nvSpPr>
          <p:cNvPr id="59" name="text-103">
            <a:extLst xmlns:a="http://schemas.openxmlformats.org/drawingml/2006/main">
              <a:ext uri="{FF2B5EF4-FFF2-40B4-BE49-F238E27FC236}">
                <a16:creationId xmlns:a16="http://schemas.microsoft.com/office/drawing/2014/main" id="{FDD15402-B6E2-4199-ADA4-79BD1DABB7D1}"/>
              </a:ext>
            </a:extLst>
          </p:cNvPr>
          <p:cNvSpPr>
            <a:spLocks xmlns:a="http://schemas.openxmlformats.org/drawingml/2006/main" noGrp="1"/>
          </p:cNvSpPr>
          <p:nvPr/>
        </p:nvSpPr>
        <p:spPr>
          <a:xfrm xmlns:a="http://schemas.openxmlformats.org/drawingml/2006/main">
            <a:off x="952500" y="6029325"/>
            <a:ext cx="10572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00" b="0">
                <a:solidFill>
                  <a:srgbClr val="536377"/>
                </a:solidFill>
                <a:latin typeface="DejaVu Sans"/>
                <a:ea typeface="DejaVu Sans"/>
                <a:cs typeface="DejaVu Sans"/>
              </a:defRPr>
            </a:defPPr>
          </a:lstStyle>
          <a:p xmlns:a="http://schemas.openxmlformats.org/drawingml/2006/main">
            <a:pPr>
              <a:defRPr sz="1500" b="0">
                <a:solidFill>
                  <a:srgbClr val="536377"/>
                </a:solidFill>
                <a:latin typeface="DejaVu Sans"/>
                <a:ea typeface="DejaVu Sans"/>
                <a:cs typeface="DejaVu Sans"/>
              </a:defRPr>
            </a:pPr>
            <a:r>
              <a:rPr sz="1500" b="0">
                <a:solidFill>
                  <a:srgbClr val="536377"/>
                </a:solidFill>
                <a:latin typeface="DejaVu Sans"/>
                <a:ea typeface="DejaVu Sans"/>
                <a:cs typeface="DejaVu Sans"/>
              </a:rPr>
              <a:t>Показаны 20 обучающих окон; полоса перепроверки: расстояние &lt; 0,10.</a:t>
            </a:r>
          </a:p>
        </p:txBody>
      </p:sp>
    </p:spTree>
    <p:extLst>
      <p:ext uri="{BB962C8B-B14F-4D97-AF65-F5344CB8AC3E}">
        <p14:creationId xmlns:p14="http://schemas.microsoft.com/office/powerpoint/2010/main" val="1868693476"/>
      </p:ext>
    </p:extLst>
  </p:cSld>
</p:sld>
</file>

<file path=ppt/slides/slide12.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0" name="text-104">
            <a:extLst xmlns:a="http://schemas.openxmlformats.org/drawingml/2006/main">
              <a:ext uri="{FF2B5EF4-FFF2-40B4-BE49-F238E27FC236}">
                <a16:creationId xmlns:a16="http://schemas.microsoft.com/office/drawing/2014/main" id="{357C9A66-34DF-4622-9DFB-5ED0F6470168}"/>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Шаг 3. Сравниваем решения и отступы</a:t>
            </a:r>
          </a:p>
        </p:txBody>
      </p:sp>
      <p:sp>
        <p:nvSpPr>
          <p:cNvPr id="2" name="text-105">
            <a:extLst xmlns:a="http://schemas.openxmlformats.org/drawingml/2006/main">
              <a:ext uri="{FF2B5EF4-FFF2-40B4-BE49-F238E27FC236}">
                <a16:creationId xmlns:a16="http://schemas.microsoft.com/office/drawing/2014/main" id="{1068C86B-9152-4D11-881E-BAB74D5F59BB}"/>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Четыре из восьми проверок; истинный класс известен только в учебном примере</a:t>
            </a:r>
          </a:p>
        </p:txBody>
      </p:sp>
      <p:sp>
        <p:nvSpPr>
          <p:cNvPr id="3" name="">
            <a:extLst xmlns:a="http://schemas.openxmlformats.org/drawingml/2006/main">
              <a:ext uri="{FF2B5EF4-FFF2-40B4-BE49-F238E27FC236}">
                <a16:creationId xmlns:a16="http://schemas.microsoft.com/office/drawing/2014/main" id="{BC4D98E7-DB91-4B6D-A8ED-2643509038B0}"/>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106">
            <a:extLst xmlns:a="http://schemas.openxmlformats.org/drawingml/2006/main">
              <a:ext uri="{FF2B5EF4-FFF2-40B4-BE49-F238E27FC236}">
                <a16:creationId xmlns:a16="http://schemas.microsoft.com/office/drawing/2014/main" id="{0C97370D-4155-4A76-8235-997A86F577B2}"/>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  Учебный пример: SYN-flood</a:t>
            </a:r>
          </a:p>
        </p:txBody>
      </p:sp>
      <p:sp>
        <p:nvSpPr>
          <p:cNvPr id="5" name="text-107">
            <a:extLst xmlns:a="http://schemas.openxmlformats.org/drawingml/2006/main">
              <a:ext uri="{FF2B5EF4-FFF2-40B4-BE49-F238E27FC236}">
                <a16:creationId xmlns:a16="http://schemas.microsoft.com/office/drawing/2014/main" id="{6BD40E1D-911A-4F01-8126-F2DB6112D5AE}"/>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12</a:t>
            </a:r>
          </a:p>
        </p:txBody>
      </p:sp>
      <p:graphicFrame>
        <p:nvGraphicFramePr>
          <p:cNvPr id="6" name="">
            <a:extLst xmlns:a="http://schemas.openxmlformats.org/drawingml/2006/main">
              <a:ext uri="{FF2B5EF4-FFF2-40B4-BE49-F238E27FC236}">
                <a16:creationId xmlns:a16="http://schemas.microsoft.com/office/drawing/2014/main" id="{3F4D7881-5268-426C-A97B-22B2D576928A}"/>
              </a:ext>
            </a:extLst>
          </p:cNvPr>
          <p:cNvGraphicFramePr/>
          <p:nvPr/>
        </p:nvGraphicFramePr>
        <p:xfrm>
          <a:off xmlns:a="http://schemas.openxmlformats.org/drawingml/2006/main" x="571500" y="2190750"/>
          <a:ext xmlns:a="http://schemas.openxmlformats.org/drawingml/2006/main" cx="11049000" cy="2743200"/>
        </p:xfrm>
        <a:graphic xmlns:a="http://schemas.openxmlformats.org/drawingml/2006/main">
          <a:graphicData uri="http://schemas.openxmlformats.org/drawingml/2006/table">
            <a:tbl>
              <a:tblPr/>
              <a:tblGrid>
                <a:gridCol w="1052286"/>
                <a:gridCol w="3507619"/>
                <a:gridCol w="2630714"/>
                <a:gridCol w="2104571"/>
                <a:gridCol w="1753810"/>
              </a:tblGrid>
              <a:tr h="548640">
                <a:tc>
                  <a:txBody>
                    <a:bodyPr lIns="114300" tIns="95250" rIns="95250" bIns="76200"/>
                    <a:lstStyle/>
                    <a:p>
                      <a:r>
                        <a:rPr sz="1875" b="1">
                          <a:solidFill>
                            <a:srgbClr val="FFFFFF"/>
                          </a:solidFill>
                          <a:latin typeface="DejaVu Sans"/>
                          <a:ea typeface="DejaVu Sans"/>
                          <a:cs typeface="DejaVu Sans"/>
                        </a:rPr>
                        <a:t>ID</a:t>
                      </a:r>
                    </a:p>
                  </a:txBody>
                  <a:tcPr marL="91440" marR="91440" marT="45720" marB="45720" anchor="ctr">
                    <a:solidFill>
                      <a:srgbClr val="101C32"/>
                    </a:solidFill>
                  </a:tcPr>
                </a:tc>
                <a:tc>
                  <a:txBody>
                    <a:bodyPr lIns="114300" tIns="95250" rIns="95250" bIns="76200"/>
                    <a:lstStyle/>
                    <a:p>
                      <a:r>
                        <a:rPr sz="1875" b="1">
                          <a:solidFill>
                            <a:srgbClr val="FFFFFF"/>
                          </a:solidFill>
                          <a:latin typeface="DejaVu Sans"/>
                          <a:ea typeface="DejaVu Sans"/>
                          <a:cs typeface="DejaVu Sans"/>
                        </a:rPr>
                        <a:t>SYN/с; не завершены</a:t>
                      </a:r>
                    </a:p>
                  </a:txBody>
                  <a:tcPr marL="91440" marR="91440" marT="45720" marB="45720" anchor="ctr">
                    <a:solidFill>
                      <a:srgbClr val="101C32"/>
                    </a:solidFill>
                  </a:tcPr>
                </a:tc>
                <a:tc>
                  <a:txBody>
                    <a:bodyPr lIns="114300" tIns="95250" rIns="95250" bIns="76200"/>
                    <a:lstStyle/>
                    <a:p>
                      <a:r>
                        <a:rPr sz="1875" b="1">
                          <a:solidFill>
                            <a:srgbClr val="FFFFFF"/>
                          </a:solidFill>
                          <a:latin typeface="DejaVu Sans"/>
                          <a:ea typeface="DejaVu Sans"/>
                          <a:cs typeface="DejaVu Sans"/>
                        </a:rPr>
                        <a:t>На самом деле</a:t>
                      </a:r>
                    </a:p>
                  </a:txBody>
                  <a:tcPr marL="91440" marR="91440" marT="45720" marB="45720" anchor="ctr">
                    <a:solidFill>
                      <a:srgbClr val="101C32"/>
                    </a:solidFill>
                  </a:tcPr>
                </a:tc>
                <a:tc>
                  <a:txBody>
                    <a:bodyPr lIns="114300" tIns="95250" rIns="95250" bIns="76200"/>
                    <a:lstStyle/>
                    <a:p>
                      <a:r>
                        <a:rPr sz="1875" b="1">
                          <a:solidFill>
                            <a:srgbClr val="FFFFFF"/>
                          </a:solidFill>
                          <a:latin typeface="DejaVu Sans"/>
                          <a:ea typeface="DejaVu Sans"/>
                          <a:cs typeface="DejaVu Sans"/>
                        </a:rPr>
                        <a:t>Модель</a:t>
                      </a:r>
                    </a:p>
                  </a:txBody>
                  <a:tcPr marL="91440" marR="91440" marT="45720" marB="45720" anchor="ctr">
                    <a:solidFill>
                      <a:srgbClr val="101C32"/>
                    </a:solidFill>
                  </a:tcPr>
                </a:tc>
                <a:tc>
                  <a:txBody>
                    <a:bodyPr lIns="114300" tIns="95250" rIns="95250" bIns="76200"/>
                    <a:lstStyle/>
                    <a:p>
                      <a:r>
                        <a:rPr sz="1875" b="1">
                          <a:solidFill>
                            <a:srgbClr val="FFFFFF"/>
                          </a:solidFill>
                          <a:latin typeface="DejaVu Sans"/>
                          <a:ea typeface="DejaVu Sans"/>
                          <a:cs typeface="DejaVu Sans"/>
                        </a:rPr>
                        <a:t>Запас¹</a:t>
                      </a:r>
                    </a:p>
                  </a:txBody>
                  <a:tcPr marL="91440" marR="91440" marT="45720" marB="45720" anchor="ctr">
                    <a:solidFill>
                      <a:srgbClr val="101C32"/>
                    </a:solidFill>
                  </a:tcPr>
                </a:tc>
              </a:tr>
              <a:tr h="548640">
                <a:tc>
                  <a:txBody>
                    <a:bodyPr lIns="114300" tIns="95250" rIns="95250" bIns="76200"/>
                    <a:lstStyle/>
                    <a:p>
                      <a:r>
                        <a:rPr sz="1875" b="0">
                          <a:solidFill>
                            <a:srgbClr val="101C32"/>
                          </a:solidFill>
                          <a:latin typeface="DejaVu Sans"/>
                          <a:ea typeface="DejaVu Sans"/>
                          <a:cs typeface="DejaVu Sans"/>
                        </a:rPr>
                        <a:t>T01</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420; 9%</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Норма</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Норма</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0,551</a:t>
                      </a:r>
                    </a:p>
                  </a:txBody>
                  <a:tcPr marL="91440" marR="91440" marT="45720" marB="45720" anchor="ctr">
                    <a:solidFill>
                      <a:srgbClr val="FFFFFF"/>
                    </a:solidFill>
                  </a:tcPr>
                </a:tc>
              </a:tr>
              <a:tr h="548640">
                <a:tc>
                  <a:txBody>
                    <a:bodyPr lIns="114300" tIns="95250" rIns="95250" bIns="76200"/>
                    <a:lstStyle/>
                    <a:p>
                      <a:r>
                        <a:rPr sz="1875" b="0">
                          <a:solidFill>
                            <a:srgbClr val="101C32"/>
                          </a:solidFill>
                          <a:latin typeface="DejaVu Sans"/>
                          <a:ea typeface="DejaVu Sans"/>
                          <a:cs typeface="DejaVu Sans"/>
                        </a:rPr>
                        <a:t>T02</a:t>
                      </a:r>
                    </a:p>
                  </a:txBody>
                  <a:tcPr marL="91440" marR="91440" marT="45720" marB="45720" anchor="ctr">
                    <a:solidFill>
                      <a:srgbClr val="EAF0F4"/>
                    </a:solidFill>
                  </a:tcPr>
                </a:tc>
                <a:tc>
                  <a:txBody>
                    <a:bodyPr lIns="114300" tIns="95250" rIns="95250" bIns="76200"/>
                    <a:lstStyle/>
                    <a:p>
                      <a:r>
                        <a:rPr sz="1875" b="0">
                          <a:solidFill>
                            <a:srgbClr val="101C32"/>
                          </a:solidFill>
                          <a:latin typeface="DejaVu Sans"/>
                          <a:ea typeface="DejaVu Sans"/>
                          <a:cs typeface="DejaVu Sans"/>
                        </a:rPr>
                        <a:t>1550; 88%</a:t>
                      </a:r>
                    </a:p>
                  </a:txBody>
                  <a:tcPr marL="91440" marR="91440" marT="45720" marB="45720" anchor="ctr">
                    <a:solidFill>
                      <a:srgbClr val="EAF0F4"/>
                    </a:solidFill>
                  </a:tcPr>
                </a:tc>
                <a:tc>
                  <a:txBody>
                    <a:bodyPr lIns="114300" tIns="95250" rIns="95250" bIns="76200"/>
                    <a:lstStyle/>
                    <a:p>
                      <a:r>
                        <a:rPr sz="1875" b="0">
                          <a:solidFill>
                            <a:srgbClr val="101C32"/>
                          </a:solidFill>
                          <a:latin typeface="DejaVu Sans"/>
                          <a:ea typeface="DejaVu Sans"/>
                          <a:cs typeface="DejaVu Sans"/>
                        </a:rPr>
                        <a:t>Атака</a:t>
                      </a:r>
                    </a:p>
                  </a:txBody>
                  <a:tcPr marL="91440" marR="91440" marT="45720" marB="45720" anchor="ctr">
                    <a:solidFill>
                      <a:srgbClr val="EAF0F4"/>
                    </a:solidFill>
                  </a:tcPr>
                </a:tc>
                <a:tc>
                  <a:txBody>
                    <a:bodyPr lIns="114300" tIns="95250" rIns="95250" bIns="76200"/>
                    <a:lstStyle/>
                    <a:p>
                      <a:r>
                        <a:rPr sz="1875" b="0">
                          <a:solidFill>
                            <a:srgbClr val="101C32"/>
                          </a:solidFill>
                          <a:latin typeface="DejaVu Sans"/>
                          <a:ea typeface="DejaVu Sans"/>
                          <a:cs typeface="DejaVu Sans"/>
                        </a:rPr>
                        <a:t>Атака</a:t>
                      </a:r>
                    </a:p>
                  </a:txBody>
                  <a:tcPr marL="91440" marR="91440" marT="45720" marB="45720" anchor="ctr">
                    <a:solidFill>
                      <a:srgbClr val="EAF0F4"/>
                    </a:solidFill>
                  </a:tcPr>
                </a:tc>
                <a:tc>
                  <a:txBody>
                    <a:bodyPr lIns="114300" tIns="95250" rIns="95250" bIns="76200"/>
                    <a:lstStyle/>
                    <a:p>
                      <a:r>
                        <a:rPr sz="1875" b="0">
                          <a:solidFill>
                            <a:srgbClr val="101C32"/>
                          </a:solidFill>
                          <a:latin typeface="DejaVu Sans"/>
                          <a:ea typeface="DejaVu Sans"/>
                          <a:cs typeface="DejaVu Sans"/>
                        </a:rPr>
                        <a:t>0,697</a:t>
                      </a:r>
                    </a:p>
                  </a:txBody>
                  <a:tcPr marL="91440" marR="91440" marT="45720" marB="45720" anchor="ctr">
                    <a:solidFill>
                      <a:srgbClr val="EAF0F4"/>
                    </a:solidFill>
                  </a:tcPr>
                </a:tc>
              </a:tr>
              <a:tr h="548640">
                <a:tc>
                  <a:txBody>
                    <a:bodyPr lIns="114300" tIns="95250" rIns="95250" bIns="76200"/>
                    <a:lstStyle/>
                    <a:p>
                      <a:r>
                        <a:rPr sz="1875" b="0">
                          <a:solidFill>
                            <a:srgbClr val="101C32"/>
                          </a:solidFill>
                          <a:latin typeface="DejaVu Sans"/>
                          <a:ea typeface="DejaVu Sans"/>
                          <a:cs typeface="DejaVu Sans"/>
                        </a:rPr>
                        <a:t>T04</a:t>
                      </a:r>
                    </a:p>
                  </a:txBody>
                  <a:tcPr marL="91440" marR="91440" marT="45720" marB="45720" anchor="ctr">
                    <a:solidFill>
                      <a:srgbClr val="FBE4E4"/>
                    </a:solidFill>
                  </a:tcPr>
                </a:tc>
                <a:tc>
                  <a:txBody>
                    <a:bodyPr lIns="114300" tIns="95250" rIns="95250" bIns="76200"/>
                    <a:lstStyle/>
                    <a:p>
                      <a:r>
                        <a:rPr sz="1875" b="0">
                          <a:solidFill>
                            <a:srgbClr val="101C32"/>
                          </a:solidFill>
                          <a:latin typeface="DejaVu Sans"/>
                          <a:ea typeface="DejaVu Sans"/>
                          <a:cs typeface="DejaVu Sans"/>
                        </a:rPr>
                        <a:t>900; 40%</a:t>
                      </a:r>
                    </a:p>
                  </a:txBody>
                  <a:tcPr marL="91440" marR="91440" marT="45720" marB="45720" anchor="ctr">
                    <a:solidFill>
                      <a:srgbClr val="FBE4E4"/>
                    </a:solidFill>
                  </a:tcPr>
                </a:tc>
                <a:tc>
                  <a:txBody>
                    <a:bodyPr lIns="114300" tIns="95250" rIns="95250" bIns="76200"/>
                    <a:lstStyle/>
                    <a:p>
                      <a:r>
                        <a:rPr sz="1875" b="0">
                          <a:solidFill>
                            <a:srgbClr val="101C32"/>
                          </a:solidFill>
                          <a:latin typeface="DejaVu Sans"/>
                          <a:ea typeface="DejaVu Sans"/>
                          <a:cs typeface="DejaVu Sans"/>
                        </a:rPr>
                        <a:t>Атака</a:t>
                      </a:r>
                    </a:p>
                  </a:txBody>
                  <a:tcPr marL="91440" marR="91440" marT="45720" marB="45720" anchor="ctr">
                    <a:solidFill>
                      <a:srgbClr val="FBE4E4"/>
                    </a:solidFill>
                  </a:tcPr>
                </a:tc>
                <a:tc>
                  <a:txBody>
                    <a:bodyPr lIns="114300" tIns="95250" rIns="95250" bIns="76200"/>
                    <a:lstStyle/>
                    <a:p>
                      <a:r>
                        <a:rPr sz="1875" b="0">
                          <a:solidFill>
                            <a:srgbClr val="101C32"/>
                          </a:solidFill>
                          <a:latin typeface="DejaVu Sans"/>
                          <a:ea typeface="DejaVu Sans"/>
                          <a:cs typeface="DejaVu Sans"/>
                        </a:rPr>
                        <a:t>Норма</a:t>
                      </a:r>
                    </a:p>
                  </a:txBody>
                  <a:tcPr marL="91440" marR="91440" marT="45720" marB="45720" anchor="ctr">
                    <a:solidFill>
                      <a:srgbClr val="FBE4E4"/>
                    </a:solidFill>
                  </a:tcPr>
                </a:tc>
                <a:tc>
                  <a:txBody>
                    <a:bodyPr lIns="114300" tIns="95250" rIns="95250" bIns="76200"/>
                    <a:lstStyle/>
                    <a:p>
                      <a:r>
                        <a:rPr sz="1875" b="0">
                          <a:solidFill>
                            <a:srgbClr val="101C32"/>
                          </a:solidFill>
                          <a:latin typeface="DejaVu Sans"/>
                          <a:ea typeface="DejaVu Sans"/>
                          <a:cs typeface="DejaVu Sans"/>
                        </a:rPr>
                        <a:t>0,043</a:t>
                      </a:r>
                    </a:p>
                  </a:txBody>
                  <a:tcPr marL="91440" marR="91440" marT="45720" marB="45720" anchor="ctr">
                    <a:solidFill>
                      <a:srgbClr val="FBE4E4"/>
                    </a:solidFill>
                  </a:tcPr>
                </a:tc>
              </a:tr>
              <a:tr h="548640">
                <a:tc>
                  <a:txBody>
                    <a:bodyPr lIns="114300" tIns="95250" rIns="95250" bIns="76200"/>
                    <a:lstStyle/>
                    <a:p>
                      <a:r>
                        <a:rPr sz="1875" b="0">
                          <a:solidFill>
                            <a:srgbClr val="101C32"/>
                          </a:solidFill>
                          <a:latin typeface="DejaVu Sans"/>
                          <a:ea typeface="DejaVu Sans"/>
                          <a:cs typeface="DejaVu Sans"/>
                        </a:rPr>
                        <a:t>T05</a:t>
                      </a:r>
                    </a:p>
                  </a:txBody>
                  <a:tcPr marL="91440" marR="91440" marT="45720" marB="45720" anchor="ctr">
                    <a:solidFill>
                      <a:srgbClr val="FBE4E4"/>
                    </a:solidFill>
                  </a:tcPr>
                </a:tc>
                <a:tc>
                  <a:txBody>
                    <a:bodyPr lIns="114300" tIns="95250" rIns="95250" bIns="76200"/>
                    <a:lstStyle/>
                    <a:p>
                      <a:r>
                        <a:rPr sz="1875" b="0">
                          <a:solidFill>
                            <a:srgbClr val="101C32"/>
                          </a:solidFill>
                          <a:latin typeface="DejaVu Sans"/>
                          <a:ea typeface="DejaVu Sans"/>
                          <a:cs typeface="DejaVu Sans"/>
                        </a:rPr>
                        <a:t>1000; 42%</a:t>
                      </a:r>
                    </a:p>
                  </a:txBody>
                  <a:tcPr marL="91440" marR="91440" marT="45720" marB="45720" anchor="ctr">
                    <a:solidFill>
                      <a:srgbClr val="FBE4E4"/>
                    </a:solidFill>
                  </a:tcPr>
                </a:tc>
                <a:tc>
                  <a:txBody>
                    <a:bodyPr lIns="114300" tIns="95250" rIns="95250" bIns="76200"/>
                    <a:lstStyle/>
                    <a:p>
                      <a:r>
                        <a:rPr sz="1875" b="0">
                          <a:solidFill>
                            <a:srgbClr val="101C32"/>
                          </a:solidFill>
                          <a:latin typeface="DejaVu Sans"/>
                          <a:ea typeface="DejaVu Sans"/>
                          <a:cs typeface="DejaVu Sans"/>
                        </a:rPr>
                        <a:t>Норма</a:t>
                      </a:r>
                    </a:p>
                  </a:txBody>
                  <a:tcPr marL="91440" marR="91440" marT="45720" marB="45720" anchor="ctr">
                    <a:solidFill>
                      <a:srgbClr val="FBE4E4"/>
                    </a:solidFill>
                  </a:tcPr>
                </a:tc>
                <a:tc>
                  <a:txBody>
                    <a:bodyPr lIns="114300" tIns="95250" rIns="95250" bIns="76200"/>
                    <a:lstStyle/>
                    <a:p>
                      <a:r>
                        <a:rPr sz="1875" b="0">
                          <a:solidFill>
                            <a:srgbClr val="101C32"/>
                          </a:solidFill>
                          <a:latin typeface="DejaVu Sans"/>
                          <a:ea typeface="DejaVu Sans"/>
                          <a:cs typeface="DejaVu Sans"/>
                        </a:rPr>
                        <a:t>Атака</a:t>
                      </a:r>
                    </a:p>
                  </a:txBody>
                  <a:tcPr marL="91440" marR="91440" marT="45720" marB="45720" anchor="ctr">
                    <a:solidFill>
                      <a:srgbClr val="FBE4E4"/>
                    </a:solidFill>
                  </a:tcPr>
                </a:tc>
                <a:tc>
                  <a:txBody>
                    <a:bodyPr lIns="114300" tIns="95250" rIns="95250" bIns="76200"/>
                    <a:lstStyle/>
                    <a:p>
                      <a:r>
                        <a:rPr sz="1875" b="0">
                          <a:solidFill>
                            <a:srgbClr val="101C32"/>
                          </a:solidFill>
                          <a:latin typeface="DejaVu Sans"/>
                          <a:ea typeface="DejaVu Sans"/>
                          <a:cs typeface="DejaVu Sans"/>
                        </a:rPr>
                        <a:t>0,024</a:t>
                      </a:r>
                    </a:p>
                  </a:txBody>
                  <a:tcPr marL="91440" marR="91440" marT="45720" marB="45720" anchor="ctr">
                    <a:solidFill>
                      <a:srgbClr val="FBE4E4"/>
                    </a:solidFill>
                  </a:tcPr>
                </a:tc>
              </a:tr>
            </a:tbl>
          </a:graphicData>
        </a:graphic>
      </p:graphicFrame>
      <p:sp>
        <p:nvSpPr>
          <p:cNvPr id="7" name="text-108">
            <a:extLst xmlns:a="http://schemas.openxmlformats.org/drawingml/2006/main">
              <a:ext uri="{FF2B5EF4-FFF2-40B4-BE49-F238E27FC236}">
                <a16:creationId xmlns:a16="http://schemas.microsoft.com/office/drawing/2014/main" id="{D616911D-A6F9-4C09-B859-BB2752067851}"/>
              </a:ext>
            </a:extLst>
          </p:cNvPr>
          <p:cNvSpPr>
            <a:spLocks xmlns:a="http://schemas.openxmlformats.org/drawingml/2006/main" noGrp="1"/>
          </p:cNvSpPr>
          <p:nvPr/>
        </p:nvSpPr>
        <p:spPr>
          <a:xfrm xmlns:a="http://schemas.openxmlformats.org/drawingml/2006/main">
            <a:off x="571500" y="5248275"/>
            <a:ext cx="11049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¹ Запас — расстояние до границы в масштабе признаков, не процент вероятности.</a:t>
            </a:r>
          </a:p>
        </p:txBody>
      </p:sp>
      <p:sp>
        <p:nvSpPr>
          <p:cNvPr id="8" name="">
            <a:extLst xmlns:a="http://schemas.openxmlformats.org/drawingml/2006/main">
              <a:ext uri="{FF2B5EF4-FFF2-40B4-BE49-F238E27FC236}">
                <a16:creationId xmlns:a16="http://schemas.microsoft.com/office/drawing/2014/main" id="{516CBE90-A8BD-470F-B7BE-34CBE6C91B80}"/>
              </a:ext>
            </a:extLst>
          </p:cNvPr>
          <p:cNvSpPr>
            <a:spLocks xmlns:a="http://schemas.openxmlformats.org/drawingml/2006/main" noGrp="1"/>
          </p:cNvSpPr>
          <p:nvPr/>
        </p:nvSpPr>
        <p:spPr>
          <a:xfrm xmlns:a="http://schemas.openxmlformats.org/drawingml/2006/main">
            <a:off x="571500" y="5705475"/>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9" name="text-109">
            <a:extLst xmlns:a="http://schemas.openxmlformats.org/drawingml/2006/main">
              <a:ext uri="{FF2B5EF4-FFF2-40B4-BE49-F238E27FC236}">
                <a16:creationId xmlns:a16="http://schemas.microsoft.com/office/drawing/2014/main" id="{222CA297-FCEE-4C5A-B913-C4BE3F9AC5CE}"/>
              </a:ext>
            </a:extLst>
          </p:cNvPr>
          <p:cNvSpPr>
            <a:spLocks xmlns:a="http://schemas.openxmlformats.org/drawingml/2006/main" noGrp="1"/>
          </p:cNvSpPr>
          <p:nvPr/>
        </p:nvSpPr>
        <p:spPr>
          <a:xfrm xmlns:a="http://schemas.openxmlformats.org/drawingml/2006/main">
            <a:off x="571500" y="5867400"/>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Модель может ошибаться. В двух выделенных случаях запас мал</a:t>
            </a:r>
          </a:p>
        </p:txBody>
      </p:sp>
    </p:spTree>
    <p:extLst>
      <p:ext uri="{BB962C8B-B14F-4D97-AF65-F5344CB8AC3E}">
        <p14:creationId xmlns:p14="http://schemas.microsoft.com/office/powerpoint/2010/main" val="1635302991"/>
      </p:ext>
    </p:extLst>
  </p:cSld>
</p:sld>
</file>

<file path=ppt/slides/slide13.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3" name="text-110">
            <a:extLst xmlns:a="http://schemas.openxmlformats.org/drawingml/2006/main">
              <a:ext uri="{FF2B5EF4-FFF2-40B4-BE49-F238E27FC236}">
                <a16:creationId xmlns:a16="http://schemas.microsoft.com/office/drawing/2014/main" id="{86987FE3-C695-4DDA-8E6C-CB1BB06F83D8}"/>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Две ошибки с разными последствиями</a:t>
            </a:r>
          </a:p>
        </p:txBody>
      </p:sp>
      <p:sp>
        <p:nvSpPr>
          <p:cNvPr id="2" name="text-111">
            <a:extLst xmlns:a="http://schemas.openxmlformats.org/drawingml/2006/main">
              <a:ext uri="{FF2B5EF4-FFF2-40B4-BE49-F238E27FC236}">
                <a16:creationId xmlns:a16="http://schemas.microsoft.com/office/drawing/2014/main" id="{A361603E-23C5-441D-BDDB-321B5D727906}"/>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Именно эти случаи важно разобрать специалисту ИБ</a:t>
            </a:r>
          </a:p>
        </p:txBody>
      </p:sp>
      <p:sp>
        <p:nvSpPr>
          <p:cNvPr id="3" name="">
            <a:extLst xmlns:a="http://schemas.openxmlformats.org/drawingml/2006/main">
              <a:ext uri="{FF2B5EF4-FFF2-40B4-BE49-F238E27FC236}">
                <a16:creationId xmlns:a16="http://schemas.microsoft.com/office/drawing/2014/main" id="{431845C7-4B2F-4FBC-9E57-F8A8F21312D0}"/>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112">
            <a:extLst xmlns:a="http://schemas.openxmlformats.org/drawingml/2006/main">
              <a:ext uri="{FF2B5EF4-FFF2-40B4-BE49-F238E27FC236}">
                <a16:creationId xmlns:a16="http://schemas.microsoft.com/office/drawing/2014/main" id="{C7C80C94-4454-422D-BC7C-07CE341E4DCD}"/>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  Задание · [8]; результаты учебных проверок</a:t>
            </a:r>
          </a:p>
        </p:txBody>
      </p:sp>
      <p:sp>
        <p:nvSpPr>
          <p:cNvPr id="5" name="text-113">
            <a:extLst xmlns:a="http://schemas.openxmlformats.org/drawingml/2006/main">
              <a:ext uri="{FF2B5EF4-FFF2-40B4-BE49-F238E27FC236}">
                <a16:creationId xmlns:a16="http://schemas.microsoft.com/office/drawing/2014/main" id="{336CF4CE-8171-4DCF-955C-A9402EC60E1E}"/>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13</a:t>
            </a:r>
          </a:p>
        </p:txBody>
      </p:sp>
      <p:sp>
        <p:nvSpPr>
          <p:cNvPr id="6" name="text-114">
            <a:extLst xmlns:a="http://schemas.openxmlformats.org/drawingml/2006/main">
              <a:ext uri="{FF2B5EF4-FFF2-40B4-BE49-F238E27FC236}">
                <a16:creationId xmlns:a16="http://schemas.microsoft.com/office/drawing/2014/main" id="{DD88DC6F-A224-4B80-A6D3-1CB9D408D039}"/>
              </a:ext>
            </a:extLst>
          </p:cNvPr>
          <p:cNvSpPr>
            <a:spLocks xmlns:a="http://schemas.openxmlformats.org/drawingml/2006/main" noGrp="1"/>
          </p:cNvSpPr>
          <p:nvPr/>
        </p:nvSpPr>
        <p:spPr>
          <a:xfrm xmlns:a="http://schemas.openxmlformats.org/drawingml/2006/main">
            <a:off x="571500" y="2162175"/>
            <a:ext cx="5191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E85555"/>
                </a:solidFill>
                <a:latin typeface="DejaVu Sans"/>
                <a:ea typeface="DejaVu Sans"/>
                <a:cs typeface="DejaVu Sans"/>
              </a:defRPr>
            </a:defPPr>
          </a:lstStyle>
          <a:p xmlns:a="http://schemas.openxmlformats.org/drawingml/2006/main">
            <a:pPr>
              <a:defRPr sz="2175" b="1">
                <a:solidFill>
                  <a:srgbClr val="E85555"/>
                </a:solidFill>
                <a:latin typeface="DejaVu Sans"/>
                <a:ea typeface="DejaVu Sans"/>
                <a:cs typeface="DejaVu Sans"/>
              </a:defRPr>
            </a:pPr>
            <a:r>
              <a:rPr sz="2175" b="1">
                <a:solidFill>
                  <a:srgbClr val="E85555"/>
                </a:solidFill>
                <a:latin typeface="DejaVu Sans"/>
                <a:ea typeface="DejaVu Sans"/>
                <a:cs typeface="DejaVu Sans"/>
              </a:rPr>
              <a:t>T04 · пропуск атаки</a:t>
            </a:r>
          </a:p>
        </p:txBody>
      </p:sp>
      <p:sp>
        <p:nvSpPr>
          <p:cNvPr id="7" name="text-115">
            <a:extLst xmlns:a="http://schemas.openxmlformats.org/drawingml/2006/main">
              <a:ext uri="{FF2B5EF4-FFF2-40B4-BE49-F238E27FC236}">
                <a16:creationId xmlns:a16="http://schemas.microsoft.com/office/drawing/2014/main" id="{EE5D3537-ADE0-4DEA-A106-5D596E2044C3}"/>
              </a:ext>
            </a:extLst>
          </p:cNvPr>
          <p:cNvSpPr>
            <a:spLocks xmlns:a="http://schemas.openxmlformats.org/drawingml/2006/main" noGrp="1"/>
          </p:cNvSpPr>
          <p:nvPr/>
        </p:nvSpPr>
        <p:spPr>
          <a:xfrm xmlns:a="http://schemas.openxmlformats.org/drawingml/2006/main">
            <a:off x="571500" y="2695575"/>
            <a:ext cx="51911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a:ea typeface="DejaVu Sans"/>
                <a:cs typeface="DejaVu Sans"/>
              </a:defRPr>
            </a:defPPr>
          </a:lstStyle>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Был SYN-flood → модель сказала «норма»</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Риск: вовремя не заметить</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нарушение доступности сервиса</a:t>
            </a:r>
          </a:p>
        </p:txBody>
      </p:sp>
      <p:sp>
        <p:nvSpPr>
          <p:cNvPr id="8" name="text-116">
            <a:extLst xmlns:a="http://schemas.openxmlformats.org/drawingml/2006/main">
              <a:ext uri="{FF2B5EF4-FFF2-40B4-BE49-F238E27FC236}">
                <a16:creationId xmlns:a16="http://schemas.microsoft.com/office/drawing/2014/main" id="{B170A2DB-FCF3-45CD-922D-7C925B75C4B2}"/>
              </a:ext>
            </a:extLst>
          </p:cNvPr>
          <p:cNvSpPr>
            <a:spLocks xmlns:a="http://schemas.openxmlformats.org/drawingml/2006/main" noGrp="1"/>
          </p:cNvSpPr>
          <p:nvPr/>
        </p:nvSpPr>
        <p:spPr>
          <a:xfrm xmlns:a="http://schemas.openxmlformats.org/drawingml/2006/main">
            <a:off x="6286500" y="216217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9C700C"/>
                </a:solidFill>
                <a:latin typeface="DejaVu Sans"/>
                <a:ea typeface="DejaVu Sans"/>
                <a:cs typeface="DejaVu Sans"/>
              </a:defRPr>
            </a:defPPr>
          </a:lstStyle>
          <a:p xmlns:a="http://schemas.openxmlformats.org/drawingml/2006/main">
            <a:pPr>
              <a:defRPr sz="2175" b="1">
                <a:solidFill>
                  <a:srgbClr val="9C700C"/>
                </a:solidFill>
                <a:latin typeface="DejaVu Sans"/>
                <a:ea typeface="DejaVu Sans"/>
                <a:cs typeface="DejaVu Sans"/>
              </a:defRPr>
            </a:pPr>
            <a:r>
              <a:rPr sz="2175" b="1">
                <a:solidFill>
                  <a:srgbClr val="9C700C"/>
                </a:solidFill>
                <a:latin typeface="DejaVu Sans"/>
                <a:ea typeface="DejaVu Sans"/>
                <a:cs typeface="DejaVu Sans"/>
              </a:rPr>
              <a:t>T05 · ложная тревога</a:t>
            </a:r>
          </a:p>
        </p:txBody>
      </p:sp>
      <p:sp>
        <p:nvSpPr>
          <p:cNvPr id="9" name="text-117">
            <a:extLst xmlns:a="http://schemas.openxmlformats.org/drawingml/2006/main">
              <a:ext uri="{FF2B5EF4-FFF2-40B4-BE49-F238E27FC236}">
                <a16:creationId xmlns:a16="http://schemas.microsoft.com/office/drawing/2014/main" id="{507C8370-10D5-4FBA-A20B-BE11AA6E2527}"/>
              </a:ext>
            </a:extLst>
          </p:cNvPr>
          <p:cNvSpPr>
            <a:spLocks xmlns:a="http://schemas.openxmlformats.org/drawingml/2006/main" noGrp="1"/>
          </p:cNvSpPr>
          <p:nvPr/>
        </p:nvSpPr>
        <p:spPr>
          <a:xfrm xmlns:a="http://schemas.openxmlformats.org/drawingml/2006/main">
            <a:off x="6286500" y="2695575"/>
            <a:ext cx="5238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a:ea typeface="DejaVu Sans"/>
                <a:cs typeface="DejaVu Sans"/>
              </a:defRPr>
            </a:defPPr>
          </a:lstStyle>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Был нормальный трафик → модель</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сказала «атака»</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Риск: помешать легитимным клиентам</a:t>
            </a:r>
          </a:p>
        </p:txBody>
      </p:sp>
      <p:sp>
        <p:nvSpPr>
          <p:cNvPr id="10" name="text-118">
            <a:extLst xmlns:a="http://schemas.openxmlformats.org/drawingml/2006/main">
              <a:ext uri="{FF2B5EF4-FFF2-40B4-BE49-F238E27FC236}">
                <a16:creationId xmlns:a16="http://schemas.microsoft.com/office/drawing/2014/main" id="{FC754525-E41F-4072-88A5-E99EA251848C}"/>
              </a:ext>
            </a:extLst>
          </p:cNvPr>
          <p:cNvSpPr>
            <a:spLocks xmlns:a="http://schemas.openxmlformats.org/drawingml/2006/main" noGrp="1"/>
          </p:cNvSpPr>
          <p:nvPr/>
        </p:nvSpPr>
        <p:spPr>
          <a:xfrm xmlns:a="http://schemas.openxmlformats.org/drawingml/2006/main">
            <a:off x="571500" y="4448175"/>
            <a:ext cx="1104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01C32"/>
                </a:solidFill>
                <a:latin typeface="DejaVu Sans"/>
                <a:ea typeface="DejaVu Sans"/>
                <a:cs typeface="DejaVu Sans"/>
              </a:defRPr>
            </a:defPPr>
          </a:lstStyle>
          <a:p xmlns:a="http://schemas.openxmlformats.org/drawingml/2006/main">
            <a:pPr>
              <a:defRPr sz="2100" b="0">
                <a:solidFill>
                  <a:srgbClr val="101C32"/>
                </a:solidFill>
                <a:latin typeface="DejaVu Sans"/>
                <a:ea typeface="DejaVu Sans"/>
                <a:cs typeface="DejaVu Sans"/>
              </a:defRPr>
            </a:pPr>
            <a:r>
              <a:rPr sz="2100" b="0">
                <a:solidFill>
                  <a:srgbClr val="101C32"/>
                </a:solidFill>
                <a:latin typeface="DejaVu Sans"/>
                <a:ea typeface="DejaVu Sans"/>
                <a:cs typeface="DejaVu Sans"/>
              </a:rPr>
              <a:t>Двух признаков может быть недостаточно: потери пакетов</a:t>
            </a:r>
          </a:p>
          <a:p xmlns:a="http://schemas.openxmlformats.org/drawingml/2006/main">
            <a:pPr>
              <a:defRPr sz="2100" b="0">
                <a:solidFill>
                  <a:srgbClr val="101C32"/>
                </a:solidFill>
                <a:latin typeface="DejaVu Sans"/>
                <a:ea typeface="DejaVu Sans"/>
                <a:cs typeface="DejaVu Sans"/>
              </a:defRPr>
            </a:pPr>
            <a:r>
              <a:rPr sz="2100" b="0">
                <a:solidFill>
                  <a:srgbClr val="101C32"/>
                </a:solidFill>
                <a:latin typeface="DejaVu Sans"/>
                <a:ea typeface="DejaVu Sans"/>
                <a:cs typeface="DejaVu Sans"/>
              </a:rPr>
              <a:t>и необычная легитимная нагрузка осложняют решение.</a:t>
            </a:r>
          </a:p>
        </p:txBody>
      </p:sp>
      <p:sp>
        <p:nvSpPr>
          <p:cNvPr id="11" name="">
            <a:extLst xmlns:a="http://schemas.openxmlformats.org/drawingml/2006/main">
              <a:ext uri="{FF2B5EF4-FFF2-40B4-BE49-F238E27FC236}">
                <a16:creationId xmlns:a16="http://schemas.microsoft.com/office/drawing/2014/main" id="{44CE1345-FB51-4AB9-A3DE-A4D49D301B09}"/>
              </a:ext>
            </a:extLst>
          </p:cNvPr>
          <p:cNvSpPr>
            <a:spLocks xmlns:a="http://schemas.openxmlformats.org/drawingml/2006/main" noGrp="1"/>
          </p:cNvSpPr>
          <p:nvPr/>
        </p:nvSpPr>
        <p:spPr>
          <a:xfrm xmlns:a="http://schemas.openxmlformats.org/drawingml/2006/main">
            <a:off x="571500" y="5514975"/>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12" name="text-119">
            <a:extLst xmlns:a="http://schemas.openxmlformats.org/drawingml/2006/main">
              <a:ext uri="{FF2B5EF4-FFF2-40B4-BE49-F238E27FC236}">
                <a16:creationId xmlns:a16="http://schemas.microsoft.com/office/drawing/2014/main" id="{2FDEF43E-7E78-4890-B34E-0523A97355C6}"/>
              </a:ext>
            </a:extLst>
          </p:cNvPr>
          <p:cNvSpPr>
            <a:spLocks xmlns:a="http://schemas.openxmlformats.org/drawingml/2006/main" noGrp="1"/>
          </p:cNvSpPr>
          <p:nvPr/>
        </p:nvSpPr>
        <p:spPr>
          <a:xfrm xmlns:a="http://schemas.openxmlformats.org/drawingml/2006/main">
            <a:off x="571500" y="5676900"/>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В реальной работе правильный ответ устанавливается дополнительной проверкой</a:t>
            </a:r>
          </a:p>
        </p:txBody>
      </p:sp>
    </p:spTree>
    <p:extLst>
      <p:ext uri="{BB962C8B-B14F-4D97-AF65-F5344CB8AC3E}">
        <p14:creationId xmlns:p14="http://schemas.microsoft.com/office/powerpoint/2010/main" val="1939700474"/>
      </p:ext>
    </p:extLst>
  </p:cSld>
</p:sld>
</file>

<file path=ppt/slides/slide14.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1" name="text-120">
            <a:extLst xmlns:a="http://schemas.openxmlformats.org/drawingml/2006/main">
              <a:ext uri="{FF2B5EF4-FFF2-40B4-BE49-F238E27FC236}">
                <a16:creationId xmlns:a16="http://schemas.microsoft.com/office/drawing/2014/main" id="{BA8D866D-AAEE-4563-8303-718DEA138E4C}"/>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Шаг 4. Находим пограничные окна</a:t>
            </a:r>
          </a:p>
        </p:txBody>
      </p:sp>
      <p:sp>
        <p:nvSpPr>
          <p:cNvPr id="2" name="text-121">
            <a:extLst xmlns:a="http://schemas.openxmlformats.org/drawingml/2006/main">
              <a:ext uri="{FF2B5EF4-FFF2-40B4-BE49-F238E27FC236}">
                <a16:creationId xmlns:a16="http://schemas.microsoft.com/office/drawing/2014/main" id="{B2E1D3ED-FDFE-40D0-8D0B-B351A2723E15}"/>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Учебное правило: расстояние до границы меньше 0,10 → перепроверка</a:t>
            </a:r>
          </a:p>
        </p:txBody>
      </p:sp>
      <p:sp>
        <p:nvSpPr>
          <p:cNvPr id="3" name="">
            <a:extLst xmlns:a="http://schemas.openxmlformats.org/drawingml/2006/main">
              <a:ext uri="{FF2B5EF4-FFF2-40B4-BE49-F238E27FC236}">
                <a16:creationId xmlns:a16="http://schemas.microsoft.com/office/drawing/2014/main" id="{934C7119-EE52-43C1-B9C2-3604FD1DC7F7}"/>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122">
            <a:extLst xmlns:a="http://schemas.openxmlformats.org/drawingml/2006/main">
              <a:ext uri="{FF2B5EF4-FFF2-40B4-BE49-F238E27FC236}">
                <a16:creationId xmlns:a16="http://schemas.microsoft.com/office/drawing/2014/main" id="{80610FD2-4471-434E-8CE2-6FD04016D297}"/>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  Учебный пример: SYN-flood</a:t>
            </a:r>
          </a:p>
        </p:txBody>
      </p:sp>
      <p:sp>
        <p:nvSpPr>
          <p:cNvPr id="5" name="text-123">
            <a:extLst xmlns:a="http://schemas.openxmlformats.org/drawingml/2006/main">
              <a:ext uri="{FF2B5EF4-FFF2-40B4-BE49-F238E27FC236}">
                <a16:creationId xmlns:a16="http://schemas.microsoft.com/office/drawing/2014/main" id="{C8DFA015-76CC-466A-BFC3-9109900F7481}"/>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14</a:t>
            </a:r>
          </a:p>
        </p:txBody>
      </p:sp>
      <p:graphicFrame>
        <p:nvGraphicFramePr>
          <p:cNvPr id="6" name="Chart">
            <a:extLst xmlns:a="http://schemas.openxmlformats.org/drawingml/2006/main">
              <a:ext uri="{FF2B5EF4-FFF2-40B4-BE49-F238E27FC236}">
                <a16:creationId xmlns:a16="http://schemas.microsoft.com/office/drawing/2014/main" id="{027B6DB9-C9DC-4868-A419-560CC77E48BE}"/>
              </a:ext>
            </a:extLst>
          </p:cNvPr>
          <p:cNvGraphicFramePr/>
          <p:nvPr/>
        </p:nvGraphicFramePr>
        <p:xfrm>
          <a:off xmlns:a="http://schemas.openxmlformats.org/drawingml/2006/main" x="428625" y="2085975"/>
          <a:ext xmlns:a="http://schemas.openxmlformats.org/drawingml/2006/main" cx="7239000" cy="3810000"/>
        </p:xfrm>
        <a:graphic xmlns:a="http://schemas.openxmlformats.org/drawingml/2006/main">
          <a:graphicData uri="http://schemas.openxmlformats.org/drawingml/2006/chart">
            <c:chart xmlns:r="http://schemas.openxmlformats.org/officeDocument/2006/relationships" xmlns:c="http://schemas.openxmlformats.org/drawingml/2006/chart" r:id="Ra8ebe910f64d4a35"/>
          </a:graphicData>
        </a:graphic>
      </p:graphicFrame>
      <p:sp>
        <p:nvSpPr>
          <p:cNvPr id="7" name="text-124">
            <a:extLst xmlns:a="http://schemas.openxmlformats.org/drawingml/2006/main">
              <a:ext uri="{FF2B5EF4-FFF2-40B4-BE49-F238E27FC236}">
                <a16:creationId xmlns:a16="http://schemas.microsoft.com/office/drawing/2014/main" id="{889E62FC-D1E9-4244-A6F5-A7372A11A752}"/>
              </a:ext>
            </a:extLst>
          </p:cNvPr>
          <p:cNvSpPr>
            <a:spLocks xmlns:a="http://schemas.openxmlformats.org/drawingml/2006/main" noGrp="1"/>
          </p:cNvSpPr>
          <p:nvPr/>
        </p:nvSpPr>
        <p:spPr>
          <a:xfrm xmlns:a="http://schemas.openxmlformats.org/drawingml/2006/main">
            <a:off x="8096250" y="2333625"/>
            <a:ext cx="3476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775" b="1">
                <a:solidFill>
                  <a:srgbClr val="9C700C"/>
                </a:solidFill>
                <a:latin typeface="DejaVu Sans"/>
                <a:ea typeface="DejaVu Sans"/>
                <a:cs typeface="DejaVu Sans"/>
              </a:defRPr>
            </a:defPPr>
          </a:lstStyle>
          <a:p xmlns:a="http://schemas.openxmlformats.org/drawingml/2006/main">
            <a:pPr>
              <a:defRPr sz="2775" b="1">
                <a:solidFill>
                  <a:srgbClr val="9C700C"/>
                </a:solidFill>
                <a:latin typeface="DejaVu Sans"/>
                <a:ea typeface="DejaVu Sans"/>
                <a:cs typeface="DejaVu Sans"/>
              </a:defRPr>
            </a:pPr>
            <a:r>
              <a:rPr sz="2775" b="1">
                <a:solidFill>
                  <a:srgbClr val="9C700C"/>
                </a:solidFill>
                <a:latin typeface="DejaVu Sans"/>
                <a:ea typeface="DejaVu Sans"/>
                <a:cs typeface="DejaVu Sans"/>
              </a:rPr>
              <a:t>T03, T04,</a:t>
            </a:r>
          </a:p>
          <a:p xmlns:a="http://schemas.openxmlformats.org/drawingml/2006/main">
            <a:pPr>
              <a:defRPr sz="2775" b="1">
                <a:solidFill>
                  <a:srgbClr val="9C700C"/>
                </a:solidFill>
                <a:latin typeface="DejaVu Sans"/>
                <a:ea typeface="DejaVu Sans"/>
                <a:cs typeface="DejaVu Sans"/>
              </a:defRPr>
            </a:pPr>
            <a:r>
              <a:rPr sz="2775" b="1">
                <a:solidFill>
                  <a:srgbClr val="9C700C"/>
                </a:solidFill>
                <a:latin typeface="DejaVu Sans"/>
                <a:ea typeface="DejaVu Sans"/>
                <a:cs typeface="DejaVu Sans"/>
              </a:rPr>
              <a:t>T05, T06</a:t>
            </a:r>
          </a:p>
        </p:txBody>
      </p:sp>
      <p:sp>
        <p:nvSpPr>
          <p:cNvPr id="8" name="text-125">
            <a:extLst xmlns:a="http://schemas.openxmlformats.org/drawingml/2006/main">
              <a:ext uri="{FF2B5EF4-FFF2-40B4-BE49-F238E27FC236}">
                <a16:creationId xmlns:a16="http://schemas.microsoft.com/office/drawing/2014/main" id="{6D88B740-F551-420C-BE43-50B3A9A8E3D7}"/>
              </a:ext>
            </a:extLst>
          </p:cNvPr>
          <p:cNvSpPr>
            <a:spLocks xmlns:a="http://schemas.openxmlformats.org/drawingml/2006/main" noGrp="1"/>
          </p:cNvSpPr>
          <p:nvPr/>
        </p:nvSpPr>
        <p:spPr>
          <a:xfrm xmlns:a="http://schemas.openxmlformats.org/drawingml/2006/main">
            <a:off x="8096250" y="3724275"/>
            <a:ext cx="347662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01C32"/>
                </a:solidFill>
                <a:latin typeface="DejaVu Sans"/>
                <a:ea typeface="DejaVu Sans"/>
                <a:cs typeface="DejaVu Sans"/>
              </a:defRPr>
            </a:defPPr>
          </a:lstStyle>
          <a:p xmlns:a="http://schemas.openxmlformats.org/drawingml/2006/main">
            <a:pPr>
              <a:defRPr sz="2025" b="0">
                <a:solidFill>
                  <a:srgbClr val="101C32"/>
                </a:solidFill>
                <a:latin typeface="DejaVu Sans"/>
                <a:ea typeface="DejaVu Sans"/>
                <a:cs typeface="DejaVu Sans"/>
              </a:defRPr>
            </a:pPr>
            <a:r>
              <a:rPr sz="2025" b="0">
                <a:solidFill>
                  <a:srgbClr val="101C32"/>
                </a:solidFill>
                <a:latin typeface="DejaVu Sans"/>
                <a:ea typeface="DejaVu Sans"/>
                <a:cs typeface="DejaVu Sans"/>
              </a:rPr>
              <a:t>Повод проверить решение</a:t>
            </a:r>
          </a:p>
          <a:p xmlns:a="http://schemas.openxmlformats.org/drawingml/2006/main">
            <a:pPr>
              <a:defRPr sz="2025" b="0">
                <a:solidFill>
                  <a:srgbClr val="101C32"/>
                </a:solidFill>
                <a:latin typeface="DejaVu Sans"/>
                <a:ea typeface="DejaVu Sans"/>
                <a:cs typeface="DejaVu Sans"/>
              </a:defRPr>
            </a:pPr>
            <a:r>
              <a:rPr sz="2025" b="0">
                <a:solidFill>
                  <a:srgbClr val="101C32"/>
                </a:solidFill>
                <a:latin typeface="DejaVu Sans"/>
                <a:ea typeface="DejaVu Sans"/>
                <a:cs typeface="DejaVu Sans"/>
              </a:rPr>
              <a:t>даже при прогнозе «норма»</a:t>
            </a:r>
          </a:p>
        </p:txBody>
      </p:sp>
      <p:sp>
        <p:nvSpPr>
          <p:cNvPr id="9" name="text-126">
            <a:extLst xmlns:a="http://schemas.openxmlformats.org/drawingml/2006/main">
              <a:ext uri="{FF2B5EF4-FFF2-40B4-BE49-F238E27FC236}">
                <a16:creationId xmlns:a16="http://schemas.microsoft.com/office/drawing/2014/main" id="{08586431-7E5E-48E7-A076-B5DF48C17C80}"/>
              </a:ext>
            </a:extLst>
          </p:cNvPr>
          <p:cNvSpPr>
            <a:spLocks xmlns:a="http://schemas.openxmlformats.org/drawingml/2006/main" noGrp="1"/>
          </p:cNvSpPr>
          <p:nvPr/>
        </p:nvSpPr>
        <p:spPr>
          <a:xfrm xmlns:a="http://schemas.openxmlformats.org/drawingml/2006/main">
            <a:off x="8096250" y="5133975"/>
            <a:ext cx="3476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01C32"/>
                </a:solidFill>
                <a:latin typeface="DejaVu Sans"/>
                <a:ea typeface="DejaVu Sans"/>
                <a:cs typeface="DejaVu Sans"/>
              </a:defRPr>
            </a:defPPr>
          </a:lstStyle>
          <a:p xmlns:a="http://schemas.openxmlformats.org/drawingml/2006/main">
            <a:pPr>
              <a:defRPr sz="1800" b="1">
                <a:solidFill>
                  <a:srgbClr val="101C32"/>
                </a:solidFill>
                <a:latin typeface="DejaVu Sans"/>
                <a:ea typeface="DejaVu Sans"/>
                <a:cs typeface="DejaVu Sans"/>
              </a:defRPr>
            </a:pPr>
            <a:r>
              <a:rPr sz="1800" b="1">
                <a:solidFill>
                  <a:srgbClr val="101C32"/>
                </a:solidFill>
                <a:latin typeface="DejaVu Sans"/>
                <a:ea typeface="DejaVu Sans"/>
                <a:cs typeface="DejaVu Sans"/>
              </a:rPr>
              <a:t>Большой запас тоже</a:t>
            </a:r>
          </a:p>
          <a:p xmlns:a="http://schemas.openxmlformats.org/drawingml/2006/main">
            <a:pPr>
              <a:defRPr sz="1800" b="1">
                <a:solidFill>
                  <a:srgbClr val="101C32"/>
                </a:solidFill>
                <a:latin typeface="DejaVu Sans"/>
                <a:ea typeface="DejaVu Sans"/>
                <a:cs typeface="DejaVu Sans"/>
              </a:defRPr>
            </a:pPr>
            <a:r>
              <a:rPr sz="1800" b="1">
                <a:solidFill>
                  <a:srgbClr val="101C32"/>
                </a:solidFill>
                <a:latin typeface="DejaVu Sans"/>
                <a:ea typeface="DejaVu Sans"/>
                <a:cs typeface="DejaVu Sans"/>
              </a:rPr>
              <a:t>не гарантирует правильность</a:t>
            </a:r>
          </a:p>
        </p:txBody>
      </p:sp>
      <p:sp>
        <p:nvSpPr>
          <p:cNvPr id="10" name="text-127">
            <a:extLst xmlns:a="http://schemas.openxmlformats.org/drawingml/2006/main">
              <a:ext uri="{FF2B5EF4-FFF2-40B4-BE49-F238E27FC236}">
                <a16:creationId xmlns:a16="http://schemas.microsoft.com/office/drawing/2014/main" id="{E63AE9E7-A541-4204-A3A9-DA2FB41889F9}"/>
              </a:ext>
            </a:extLst>
          </p:cNvPr>
          <p:cNvSpPr>
            <a:spLocks xmlns:a="http://schemas.openxmlformats.org/drawingml/2006/main" noGrp="1"/>
          </p:cNvSpPr>
          <p:nvPr/>
        </p:nvSpPr>
        <p:spPr>
          <a:xfrm xmlns:a="http://schemas.openxmlformats.org/drawingml/2006/main">
            <a:off x="571500" y="6029325"/>
            <a:ext cx="11049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0">
                <a:solidFill>
                  <a:srgbClr val="536377"/>
                </a:solidFill>
                <a:latin typeface="DejaVu Sans"/>
                <a:ea typeface="DejaVu Sans"/>
                <a:cs typeface="DejaVu Sans"/>
              </a:defRPr>
            </a:defPPr>
          </a:lstStyle>
          <a:p xmlns:a="http://schemas.openxmlformats.org/drawingml/2006/main">
            <a:pPr>
              <a:defRPr sz="1425" b="0">
                <a:solidFill>
                  <a:srgbClr val="536377"/>
                </a:solidFill>
                <a:latin typeface="DejaVu Sans"/>
                <a:ea typeface="DejaVu Sans"/>
                <a:cs typeface="DejaVu Sans"/>
              </a:defRPr>
            </a:pPr>
            <a:r>
              <a:rPr sz="1425" b="0">
                <a:solidFill>
                  <a:srgbClr val="536377"/>
                </a:solidFill>
                <a:latin typeface="DejaVu Sans"/>
                <a:ea typeface="DejaVu Sans"/>
                <a:cs typeface="DejaVu Sans"/>
              </a:rPr>
              <a:t>Порог 0,10 выбран для демонстрации. Приоритет реального инцидента зависит также от ущерба.</a:t>
            </a:r>
          </a:p>
        </p:txBody>
      </p:sp>
    </p:spTree>
    <p:extLst>
      <p:ext uri="{BB962C8B-B14F-4D97-AF65-F5344CB8AC3E}">
        <p14:creationId xmlns:p14="http://schemas.microsoft.com/office/powerpoint/2010/main" val="278511364"/>
      </p:ext>
    </p:extLst>
  </p:cSld>
</p:sld>
</file>

<file path=ppt/slides/slide15.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9" name="text-128">
            <a:extLst xmlns:a="http://schemas.openxmlformats.org/drawingml/2006/main">
              <a:ext uri="{FF2B5EF4-FFF2-40B4-BE49-F238E27FC236}">
                <a16:creationId xmlns:a16="http://schemas.microsoft.com/office/drawing/2014/main" id="{65F957B0-2D01-4235-9916-ECC70045AE10}"/>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Применение в ИБ: сигнал для аналитика</a:t>
            </a:r>
          </a:p>
        </p:txBody>
      </p:sp>
      <p:sp>
        <p:nvSpPr>
          <p:cNvPr id="2" name="text-129">
            <a:extLst xmlns:a="http://schemas.openxmlformats.org/drawingml/2006/main">
              <a:ext uri="{FF2B5EF4-FFF2-40B4-BE49-F238E27FC236}">
                <a16:creationId xmlns:a16="http://schemas.microsoft.com/office/drawing/2014/main" id="{4F0216FC-7227-40CF-8A33-7D9A77FEDAFC}"/>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Трафик → признаки за 10 секунд → модель и отступ → проверка в SOC</a:t>
            </a:r>
          </a:p>
        </p:txBody>
      </p:sp>
      <p:sp>
        <p:nvSpPr>
          <p:cNvPr id="3" name="">
            <a:extLst xmlns:a="http://schemas.openxmlformats.org/drawingml/2006/main">
              <a:ext uri="{FF2B5EF4-FFF2-40B4-BE49-F238E27FC236}">
                <a16:creationId xmlns:a16="http://schemas.microsoft.com/office/drawing/2014/main" id="{9DF1B742-DF9D-4300-9D6D-C90290788059}"/>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130">
            <a:extLst xmlns:a="http://schemas.openxmlformats.org/drawingml/2006/main">
              <a:ext uri="{FF2B5EF4-FFF2-40B4-BE49-F238E27FC236}">
                <a16:creationId xmlns:a16="http://schemas.microsoft.com/office/drawing/2014/main" id="{F491D36C-E265-4E0C-9879-4FE743560E59}"/>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  Практика · источник [8]</a:t>
            </a:r>
          </a:p>
        </p:txBody>
      </p:sp>
      <p:sp>
        <p:nvSpPr>
          <p:cNvPr id="5" name="text-131">
            <a:extLst xmlns:a="http://schemas.openxmlformats.org/drawingml/2006/main">
              <a:ext uri="{FF2B5EF4-FFF2-40B4-BE49-F238E27FC236}">
                <a16:creationId xmlns:a16="http://schemas.microsoft.com/office/drawing/2014/main" id="{3B57D5F6-4ABF-4404-B1EE-C70D97A346BE}"/>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15</a:t>
            </a:r>
          </a:p>
        </p:txBody>
      </p:sp>
      <p:graphicFrame>
        <p:nvGraphicFramePr>
          <p:cNvPr id="6" name="">
            <a:extLst xmlns:a="http://schemas.openxmlformats.org/drawingml/2006/main">
              <a:ext uri="{FF2B5EF4-FFF2-40B4-BE49-F238E27FC236}">
                <a16:creationId xmlns:a16="http://schemas.microsoft.com/office/drawing/2014/main" id="{3D928D2E-1A48-469A-AC17-173682C99D4C}"/>
              </a:ext>
            </a:extLst>
          </p:cNvPr>
          <p:cNvGraphicFramePr/>
          <p:nvPr/>
        </p:nvGraphicFramePr>
        <p:xfrm>
          <a:off xmlns:a="http://schemas.openxmlformats.org/drawingml/2006/main" x="571500" y="2209800"/>
          <a:ext xmlns:a="http://schemas.openxmlformats.org/drawingml/2006/main" cx="11049000" cy="2524125"/>
        </p:xfrm>
        <a:graphic xmlns:a="http://schemas.openxmlformats.org/drawingml/2006/main">
          <a:graphicData uri="http://schemas.openxmlformats.org/drawingml/2006/table">
            <a:tbl>
              <a:tblPr/>
              <a:tblGrid>
                <a:gridCol w="3295316"/>
                <a:gridCol w="1938421"/>
                <a:gridCol w="5815263"/>
              </a:tblGrid>
              <a:tr h="631031">
                <a:tc>
                  <a:txBody>
                    <a:bodyPr lIns="114300" tIns="95250" rIns="95250" bIns="76200"/>
                    <a:lstStyle/>
                    <a:p>
                      <a:r>
                        <a:rPr sz="1875" b="1">
                          <a:solidFill>
                            <a:srgbClr val="FFFFFF"/>
                          </a:solidFill>
                          <a:latin typeface="DejaVu Sans"/>
                          <a:ea typeface="DejaVu Sans"/>
                          <a:cs typeface="DejaVu Sans"/>
                        </a:rPr>
                        <a:t>Что сказала модель</a:t>
                      </a:r>
                    </a:p>
                  </a:txBody>
                  <a:tcPr marL="91440" marR="91440" marT="45720" marB="45720" anchor="ctr">
                    <a:solidFill>
                      <a:srgbClr val="101C32"/>
                    </a:solidFill>
                  </a:tcPr>
                </a:tc>
                <a:tc>
                  <a:txBody>
                    <a:bodyPr lIns="114300" tIns="95250" rIns="95250" bIns="76200"/>
                    <a:lstStyle/>
                    <a:p>
                      <a:r>
                        <a:rPr sz="1875" b="1">
                          <a:solidFill>
                            <a:srgbClr val="FFFFFF"/>
                          </a:solidFill>
                          <a:latin typeface="DejaVu Sans"/>
                          <a:ea typeface="DejaVu Sans"/>
                          <a:cs typeface="DejaVu Sans"/>
                        </a:rPr>
                        <a:t>Отступ</a:t>
                      </a:r>
                    </a:p>
                  </a:txBody>
                  <a:tcPr marL="91440" marR="91440" marT="45720" marB="45720" anchor="ctr">
                    <a:solidFill>
                      <a:srgbClr val="101C32"/>
                    </a:solidFill>
                  </a:tcPr>
                </a:tc>
                <a:tc>
                  <a:txBody>
                    <a:bodyPr lIns="114300" tIns="95250" rIns="95250" bIns="76200"/>
                    <a:lstStyle/>
                    <a:p>
                      <a:r>
                        <a:rPr sz="1875" b="1">
                          <a:solidFill>
                            <a:srgbClr val="FFFFFF"/>
                          </a:solidFill>
                          <a:latin typeface="DejaVu Sans"/>
                          <a:ea typeface="DejaVu Sans"/>
                          <a:cs typeface="DejaVu Sans"/>
                        </a:rPr>
                        <a:t>Что делаем</a:t>
                      </a:r>
                    </a:p>
                  </a:txBody>
                  <a:tcPr marL="91440" marR="91440" marT="45720" marB="45720" anchor="ctr">
                    <a:solidFill>
                      <a:srgbClr val="101C32"/>
                    </a:solidFill>
                  </a:tcPr>
                </a:tc>
              </a:tr>
              <a:tr h="631031">
                <a:tc>
                  <a:txBody>
                    <a:bodyPr lIns="114300" tIns="95250" rIns="95250" bIns="76200"/>
                    <a:lstStyle/>
                    <a:p>
                      <a:r>
                        <a:rPr sz="1875" b="0">
                          <a:solidFill>
                            <a:srgbClr val="101C32"/>
                          </a:solidFill>
                          <a:latin typeface="DejaVu Sans"/>
                          <a:ea typeface="DejaVu Sans"/>
                          <a:cs typeface="DejaVu Sans"/>
                        </a:rPr>
                        <a:t>Похоже на SYN-flood</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Любой</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Создаём сигнал о подозрении на атаку</a:t>
                      </a:r>
                    </a:p>
                  </a:txBody>
                  <a:tcPr marL="91440" marR="91440" marT="45720" marB="45720" anchor="ctr">
                    <a:solidFill>
                      <a:srgbClr val="FFFFFF"/>
                    </a:solidFill>
                  </a:tcPr>
                </a:tc>
              </a:tr>
              <a:tr h="631031">
                <a:tc>
                  <a:txBody>
                    <a:bodyPr lIns="114300" tIns="95250" rIns="95250" bIns="76200"/>
                    <a:lstStyle/>
                    <a:p>
                      <a:r>
                        <a:rPr sz="1875" b="0">
                          <a:solidFill>
                            <a:srgbClr val="101C32"/>
                          </a:solidFill>
                          <a:latin typeface="DejaVu Sans"/>
                          <a:ea typeface="DejaVu Sans"/>
                          <a:cs typeface="DejaVu Sans"/>
                        </a:rPr>
                        <a:t>Похоже на норму</a:t>
                      </a:r>
                    </a:p>
                  </a:txBody>
                  <a:tcPr marL="91440" marR="91440" marT="45720" marB="45720" anchor="ctr">
                    <a:solidFill>
                      <a:srgbClr val="EAF0F4"/>
                    </a:solidFill>
                  </a:tcPr>
                </a:tc>
                <a:tc>
                  <a:txBody>
                    <a:bodyPr lIns="114300" tIns="95250" rIns="95250" bIns="76200"/>
                    <a:lstStyle/>
                    <a:p>
                      <a:r>
                        <a:rPr sz="1875" b="0">
                          <a:solidFill>
                            <a:srgbClr val="101C32"/>
                          </a:solidFill>
                          <a:latin typeface="DejaVu Sans"/>
                          <a:ea typeface="DejaVu Sans"/>
                          <a:cs typeface="DejaVu Sans"/>
                        </a:rPr>
                        <a:t>Меньше 0,10</a:t>
                      </a:r>
                    </a:p>
                  </a:txBody>
                  <a:tcPr marL="91440" marR="91440" marT="45720" marB="45720" anchor="ctr">
                    <a:solidFill>
                      <a:srgbClr val="EAF0F4"/>
                    </a:solidFill>
                  </a:tcPr>
                </a:tc>
                <a:tc>
                  <a:txBody>
                    <a:bodyPr lIns="114300" tIns="95250" rIns="95250" bIns="76200"/>
                    <a:lstStyle/>
                    <a:p>
                      <a:r>
                        <a:rPr sz="1875" b="0">
                          <a:solidFill>
                            <a:srgbClr val="101C32"/>
                          </a:solidFill>
                          <a:latin typeface="DejaVu Sans"/>
                          <a:ea typeface="DejaVu Sans"/>
                          <a:cs typeface="DejaVu Sans"/>
                        </a:rPr>
                        <a:t>Дополнительно проверяем решение</a:t>
                      </a:r>
                    </a:p>
                  </a:txBody>
                  <a:tcPr marL="91440" marR="91440" marT="45720" marB="45720" anchor="ctr">
                    <a:solidFill>
                      <a:srgbClr val="EAF0F4"/>
                    </a:solidFill>
                  </a:tcPr>
                </a:tc>
              </a:tr>
              <a:tr h="631031">
                <a:tc>
                  <a:txBody>
                    <a:bodyPr lIns="114300" tIns="95250" rIns="95250" bIns="76200"/>
                    <a:lstStyle/>
                    <a:p>
                      <a:r>
                        <a:rPr sz="1875" b="0">
                          <a:solidFill>
                            <a:srgbClr val="101C32"/>
                          </a:solidFill>
                          <a:latin typeface="DejaVu Sans"/>
                          <a:ea typeface="DejaVu Sans"/>
                          <a:cs typeface="DejaVu Sans"/>
                        </a:rPr>
                        <a:t>Похоже на норму</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От 0,10</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Продолжаем обычное наблюдение</a:t>
                      </a:r>
                    </a:p>
                  </a:txBody>
                  <a:tcPr marL="91440" marR="91440" marT="45720" marB="45720" anchor="ctr">
                    <a:solidFill>
                      <a:srgbClr val="FFFFFF"/>
                    </a:solidFill>
                  </a:tcPr>
                </a:tc>
              </a:tr>
            </a:tbl>
          </a:graphicData>
        </a:graphic>
      </p:graphicFrame>
      <p:sp>
        <p:nvSpPr>
          <p:cNvPr id="7" name="text-132">
            <a:extLst xmlns:a="http://schemas.openxmlformats.org/drawingml/2006/main">
              <a:ext uri="{FF2B5EF4-FFF2-40B4-BE49-F238E27FC236}">
                <a16:creationId xmlns:a16="http://schemas.microsoft.com/office/drawing/2014/main" id="{89C13480-3CD7-4F69-B48A-5E12CE12D7F0}"/>
              </a:ext>
            </a:extLst>
          </p:cNvPr>
          <p:cNvSpPr>
            <a:spLocks xmlns:a="http://schemas.openxmlformats.org/drawingml/2006/main" noGrp="1"/>
          </p:cNvSpPr>
          <p:nvPr/>
        </p:nvSpPr>
        <p:spPr>
          <a:xfrm xmlns:a="http://schemas.openxmlformats.org/drawingml/2006/main">
            <a:off x="571500" y="5057775"/>
            <a:ext cx="1104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01C32"/>
                </a:solidFill>
                <a:latin typeface="DejaVu Sans"/>
                <a:ea typeface="DejaVu Sans"/>
                <a:cs typeface="DejaVu Sans"/>
              </a:defRPr>
            </a:defPPr>
          </a:lstStyle>
          <a:p xmlns:a="http://schemas.openxmlformats.org/drawingml/2006/main">
            <a:pPr>
              <a:defRPr sz="2025" b="0">
                <a:solidFill>
                  <a:srgbClr val="101C32"/>
                </a:solidFill>
                <a:latin typeface="DejaVu Sans"/>
                <a:ea typeface="DejaVu Sans"/>
                <a:cs typeface="DejaVu Sans"/>
              </a:defRPr>
            </a:pPr>
            <a:r>
              <a:rPr sz="2025" b="0">
                <a:solidFill>
                  <a:srgbClr val="101C32"/>
                </a:solidFill>
                <a:latin typeface="DejaVu Sans"/>
                <a:ea typeface="DejaVu Sans"/>
                <a:cs typeface="DejaVu Sans"/>
              </a:rPr>
              <a:t>SOC — команда мониторинга и реагирования на события ИБ.</a:t>
            </a:r>
          </a:p>
          <a:p xmlns:a="http://schemas.openxmlformats.org/drawingml/2006/main">
            <a:pPr>
              <a:defRPr sz="2025" b="0">
                <a:solidFill>
                  <a:srgbClr val="101C32"/>
                </a:solidFill>
                <a:latin typeface="DejaVu Sans"/>
                <a:ea typeface="DejaVu Sans"/>
                <a:cs typeface="DejaVu Sans"/>
              </a:defRPr>
            </a:pPr>
            <a:r>
              <a:rPr sz="2025" b="0">
                <a:solidFill>
                  <a:srgbClr val="101C32"/>
                </a:solidFill>
                <a:latin typeface="DejaVu Sans"/>
                <a:ea typeface="DejaVu Sans"/>
                <a:cs typeface="DejaVu Sans"/>
              </a:rPr>
              <a:t>Модель помогает выделить наблюдения для проверки.</a:t>
            </a:r>
          </a:p>
        </p:txBody>
      </p:sp>
      <p:sp>
        <p:nvSpPr>
          <p:cNvPr id="8" name="text-133">
            <a:extLst xmlns:a="http://schemas.openxmlformats.org/drawingml/2006/main">
              <a:ext uri="{FF2B5EF4-FFF2-40B4-BE49-F238E27FC236}">
                <a16:creationId xmlns:a16="http://schemas.microsoft.com/office/drawing/2014/main" id="{25BC167F-1B33-45AA-813D-03069D2215B6}"/>
              </a:ext>
            </a:extLst>
          </p:cNvPr>
          <p:cNvSpPr>
            <a:spLocks xmlns:a="http://schemas.openxmlformats.org/drawingml/2006/main" noGrp="1"/>
          </p:cNvSpPr>
          <p:nvPr/>
        </p:nvSpPr>
        <p:spPr>
          <a:xfrm xmlns:a="http://schemas.openxmlformats.org/drawingml/2006/main">
            <a:off x="571500" y="6029325"/>
            <a:ext cx="11049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0">
                <a:solidFill>
                  <a:srgbClr val="536377"/>
                </a:solidFill>
                <a:latin typeface="DejaVu Sans"/>
                <a:ea typeface="DejaVu Sans"/>
                <a:cs typeface="DejaVu Sans"/>
              </a:defRPr>
            </a:defPPr>
          </a:lstStyle>
          <a:p xmlns:a="http://schemas.openxmlformats.org/drawingml/2006/main">
            <a:pPr>
              <a:defRPr sz="1425" b="0">
                <a:solidFill>
                  <a:srgbClr val="536377"/>
                </a:solidFill>
                <a:latin typeface="DejaVu Sans"/>
                <a:ea typeface="DejaVu Sans"/>
                <a:cs typeface="DejaVu Sans"/>
              </a:defRPr>
            </a:pPr>
            <a:r>
              <a:rPr sz="1425" b="0">
                <a:solidFill>
                  <a:srgbClr val="536377"/>
                </a:solidFill>
                <a:latin typeface="DejaVu Sans"/>
                <a:ea typeface="DejaVu Sans"/>
                <a:cs typeface="DejaVu Sans"/>
              </a:rPr>
              <a:t>Это предлагаемая схема работы учебного прототипа; в рабочую сеть он не внедрялся.</a:t>
            </a:r>
          </a:p>
        </p:txBody>
      </p:sp>
    </p:spTree>
    <p:extLst>
      <p:ext uri="{BB962C8B-B14F-4D97-AF65-F5344CB8AC3E}">
        <p14:creationId xmlns:p14="http://schemas.microsoft.com/office/powerpoint/2010/main" val="1468248936"/>
      </p:ext>
    </p:extLst>
  </p:cSld>
</p:sld>
</file>

<file path=ppt/slides/slide16.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0" name="text-134">
            <a:extLst xmlns:a="http://schemas.openxmlformats.org/drawingml/2006/main">
              <a:ext uri="{FF2B5EF4-FFF2-40B4-BE49-F238E27FC236}">
                <a16:creationId xmlns:a16="http://schemas.microsoft.com/office/drawing/2014/main" id="{55E6B949-768A-42E9-AE65-8CF3BEEA3D59}"/>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Практическая демонстрация в Colab</a:t>
            </a:r>
          </a:p>
        </p:txBody>
      </p:sp>
      <p:sp>
        <p:nvSpPr>
          <p:cNvPr id="2" name="text-135">
            <a:extLst xmlns:a="http://schemas.openxmlformats.org/drawingml/2006/main">
              <a:ext uri="{FF2B5EF4-FFF2-40B4-BE49-F238E27FC236}">
                <a16:creationId xmlns:a16="http://schemas.microsoft.com/office/drawing/2014/main" id="{3DF84194-F778-4151-970A-E792D0462A94}"/>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Функция получает только измерения. Истинную метку мы ей не передаём</a:t>
            </a:r>
          </a:p>
        </p:txBody>
      </p:sp>
      <p:sp>
        <p:nvSpPr>
          <p:cNvPr id="3" name="">
            <a:extLst xmlns:a="http://schemas.openxmlformats.org/drawingml/2006/main">
              <a:ext uri="{FF2B5EF4-FFF2-40B4-BE49-F238E27FC236}">
                <a16:creationId xmlns:a16="http://schemas.microsoft.com/office/drawing/2014/main" id="{4283159F-03A9-4502-A7F0-C6DB2B02363F}"/>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136">
            <a:extLst xmlns:a="http://schemas.openxmlformats.org/drawingml/2006/main">
              <a:ext uri="{FF2B5EF4-FFF2-40B4-BE49-F238E27FC236}">
                <a16:creationId xmlns:a16="http://schemas.microsoft.com/office/drawing/2014/main" id="{CB3F5124-3F3F-4404-8C13-BD7BFFE5B3A5}"/>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  Учебный пример: SYN-flood</a:t>
            </a:r>
          </a:p>
        </p:txBody>
      </p:sp>
      <p:sp>
        <p:nvSpPr>
          <p:cNvPr id="5" name="text-137">
            <a:extLst xmlns:a="http://schemas.openxmlformats.org/drawingml/2006/main">
              <a:ext uri="{FF2B5EF4-FFF2-40B4-BE49-F238E27FC236}">
                <a16:creationId xmlns:a16="http://schemas.microsoft.com/office/drawing/2014/main" id="{A19FDD6B-669B-409C-B342-AF06EF226EE9}"/>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16</a:t>
            </a:r>
          </a:p>
        </p:txBody>
      </p:sp>
      <p:sp>
        <p:nvSpPr>
          <p:cNvPr id="6" name="text-138">
            <a:extLst xmlns:a="http://schemas.openxmlformats.org/drawingml/2006/main">
              <a:ext uri="{FF2B5EF4-FFF2-40B4-BE49-F238E27FC236}">
                <a16:creationId xmlns:a16="http://schemas.microsoft.com/office/drawing/2014/main" id="{471E3F34-515E-422E-BFF1-0CEB56DCB38D}"/>
              </a:ext>
            </a:extLst>
          </p:cNvPr>
          <p:cNvSpPr>
            <a:spLocks xmlns:a="http://schemas.openxmlformats.org/drawingml/2006/main" noGrp="1"/>
          </p:cNvSpPr>
          <p:nvPr/>
        </p:nvSpPr>
        <p:spPr>
          <a:xfrm xmlns:a="http://schemas.openxmlformats.org/drawingml/2006/main">
            <a:off x="571500" y="2105025"/>
            <a:ext cx="11049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Mono"/>
                <a:ea typeface="DejaVu Sans Mono"/>
                <a:cs typeface="DejaVu Sans Mono"/>
              </a:defRPr>
            </a:defPPr>
          </a:lstStyle>
          <a:p xmlns:a="http://schemas.openxmlformats.org/drawingml/2006/main">
            <a:pPr>
              <a:defRPr sz="1875" b="0">
                <a:solidFill>
                  <a:srgbClr val="101C32"/>
                </a:solidFill>
                <a:latin typeface="DejaVu Sans Mono"/>
                <a:ea typeface="DejaVu Sans Mono"/>
                <a:cs typeface="DejaVu Sans Mono"/>
              </a:defRPr>
            </a:pPr>
            <a:r>
              <a:rPr sz="1875" b="0">
                <a:solidFill>
                  <a:srgbClr val="101C32"/>
                </a:solidFill>
                <a:latin typeface="DejaVu Sans Mono"/>
                <a:ea typeface="DejaVu Sans Mono"/>
                <a:cs typeface="DejaVu Sans Mono"/>
              </a:rPr>
              <a:t>triage(syn_per_second=900, unfinished_percent=40)</a:t>
            </a:r>
          </a:p>
          <a:p xmlns:a="http://schemas.openxmlformats.org/drawingml/2006/main">
            <a:pPr>
              <a:defRPr sz="1875" b="0">
                <a:solidFill>
                  <a:srgbClr val="101C32"/>
                </a:solidFill>
                <a:latin typeface="DejaVu Sans Mono"/>
                <a:ea typeface="DejaVu Sans Mono"/>
                <a:cs typeface="DejaVu Sans Mono"/>
              </a:defRPr>
            </a:pPr>
            <a:r>
              <a:rPr sz="1875" b="0">
                <a:solidFill>
                  <a:srgbClr val="101C32"/>
                </a:solidFill>
                <a:latin typeface="DejaVu Sans Mono"/>
                <a:ea typeface="DejaVu Sans Mono"/>
                <a:cs typeface="DejaVu Sans Mono"/>
              </a:rPr>
              <a:t>triage(syn_per_second=1550, unfinished_percent=88)</a:t>
            </a:r>
          </a:p>
        </p:txBody>
      </p:sp>
      <p:graphicFrame>
        <p:nvGraphicFramePr>
          <p:cNvPr id="7" name="">
            <a:extLst xmlns:a="http://schemas.openxmlformats.org/drawingml/2006/main">
              <a:ext uri="{FF2B5EF4-FFF2-40B4-BE49-F238E27FC236}">
                <a16:creationId xmlns:a16="http://schemas.microsoft.com/office/drawing/2014/main" id="{B188BB43-ACAB-42CF-89D5-36426AAE61EB}"/>
              </a:ext>
            </a:extLst>
          </p:cNvPr>
          <p:cNvGraphicFramePr/>
          <p:nvPr/>
        </p:nvGraphicFramePr>
        <p:xfrm>
          <a:off xmlns:a="http://schemas.openxmlformats.org/drawingml/2006/main" x="571500" y="3609975"/>
          <a:ext xmlns:a="http://schemas.openxmlformats.org/drawingml/2006/main" cx="11049000" cy="1647825"/>
        </p:xfrm>
        <a:graphic xmlns:a="http://schemas.openxmlformats.org/drawingml/2006/main">
          <a:graphicData uri="http://schemas.openxmlformats.org/drawingml/2006/table">
            <a:tbl>
              <a:tblPr/>
              <a:tblGrid>
                <a:gridCol w="2898098"/>
                <a:gridCol w="2716967"/>
                <a:gridCol w="2716967"/>
                <a:gridCol w="2716967"/>
              </a:tblGrid>
              <a:tr h="549275">
                <a:tc>
                  <a:txBody>
                    <a:bodyPr lIns="114300" tIns="95250" rIns="95250" bIns="76200"/>
                    <a:lstStyle/>
                    <a:p>
                      <a:r>
                        <a:rPr sz="1875" b="1">
                          <a:solidFill>
                            <a:srgbClr val="FFFFFF"/>
                          </a:solidFill>
                          <a:latin typeface="DejaVu Sans"/>
                          <a:ea typeface="DejaVu Sans"/>
                          <a:cs typeface="DejaVu Sans"/>
                        </a:rPr>
                        <a:t>Ввод: SYN/с; %</a:t>
                      </a:r>
                    </a:p>
                  </a:txBody>
                  <a:tcPr marL="91440" marR="91440" marT="45720" marB="45720" anchor="ctr">
                    <a:solidFill>
                      <a:srgbClr val="101C32"/>
                    </a:solidFill>
                  </a:tcPr>
                </a:tc>
                <a:tc>
                  <a:txBody>
                    <a:bodyPr lIns="114300" tIns="95250" rIns="95250" bIns="76200"/>
                    <a:lstStyle/>
                    <a:p>
                      <a:r>
                        <a:rPr sz="1875" b="1">
                          <a:solidFill>
                            <a:srgbClr val="FFFFFF"/>
                          </a:solidFill>
                          <a:latin typeface="DejaVu Sans"/>
                          <a:ea typeface="DejaVu Sans"/>
                          <a:cs typeface="DejaVu Sans"/>
                        </a:rPr>
                        <a:t>Прогноз</a:t>
                      </a:r>
                    </a:p>
                  </a:txBody>
                  <a:tcPr marL="91440" marR="91440" marT="45720" marB="45720" anchor="ctr">
                    <a:solidFill>
                      <a:srgbClr val="101C32"/>
                    </a:solidFill>
                  </a:tcPr>
                </a:tc>
                <a:tc>
                  <a:txBody>
                    <a:bodyPr lIns="114300" tIns="95250" rIns="95250" bIns="76200"/>
                    <a:lstStyle/>
                    <a:p>
                      <a:r>
                        <a:rPr sz="1875" b="1">
                          <a:solidFill>
                            <a:srgbClr val="FFFFFF"/>
                          </a:solidFill>
                          <a:latin typeface="DejaVu Sans"/>
                          <a:ea typeface="DejaVu Sans"/>
                          <a:cs typeface="DejaVu Sans"/>
                        </a:rPr>
                        <a:t>Сигнал атаки</a:t>
                      </a:r>
                    </a:p>
                  </a:txBody>
                  <a:tcPr marL="91440" marR="91440" marT="45720" marB="45720" anchor="ctr">
                    <a:solidFill>
                      <a:srgbClr val="101C32"/>
                    </a:solidFill>
                  </a:tcPr>
                </a:tc>
                <a:tc>
                  <a:txBody>
                    <a:bodyPr lIns="114300" tIns="95250" rIns="95250" bIns="76200"/>
                    <a:lstStyle/>
                    <a:p>
                      <a:r>
                        <a:rPr sz="1875" b="1">
                          <a:solidFill>
                            <a:srgbClr val="FFFFFF"/>
                          </a:solidFill>
                          <a:latin typeface="DejaVu Sans"/>
                          <a:ea typeface="DejaVu Sans"/>
                          <a:cs typeface="DejaVu Sans"/>
                        </a:rPr>
                        <a:t>Пограничное</a:t>
                      </a:r>
                    </a:p>
                  </a:txBody>
                  <a:tcPr marL="91440" marR="91440" marT="45720" marB="45720" anchor="ctr">
                    <a:solidFill>
                      <a:srgbClr val="101C32"/>
                    </a:solidFill>
                  </a:tcPr>
                </a:tc>
              </a:tr>
              <a:tr h="549275">
                <a:tc>
                  <a:txBody>
                    <a:bodyPr lIns="114300" tIns="95250" rIns="95250" bIns="76200"/>
                    <a:lstStyle/>
                    <a:p>
                      <a:r>
                        <a:rPr sz="1875" b="0">
                          <a:solidFill>
                            <a:srgbClr val="101C32"/>
                          </a:solidFill>
                          <a:latin typeface="DejaVu Sans"/>
                          <a:ea typeface="DejaVu Sans"/>
                          <a:cs typeface="DejaVu Sans"/>
                        </a:rPr>
                        <a:t>900; 40%</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Норма</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Нет</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Да</a:t>
                      </a:r>
                    </a:p>
                  </a:txBody>
                  <a:tcPr marL="91440" marR="91440" marT="45720" marB="45720" anchor="ctr">
                    <a:solidFill>
                      <a:srgbClr val="FFFFFF"/>
                    </a:solidFill>
                  </a:tcPr>
                </a:tc>
              </a:tr>
              <a:tr h="549275">
                <a:tc>
                  <a:txBody>
                    <a:bodyPr lIns="114300" tIns="95250" rIns="95250" bIns="76200"/>
                    <a:lstStyle/>
                    <a:p>
                      <a:r>
                        <a:rPr sz="1875" b="0">
                          <a:solidFill>
                            <a:srgbClr val="101C32"/>
                          </a:solidFill>
                          <a:latin typeface="DejaVu Sans"/>
                          <a:ea typeface="DejaVu Sans"/>
                          <a:cs typeface="DejaVu Sans"/>
                        </a:rPr>
                        <a:t>1550; 88%</a:t>
                      </a:r>
                    </a:p>
                  </a:txBody>
                  <a:tcPr marL="91440" marR="91440" marT="45720" marB="45720" anchor="ctr">
                    <a:solidFill>
                      <a:srgbClr val="EAF0F4"/>
                    </a:solidFill>
                  </a:tcPr>
                </a:tc>
                <a:tc>
                  <a:txBody>
                    <a:bodyPr lIns="114300" tIns="95250" rIns="95250" bIns="76200"/>
                    <a:lstStyle/>
                    <a:p>
                      <a:r>
                        <a:rPr sz="1875" b="0">
                          <a:solidFill>
                            <a:srgbClr val="101C32"/>
                          </a:solidFill>
                          <a:latin typeface="DejaVu Sans"/>
                          <a:ea typeface="DejaVu Sans"/>
                          <a:cs typeface="DejaVu Sans"/>
                        </a:rPr>
                        <a:t>SYN-flood</a:t>
                      </a:r>
                    </a:p>
                  </a:txBody>
                  <a:tcPr marL="91440" marR="91440" marT="45720" marB="45720" anchor="ctr">
                    <a:solidFill>
                      <a:srgbClr val="EAF0F4"/>
                    </a:solidFill>
                  </a:tcPr>
                </a:tc>
                <a:tc>
                  <a:txBody>
                    <a:bodyPr lIns="114300" tIns="95250" rIns="95250" bIns="76200"/>
                    <a:lstStyle/>
                    <a:p>
                      <a:r>
                        <a:rPr sz="1875" b="0">
                          <a:solidFill>
                            <a:srgbClr val="101C32"/>
                          </a:solidFill>
                          <a:latin typeface="DejaVu Sans"/>
                          <a:ea typeface="DejaVu Sans"/>
                          <a:cs typeface="DejaVu Sans"/>
                        </a:rPr>
                        <a:t>Да</a:t>
                      </a:r>
                    </a:p>
                  </a:txBody>
                  <a:tcPr marL="91440" marR="91440" marT="45720" marB="45720" anchor="ctr">
                    <a:solidFill>
                      <a:srgbClr val="EAF0F4"/>
                    </a:solidFill>
                  </a:tcPr>
                </a:tc>
                <a:tc>
                  <a:txBody>
                    <a:bodyPr lIns="114300" tIns="95250" rIns="95250" bIns="76200"/>
                    <a:lstStyle/>
                    <a:p>
                      <a:r>
                        <a:rPr sz="1875" b="0">
                          <a:solidFill>
                            <a:srgbClr val="101C32"/>
                          </a:solidFill>
                          <a:latin typeface="DejaVu Sans"/>
                          <a:ea typeface="DejaVu Sans"/>
                          <a:cs typeface="DejaVu Sans"/>
                        </a:rPr>
                        <a:t>Нет</a:t>
                      </a:r>
                    </a:p>
                  </a:txBody>
                  <a:tcPr marL="91440" marR="91440" marT="45720" marB="45720" anchor="ctr">
                    <a:solidFill>
                      <a:srgbClr val="EAF0F4"/>
                    </a:solidFill>
                  </a:tcPr>
                </a:tc>
              </a:tr>
            </a:tbl>
          </a:graphicData>
        </a:graphic>
      </p:graphicFrame>
      <p:sp>
        <p:nvSpPr>
          <p:cNvPr id="8" name="">
            <a:extLst xmlns:a="http://schemas.openxmlformats.org/drawingml/2006/main">
              <a:ext uri="{FF2B5EF4-FFF2-40B4-BE49-F238E27FC236}">
                <a16:creationId xmlns:a16="http://schemas.microsoft.com/office/drawing/2014/main" id="{BB822285-45F2-4734-BD92-D87BBF2943D4}"/>
              </a:ext>
            </a:extLst>
          </p:cNvPr>
          <p:cNvSpPr>
            <a:spLocks xmlns:a="http://schemas.openxmlformats.org/drawingml/2006/main" noGrp="1"/>
          </p:cNvSpPr>
          <p:nvPr/>
        </p:nvSpPr>
        <p:spPr>
          <a:xfrm xmlns:a="http://schemas.openxmlformats.org/drawingml/2006/main">
            <a:off x="571500" y="5572125"/>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9" name="text-139">
            <a:extLst xmlns:a="http://schemas.openxmlformats.org/drawingml/2006/main">
              <a:ext uri="{FF2B5EF4-FFF2-40B4-BE49-F238E27FC236}">
                <a16:creationId xmlns:a16="http://schemas.microsoft.com/office/drawing/2014/main" id="{F201B10D-0114-4BEA-9187-1BFE22FF2D1C}"/>
              </a:ext>
            </a:extLst>
          </p:cNvPr>
          <p:cNvSpPr>
            <a:spLocks xmlns:a="http://schemas.openxmlformats.org/drawingml/2006/main" noGrp="1"/>
          </p:cNvSpPr>
          <p:nvPr/>
        </p:nvSpPr>
        <p:spPr>
          <a:xfrm xmlns:a="http://schemas.openxmlformats.org/drawingml/2006/main">
            <a:off x="571500" y="5734050"/>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«Не пограничное» не означает «безопасное»: прогноз атаки всё равно даёт сигнал</a:t>
            </a:r>
          </a:p>
        </p:txBody>
      </p:sp>
    </p:spTree>
    <p:extLst>
      <p:ext uri="{BB962C8B-B14F-4D97-AF65-F5344CB8AC3E}">
        <p14:creationId xmlns:p14="http://schemas.microsoft.com/office/powerpoint/2010/main" val="844177931"/>
      </p:ext>
    </p:extLst>
  </p:cSld>
</p:sld>
</file>

<file path=ppt/slides/slide17.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9" name="text-140">
            <a:extLst xmlns:a="http://schemas.openxmlformats.org/drawingml/2006/main">
              <a:ext uri="{FF2B5EF4-FFF2-40B4-BE49-F238E27FC236}">
                <a16:creationId xmlns:a16="http://schemas.microsoft.com/office/drawing/2014/main" id="{ABF90DD9-CCB7-42AE-880D-AEEE7E8640E7}"/>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Что делает аналитик после сигнала</a:t>
            </a:r>
          </a:p>
        </p:txBody>
      </p:sp>
      <p:sp>
        <p:nvSpPr>
          <p:cNvPr id="2" name="text-141">
            <a:extLst xmlns:a="http://schemas.openxmlformats.org/drawingml/2006/main">
              <a:ext uri="{FF2B5EF4-FFF2-40B4-BE49-F238E27FC236}">
                <a16:creationId xmlns:a16="http://schemas.microsoft.com/office/drawing/2014/main" id="{75AEC7DE-B8A7-4485-9AD5-C7DAF7A3FEE7}"/>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Двух признаков недостаточно для решения об автоматической блокировке</a:t>
            </a:r>
          </a:p>
        </p:txBody>
      </p:sp>
      <p:sp>
        <p:nvSpPr>
          <p:cNvPr id="3" name="">
            <a:extLst xmlns:a="http://schemas.openxmlformats.org/drawingml/2006/main">
              <a:ext uri="{FF2B5EF4-FFF2-40B4-BE49-F238E27FC236}">
                <a16:creationId xmlns:a16="http://schemas.microsoft.com/office/drawing/2014/main" id="{A911754B-6B1F-475F-B7C9-7DCC755177C9}"/>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142">
            <a:extLst xmlns:a="http://schemas.openxmlformats.org/drawingml/2006/main">
              <a:ext uri="{FF2B5EF4-FFF2-40B4-BE49-F238E27FC236}">
                <a16:creationId xmlns:a16="http://schemas.microsoft.com/office/drawing/2014/main" id="{452ABFDA-E621-46BD-A19D-48633FFC0523}"/>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  Практика · источники [4, 8]</a:t>
            </a:r>
          </a:p>
        </p:txBody>
      </p:sp>
      <p:sp>
        <p:nvSpPr>
          <p:cNvPr id="5" name="text-143">
            <a:extLst xmlns:a="http://schemas.openxmlformats.org/drawingml/2006/main">
              <a:ext uri="{FF2B5EF4-FFF2-40B4-BE49-F238E27FC236}">
                <a16:creationId xmlns:a16="http://schemas.microsoft.com/office/drawing/2014/main" id="{4580A438-4C29-4EE9-AD97-4A767C514109}"/>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17</a:t>
            </a:r>
          </a:p>
        </p:txBody>
      </p:sp>
      <p:sp>
        <p:nvSpPr>
          <p:cNvPr id="6" name="text-144">
            <a:extLst xmlns:a="http://schemas.openxmlformats.org/drawingml/2006/main">
              <a:ext uri="{FF2B5EF4-FFF2-40B4-BE49-F238E27FC236}">
                <a16:creationId xmlns:a16="http://schemas.microsoft.com/office/drawing/2014/main" id="{38B7EBE0-826D-492D-B823-393E5A5F28DC}"/>
              </a:ext>
            </a:extLst>
          </p:cNvPr>
          <p:cNvSpPr>
            <a:spLocks xmlns:a="http://schemas.openxmlformats.org/drawingml/2006/main" noGrp="1"/>
          </p:cNvSpPr>
          <p:nvPr/>
        </p:nvSpPr>
        <p:spPr>
          <a:xfrm xmlns:a="http://schemas.openxmlformats.org/drawingml/2006/main">
            <a:off x="571500" y="2047875"/>
            <a:ext cx="571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925" b="1">
                <a:solidFill>
                  <a:srgbClr val="008C95"/>
                </a:solidFill>
                <a:latin typeface="DejaVu Sans"/>
                <a:ea typeface="DejaVu Sans"/>
                <a:cs typeface="DejaVu Sans"/>
              </a:defRPr>
            </a:defPPr>
          </a:lstStyle>
          <a:p xmlns:a="http://schemas.openxmlformats.org/drawingml/2006/main">
            <a:pPr>
              <a:defRPr sz="2925" b="1">
                <a:solidFill>
                  <a:srgbClr val="008C95"/>
                </a:solidFill>
                <a:latin typeface="DejaVu Sans"/>
                <a:ea typeface="DejaVu Sans"/>
                <a:cs typeface="DejaVu Sans"/>
              </a:defRPr>
            </a:pPr>
            <a:r>
              <a:rPr sz="2925" b="1">
                <a:solidFill>
                  <a:srgbClr val="008C95"/>
                </a:solidFill>
                <a:latin typeface="DejaVu Sans"/>
                <a:ea typeface="DejaVu Sans"/>
                <a:cs typeface="DejaVu Sans"/>
              </a:rPr>
              <a:t>1</a:t>
            </a:r>
          </a:p>
        </p:txBody>
      </p:sp>
      <p:sp>
        <p:nvSpPr>
          <p:cNvPr id="7" name="text-145">
            <a:extLst xmlns:a="http://schemas.openxmlformats.org/drawingml/2006/main">
              <a:ext uri="{FF2B5EF4-FFF2-40B4-BE49-F238E27FC236}">
                <a16:creationId xmlns:a16="http://schemas.microsoft.com/office/drawing/2014/main" id="{6D65E652-DC3A-4073-9A72-ADDDFB2DFB8A}"/>
              </a:ext>
            </a:extLst>
          </p:cNvPr>
          <p:cNvSpPr>
            <a:spLocks xmlns:a="http://schemas.openxmlformats.org/drawingml/2006/main" noGrp="1"/>
          </p:cNvSpPr>
          <p:nvPr/>
        </p:nvSpPr>
        <p:spPr>
          <a:xfrm xmlns:a="http://schemas.openxmlformats.org/drawingml/2006/main">
            <a:off x="1381125" y="2047875"/>
            <a:ext cx="1009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01C32"/>
                </a:solidFill>
                <a:latin typeface="DejaVu Sans"/>
                <a:ea typeface="DejaVu Sans"/>
                <a:cs typeface="DejaVu Sans"/>
              </a:defRPr>
            </a:defPPr>
          </a:lstStyle>
          <a:p xmlns:a="http://schemas.openxmlformats.org/drawingml/2006/main">
            <a:pPr>
              <a:defRPr sz="2025" b="1">
                <a:solidFill>
                  <a:srgbClr val="101C32"/>
                </a:solidFill>
                <a:latin typeface="DejaVu Sans"/>
                <a:ea typeface="DejaVu Sans"/>
                <a:cs typeface="DejaVu Sans"/>
              </a:defRPr>
            </a:pPr>
            <a:r>
              <a:rPr sz="2025" b="1">
                <a:solidFill>
                  <a:srgbClr val="101C32"/>
                </a:solidFill>
                <a:latin typeface="DejaVu Sans"/>
                <a:ea typeface="DejaVu Sans"/>
                <a:cs typeface="DejaVu Sans"/>
              </a:rPr>
              <a:t>Проверяет наблюдение</a:t>
            </a:r>
          </a:p>
        </p:txBody>
      </p:sp>
      <p:sp>
        <p:nvSpPr>
          <p:cNvPr id="8" name="text-146">
            <a:extLst xmlns:a="http://schemas.openxmlformats.org/drawingml/2006/main">
              <a:ext uri="{FF2B5EF4-FFF2-40B4-BE49-F238E27FC236}">
                <a16:creationId xmlns:a16="http://schemas.microsoft.com/office/drawing/2014/main" id="{045C4840-1CC1-4117-A3A9-17B7747209AE}"/>
              </a:ext>
            </a:extLst>
          </p:cNvPr>
          <p:cNvSpPr>
            <a:spLocks xmlns:a="http://schemas.openxmlformats.org/drawingml/2006/main" noGrp="1"/>
          </p:cNvSpPr>
          <p:nvPr/>
        </p:nvSpPr>
        <p:spPr>
          <a:xfrm xmlns:a="http://schemas.openxmlformats.org/drawingml/2006/main">
            <a:off x="1381125" y="2457450"/>
            <a:ext cx="10096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536377"/>
                </a:solidFill>
                <a:latin typeface="DejaVu Sans"/>
                <a:ea typeface="DejaVu Sans"/>
                <a:cs typeface="DejaVu Sans"/>
              </a:defRPr>
            </a:defPPr>
          </a:lstStyle>
          <a:p xmlns:a="http://schemas.openxmlformats.org/drawingml/2006/main">
            <a:pPr>
              <a:defRPr sz="1650" b="0">
                <a:solidFill>
                  <a:srgbClr val="536377"/>
                </a:solidFill>
                <a:latin typeface="DejaVu Sans"/>
                <a:ea typeface="DejaVu Sans"/>
                <a:cs typeface="DejaVu Sans"/>
              </a:defRPr>
            </a:pPr>
            <a:r>
              <a:rPr sz="1650" b="0">
                <a:solidFill>
                  <a:srgbClr val="536377"/>
                </a:solidFill>
                <a:latin typeface="DejaVu Sans"/>
                <a:ea typeface="DejaVu Sans"/>
                <a:cs typeface="DejaVu Sans"/>
              </a:rPr>
              <a:t>Видны ли ответы сервера? Нет ли потерь и неполного захвата?</a:t>
            </a:r>
          </a:p>
        </p:txBody>
      </p:sp>
      <p:sp>
        <p:nvSpPr>
          <p:cNvPr id="9" name="text-147">
            <a:extLst xmlns:a="http://schemas.openxmlformats.org/drawingml/2006/main">
              <a:ext uri="{FF2B5EF4-FFF2-40B4-BE49-F238E27FC236}">
                <a16:creationId xmlns:a16="http://schemas.microsoft.com/office/drawing/2014/main" id="{5C145D87-9E8A-497C-A8AC-84442E9FE0AB}"/>
              </a:ext>
            </a:extLst>
          </p:cNvPr>
          <p:cNvSpPr>
            <a:spLocks xmlns:a="http://schemas.openxmlformats.org/drawingml/2006/main" noGrp="1"/>
          </p:cNvSpPr>
          <p:nvPr/>
        </p:nvSpPr>
        <p:spPr>
          <a:xfrm xmlns:a="http://schemas.openxmlformats.org/drawingml/2006/main">
            <a:off x="571500" y="2990850"/>
            <a:ext cx="571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925" b="1">
                <a:solidFill>
                  <a:srgbClr val="008C95"/>
                </a:solidFill>
                <a:latin typeface="DejaVu Sans"/>
                <a:ea typeface="DejaVu Sans"/>
                <a:cs typeface="DejaVu Sans"/>
              </a:defRPr>
            </a:defPPr>
          </a:lstStyle>
          <a:p xmlns:a="http://schemas.openxmlformats.org/drawingml/2006/main">
            <a:pPr>
              <a:defRPr sz="2925" b="1">
                <a:solidFill>
                  <a:srgbClr val="008C95"/>
                </a:solidFill>
                <a:latin typeface="DejaVu Sans"/>
                <a:ea typeface="DejaVu Sans"/>
                <a:cs typeface="DejaVu Sans"/>
              </a:defRPr>
            </a:pPr>
            <a:r>
              <a:rPr sz="2925" b="1">
                <a:solidFill>
                  <a:srgbClr val="008C95"/>
                </a:solidFill>
                <a:latin typeface="DejaVu Sans"/>
                <a:ea typeface="DejaVu Sans"/>
                <a:cs typeface="DejaVu Sans"/>
              </a:rPr>
              <a:t>2</a:t>
            </a:r>
          </a:p>
        </p:txBody>
      </p:sp>
      <p:sp>
        <p:nvSpPr>
          <p:cNvPr id="10" name="text-148">
            <a:extLst xmlns:a="http://schemas.openxmlformats.org/drawingml/2006/main">
              <a:ext uri="{FF2B5EF4-FFF2-40B4-BE49-F238E27FC236}">
                <a16:creationId xmlns:a16="http://schemas.microsoft.com/office/drawing/2014/main" id="{F5E108C4-0B16-409F-AD8C-C83CA1C7EC97}"/>
              </a:ext>
            </a:extLst>
          </p:cNvPr>
          <p:cNvSpPr>
            <a:spLocks xmlns:a="http://schemas.openxmlformats.org/drawingml/2006/main" noGrp="1"/>
          </p:cNvSpPr>
          <p:nvPr/>
        </p:nvSpPr>
        <p:spPr>
          <a:xfrm xmlns:a="http://schemas.openxmlformats.org/drawingml/2006/main">
            <a:off x="1381125" y="2990850"/>
            <a:ext cx="1009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01C32"/>
                </a:solidFill>
                <a:latin typeface="DejaVu Sans"/>
                <a:ea typeface="DejaVu Sans"/>
                <a:cs typeface="DejaVu Sans"/>
              </a:defRPr>
            </a:defPPr>
          </a:lstStyle>
          <a:p xmlns:a="http://schemas.openxmlformats.org/drawingml/2006/main">
            <a:pPr>
              <a:defRPr sz="2025" b="1">
                <a:solidFill>
                  <a:srgbClr val="101C32"/>
                </a:solidFill>
                <a:latin typeface="DejaVu Sans"/>
                <a:ea typeface="DejaVu Sans"/>
                <a:cs typeface="DejaVu Sans"/>
              </a:defRPr>
            </a:pPr>
            <a:r>
              <a:rPr sz="2025" b="1">
                <a:solidFill>
                  <a:srgbClr val="101C32"/>
                </a:solidFill>
                <a:latin typeface="DejaVu Sans"/>
                <a:ea typeface="DejaVu Sans"/>
                <a:cs typeface="DejaVu Sans"/>
              </a:rPr>
              <a:t>Сопоставляет с состоянием сервиса</a:t>
            </a:r>
          </a:p>
        </p:txBody>
      </p:sp>
      <p:sp>
        <p:nvSpPr>
          <p:cNvPr id="11" name="text-149">
            <a:extLst xmlns:a="http://schemas.openxmlformats.org/drawingml/2006/main">
              <a:ext uri="{FF2B5EF4-FFF2-40B4-BE49-F238E27FC236}">
                <a16:creationId xmlns:a16="http://schemas.microsoft.com/office/drawing/2014/main" id="{1958D587-6BFC-49D7-9B8C-8ACB7BB98599}"/>
              </a:ext>
            </a:extLst>
          </p:cNvPr>
          <p:cNvSpPr>
            <a:spLocks xmlns:a="http://schemas.openxmlformats.org/drawingml/2006/main" noGrp="1"/>
          </p:cNvSpPr>
          <p:nvPr/>
        </p:nvSpPr>
        <p:spPr>
          <a:xfrm xmlns:a="http://schemas.openxmlformats.org/drawingml/2006/main">
            <a:off x="1381125" y="3400425"/>
            <a:ext cx="10096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536377"/>
                </a:solidFill>
                <a:latin typeface="DejaVu Sans"/>
                <a:ea typeface="DejaVu Sans"/>
                <a:cs typeface="DejaVu Sans"/>
              </a:defRPr>
            </a:defPPr>
          </a:lstStyle>
          <a:p xmlns:a="http://schemas.openxmlformats.org/drawingml/2006/main">
            <a:pPr>
              <a:defRPr sz="1650" b="0">
                <a:solidFill>
                  <a:srgbClr val="536377"/>
                </a:solidFill>
                <a:latin typeface="DejaVu Sans"/>
                <a:ea typeface="DejaVu Sans"/>
                <a:cs typeface="DejaVu Sans"/>
              </a:defRPr>
            </a:pPr>
            <a:r>
              <a:rPr sz="1650" b="0">
                <a:solidFill>
                  <a:srgbClr val="536377"/>
                </a:solidFill>
                <a:latin typeface="DejaVu Sans"/>
                <a:ea typeface="DejaVu Sans"/>
                <a:cs typeface="DejaVu Sans"/>
              </a:rPr>
              <a:t>Очередь соединений, доступность, журналы и соседние окна</a:t>
            </a:r>
          </a:p>
        </p:txBody>
      </p:sp>
      <p:sp>
        <p:nvSpPr>
          <p:cNvPr id="12" name="text-150">
            <a:extLst xmlns:a="http://schemas.openxmlformats.org/drawingml/2006/main">
              <a:ext uri="{FF2B5EF4-FFF2-40B4-BE49-F238E27FC236}">
                <a16:creationId xmlns:a16="http://schemas.microsoft.com/office/drawing/2014/main" id="{19C1F7D3-58E4-46DE-8CD7-A1DC1CC5F210}"/>
              </a:ext>
            </a:extLst>
          </p:cNvPr>
          <p:cNvSpPr>
            <a:spLocks xmlns:a="http://schemas.openxmlformats.org/drawingml/2006/main" noGrp="1"/>
          </p:cNvSpPr>
          <p:nvPr/>
        </p:nvSpPr>
        <p:spPr>
          <a:xfrm xmlns:a="http://schemas.openxmlformats.org/drawingml/2006/main">
            <a:off x="571500" y="3933825"/>
            <a:ext cx="571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925" b="1">
                <a:solidFill>
                  <a:srgbClr val="008C95"/>
                </a:solidFill>
                <a:latin typeface="DejaVu Sans"/>
                <a:ea typeface="DejaVu Sans"/>
                <a:cs typeface="DejaVu Sans"/>
              </a:defRPr>
            </a:defPPr>
          </a:lstStyle>
          <a:p xmlns:a="http://schemas.openxmlformats.org/drawingml/2006/main">
            <a:pPr>
              <a:defRPr sz="2925" b="1">
                <a:solidFill>
                  <a:srgbClr val="008C95"/>
                </a:solidFill>
                <a:latin typeface="DejaVu Sans"/>
                <a:ea typeface="DejaVu Sans"/>
                <a:cs typeface="DejaVu Sans"/>
              </a:defRPr>
            </a:pPr>
            <a:r>
              <a:rPr sz="2925" b="1">
                <a:solidFill>
                  <a:srgbClr val="008C95"/>
                </a:solidFill>
                <a:latin typeface="DejaVu Sans"/>
                <a:ea typeface="DejaVu Sans"/>
                <a:cs typeface="DejaVu Sans"/>
              </a:rPr>
              <a:t>3</a:t>
            </a:r>
          </a:p>
        </p:txBody>
      </p:sp>
      <p:sp>
        <p:nvSpPr>
          <p:cNvPr id="13" name="text-151">
            <a:extLst xmlns:a="http://schemas.openxmlformats.org/drawingml/2006/main">
              <a:ext uri="{FF2B5EF4-FFF2-40B4-BE49-F238E27FC236}">
                <a16:creationId xmlns:a16="http://schemas.microsoft.com/office/drawing/2014/main" id="{7A6EA362-DDBD-43DF-8152-EDA5C2EE465D}"/>
              </a:ext>
            </a:extLst>
          </p:cNvPr>
          <p:cNvSpPr>
            <a:spLocks xmlns:a="http://schemas.openxmlformats.org/drawingml/2006/main" noGrp="1"/>
          </p:cNvSpPr>
          <p:nvPr/>
        </p:nvSpPr>
        <p:spPr>
          <a:xfrm xmlns:a="http://schemas.openxmlformats.org/drawingml/2006/main">
            <a:off x="1381125" y="3933825"/>
            <a:ext cx="1009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01C32"/>
                </a:solidFill>
                <a:latin typeface="DejaVu Sans"/>
                <a:ea typeface="DejaVu Sans"/>
                <a:cs typeface="DejaVu Sans"/>
              </a:defRPr>
            </a:defPPr>
          </a:lstStyle>
          <a:p xmlns:a="http://schemas.openxmlformats.org/drawingml/2006/main">
            <a:pPr>
              <a:defRPr sz="2025" b="1">
                <a:solidFill>
                  <a:srgbClr val="101C32"/>
                </a:solidFill>
                <a:latin typeface="DejaVu Sans"/>
                <a:ea typeface="DejaVu Sans"/>
                <a:cs typeface="DejaVu Sans"/>
              </a:defRPr>
            </a:pPr>
            <a:r>
              <a:rPr sz="2025" b="1">
                <a:solidFill>
                  <a:srgbClr val="101C32"/>
                </a:solidFill>
                <a:latin typeface="DejaVu Sans"/>
                <a:ea typeface="DejaVu Sans"/>
                <a:cs typeface="DejaVu Sans"/>
              </a:rPr>
              <a:t>Выясняет контекст</a:t>
            </a:r>
          </a:p>
        </p:txBody>
      </p:sp>
      <p:sp>
        <p:nvSpPr>
          <p:cNvPr id="14" name="text-152">
            <a:extLst xmlns:a="http://schemas.openxmlformats.org/drawingml/2006/main">
              <a:ext uri="{FF2B5EF4-FFF2-40B4-BE49-F238E27FC236}">
                <a16:creationId xmlns:a16="http://schemas.microsoft.com/office/drawing/2014/main" id="{BF381503-E63C-4514-B8B5-79F7D38AED4C}"/>
              </a:ext>
            </a:extLst>
          </p:cNvPr>
          <p:cNvSpPr>
            <a:spLocks xmlns:a="http://schemas.openxmlformats.org/drawingml/2006/main" noGrp="1"/>
          </p:cNvSpPr>
          <p:nvPr/>
        </p:nvSpPr>
        <p:spPr>
          <a:xfrm xmlns:a="http://schemas.openxmlformats.org/drawingml/2006/main">
            <a:off x="1381125" y="4343400"/>
            <a:ext cx="10096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536377"/>
                </a:solidFill>
                <a:latin typeface="DejaVu Sans"/>
                <a:ea typeface="DejaVu Sans"/>
                <a:cs typeface="DejaVu Sans"/>
              </a:defRPr>
            </a:defPPr>
          </a:lstStyle>
          <a:p xmlns:a="http://schemas.openxmlformats.org/drawingml/2006/main">
            <a:pPr>
              <a:defRPr sz="1650" b="0">
                <a:solidFill>
                  <a:srgbClr val="536377"/>
                </a:solidFill>
                <a:latin typeface="DejaVu Sans"/>
                <a:ea typeface="DejaVu Sans"/>
                <a:cs typeface="DejaVu Sans"/>
              </a:defRPr>
            </a:pPr>
            <a:r>
              <a:rPr sz="1650" b="0">
                <a:solidFill>
                  <a:srgbClr val="536377"/>
                </a:solidFill>
                <a:latin typeface="DejaVu Sans"/>
                <a:ea typeface="DejaVu Sans"/>
                <a:cs typeface="DejaVu Sans"/>
              </a:rPr>
              <a:t>Наплыв клиентов, изменения сервиса, TCP-прокси или балансировщик</a:t>
            </a:r>
          </a:p>
        </p:txBody>
      </p:sp>
      <p:sp>
        <p:nvSpPr>
          <p:cNvPr id="15" name="text-153">
            <a:extLst xmlns:a="http://schemas.openxmlformats.org/drawingml/2006/main">
              <a:ext uri="{FF2B5EF4-FFF2-40B4-BE49-F238E27FC236}">
                <a16:creationId xmlns:a16="http://schemas.microsoft.com/office/drawing/2014/main" id="{28B2B8AF-3E9B-45FD-9E3D-2E7F00435F51}"/>
              </a:ext>
            </a:extLst>
          </p:cNvPr>
          <p:cNvSpPr>
            <a:spLocks xmlns:a="http://schemas.openxmlformats.org/drawingml/2006/main" noGrp="1"/>
          </p:cNvSpPr>
          <p:nvPr/>
        </p:nvSpPr>
        <p:spPr>
          <a:xfrm xmlns:a="http://schemas.openxmlformats.org/drawingml/2006/main">
            <a:off x="571500" y="4876800"/>
            <a:ext cx="571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925" b="1">
                <a:solidFill>
                  <a:srgbClr val="008C95"/>
                </a:solidFill>
                <a:latin typeface="DejaVu Sans"/>
                <a:ea typeface="DejaVu Sans"/>
                <a:cs typeface="DejaVu Sans"/>
              </a:defRPr>
            </a:defPPr>
          </a:lstStyle>
          <a:p xmlns:a="http://schemas.openxmlformats.org/drawingml/2006/main">
            <a:pPr>
              <a:defRPr sz="2925" b="1">
                <a:solidFill>
                  <a:srgbClr val="008C95"/>
                </a:solidFill>
                <a:latin typeface="DejaVu Sans"/>
                <a:ea typeface="DejaVu Sans"/>
                <a:cs typeface="DejaVu Sans"/>
              </a:defRPr>
            </a:pPr>
            <a:r>
              <a:rPr sz="2925" b="1">
                <a:solidFill>
                  <a:srgbClr val="008C95"/>
                </a:solidFill>
                <a:latin typeface="DejaVu Sans"/>
                <a:ea typeface="DejaVu Sans"/>
                <a:cs typeface="DejaVu Sans"/>
              </a:rPr>
              <a:t>4</a:t>
            </a:r>
          </a:p>
        </p:txBody>
      </p:sp>
      <p:sp>
        <p:nvSpPr>
          <p:cNvPr id="16" name="text-154">
            <a:extLst xmlns:a="http://schemas.openxmlformats.org/drawingml/2006/main">
              <a:ext uri="{FF2B5EF4-FFF2-40B4-BE49-F238E27FC236}">
                <a16:creationId xmlns:a16="http://schemas.microsoft.com/office/drawing/2014/main" id="{5CB88C9B-7B1F-4980-9AC5-092794EADA85}"/>
              </a:ext>
            </a:extLst>
          </p:cNvPr>
          <p:cNvSpPr>
            <a:spLocks xmlns:a="http://schemas.openxmlformats.org/drawingml/2006/main" noGrp="1"/>
          </p:cNvSpPr>
          <p:nvPr/>
        </p:nvSpPr>
        <p:spPr>
          <a:xfrm xmlns:a="http://schemas.openxmlformats.org/drawingml/2006/main">
            <a:off x="1381125" y="4876800"/>
            <a:ext cx="1009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01C32"/>
                </a:solidFill>
                <a:latin typeface="DejaVu Sans"/>
                <a:ea typeface="DejaVu Sans"/>
                <a:cs typeface="DejaVu Sans"/>
              </a:defRPr>
            </a:defPPr>
          </a:lstStyle>
          <a:p xmlns:a="http://schemas.openxmlformats.org/drawingml/2006/main">
            <a:pPr>
              <a:defRPr sz="2025" b="1">
                <a:solidFill>
                  <a:srgbClr val="101C32"/>
                </a:solidFill>
                <a:latin typeface="DejaVu Sans"/>
                <a:ea typeface="DejaVu Sans"/>
                <a:cs typeface="DejaVu Sans"/>
              </a:defRPr>
            </a:pPr>
            <a:r>
              <a:rPr sz="2025" b="1">
                <a:solidFill>
                  <a:srgbClr val="101C32"/>
                </a:solidFill>
                <a:latin typeface="DejaVu Sans"/>
                <a:ea typeface="DejaVu Sans"/>
                <a:cs typeface="DejaVu Sans"/>
              </a:rPr>
              <a:t>При подтверждении согласует защиту</a:t>
            </a:r>
          </a:p>
        </p:txBody>
      </p:sp>
      <p:sp>
        <p:nvSpPr>
          <p:cNvPr id="17" name="text-155">
            <a:extLst xmlns:a="http://schemas.openxmlformats.org/drawingml/2006/main">
              <a:ext uri="{FF2B5EF4-FFF2-40B4-BE49-F238E27FC236}">
                <a16:creationId xmlns:a16="http://schemas.microsoft.com/office/drawing/2014/main" id="{366240DB-371D-40FC-837C-3A6316BA185B}"/>
              </a:ext>
            </a:extLst>
          </p:cNvPr>
          <p:cNvSpPr>
            <a:spLocks xmlns:a="http://schemas.openxmlformats.org/drawingml/2006/main" noGrp="1"/>
          </p:cNvSpPr>
          <p:nvPr/>
        </p:nvSpPr>
        <p:spPr>
          <a:xfrm xmlns:a="http://schemas.openxmlformats.org/drawingml/2006/main">
            <a:off x="1381125" y="5286375"/>
            <a:ext cx="10096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536377"/>
                </a:solidFill>
                <a:latin typeface="DejaVu Sans"/>
                <a:ea typeface="DejaVu Sans"/>
                <a:cs typeface="DejaVu Sans"/>
              </a:defRPr>
            </a:defPPr>
          </a:lstStyle>
          <a:p xmlns:a="http://schemas.openxmlformats.org/drawingml/2006/main">
            <a:pPr>
              <a:defRPr sz="1650" b="0">
                <a:solidFill>
                  <a:srgbClr val="536377"/>
                </a:solidFill>
                <a:latin typeface="DejaVu Sans"/>
                <a:ea typeface="DejaVu Sans"/>
                <a:cs typeface="DejaVu Sans"/>
              </a:defRPr>
            </a:pPr>
            <a:r>
              <a:rPr sz="1650" b="0">
                <a:solidFill>
                  <a:srgbClr val="536377"/>
                </a:solidFill>
                <a:latin typeface="DejaVu Sans"/>
                <a:ea typeface="DejaVu Sans"/>
                <a:cs typeface="DejaVu Sans"/>
              </a:rPr>
              <a:t>Проверяет SYN cookies и правила ограничения нагрузки</a:t>
            </a:r>
          </a:p>
        </p:txBody>
      </p:sp>
      <p:sp>
        <p:nvSpPr>
          <p:cNvPr id="18" name="text-156">
            <a:extLst xmlns:a="http://schemas.openxmlformats.org/drawingml/2006/main">
              <a:ext uri="{FF2B5EF4-FFF2-40B4-BE49-F238E27FC236}">
                <a16:creationId xmlns:a16="http://schemas.microsoft.com/office/drawing/2014/main" id="{11568A0C-7E99-4EAE-8698-5CAA0EFA262F}"/>
              </a:ext>
            </a:extLst>
          </p:cNvPr>
          <p:cNvSpPr>
            <a:spLocks xmlns:a="http://schemas.openxmlformats.org/drawingml/2006/main" noGrp="1"/>
          </p:cNvSpPr>
          <p:nvPr/>
        </p:nvSpPr>
        <p:spPr>
          <a:xfrm xmlns:a="http://schemas.openxmlformats.org/drawingml/2006/main">
            <a:off x="571500" y="6010275"/>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0">
                <a:solidFill>
                  <a:srgbClr val="536377"/>
                </a:solidFill>
                <a:latin typeface="DejaVu Sans"/>
                <a:ea typeface="DejaVu Sans"/>
                <a:cs typeface="DejaVu Sans"/>
              </a:defRPr>
            </a:defPPr>
          </a:lstStyle>
          <a:p xmlns:a="http://schemas.openxmlformats.org/drawingml/2006/main">
            <a:pPr>
              <a:defRPr sz="1425" b="0">
                <a:solidFill>
                  <a:srgbClr val="536377"/>
                </a:solidFill>
                <a:latin typeface="DejaVu Sans"/>
                <a:ea typeface="DejaVu Sans"/>
                <a:cs typeface="DejaVu Sans"/>
              </a:defRPr>
            </a:pPr>
            <a:r>
              <a:rPr sz="1425" b="0">
                <a:solidFill>
                  <a:srgbClr val="536377"/>
                </a:solidFill>
                <a:latin typeface="DejaVu Sans"/>
                <a:ea typeface="DejaVu Sans"/>
                <a:cs typeface="DejaVu Sans"/>
              </a:rPr>
              <a:t>Реальных журналов в этом эксперименте нет; перечислены проверки для рабочей среды.</a:t>
            </a:r>
          </a:p>
        </p:txBody>
      </p:sp>
    </p:spTree>
    <p:extLst>
      <p:ext uri="{BB962C8B-B14F-4D97-AF65-F5344CB8AC3E}">
        <p14:creationId xmlns:p14="http://schemas.microsoft.com/office/powerpoint/2010/main" val="1725919145"/>
      </p:ext>
    </p:extLst>
  </p:cSld>
</p:sld>
</file>

<file path=ppt/slides/slide18.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5" name="text-157">
            <a:extLst xmlns:a="http://schemas.openxmlformats.org/drawingml/2006/main">
              <a:ext uri="{FF2B5EF4-FFF2-40B4-BE49-F238E27FC236}">
                <a16:creationId xmlns:a16="http://schemas.microsoft.com/office/drawing/2014/main" id="{4A1AADD7-6202-4AE2-A8AB-F5B2765614ED}"/>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Что нужно проверить перед внедрением</a:t>
            </a:r>
          </a:p>
        </p:txBody>
      </p:sp>
      <p:sp>
        <p:nvSpPr>
          <p:cNvPr id="2" name="text-158">
            <a:extLst xmlns:a="http://schemas.openxmlformats.org/drawingml/2006/main">
              <a:ext uri="{FF2B5EF4-FFF2-40B4-BE49-F238E27FC236}">
                <a16:creationId xmlns:a16="http://schemas.microsoft.com/office/drawing/2014/main" id="{C959B83A-B654-42BF-9234-1C4BF7BC7841}"/>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Практическое применение требует отдельной проверки на реальном трафике</a:t>
            </a:r>
          </a:p>
        </p:txBody>
      </p:sp>
      <p:sp>
        <p:nvSpPr>
          <p:cNvPr id="3" name="">
            <a:extLst xmlns:a="http://schemas.openxmlformats.org/drawingml/2006/main">
              <a:ext uri="{FF2B5EF4-FFF2-40B4-BE49-F238E27FC236}">
                <a16:creationId xmlns:a16="http://schemas.microsoft.com/office/drawing/2014/main" id="{F22A70CA-C83C-4750-9643-36F5E4818206}"/>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159">
            <a:extLst xmlns:a="http://schemas.openxmlformats.org/drawingml/2006/main">
              <a:ext uri="{FF2B5EF4-FFF2-40B4-BE49-F238E27FC236}">
                <a16:creationId xmlns:a16="http://schemas.microsoft.com/office/drawing/2014/main" id="{15DA418A-3FD8-444D-995B-6D8360A534E8}"/>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  Практика · источники [5, 7, 8]</a:t>
            </a:r>
          </a:p>
        </p:txBody>
      </p:sp>
      <p:sp>
        <p:nvSpPr>
          <p:cNvPr id="5" name="text-160">
            <a:extLst xmlns:a="http://schemas.openxmlformats.org/drawingml/2006/main">
              <a:ext uri="{FF2B5EF4-FFF2-40B4-BE49-F238E27FC236}">
                <a16:creationId xmlns:a16="http://schemas.microsoft.com/office/drawing/2014/main" id="{573E107B-6153-4EE2-AC86-B88726E4F5FE}"/>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18</a:t>
            </a:r>
          </a:p>
        </p:txBody>
      </p:sp>
      <p:sp>
        <p:nvSpPr>
          <p:cNvPr id="6" name="text-161">
            <a:extLst xmlns:a="http://schemas.openxmlformats.org/drawingml/2006/main">
              <a:ext uri="{FF2B5EF4-FFF2-40B4-BE49-F238E27FC236}">
                <a16:creationId xmlns:a16="http://schemas.microsoft.com/office/drawing/2014/main" id="{4D623458-AE1C-4E90-B0FB-2FA20AF0E78D}"/>
              </a:ext>
            </a:extLst>
          </p:cNvPr>
          <p:cNvSpPr>
            <a:spLocks xmlns:a="http://schemas.openxmlformats.org/drawingml/2006/main" noGrp="1"/>
          </p:cNvSpPr>
          <p:nvPr/>
        </p:nvSpPr>
        <p:spPr>
          <a:xfrm xmlns:a="http://schemas.openxmlformats.org/drawingml/2006/main">
            <a:off x="571500" y="2076450"/>
            <a:ext cx="11049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008C95"/>
                </a:solidFill>
                <a:latin typeface="DejaVu Sans"/>
                <a:ea typeface="DejaVu Sans"/>
                <a:cs typeface="DejaVu Sans"/>
              </a:defRPr>
            </a:defPPr>
          </a:lstStyle>
          <a:p xmlns:a="http://schemas.openxmlformats.org/drawingml/2006/main">
            <a:pPr>
              <a:defRPr sz="2100" b="1">
                <a:solidFill>
                  <a:srgbClr val="008C95"/>
                </a:solidFill>
                <a:latin typeface="DejaVu Sans"/>
                <a:ea typeface="DejaVu Sans"/>
                <a:cs typeface="DejaVu Sans"/>
              </a:defRPr>
            </a:pPr>
            <a:r>
              <a:rPr sz="2100" b="1">
                <a:solidFill>
                  <a:srgbClr val="008C95"/>
                </a:solidFill>
                <a:latin typeface="DejaVu Sans"/>
                <a:ea typeface="DejaVu Sans"/>
                <a:cs typeface="DejaVu Sans"/>
              </a:rPr>
              <a:t>Данные своей среды</a:t>
            </a:r>
          </a:p>
        </p:txBody>
      </p:sp>
      <p:sp>
        <p:nvSpPr>
          <p:cNvPr id="7" name="text-162">
            <a:extLst xmlns:a="http://schemas.openxmlformats.org/drawingml/2006/main">
              <a:ext uri="{FF2B5EF4-FFF2-40B4-BE49-F238E27FC236}">
                <a16:creationId xmlns:a16="http://schemas.microsoft.com/office/drawing/2014/main" id="{BF359A14-F363-4D7B-98FD-C7AB9D2FED14}"/>
              </a:ext>
            </a:extLst>
          </p:cNvPr>
          <p:cNvSpPr>
            <a:spLocks xmlns:a="http://schemas.openxmlformats.org/drawingml/2006/main" noGrp="1"/>
          </p:cNvSpPr>
          <p:nvPr/>
        </p:nvSpPr>
        <p:spPr>
          <a:xfrm xmlns:a="http://schemas.openxmlformats.org/drawingml/2006/main">
            <a:off x="571500" y="2486025"/>
            <a:ext cx="1104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01C32"/>
                </a:solidFill>
                <a:latin typeface="DejaVu Sans"/>
                <a:ea typeface="DejaVu Sans"/>
                <a:cs typeface="DejaVu Sans"/>
              </a:defRPr>
            </a:defPPr>
          </a:lstStyle>
          <a:p xmlns:a="http://schemas.openxmlformats.org/drawingml/2006/main">
            <a:pPr>
              <a:defRPr sz="1800" b="0">
                <a:solidFill>
                  <a:srgbClr val="101C32"/>
                </a:solidFill>
                <a:latin typeface="DejaVu Sans"/>
                <a:ea typeface="DejaVu Sans"/>
                <a:cs typeface="DejaVu Sans"/>
              </a:defRPr>
            </a:pPr>
            <a:r>
              <a:rPr sz="1800" b="0">
                <a:solidFill>
                  <a:srgbClr val="101C32"/>
                </a:solidFill>
                <a:latin typeface="DejaVu Sans"/>
                <a:ea typeface="DejaVu Sans"/>
                <a:cs typeface="DejaVu Sans"/>
              </a:rPr>
              <a:t>Подтверждённые метки; датчик видит оба направления</a:t>
            </a:r>
          </a:p>
        </p:txBody>
      </p:sp>
      <p:sp>
        <p:nvSpPr>
          <p:cNvPr id="8" name="text-163">
            <a:extLst xmlns:a="http://schemas.openxmlformats.org/drawingml/2006/main">
              <a:ext uri="{FF2B5EF4-FFF2-40B4-BE49-F238E27FC236}">
                <a16:creationId xmlns:a16="http://schemas.microsoft.com/office/drawing/2014/main" id="{30BADD9A-DC2D-4F40-8800-479256A2459B}"/>
              </a:ext>
            </a:extLst>
          </p:cNvPr>
          <p:cNvSpPr>
            <a:spLocks xmlns:a="http://schemas.openxmlformats.org/drawingml/2006/main" noGrp="1"/>
          </p:cNvSpPr>
          <p:nvPr/>
        </p:nvSpPr>
        <p:spPr>
          <a:xfrm xmlns:a="http://schemas.openxmlformats.org/drawingml/2006/main">
            <a:off x="571500" y="3009900"/>
            <a:ext cx="11049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008C95"/>
                </a:solidFill>
                <a:latin typeface="DejaVu Sans"/>
                <a:ea typeface="DejaVu Sans"/>
                <a:cs typeface="DejaVu Sans"/>
              </a:defRPr>
            </a:defPPr>
          </a:lstStyle>
          <a:p xmlns:a="http://schemas.openxmlformats.org/drawingml/2006/main">
            <a:pPr>
              <a:defRPr sz="2100" b="1">
                <a:solidFill>
                  <a:srgbClr val="008C95"/>
                </a:solidFill>
                <a:latin typeface="DejaVu Sans"/>
                <a:ea typeface="DejaVu Sans"/>
                <a:cs typeface="DejaVu Sans"/>
              </a:defRPr>
            </a:pPr>
            <a:r>
              <a:rPr sz="2100" b="1">
                <a:solidFill>
                  <a:srgbClr val="008C95"/>
                </a:solidFill>
                <a:latin typeface="DejaVu Sans"/>
                <a:ea typeface="DejaVu Sans"/>
                <a:cs typeface="DejaVu Sans"/>
              </a:rPr>
              <a:t>Разделение по времени и сеансам</a:t>
            </a:r>
          </a:p>
        </p:txBody>
      </p:sp>
      <p:sp>
        <p:nvSpPr>
          <p:cNvPr id="9" name="text-164">
            <a:extLst xmlns:a="http://schemas.openxmlformats.org/drawingml/2006/main">
              <a:ext uri="{FF2B5EF4-FFF2-40B4-BE49-F238E27FC236}">
                <a16:creationId xmlns:a16="http://schemas.microsoft.com/office/drawing/2014/main" id="{3CFAE896-CED7-4C44-9D74-31C867A6985C}"/>
              </a:ext>
            </a:extLst>
          </p:cNvPr>
          <p:cNvSpPr>
            <a:spLocks xmlns:a="http://schemas.openxmlformats.org/drawingml/2006/main" noGrp="1"/>
          </p:cNvSpPr>
          <p:nvPr/>
        </p:nvSpPr>
        <p:spPr>
          <a:xfrm xmlns:a="http://schemas.openxmlformats.org/drawingml/2006/main">
            <a:off x="571500" y="3419475"/>
            <a:ext cx="1104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01C32"/>
                </a:solidFill>
                <a:latin typeface="DejaVu Sans"/>
                <a:ea typeface="DejaVu Sans"/>
                <a:cs typeface="DejaVu Sans"/>
              </a:defRPr>
            </a:defPPr>
          </a:lstStyle>
          <a:p xmlns:a="http://schemas.openxmlformats.org/drawingml/2006/main">
            <a:pPr>
              <a:defRPr sz="1800" b="0">
                <a:solidFill>
                  <a:srgbClr val="101C32"/>
                </a:solidFill>
                <a:latin typeface="DejaVu Sans"/>
                <a:ea typeface="DejaVu Sans"/>
                <a:cs typeface="DejaVu Sans"/>
              </a:defRPr>
            </a:pPr>
            <a:r>
              <a:rPr sz="1800" b="0">
                <a:solidFill>
                  <a:srgbClr val="101C32"/>
                </a:solidFill>
                <a:latin typeface="DejaVu Sans"/>
                <a:ea typeface="DejaVu Sans"/>
                <a:cs typeface="DejaVu Sans"/>
              </a:rPr>
              <a:t>Не смешивать соседние окна одного сеанса между обучением и проверкой</a:t>
            </a:r>
          </a:p>
        </p:txBody>
      </p:sp>
      <p:sp>
        <p:nvSpPr>
          <p:cNvPr id="10" name="text-165">
            <a:extLst xmlns:a="http://schemas.openxmlformats.org/drawingml/2006/main">
              <a:ext uri="{FF2B5EF4-FFF2-40B4-BE49-F238E27FC236}">
                <a16:creationId xmlns:a16="http://schemas.microsoft.com/office/drawing/2014/main" id="{FCD5216A-4EAD-4F3F-9B28-A9285881BE7E}"/>
              </a:ext>
            </a:extLst>
          </p:cNvPr>
          <p:cNvSpPr>
            <a:spLocks xmlns:a="http://schemas.openxmlformats.org/drawingml/2006/main" noGrp="1"/>
          </p:cNvSpPr>
          <p:nvPr/>
        </p:nvSpPr>
        <p:spPr>
          <a:xfrm xmlns:a="http://schemas.openxmlformats.org/drawingml/2006/main">
            <a:off x="571500" y="3943350"/>
            <a:ext cx="11049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008C95"/>
                </a:solidFill>
                <a:latin typeface="DejaVu Sans"/>
                <a:ea typeface="DejaVu Sans"/>
                <a:cs typeface="DejaVu Sans"/>
              </a:defRPr>
            </a:defPPr>
          </a:lstStyle>
          <a:p xmlns:a="http://schemas.openxmlformats.org/drawingml/2006/main">
            <a:pPr>
              <a:defRPr sz="2100" b="1">
                <a:solidFill>
                  <a:srgbClr val="008C95"/>
                </a:solidFill>
                <a:latin typeface="DejaVu Sans"/>
                <a:ea typeface="DejaVu Sans"/>
                <a:cs typeface="DejaVu Sans"/>
              </a:defRPr>
            </a:pPr>
            <a:r>
              <a:rPr sz="2100" b="1">
                <a:solidFill>
                  <a:srgbClr val="008C95"/>
                </a:solidFill>
                <a:latin typeface="DejaVu Sans"/>
                <a:ea typeface="DejaVu Sans"/>
                <a:cs typeface="DejaVu Sans"/>
              </a:rPr>
              <a:t>Настройка на отдельной части данных</a:t>
            </a:r>
          </a:p>
        </p:txBody>
      </p:sp>
      <p:sp>
        <p:nvSpPr>
          <p:cNvPr id="11" name="text-166">
            <a:extLst xmlns:a="http://schemas.openxmlformats.org/drawingml/2006/main">
              <a:ext uri="{FF2B5EF4-FFF2-40B4-BE49-F238E27FC236}">
                <a16:creationId xmlns:a16="http://schemas.microsoft.com/office/drawing/2014/main" id="{95CEF0FC-9EB8-45D0-B2F5-F6100A4730E5}"/>
              </a:ext>
            </a:extLst>
          </p:cNvPr>
          <p:cNvSpPr>
            <a:spLocks xmlns:a="http://schemas.openxmlformats.org/drawingml/2006/main" noGrp="1"/>
          </p:cNvSpPr>
          <p:nvPr/>
        </p:nvSpPr>
        <p:spPr>
          <a:xfrm xmlns:a="http://schemas.openxmlformats.org/drawingml/2006/main">
            <a:off x="571500" y="4352925"/>
            <a:ext cx="1104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01C32"/>
                </a:solidFill>
                <a:latin typeface="DejaVu Sans"/>
                <a:ea typeface="DejaVu Sans"/>
                <a:cs typeface="DejaVu Sans"/>
              </a:defRPr>
            </a:defPPr>
          </a:lstStyle>
          <a:p xmlns:a="http://schemas.openxmlformats.org/drawingml/2006/main">
            <a:pPr>
              <a:defRPr sz="1800" b="0">
                <a:solidFill>
                  <a:srgbClr val="101C32"/>
                </a:solidFill>
                <a:latin typeface="DejaVu Sans"/>
                <a:ea typeface="DejaVu Sans"/>
                <a:cs typeface="DejaVu Sans"/>
              </a:defRPr>
            </a:pPr>
            <a:r>
              <a:rPr sz="1800" b="0">
                <a:solidFill>
                  <a:srgbClr val="101C32"/>
                </a:solidFill>
                <a:latin typeface="DejaVu Sans"/>
                <a:ea typeface="DejaVu Sans"/>
                <a:cs typeface="DejaVu Sans"/>
              </a:rPr>
              <a:t>Выбрать C и порог перепроверки с учётом цены ошибок</a:t>
            </a:r>
          </a:p>
        </p:txBody>
      </p:sp>
      <p:sp>
        <p:nvSpPr>
          <p:cNvPr id="12" name="text-167">
            <a:extLst xmlns:a="http://schemas.openxmlformats.org/drawingml/2006/main">
              <a:ext uri="{FF2B5EF4-FFF2-40B4-BE49-F238E27FC236}">
                <a16:creationId xmlns:a16="http://schemas.microsoft.com/office/drawing/2014/main" id="{54347A0C-E3CB-4F36-A970-A4E5E9A9C9E4}"/>
              </a:ext>
            </a:extLst>
          </p:cNvPr>
          <p:cNvSpPr>
            <a:spLocks xmlns:a="http://schemas.openxmlformats.org/drawingml/2006/main" noGrp="1"/>
          </p:cNvSpPr>
          <p:nvPr/>
        </p:nvSpPr>
        <p:spPr>
          <a:xfrm xmlns:a="http://schemas.openxmlformats.org/drawingml/2006/main">
            <a:off x="571500" y="4876800"/>
            <a:ext cx="11049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008C95"/>
                </a:solidFill>
                <a:latin typeface="DejaVu Sans"/>
                <a:ea typeface="DejaVu Sans"/>
                <a:cs typeface="DejaVu Sans"/>
              </a:defRPr>
            </a:defPPr>
          </a:lstStyle>
          <a:p xmlns:a="http://schemas.openxmlformats.org/drawingml/2006/main">
            <a:pPr>
              <a:defRPr sz="2100" b="1">
                <a:solidFill>
                  <a:srgbClr val="008C95"/>
                </a:solidFill>
                <a:latin typeface="DejaVu Sans"/>
                <a:ea typeface="DejaVu Sans"/>
                <a:cs typeface="DejaVu Sans"/>
              </a:defRPr>
            </a:pPr>
            <a:r>
              <a:rPr sz="2100" b="1">
                <a:solidFill>
                  <a:srgbClr val="008C95"/>
                </a:solidFill>
                <a:latin typeface="DejaVu Sans"/>
                <a:ea typeface="DejaVu Sans"/>
                <a:cs typeface="DejaVu Sans"/>
              </a:rPr>
              <a:t>Пробный режим без блокировок</a:t>
            </a:r>
          </a:p>
        </p:txBody>
      </p:sp>
      <p:sp>
        <p:nvSpPr>
          <p:cNvPr id="13" name="text-168">
            <a:extLst xmlns:a="http://schemas.openxmlformats.org/drawingml/2006/main">
              <a:ext uri="{FF2B5EF4-FFF2-40B4-BE49-F238E27FC236}">
                <a16:creationId xmlns:a16="http://schemas.microsoft.com/office/drawing/2014/main" id="{9C4EAD85-0F80-494A-A3B9-DF67B19125C9}"/>
              </a:ext>
            </a:extLst>
          </p:cNvPr>
          <p:cNvSpPr>
            <a:spLocks xmlns:a="http://schemas.openxmlformats.org/drawingml/2006/main" noGrp="1"/>
          </p:cNvSpPr>
          <p:nvPr/>
        </p:nvSpPr>
        <p:spPr>
          <a:xfrm xmlns:a="http://schemas.openxmlformats.org/drawingml/2006/main">
            <a:off x="571500" y="5286375"/>
            <a:ext cx="1104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01C32"/>
                </a:solidFill>
                <a:latin typeface="DejaVu Sans"/>
                <a:ea typeface="DejaVu Sans"/>
                <a:cs typeface="DejaVu Sans"/>
              </a:defRPr>
            </a:defPPr>
          </a:lstStyle>
          <a:p xmlns:a="http://schemas.openxmlformats.org/drawingml/2006/main">
            <a:pPr>
              <a:defRPr sz="1800" b="0">
                <a:solidFill>
                  <a:srgbClr val="101C32"/>
                </a:solidFill>
                <a:latin typeface="DejaVu Sans"/>
                <a:ea typeface="DejaVu Sans"/>
                <a:cs typeface="DejaVu Sans"/>
              </a:defRPr>
            </a:pPr>
            <a:r>
              <a:rPr sz="1800" b="0">
                <a:solidFill>
                  <a:srgbClr val="101C32"/>
                </a:solidFill>
                <a:latin typeface="DejaVu Sans"/>
                <a:ea typeface="DejaVu Sans"/>
                <a:cs typeface="DejaVu Sans"/>
              </a:rPr>
              <a:t>Считать пропуски, ложные тревоги и объём работы аналитиков</a:t>
            </a:r>
          </a:p>
        </p:txBody>
      </p:sp>
      <p:sp>
        <p:nvSpPr>
          <p:cNvPr id="14" name="text-169">
            <a:extLst xmlns:a="http://schemas.openxmlformats.org/drawingml/2006/main">
              <a:ext uri="{FF2B5EF4-FFF2-40B4-BE49-F238E27FC236}">
                <a16:creationId xmlns:a16="http://schemas.microsoft.com/office/drawing/2014/main" id="{01787F31-3797-4ADB-99BD-A255E3113D0B}"/>
              </a:ext>
            </a:extLst>
          </p:cNvPr>
          <p:cNvSpPr>
            <a:spLocks xmlns:a="http://schemas.openxmlformats.org/drawingml/2006/main" noGrp="1"/>
          </p:cNvSpPr>
          <p:nvPr/>
        </p:nvSpPr>
        <p:spPr>
          <a:xfrm xmlns:a="http://schemas.openxmlformats.org/drawingml/2006/main">
            <a:off x="571500" y="6019800"/>
            <a:ext cx="11049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0">
                <a:solidFill>
                  <a:srgbClr val="536377"/>
                </a:solidFill>
                <a:latin typeface="DejaVu Sans"/>
                <a:ea typeface="DejaVu Sans"/>
                <a:cs typeface="DejaVu Sans"/>
              </a:defRPr>
            </a:defPPr>
          </a:lstStyle>
          <a:p xmlns:a="http://schemas.openxmlformats.org/drawingml/2006/main">
            <a:pPr>
              <a:defRPr sz="1425" b="0">
                <a:solidFill>
                  <a:srgbClr val="536377"/>
                </a:solidFill>
                <a:latin typeface="DejaVu Sans"/>
                <a:ea typeface="DejaVu Sans"/>
                <a:cs typeface="DejaVu Sans"/>
              </a:defRPr>
            </a:pPr>
            <a:r>
              <a:rPr sz="1425" b="0">
                <a:solidFill>
                  <a:srgbClr val="536377"/>
                </a:solidFill>
                <a:latin typeface="DejaVu Sans"/>
                <a:ea typeface="DejaVu Sans"/>
                <a:cs typeface="DejaVu Sans"/>
              </a:rPr>
              <a:t>CICDDoS2019 — возможный источник PCAP для следующего этапа; здесь он не использован.</a:t>
            </a:r>
          </a:p>
        </p:txBody>
      </p:sp>
    </p:spTree>
    <p:extLst>
      <p:ext uri="{BB962C8B-B14F-4D97-AF65-F5344CB8AC3E}">
        <p14:creationId xmlns:p14="http://schemas.microsoft.com/office/powerpoint/2010/main" val="289212299"/>
      </p:ext>
    </p:extLst>
  </p:cSld>
</p:sld>
</file>

<file path=ppt/slides/slide19.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9" name="text-170">
            <a:extLst xmlns:a="http://schemas.openxmlformats.org/drawingml/2006/main">
              <a:ext uri="{FF2B5EF4-FFF2-40B4-BE49-F238E27FC236}">
                <a16:creationId xmlns:a16="http://schemas.microsoft.com/office/drawing/2014/main" id="{93D9A94E-67B2-4E51-8E54-B75245C2BEA6}"/>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Как объяснить результат по трём критериям</a:t>
            </a:r>
          </a:p>
        </p:txBody>
      </p:sp>
      <p:sp>
        <p:nvSpPr>
          <p:cNvPr id="2" name="text-171">
            <a:extLst xmlns:a="http://schemas.openxmlformats.org/drawingml/2006/main">
              <a:ext uri="{FF2B5EF4-FFF2-40B4-BE49-F238E27FC236}">
                <a16:creationId xmlns:a16="http://schemas.microsoft.com/office/drawing/2014/main" id="{82E88065-CB17-404A-B50F-37D6DD6E97DC}"/>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План защиты, соответствующий системе оценивания</a:t>
            </a:r>
          </a:p>
        </p:txBody>
      </p:sp>
      <p:sp>
        <p:nvSpPr>
          <p:cNvPr id="3" name="">
            <a:extLst xmlns:a="http://schemas.openxmlformats.org/drawingml/2006/main">
              <a:ext uri="{FF2B5EF4-FFF2-40B4-BE49-F238E27FC236}">
                <a16:creationId xmlns:a16="http://schemas.microsoft.com/office/drawing/2014/main" id="{C220BEFB-A26B-499B-91D7-97B5CAF25694}"/>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172">
            <a:extLst xmlns:a="http://schemas.openxmlformats.org/drawingml/2006/main">
              <a:ext uri="{FF2B5EF4-FFF2-40B4-BE49-F238E27FC236}">
                <a16:creationId xmlns:a16="http://schemas.microsoft.com/office/drawing/2014/main" id="{4E772378-CD97-4EC1-AABC-69CB4EF8128F}"/>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  Учебный пример: SYN-flood</a:t>
            </a:r>
          </a:p>
        </p:txBody>
      </p:sp>
      <p:sp>
        <p:nvSpPr>
          <p:cNvPr id="5" name="text-173">
            <a:extLst xmlns:a="http://schemas.openxmlformats.org/drawingml/2006/main">
              <a:ext uri="{FF2B5EF4-FFF2-40B4-BE49-F238E27FC236}">
                <a16:creationId xmlns:a16="http://schemas.microsoft.com/office/drawing/2014/main" id="{14292D01-F908-4B01-93E2-D8951331F532}"/>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19</a:t>
            </a:r>
          </a:p>
        </p:txBody>
      </p:sp>
      <p:graphicFrame>
        <p:nvGraphicFramePr>
          <p:cNvPr id="6" name="">
            <a:extLst xmlns:a="http://schemas.openxmlformats.org/drawingml/2006/main">
              <a:ext uri="{FF2B5EF4-FFF2-40B4-BE49-F238E27FC236}">
                <a16:creationId xmlns:a16="http://schemas.microsoft.com/office/drawing/2014/main" id="{3787A90E-7650-4DE8-9B7B-E98A34BE4E51}"/>
              </a:ext>
            </a:extLst>
          </p:cNvPr>
          <p:cNvGraphicFramePr/>
          <p:nvPr/>
        </p:nvGraphicFramePr>
        <p:xfrm>
          <a:off xmlns:a="http://schemas.openxmlformats.org/drawingml/2006/main" x="571500" y="2219325"/>
          <a:ext xmlns:a="http://schemas.openxmlformats.org/drawingml/2006/main" cx="11049000" cy="2609850"/>
        </p:xfrm>
        <a:graphic xmlns:a="http://schemas.openxmlformats.org/drawingml/2006/main">
          <a:graphicData uri="http://schemas.openxmlformats.org/drawingml/2006/table">
            <a:tbl>
              <a:tblPr/>
              <a:tblGrid>
                <a:gridCol w="2907632"/>
                <a:gridCol w="8141368"/>
              </a:tblGrid>
              <a:tr h="652463">
                <a:tc>
                  <a:txBody>
                    <a:bodyPr lIns="114300" tIns="95250" rIns="95250" bIns="76200"/>
                    <a:lstStyle/>
                    <a:p>
                      <a:r>
                        <a:rPr sz="1875" b="1">
                          <a:solidFill>
                            <a:srgbClr val="FFFFFF"/>
                          </a:solidFill>
                          <a:latin typeface="DejaVu Sans"/>
                          <a:ea typeface="DejaVu Sans"/>
                          <a:cs typeface="DejaVu Sans"/>
                        </a:rPr>
                        <a:t>Критерий</a:t>
                      </a:r>
                    </a:p>
                  </a:txBody>
                  <a:tcPr marL="91440" marR="91440" marT="45720" marB="45720" anchor="ctr">
                    <a:solidFill>
                      <a:srgbClr val="101C32"/>
                    </a:solidFill>
                  </a:tcPr>
                </a:tc>
                <a:tc>
                  <a:txBody>
                    <a:bodyPr lIns="114300" tIns="95250" rIns="95250" bIns="76200"/>
                    <a:lstStyle/>
                    <a:p>
                      <a:r>
                        <a:rPr sz="1875" b="1">
                          <a:solidFill>
                            <a:srgbClr val="FFFFFF"/>
                          </a:solidFill>
                          <a:latin typeface="DejaVu Sans"/>
                          <a:ea typeface="DejaVu Sans"/>
                          <a:cs typeface="DejaVu Sans"/>
                        </a:rPr>
                        <a:t>Что можно показать и объяснить</a:t>
                      </a:r>
                    </a:p>
                  </a:txBody>
                  <a:tcPr marL="91440" marR="91440" marT="45720" marB="45720" anchor="ctr">
                    <a:solidFill>
                      <a:srgbClr val="101C32"/>
                    </a:solidFill>
                  </a:tcPr>
                </a:tc>
              </a:tr>
              <a:tr h="652463">
                <a:tc>
                  <a:txBody>
                    <a:bodyPr lIns="114300" tIns="95250" rIns="95250" bIns="76200"/>
                    <a:lstStyle/>
                    <a:p>
                      <a:r>
                        <a:rPr sz="1875" b="0">
                          <a:solidFill>
                            <a:srgbClr val="101C32"/>
                          </a:solidFill>
                          <a:latin typeface="DejaVu Sans"/>
                          <a:ea typeface="DejaVu Sans"/>
                          <a:cs typeface="DejaVu Sans"/>
                        </a:rPr>
                        <a:t>Теория · 5 баллов</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Эталон — типичный образец; отступ — запас до смены ответа</a:t>
                      </a:r>
                    </a:p>
                  </a:txBody>
                  <a:tcPr marL="91440" marR="91440" marT="45720" marB="45720" anchor="ctr">
                    <a:solidFill>
                      <a:srgbClr val="FFFFFF"/>
                    </a:solidFill>
                  </a:tcPr>
                </a:tc>
              </a:tr>
              <a:tr h="652463">
                <a:tc>
                  <a:txBody>
                    <a:bodyPr lIns="114300" tIns="95250" rIns="95250" bIns="76200"/>
                    <a:lstStyle/>
                    <a:p>
                      <a:r>
                        <a:rPr sz="1875" b="0">
                          <a:solidFill>
                            <a:srgbClr val="101C32"/>
                          </a:solidFill>
                          <a:latin typeface="DejaVu Sans"/>
                          <a:ea typeface="DejaVu Sans"/>
                          <a:cs typeface="DejaVu Sans"/>
                        </a:rPr>
                        <a:t>Задание · 5 баллов</a:t>
                      </a:r>
                    </a:p>
                  </a:txBody>
                  <a:tcPr marL="91440" marR="91440" marT="45720" marB="45720" anchor="ctr">
                    <a:solidFill>
                      <a:srgbClr val="EAF0F4"/>
                    </a:solidFill>
                  </a:tcPr>
                </a:tc>
                <a:tc>
                  <a:txBody>
                    <a:bodyPr lIns="114300" tIns="95250" rIns="95250" bIns="76200"/>
                    <a:lstStyle/>
                    <a:p>
                      <a:r>
                        <a:rPr sz="1875" b="0">
                          <a:solidFill>
                            <a:srgbClr val="101C32"/>
                          </a:solidFill>
                          <a:latin typeface="DejaVu Sans"/>
                          <a:ea typeface="DejaVu Sans"/>
                          <a:cs typeface="DejaVu Sans"/>
                        </a:rPr>
                        <a:t>Два эталона, SVM, расчёт 8 окон и пограничные T03–T06</a:t>
                      </a:r>
                    </a:p>
                  </a:txBody>
                  <a:tcPr marL="91440" marR="91440" marT="45720" marB="45720" anchor="ctr">
                    <a:solidFill>
                      <a:srgbClr val="EAF0F4"/>
                    </a:solidFill>
                  </a:tcPr>
                </a:tc>
              </a:tr>
              <a:tr h="652463">
                <a:tc>
                  <a:txBody>
                    <a:bodyPr lIns="114300" tIns="95250" rIns="95250" bIns="76200"/>
                    <a:lstStyle/>
                    <a:p>
                      <a:r>
                        <a:rPr sz="1875" b="0">
                          <a:solidFill>
                            <a:srgbClr val="101C32"/>
                          </a:solidFill>
                          <a:latin typeface="DejaVu Sans"/>
                          <a:ea typeface="DejaVu Sans"/>
                          <a:cs typeface="DejaVu Sans"/>
                        </a:rPr>
                        <a:t>Применение · 5 баллов</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Colab-демо, сигнал для SOC и проверка двух видов ошибок</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D88494E4-3B15-45E0-94B3-2C64D82502B1}"/>
              </a:ext>
            </a:extLst>
          </p:cNvPr>
          <p:cNvSpPr>
            <a:spLocks xmlns:a="http://schemas.openxmlformats.org/drawingml/2006/main" noGrp="1"/>
          </p:cNvSpPr>
          <p:nvPr/>
        </p:nvSpPr>
        <p:spPr>
          <a:xfrm xmlns:a="http://schemas.openxmlformats.org/drawingml/2006/main">
            <a:off x="571500" y="5400675"/>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8" name="text-174">
            <a:extLst xmlns:a="http://schemas.openxmlformats.org/drawingml/2006/main">
              <a:ext uri="{FF2B5EF4-FFF2-40B4-BE49-F238E27FC236}">
                <a16:creationId xmlns:a16="http://schemas.microsoft.com/office/drawing/2014/main" id="{3AA9B2E9-0730-4467-B7AE-34A8F7B3F167}"/>
              </a:ext>
            </a:extLst>
          </p:cNvPr>
          <p:cNvSpPr>
            <a:spLocks xmlns:a="http://schemas.openxmlformats.org/drawingml/2006/main" noGrp="1"/>
          </p:cNvSpPr>
          <p:nvPr/>
        </p:nvSpPr>
        <p:spPr>
          <a:xfrm xmlns:a="http://schemas.openxmlformats.org/drawingml/2006/main">
            <a:off x="571500" y="5562600"/>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Отступ помогает проверить решение модели; он не заменяет контекст ИБ</a:t>
            </a:r>
          </a:p>
        </p:txBody>
      </p:sp>
    </p:spTree>
    <p:extLst>
      <p:ext uri="{BB962C8B-B14F-4D97-AF65-F5344CB8AC3E}">
        <p14:creationId xmlns:p14="http://schemas.microsoft.com/office/powerpoint/2010/main" val="977026715"/>
      </p:ext>
    </p:extLst>
  </p:cSld>
</p:sld>
</file>

<file path=ppt/slides/slide20.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22" name="text-175">
            <a:extLst xmlns:a="http://schemas.openxmlformats.org/drawingml/2006/main">
              <a:ext uri="{FF2B5EF4-FFF2-40B4-BE49-F238E27FC236}">
                <a16:creationId xmlns:a16="http://schemas.microsoft.com/office/drawing/2014/main" id="{ADF8BE25-B5E0-41F1-97E4-E1034397F227}"/>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Источники</a:t>
            </a:r>
          </a:p>
        </p:txBody>
      </p:sp>
      <p:sp>
        <p:nvSpPr>
          <p:cNvPr id="2" name="text-176">
            <a:extLst xmlns:a="http://schemas.openxmlformats.org/drawingml/2006/main">
              <a:ext uri="{FF2B5EF4-FFF2-40B4-BE49-F238E27FC236}">
                <a16:creationId xmlns:a16="http://schemas.microsoft.com/office/drawing/2014/main" id="{CE917418-770D-4CDA-BC02-8B87F15C7F5F}"/>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Первоисточники и официальные документы; ссылки активны</a:t>
            </a:r>
          </a:p>
        </p:txBody>
      </p:sp>
      <p:sp>
        <p:nvSpPr>
          <p:cNvPr id="3" name="">
            <a:extLst xmlns:a="http://schemas.openxmlformats.org/drawingml/2006/main">
              <a:ext uri="{FF2B5EF4-FFF2-40B4-BE49-F238E27FC236}">
                <a16:creationId xmlns:a16="http://schemas.microsoft.com/office/drawing/2014/main" id="{DC759992-60F5-4BE9-B016-3104AF51AB86}"/>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177">
            <a:extLst xmlns:a="http://schemas.openxmlformats.org/drawingml/2006/main">
              <a:ext uri="{FF2B5EF4-FFF2-40B4-BE49-F238E27FC236}">
                <a16:creationId xmlns:a16="http://schemas.microsoft.com/office/drawing/2014/main" id="{4F01BCB7-D292-425D-9B2E-FD83D4B75E75}"/>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  Учебный пример: SYN-flood</a:t>
            </a:r>
          </a:p>
        </p:txBody>
      </p:sp>
      <p:sp>
        <p:nvSpPr>
          <p:cNvPr id="5" name="text-178">
            <a:extLst xmlns:a="http://schemas.openxmlformats.org/drawingml/2006/main">
              <a:ext uri="{FF2B5EF4-FFF2-40B4-BE49-F238E27FC236}">
                <a16:creationId xmlns:a16="http://schemas.microsoft.com/office/drawing/2014/main" id="{BAAF3266-7AF1-49F2-AF56-3D136CD36EBA}"/>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20</a:t>
            </a:r>
          </a:p>
        </p:txBody>
      </p:sp>
      <p:sp>
        <p:nvSpPr>
          <p:cNvPr id="6" name="text-179">
            <a:extLst xmlns:a="http://schemas.openxmlformats.org/drawingml/2006/main">
              <a:ext uri="{FF2B5EF4-FFF2-40B4-BE49-F238E27FC236}">
                <a16:creationId xmlns:a16="http://schemas.microsoft.com/office/drawing/2014/main" id="{9E55D4BC-0EE5-46BC-AB25-BA0171DD328C}"/>
              </a:ext>
            </a:extLst>
          </p:cNvPr>
          <p:cNvSpPr>
            <a:spLocks xmlns:a="http://schemas.openxmlformats.org/drawingml/2006/main" noGrp="1"/>
          </p:cNvSpPr>
          <p:nvPr/>
        </p:nvSpPr>
        <p:spPr>
          <a:xfrm xmlns:a="http://schemas.openxmlformats.org/drawingml/2006/main">
            <a:off x="571500" y="2066925"/>
            <a:ext cx="5286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hlinkClick xmlns:r="http://schemas.openxmlformats.org/officeDocument/2006/relationships" r:id="R0570086d0d4c45b3"/>
              </a:rPr>
              <a:t>[1] Cortes &amp; Vapnik (1995)</a:t>
            </a:r>
          </a:p>
        </p:txBody>
      </p:sp>
      <p:sp>
        <p:nvSpPr>
          <p:cNvPr id="7" name="text-180">
            <a:extLst xmlns:a="http://schemas.openxmlformats.org/drawingml/2006/main">
              <a:ext uri="{FF2B5EF4-FFF2-40B4-BE49-F238E27FC236}">
                <a16:creationId xmlns:a16="http://schemas.microsoft.com/office/drawing/2014/main" id="{2966EBDA-F664-4147-83F3-5EF0EE975031}"/>
              </a:ext>
            </a:extLst>
          </p:cNvPr>
          <p:cNvSpPr>
            <a:spLocks xmlns:a="http://schemas.openxmlformats.org/drawingml/2006/main" noGrp="1"/>
          </p:cNvSpPr>
          <p:nvPr/>
        </p:nvSpPr>
        <p:spPr>
          <a:xfrm xmlns:a="http://schemas.openxmlformats.org/drawingml/2006/main">
            <a:off x="571500" y="2600325"/>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Support-vector networks</a:t>
            </a:r>
          </a:p>
        </p:txBody>
      </p:sp>
      <p:sp>
        <p:nvSpPr>
          <p:cNvPr id="8" name="text-181">
            <a:extLst xmlns:a="http://schemas.openxmlformats.org/drawingml/2006/main">
              <a:ext uri="{FF2B5EF4-FFF2-40B4-BE49-F238E27FC236}">
                <a16:creationId xmlns:a16="http://schemas.microsoft.com/office/drawing/2014/main" id="{85D8D8C6-7E48-4F94-9ED3-AF732BD59FB2}"/>
              </a:ext>
            </a:extLst>
          </p:cNvPr>
          <p:cNvSpPr>
            <a:spLocks xmlns:a="http://schemas.openxmlformats.org/drawingml/2006/main" noGrp="1"/>
          </p:cNvSpPr>
          <p:nvPr/>
        </p:nvSpPr>
        <p:spPr>
          <a:xfrm xmlns:a="http://schemas.openxmlformats.org/drawingml/2006/main">
            <a:off x="571500" y="3057525"/>
            <a:ext cx="5286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hlinkClick xmlns:r="http://schemas.openxmlformats.org/officeDocument/2006/relationships" r:id="Re6c595715c1e4b54"/>
              </a:rPr>
              <a:t>[2] Stanford CS229, A. Ng</a:t>
            </a:r>
          </a:p>
        </p:txBody>
      </p:sp>
      <p:sp>
        <p:nvSpPr>
          <p:cNvPr id="9" name="text-182">
            <a:extLst xmlns:a="http://schemas.openxmlformats.org/drawingml/2006/main">
              <a:ext uri="{FF2B5EF4-FFF2-40B4-BE49-F238E27FC236}">
                <a16:creationId xmlns:a16="http://schemas.microsoft.com/office/drawing/2014/main" id="{E17461DB-4429-473D-BB57-5D5496C430F0}"/>
              </a:ext>
            </a:extLst>
          </p:cNvPr>
          <p:cNvSpPr>
            <a:spLocks xmlns:a="http://schemas.openxmlformats.org/drawingml/2006/main" noGrp="1"/>
          </p:cNvSpPr>
          <p:nvPr/>
        </p:nvSpPr>
        <p:spPr>
          <a:xfrm xmlns:a="http://schemas.openxmlformats.org/drawingml/2006/main">
            <a:off x="571500" y="3590925"/>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Functional / geometric margin; soft margin</a:t>
            </a:r>
          </a:p>
        </p:txBody>
      </p:sp>
      <p:sp>
        <p:nvSpPr>
          <p:cNvPr id="10" name="text-183">
            <a:extLst xmlns:a="http://schemas.openxmlformats.org/drawingml/2006/main">
              <a:ext uri="{FF2B5EF4-FFF2-40B4-BE49-F238E27FC236}">
                <a16:creationId xmlns:a16="http://schemas.microsoft.com/office/drawing/2014/main" id="{2AA03C3A-2361-4E1C-B5E0-578BF88FC88D}"/>
              </a:ext>
            </a:extLst>
          </p:cNvPr>
          <p:cNvSpPr>
            <a:spLocks xmlns:a="http://schemas.openxmlformats.org/drawingml/2006/main" noGrp="1"/>
          </p:cNvSpPr>
          <p:nvPr/>
        </p:nvSpPr>
        <p:spPr>
          <a:xfrm xmlns:a="http://schemas.openxmlformats.org/drawingml/2006/main">
            <a:off x="571500" y="4048125"/>
            <a:ext cx="5286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hlinkClick xmlns:r="http://schemas.openxmlformats.org/officeDocument/2006/relationships" r:id="R8d4ac1efa15e43b9"/>
              </a:rPr>
              <a:t>[3] Schubert &amp; Rousseeuw (2019)</a:t>
            </a:r>
          </a:p>
        </p:txBody>
      </p:sp>
      <p:sp>
        <p:nvSpPr>
          <p:cNvPr id="11" name="text-184">
            <a:extLst xmlns:a="http://schemas.openxmlformats.org/drawingml/2006/main">
              <a:ext uri="{FF2B5EF4-FFF2-40B4-BE49-F238E27FC236}">
                <a16:creationId xmlns:a16="http://schemas.microsoft.com/office/drawing/2014/main" id="{8A80F472-84D9-4EBD-BD4E-10B846219479}"/>
              </a:ext>
            </a:extLst>
          </p:cNvPr>
          <p:cNvSpPr>
            <a:spLocks xmlns:a="http://schemas.openxmlformats.org/drawingml/2006/main" noGrp="1"/>
          </p:cNvSpPr>
          <p:nvPr/>
        </p:nvSpPr>
        <p:spPr>
          <a:xfrm xmlns:a="http://schemas.openxmlformats.org/drawingml/2006/main">
            <a:off x="571500" y="4581525"/>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Faster k-Medoids Clustering</a:t>
            </a:r>
          </a:p>
        </p:txBody>
      </p:sp>
      <p:sp>
        <p:nvSpPr>
          <p:cNvPr id="12" name="text-185">
            <a:extLst xmlns:a="http://schemas.openxmlformats.org/drawingml/2006/main">
              <a:ext uri="{FF2B5EF4-FFF2-40B4-BE49-F238E27FC236}">
                <a16:creationId xmlns:a16="http://schemas.microsoft.com/office/drawing/2014/main" id="{FBD57D4C-BFC8-4634-981D-9FE396102088}"/>
              </a:ext>
            </a:extLst>
          </p:cNvPr>
          <p:cNvSpPr>
            <a:spLocks xmlns:a="http://schemas.openxmlformats.org/drawingml/2006/main" noGrp="1"/>
          </p:cNvSpPr>
          <p:nvPr/>
        </p:nvSpPr>
        <p:spPr>
          <a:xfrm xmlns:a="http://schemas.openxmlformats.org/drawingml/2006/main">
            <a:off x="571500" y="5038725"/>
            <a:ext cx="5286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hlinkClick xmlns:r="http://schemas.openxmlformats.org/officeDocument/2006/relationships" r:id="Rc14ba5ea598f4f45"/>
              </a:rPr>
              <a:t>[4] Eddy (2007), RFC 4987</a:t>
            </a:r>
          </a:p>
        </p:txBody>
      </p:sp>
      <p:sp>
        <p:nvSpPr>
          <p:cNvPr id="13" name="text-186">
            <a:extLst xmlns:a="http://schemas.openxmlformats.org/drawingml/2006/main">
              <a:ext uri="{FF2B5EF4-FFF2-40B4-BE49-F238E27FC236}">
                <a16:creationId xmlns:a16="http://schemas.microsoft.com/office/drawing/2014/main" id="{60E5E3CF-0323-49F6-BF8D-104EFD212433}"/>
              </a:ext>
            </a:extLst>
          </p:cNvPr>
          <p:cNvSpPr>
            <a:spLocks xmlns:a="http://schemas.openxmlformats.org/drawingml/2006/main" noGrp="1"/>
          </p:cNvSpPr>
          <p:nvPr/>
        </p:nvSpPr>
        <p:spPr>
          <a:xfrm xmlns:a="http://schemas.openxmlformats.org/drawingml/2006/main">
            <a:off x="571500" y="5572125"/>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TCP SYN Flooding Attacks and Common Mitigations</a:t>
            </a:r>
          </a:p>
        </p:txBody>
      </p:sp>
      <p:sp>
        <p:nvSpPr>
          <p:cNvPr id="14" name="text-187">
            <a:extLst xmlns:a="http://schemas.openxmlformats.org/drawingml/2006/main">
              <a:ext uri="{FF2B5EF4-FFF2-40B4-BE49-F238E27FC236}">
                <a16:creationId xmlns:a16="http://schemas.microsoft.com/office/drawing/2014/main" id="{74AD601F-7242-4FB0-B819-FE94E3C6E1DD}"/>
              </a:ext>
            </a:extLst>
          </p:cNvPr>
          <p:cNvSpPr>
            <a:spLocks xmlns:a="http://schemas.openxmlformats.org/drawingml/2006/main" noGrp="1"/>
          </p:cNvSpPr>
          <p:nvPr/>
        </p:nvSpPr>
        <p:spPr>
          <a:xfrm xmlns:a="http://schemas.openxmlformats.org/drawingml/2006/main">
            <a:off x="6334125" y="2066925"/>
            <a:ext cx="5286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hlinkClick xmlns:r="http://schemas.openxmlformats.org/officeDocument/2006/relationships" r:id="R177b4708d9994527"/>
              </a:rPr>
              <a:t>[5] scikit-learn: документация</a:t>
            </a:r>
          </a:p>
        </p:txBody>
      </p:sp>
      <p:sp>
        <p:nvSpPr>
          <p:cNvPr id="15" name="text-188">
            <a:extLst xmlns:a="http://schemas.openxmlformats.org/drawingml/2006/main">
              <a:ext uri="{FF2B5EF4-FFF2-40B4-BE49-F238E27FC236}">
                <a16:creationId xmlns:a16="http://schemas.microsoft.com/office/drawing/2014/main" id="{B9E2C203-DF3E-450B-BB79-57ED6C6B8734}"/>
              </a:ext>
            </a:extLst>
          </p:cNvPr>
          <p:cNvSpPr>
            <a:spLocks xmlns:a="http://schemas.openxmlformats.org/drawingml/2006/main" noGrp="1"/>
          </p:cNvSpPr>
          <p:nvPr/>
        </p:nvSpPr>
        <p:spPr>
          <a:xfrm xmlns:a="http://schemas.openxmlformats.org/drawingml/2006/main">
            <a:off x="6334125" y="2600325"/>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SVC, decision_function, масштабирование</a:t>
            </a:r>
          </a:p>
        </p:txBody>
      </p:sp>
      <p:sp>
        <p:nvSpPr>
          <p:cNvPr id="16" name="text-189">
            <a:extLst xmlns:a="http://schemas.openxmlformats.org/drawingml/2006/main">
              <a:ext uri="{FF2B5EF4-FFF2-40B4-BE49-F238E27FC236}">
                <a16:creationId xmlns:a16="http://schemas.microsoft.com/office/drawing/2014/main" id="{541C392D-1AF2-4491-9E9E-35A1336D07B8}"/>
              </a:ext>
            </a:extLst>
          </p:cNvPr>
          <p:cNvSpPr>
            <a:spLocks xmlns:a="http://schemas.openxmlformats.org/drawingml/2006/main" noGrp="1"/>
          </p:cNvSpPr>
          <p:nvPr/>
        </p:nvSpPr>
        <p:spPr>
          <a:xfrm xmlns:a="http://schemas.openxmlformats.org/drawingml/2006/main">
            <a:off x="6334125" y="3057525"/>
            <a:ext cx="5286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hlinkClick xmlns:r="http://schemas.openxmlformats.org/officeDocument/2006/relationships" r:id="R87bc25e434374f1e"/>
              </a:rPr>
              <a:t>[6] Moosavi-Dezfooli et al. (CVPR 2016)</a:t>
            </a:r>
          </a:p>
        </p:txBody>
      </p:sp>
      <p:sp>
        <p:nvSpPr>
          <p:cNvPr id="17" name="text-190">
            <a:extLst xmlns:a="http://schemas.openxmlformats.org/drawingml/2006/main">
              <a:ext uri="{FF2B5EF4-FFF2-40B4-BE49-F238E27FC236}">
                <a16:creationId xmlns:a16="http://schemas.microsoft.com/office/drawing/2014/main" id="{734DAB17-039C-42BA-A0FF-6D23E1B4EDF6}"/>
              </a:ext>
            </a:extLst>
          </p:cNvPr>
          <p:cNvSpPr>
            <a:spLocks xmlns:a="http://schemas.openxmlformats.org/drawingml/2006/main" noGrp="1"/>
          </p:cNvSpPr>
          <p:nvPr/>
        </p:nvSpPr>
        <p:spPr>
          <a:xfrm xmlns:a="http://schemas.openxmlformats.org/drawingml/2006/main">
            <a:off x="6334125" y="3590925"/>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DeepFool: расстояние до границы</a:t>
            </a:r>
          </a:p>
        </p:txBody>
      </p:sp>
      <p:sp>
        <p:nvSpPr>
          <p:cNvPr id="18" name="text-191">
            <a:extLst xmlns:a="http://schemas.openxmlformats.org/drawingml/2006/main">
              <a:ext uri="{FF2B5EF4-FFF2-40B4-BE49-F238E27FC236}">
                <a16:creationId xmlns:a16="http://schemas.microsoft.com/office/drawing/2014/main" id="{86B5A57B-EECA-4F7B-AB99-39623E859FE9}"/>
              </a:ext>
            </a:extLst>
          </p:cNvPr>
          <p:cNvSpPr>
            <a:spLocks xmlns:a="http://schemas.openxmlformats.org/drawingml/2006/main" noGrp="1"/>
          </p:cNvSpPr>
          <p:nvPr/>
        </p:nvSpPr>
        <p:spPr>
          <a:xfrm xmlns:a="http://schemas.openxmlformats.org/drawingml/2006/main">
            <a:off x="6334125" y="4048125"/>
            <a:ext cx="5286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hlinkClick xmlns:r="http://schemas.openxmlformats.org/officeDocument/2006/relationships" r:id="Rd4f1debe7c334147"/>
              </a:rPr>
              <a:t>[7] UNB / CICDDoS2019</a:t>
            </a:r>
          </a:p>
        </p:txBody>
      </p:sp>
      <p:sp>
        <p:nvSpPr>
          <p:cNvPr id="19" name="text-192">
            <a:extLst xmlns:a="http://schemas.openxmlformats.org/drawingml/2006/main">
              <a:ext uri="{FF2B5EF4-FFF2-40B4-BE49-F238E27FC236}">
                <a16:creationId xmlns:a16="http://schemas.microsoft.com/office/drawing/2014/main" id="{4C65BFE2-AB0C-4574-BEA2-FD522D6098B7}"/>
              </a:ext>
            </a:extLst>
          </p:cNvPr>
          <p:cNvSpPr>
            <a:spLocks xmlns:a="http://schemas.openxmlformats.org/drawingml/2006/main" noGrp="1"/>
          </p:cNvSpPr>
          <p:nvPr/>
        </p:nvSpPr>
        <p:spPr>
          <a:xfrm xmlns:a="http://schemas.openxmlformats.org/drawingml/2006/main">
            <a:off x="6334125" y="4581525"/>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Данные для следующего этапа проверки</a:t>
            </a:r>
          </a:p>
        </p:txBody>
      </p:sp>
      <p:sp>
        <p:nvSpPr>
          <p:cNvPr id="20" name="text-193">
            <a:extLst xmlns:a="http://schemas.openxmlformats.org/drawingml/2006/main">
              <a:ext uri="{FF2B5EF4-FFF2-40B4-BE49-F238E27FC236}">
                <a16:creationId xmlns:a16="http://schemas.microsoft.com/office/drawing/2014/main" id="{515020BA-32D1-4211-A467-173F00A78136}"/>
              </a:ext>
            </a:extLst>
          </p:cNvPr>
          <p:cNvSpPr>
            <a:spLocks xmlns:a="http://schemas.openxmlformats.org/drawingml/2006/main" noGrp="1"/>
          </p:cNvSpPr>
          <p:nvPr/>
        </p:nvSpPr>
        <p:spPr>
          <a:xfrm xmlns:a="http://schemas.openxmlformats.org/drawingml/2006/main">
            <a:off x="6334125" y="5038725"/>
            <a:ext cx="5286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hlinkClick xmlns:r="http://schemas.openxmlformats.org/officeDocument/2006/relationships" r:id="R9f1de5fed8d04cbf"/>
              </a:rPr>
              <a:t>[8] NIST SP 800-94</a:t>
            </a:r>
          </a:p>
        </p:txBody>
      </p:sp>
      <p:sp>
        <p:nvSpPr>
          <p:cNvPr id="21" name="text-194">
            <a:extLst xmlns:a="http://schemas.openxmlformats.org/drawingml/2006/main">
              <a:ext uri="{FF2B5EF4-FFF2-40B4-BE49-F238E27FC236}">
                <a16:creationId xmlns:a16="http://schemas.microsoft.com/office/drawing/2014/main" id="{17A54997-713C-4D17-A172-1565B0C7A2F7}"/>
              </a:ext>
            </a:extLst>
          </p:cNvPr>
          <p:cNvSpPr>
            <a:spLocks xmlns:a="http://schemas.openxmlformats.org/drawingml/2006/main" noGrp="1"/>
          </p:cNvSpPr>
          <p:nvPr/>
        </p:nvSpPr>
        <p:spPr>
          <a:xfrm xmlns:a="http://schemas.openxmlformats.org/drawingml/2006/main">
            <a:off x="6334125" y="5572125"/>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Проверка сигналов IDS и работа с ошибками</a:t>
            </a:r>
          </a:p>
        </p:txBody>
      </p:sp>
    </p:spTree>
    <p:extLst>
      <p:ext uri="{BB962C8B-B14F-4D97-AF65-F5344CB8AC3E}">
        <p14:creationId xmlns:p14="http://schemas.microsoft.com/office/powerpoint/2010/main" val="126700793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2026-10-16T20:41:34.2890000Z</dcterms:created>
  <dcterms:modified xsi:type="dcterms:W3CDTF">2026-10-16T20:41:34.2890000Z</dcterms:modified>
</coreProperties>
</file>