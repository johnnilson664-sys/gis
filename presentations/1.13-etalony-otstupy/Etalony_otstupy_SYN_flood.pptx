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a029ffb8a9b4af0" /><Relationship Type="http://schemas.openxmlformats.org/officeDocument/2006/relationships/extended-properties" Target="/docProps/app.xml" Id="Rd17b16ca022d4c84" /><Relationship Type="http://schemas.openxmlformats.org/officeDocument/2006/relationships/officeDocument" Target="/ppt/presentation.xml" Id="Rdd6b9a534ad24746" /></Relationships>
</file>

<file path=ppt/presentation.xml><?xml version="1.0" encoding="utf-8"?>
<p:presentation xmlns:p="http://schemas.openxmlformats.org/presentationml/2006/main">
  <p:sldMasterIdLst>
    <p:sldMasterId xmlns:r="http://schemas.openxmlformats.org/officeDocument/2006/relationships" id="2147483648" r:id="Rd0238698aa754a1a"/>
  </p:sldMasterIdLst>
  <p:notesMasterIdLst>
    <p:notesMasterId xmlns:r="http://schemas.openxmlformats.org/officeDocument/2006/relationships" r:id="R096ac2416d43493e"/>
  </p:notesMasterIdLst>
  <p:sldIdLst>
    <p:sldId xmlns:r="http://schemas.openxmlformats.org/officeDocument/2006/relationships" id="256" r:id="R5d5b6336e41c4b1d"/>
    <p:sldId xmlns:r="http://schemas.openxmlformats.org/officeDocument/2006/relationships" id="257" r:id="Ra6a99dace13f4311"/>
    <p:sldId xmlns:r="http://schemas.openxmlformats.org/officeDocument/2006/relationships" id="258" r:id="Rda50d7a2d0fa46ab"/>
    <p:sldId xmlns:r="http://schemas.openxmlformats.org/officeDocument/2006/relationships" id="259" r:id="R3e5f5475412c4ca1"/>
    <p:sldId xmlns:r="http://schemas.openxmlformats.org/officeDocument/2006/relationships" id="260" r:id="R64b101c747eb4584"/>
    <p:sldId xmlns:r="http://schemas.openxmlformats.org/officeDocument/2006/relationships" id="261" r:id="R90961fa3168248a5"/>
    <p:sldId xmlns:r="http://schemas.openxmlformats.org/officeDocument/2006/relationships" id="262" r:id="R6ac81651e4ba4b99"/>
    <p:sldId xmlns:r="http://schemas.openxmlformats.org/officeDocument/2006/relationships" id="263" r:id="R2b4fc627ee244439"/>
    <p:sldId xmlns:r="http://schemas.openxmlformats.org/officeDocument/2006/relationships" id="264" r:id="R1b189ebc2b1f4c01"/>
    <p:sldId xmlns:r="http://schemas.openxmlformats.org/officeDocument/2006/relationships" id="265" r:id="R04cc584d156f440a"/>
    <p:sldId xmlns:r="http://schemas.openxmlformats.org/officeDocument/2006/relationships" id="266" r:id="R4b9c45ed2d2b4fce"/>
    <p:sldId xmlns:r="http://schemas.openxmlformats.org/officeDocument/2006/relationships" id="267" r:id="R9ad50435f7a84401"/>
    <p:sldId xmlns:r="http://schemas.openxmlformats.org/officeDocument/2006/relationships" id="268" r:id="R3905a127f112486f"/>
    <p:sldId xmlns:r="http://schemas.openxmlformats.org/officeDocument/2006/relationships" id="269" r:id="Rb0d80105c98643cf"/>
    <p:sldId xmlns:r="http://schemas.openxmlformats.org/officeDocument/2006/relationships" id="270" r:id="Rcdba2ea9a8a64340"/>
    <p:sldId xmlns:r="http://schemas.openxmlformats.org/officeDocument/2006/relationships" id="271" r:id="R5008b57ab3f24221"/>
    <p:sldId xmlns:r="http://schemas.openxmlformats.org/officeDocument/2006/relationships" id="272" r:id="R10c50689549046c2"/>
    <p:sldId xmlns:r="http://schemas.openxmlformats.org/officeDocument/2006/relationships" id="273" r:id="R30d16fd621304117"/>
    <p:sldId xmlns:r="http://schemas.openxmlformats.org/officeDocument/2006/relationships" id="274" r:id="Rc2dd598b6d704604"/>
    <p:sldId xmlns:r="http://schemas.openxmlformats.org/officeDocument/2006/relationships" id="275" r:id="R5c655bb7ff8447a0"/>
    <p:sldId xmlns:r="http://schemas.openxmlformats.org/officeDocument/2006/relationships" id="276" r:id="R05b25a8ce824493d"/>
    <p:sldId xmlns:r="http://schemas.openxmlformats.org/officeDocument/2006/relationships" id="277" r:id="Rc1f82257236947d7"/>
    <p:sldId xmlns:r="http://schemas.openxmlformats.org/officeDocument/2006/relationships" id="278" r:id="Rb538e85b02b4406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bbb785e6a1945ba" /><Relationship Type="http://schemas.openxmlformats.org/officeDocument/2006/relationships/slideMaster" Target="/ppt/slideMasters/slideMaster1.xml" Id="Rd0238698aa754a1a" /><Relationship Type="http://schemas.openxmlformats.org/officeDocument/2006/relationships/notesMaster" Target="/ppt/notesMasters/notesMaster1.xml" Id="R096ac2416d43493e" /><Relationship Type="http://schemas.openxmlformats.org/officeDocument/2006/relationships/presProps" Target="/ppt/presProps.xml" Id="Rb7178ec5220f4f8d" /><Relationship Type="http://schemas.openxmlformats.org/officeDocument/2006/relationships/tableStyles" Target="/ppt/tableStyles.xml" Id="Rab1a6c902ec244d6" /><Relationship Type="http://schemas.openxmlformats.org/officeDocument/2006/relationships/slide" Target="/ppt/slides/slide1.xml" Id="R5d5b6336e41c4b1d" /><Relationship Type="http://schemas.openxmlformats.org/officeDocument/2006/relationships/slide" Target="/ppt/slides/slide2.xml" Id="Ra6a99dace13f4311" /><Relationship Type="http://schemas.openxmlformats.org/officeDocument/2006/relationships/slide" Target="/ppt/slides/slide3.xml" Id="Rda50d7a2d0fa46ab" /><Relationship Type="http://schemas.openxmlformats.org/officeDocument/2006/relationships/slide" Target="/ppt/slides/slide4.xml" Id="R3e5f5475412c4ca1" /><Relationship Type="http://schemas.openxmlformats.org/officeDocument/2006/relationships/slide" Target="/ppt/slides/slide5.xml" Id="R64b101c747eb4584" /><Relationship Type="http://schemas.openxmlformats.org/officeDocument/2006/relationships/slide" Target="/ppt/slides/slide6.xml" Id="R90961fa3168248a5" /><Relationship Type="http://schemas.openxmlformats.org/officeDocument/2006/relationships/slide" Target="/ppt/slides/slide7.xml" Id="R6ac81651e4ba4b99" /><Relationship Type="http://schemas.openxmlformats.org/officeDocument/2006/relationships/slide" Target="/ppt/slides/slide8.xml" Id="R2b4fc627ee244439" /><Relationship Type="http://schemas.openxmlformats.org/officeDocument/2006/relationships/slide" Target="/ppt/slides/slide9.xml" Id="R1b189ebc2b1f4c01" /><Relationship Type="http://schemas.openxmlformats.org/officeDocument/2006/relationships/slide" Target="/ppt/slides/slide10.xml" Id="R04cc584d156f440a" /><Relationship Type="http://schemas.openxmlformats.org/officeDocument/2006/relationships/slide" Target="/ppt/slides/slide11.xml" Id="R4b9c45ed2d2b4fce" /><Relationship Type="http://schemas.openxmlformats.org/officeDocument/2006/relationships/slide" Target="/ppt/slides/slide12.xml" Id="R9ad50435f7a84401" /><Relationship Type="http://schemas.openxmlformats.org/officeDocument/2006/relationships/slide" Target="/ppt/slides/slide13.xml" Id="R3905a127f112486f" /><Relationship Type="http://schemas.openxmlformats.org/officeDocument/2006/relationships/slide" Target="/ppt/slides/slide14.xml" Id="Rb0d80105c98643cf" /><Relationship Type="http://schemas.openxmlformats.org/officeDocument/2006/relationships/slide" Target="/ppt/slides/slide15.xml" Id="Rcdba2ea9a8a64340" /><Relationship Type="http://schemas.openxmlformats.org/officeDocument/2006/relationships/slide" Target="/ppt/slides/slide16.xml" Id="R5008b57ab3f24221" /><Relationship Type="http://schemas.openxmlformats.org/officeDocument/2006/relationships/slide" Target="/ppt/slides/slide17.xml" Id="R10c50689549046c2" /><Relationship Type="http://schemas.openxmlformats.org/officeDocument/2006/relationships/slide" Target="/ppt/slides/slide18.xml" Id="R30d16fd621304117" /><Relationship Type="http://schemas.openxmlformats.org/officeDocument/2006/relationships/slide" Target="/ppt/slides/slide19.xml" Id="Rc2dd598b6d704604" /><Relationship Type="http://schemas.openxmlformats.org/officeDocument/2006/relationships/slide" Target="/ppt/slides/slide20.xml" Id="R5c655bb7ff8447a0" /><Relationship Type="http://schemas.openxmlformats.org/officeDocument/2006/relationships/slide" Target="/ppt/slides/slide21.xml" Id="R05b25a8ce824493d" /><Relationship Type="http://schemas.openxmlformats.org/officeDocument/2006/relationships/slide" Target="/ppt/slides/slide22.xml" Id="Rc1f82257236947d7" /><Relationship Type="http://schemas.openxmlformats.org/officeDocument/2006/relationships/slide" Target="/ppt/slides/slide23.xml" Id="Rb538e85b02b4406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1e5c76a6bee4aa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8e5b56f6acd4188" /><Relationship Type="http://schemas.openxmlformats.org/officeDocument/2006/relationships/notesMaster" Target="/ppt/notesMasters/notesMaster1.xml" Id="R15ebfadd5a614a93" /></Relationships>
</file>

<file path=ppt/notesSlides/_rels/notesSlide2.xml.rels>&#65279;<?xml version="1.0" encoding="utf-8"?><Relationships xmlns="http://schemas.openxmlformats.org/package/2006/relationships"><Relationship Type="http://schemas.openxmlformats.org/officeDocument/2006/relationships/slide" Target="/ppt/slides/slide2.xml" Id="R20bf2e5331ca4411" /><Relationship Type="http://schemas.openxmlformats.org/officeDocument/2006/relationships/notesMaster" Target="/ppt/notesMasters/notesMaster1.xml" Id="R2e26c89578534cd2" /></Relationships>
</file>

<file path=ppt/notesSlides/_rels/notesSlide3.xml.rels>&#65279;<?xml version="1.0" encoding="utf-8"?><Relationships xmlns="http://schemas.openxmlformats.org/package/2006/relationships"><Relationship Type="http://schemas.openxmlformats.org/officeDocument/2006/relationships/slide" Target="/ppt/slides/slide3.xml" Id="Rdb171d3f73d14d2d" /><Relationship Type="http://schemas.openxmlformats.org/officeDocument/2006/relationships/notesMaster" Target="/ppt/notesMasters/notesMaster1.xml" Id="R1d759b98c7b54372" /></Relationships>
</file>

<file path=ppt/notesSlides/_rels/notesSlide4.xml.rels>&#65279;<?xml version="1.0" encoding="utf-8"?><Relationships xmlns="http://schemas.openxmlformats.org/package/2006/relationships"><Relationship Type="http://schemas.openxmlformats.org/officeDocument/2006/relationships/slide" Target="/ppt/slides/slide4.xml" Id="R724ff87018a94e69" /><Relationship Type="http://schemas.openxmlformats.org/officeDocument/2006/relationships/notesMaster" Target="/ppt/notesMasters/notesMaster1.xml" Id="R43a483badc4b4b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9a65766319c640cc" /><Relationship Type="http://schemas.openxmlformats.org/officeDocument/2006/relationships/notesMaster" Target="/ppt/notesMasters/notesMaster1.xml" Id="R6c76a17b19ef4d2c" /></Relationships>
</file>

<file path=ppt/notesSlides/_rels/notesSlide6.xml.rels>&#65279;<?xml version="1.0" encoding="utf-8"?><Relationships xmlns="http://schemas.openxmlformats.org/package/2006/relationships"><Relationship Type="http://schemas.openxmlformats.org/officeDocument/2006/relationships/slide" Target="/ppt/slides/slide6.xml" Id="Rf48b61334c54466a" /><Relationship Type="http://schemas.openxmlformats.org/officeDocument/2006/relationships/notesMaster" Target="/ppt/notesMasters/notesMaster1.xml" Id="Raa9b28adaf354ae7" /></Relationships>
</file>

<file path=ppt/notesSlides/_rels/notesSlide7.xml.rels>&#65279;<?xml version="1.0" encoding="utf-8"?><Relationships xmlns="http://schemas.openxmlformats.org/package/2006/relationships"><Relationship Type="http://schemas.openxmlformats.org/officeDocument/2006/relationships/slide" Target="/ppt/slides/slide7.xml" Id="R136f52b0e6d04c59" /><Relationship Type="http://schemas.openxmlformats.org/officeDocument/2006/relationships/notesMaster" Target="/ppt/notesMasters/notesMaster1.xml" Id="Rb85ec7ff5f0b4ef5" /></Relationships>
</file>

<file path=ppt/notesSlides/_rels/notesSlide8.xml.rels>&#65279;<?xml version="1.0" encoding="utf-8"?><Relationships xmlns="http://schemas.openxmlformats.org/package/2006/relationships"><Relationship Type="http://schemas.openxmlformats.org/officeDocument/2006/relationships/slide" Target="/ppt/slides/slide8.xml" Id="Red7ec3d1677343e6" /><Relationship Type="http://schemas.openxmlformats.org/officeDocument/2006/relationships/notesMaster" Target="/ppt/notesMasters/notesMaster1.xml" Id="R6b431486b69b4da9" /></Relationships>
</file>

<file path=ppt/notesSlides/_rels/notesSlide9.xml.rels>&#65279;<?xml version="1.0" encoding="utf-8"?><Relationships xmlns="http://schemas.openxmlformats.org/package/2006/relationships"><Relationship Type="http://schemas.openxmlformats.org/officeDocument/2006/relationships/slide" Target="/ppt/slides/slide9.xml" Id="R4e2404361ba94703" /><Relationship Type="http://schemas.openxmlformats.org/officeDocument/2006/relationships/notesMaster" Target="/ppt/notesMasters/notesMaster1.xml" Id="R1892f1c1f1af48f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9610f54d96d45ee" /><Relationship Type="http://schemas.openxmlformats.org/officeDocument/2006/relationships/notesMaster" Target="/ppt/notesMasters/notesMaster1.xml" Id="Re9cafac7ac424e7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f86812396ed4961" /><Relationship Type="http://schemas.openxmlformats.org/officeDocument/2006/relationships/notesMaster" Target="/ppt/notesMasters/notesMaster1.xml" Id="R13298f4cf344495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a644a22bb1f4473" /><Relationship Type="http://schemas.openxmlformats.org/officeDocument/2006/relationships/notesMaster" Target="/ppt/notesMasters/notesMaster1.xml" Id="Rc4bc4b0931d54b3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45ababb30144bfb" /><Relationship Type="http://schemas.openxmlformats.org/officeDocument/2006/relationships/notesMaster" Target="/ppt/notesMasters/notesMaster1.xml" Id="R016881873afb48d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bc285796ec6430b" /><Relationship Type="http://schemas.openxmlformats.org/officeDocument/2006/relationships/notesMaster" Target="/ppt/notesMasters/notesMaster1.xml" Id="Rd1139889206a4c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190ee6ff0774a67" /><Relationship Type="http://schemas.openxmlformats.org/officeDocument/2006/relationships/notesMaster" Target="/ppt/notesMasters/notesMaster1.xml" Id="R863ba9ec334f4c2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27b7644c7634a26" /><Relationship Type="http://schemas.openxmlformats.org/officeDocument/2006/relationships/notesMaster" Target="/ppt/notesMasters/notesMaster1.xml" Id="R55661f165ab6465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6f5312d91344303" /><Relationship Type="http://schemas.openxmlformats.org/officeDocument/2006/relationships/notesMaster" Target="/ppt/notesMasters/notesMaster1.xml" Id="Ra1a37783da33400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d6dd5a656004105" /><Relationship Type="http://schemas.openxmlformats.org/officeDocument/2006/relationships/notesMaster" Target="/ppt/notesMasters/notesMaster1.xml" Id="Ref68c2d628694cb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214f118df404bf7" /><Relationship Type="http://schemas.openxmlformats.org/officeDocument/2006/relationships/notesMaster" Target="/ppt/notesMasters/notesMaster1.xml" Id="Re58ea262fb044ac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56b9b49024549da" /><Relationship Type="http://schemas.openxmlformats.org/officeDocument/2006/relationships/notesMaster" Target="/ppt/notesMasters/notesMaster1.xml" Id="R2462da47c8e446a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8939a0d64784091" /><Relationship Type="http://schemas.openxmlformats.org/officeDocument/2006/relationships/notesMaster" Target="/ppt/notesMasters/notesMaster1.xml" Id="Ra5994827dff0498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acd9530c3b24daa" /><Relationship Type="http://schemas.openxmlformats.org/officeDocument/2006/relationships/notesMaster" Target="/ppt/notesMasters/notesMaster1.xml" Id="R9147c4e5ccf2431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f973bee79cd4640" /><Relationship Type="http://schemas.openxmlformats.org/officeDocument/2006/relationships/notesMaster" Target="/ppt/notesMasters/notesMaster1.xml" Id="R6daf4fd7bf37472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Тема работы — «Понятие эталона. Отступы и классификация объектов качества». Чтобы разобраться в ней без специальной подготовки по машинному обучению, сначала последовательно определим основные понятия. Начнём с объекта и его описания, затем введём эталон, правило классификации и отступ. После всей теории разберём одну задачу информационной безопасности: различение нормального трафика и SYN-flood. Проследим путь от измерений до решения модели, а затем до действий аналитика. Числа и код доступны в ноутбуке Google Colab. Начальная точка любого такого метода — понимание того, что именно исследуется и к какой группе это нужно отнести.</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https://www.rfc-editor.org/rfc/rfc4987.html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Объект — то, что мы исследуем. Чтобы с объектом могла работать программа, его описывают признаками: измеримыми свойствами, которые можно записать как набор значений. Важно, чтобы для разных объектов использовался один и тот же набор признаков. Класс — одна из заранее заданных групп, к которой нужно отнести объект. Классификация — выбор класса на основе признаков. Это четыре разные роли: объект существует в исследуемой задаче, признаки дают его описание, классы задают возможные ответы, а классификация выполняет выбор ответа. Сам набор чисел ещё ничего не классифицирует. Для выбора необходимо определить правило, связывающее описание объекта с классом.</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Такое правило называют классификатором, или моделью. На вход модель получает признаки, на выходе сообщает выбранный класс. Обучающая выборка — набор объектов, для которых классы заранее известны. Эти известные ответы называют метками. Обучение означает подбор правила по таким примерам, чтобы оно могло классифицировать и другие объекты. При этом известная метка и прогноз модели — разные вещи. Метка задаёт правильный ответ в размеченной выборке, а прогноз является результатом работы правила и может оказаться ошибочным. Поэтому одного факта обучения недостаточно для доверия каждому ответу. Начнём с простого варианта модели: сравнения исследуемого объекта с образцами классов.</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Эталон класса — образец этого класса, принятый для сравнения с другими объектами. Для каждого класса выбирают свой образец. Если новое наблюдение похоже на определённый эталон, это даёт основание отнести его к соответствующему классу. Сначала важно понять именно роль эталона: он служит точкой сравнения. Конкретный алгоритм выбора образца — уже отдельный вопрос. Определение эталона само по себе ещё не требует выбирать самый центральный объект или обязательно брать существующий пример. В нашей работе будет выбран определённый способ, но до него нужно решить, что означает «похож». Для программы это должна быть заданная численная мера.</a:t>
            </a:r>
          </a:p>
          <a:p xmlns:a="http://schemas.openxmlformats.org/drawingml/2006/main">
            <a:r>
              <a:t/>
            </a:r>
          </a:p>
          <a:p xmlns:a="http://schemas.openxmlformats.org/drawingml/2006/main">
            <a:r>
              <a:t>Источники:</a:t>
            </a:r>
          </a:p>
          <a:p xmlns:a="http://schemas.openxmlformats.org/drawingml/2006/main">
            <a:r>
              <a:t>https://arxiv.org/abs/1810.05691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Похожесть будем оценивать расстоянием между описаниями объектов. Чем меньше расстояние, тем ближе объекты в выбранной метрике. Метрика — правило вычисления расстояния. Значения двух признаков — координаты точки. Здесь используем евклидово расстояние: длину прямого отрезка между точками после приведения признаков к выбранному масштабу. Важен масштаб координат. Если значения одного признака численно намного больше другого, первый может определять почти всё расстояние, даже если второй тоже содержательно важен. Поэтому заранее выбирают согласованный масштаб признаков. Он становится частью метода: при его изменении могут измениться расстояния и решения. В выбранном масштабе можно не только сравнивать объекты, но и искать образец, представляющий свой класс.</a:t>
            </a:r>
          </a:p>
          <a:p xmlns:a="http://schemas.openxmlformats.org/drawingml/2006/main">
            <a:r>
              <a:t/>
            </a:r>
          </a:p>
          <a:p xmlns:a="http://schemas.openxmlformats.org/drawingml/2006/main">
            <a:r>
              <a:t>Источники:</a:t>
            </a:r>
          </a:p>
          <a:p xmlns:a="http://schemas.openxmlformats.org/drawingml/2006/main">
            <a:r>
              <a:t>https://arxiv.org/abs/1810.05691</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выбора эталона используем медоид. Медоид — объект с наименьшей суммой расстояний до остальных объектов своего класса. Алгоритм понятен без сложной формулы: берём первого кандидата, складываем расстояния от него до всех остальных; повторяем для каждого кандидата и выбираем наименьшую сумму. Затем независимо делаем то же для другого класса. Используем только обучающие объекты, чтобы проверочные примеры не влияли на построение правила. Полученные эталоны совпадут с существующими объектами: это свойство выбранного метода, а не обязательная часть общего определения эталона. Теперь у каждого класса есть образец, и можно полностью описать правило выбора класса нового объекта.</a:t>
            </a:r>
          </a:p>
          <a:p xmlns:a="http://schemas.openxmlformats.org/drawingml/2006/main">
            <a:r>
              <a:t/>
            </a:r>
          </a:p>
          <a:p xmlns:a="http://schemas.openxmlformats.org/drawingml/2006/main">
            <a:r>
              <a:t>Источники:</a:t>
            </a:r>
          </a:p>
          <a:p xmlns:a="http://schemas.openxmlformats.org/drawingml/2006/main">
            <a:r>
              <a:t>https://arxiv.org/abs/1810.05691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Правило ближайшего эталона работает следующим образом. Для нового объекта вычисляем расстояние до образца каждого класса. Сравниваем эти расстояния и выбираем класс ближайшего образца. Это уже полноценный классификатор: у него есть входные признаки и однозначно описанный способ получения ответа, кроме случая точного равенства, для которого нужно отдельное правило. Но одинаковый выбранный класс ещё не означает одинаковое преимущество. В одном случае свой образец может быть значительно ближе, в другом расстояния почти совпадают. Поэтому полезно сохранять не только ответ, но и численную характеристику преимущества одного класса над другим. Так мы приходим к понятию отступа.</a:t>
            </a:r>
          </a:p>
          <a:p xmlns:a="http://schemas.openxmlformats.org/drawingml/2006/main">
            <a:r>
              <a:t/>
            </a:r>
          </a:p>
          <a:p xmlns:a="http://schemas.openxmlformats.org/drawingml/2006/main">
            <a:r>
              <a:t>Источники:</a:t>
            </a:r>
          </a:p>
          <a:p xmlns:a="http://schemas.openxmlformats.org/drawingml/2006/main">
            <a:r>
              <a:t>https://arxiv.org/abs/1810.05691</a:t>
            </a:r>
          </a:p>
          <a:p xmlns:a="http://schemas.openxmlformats.org/drawingml/2006/main">
            <a:r>
              <a:t>https://see.stanford.edu/materials/aimlcs229/cs229-notes3.pdf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Отступ — разность оценок истинного класса и конкурирующего класса. Оценка показывает, насколько правило предпочитает соответствующий класс. Дальше рассматриваем два класса, поэтому конкурент только один. В правиле ближайшего эталона меньшему расстоянию соответствует лучшее предпочтение. Оценка класса здесь равна минус расстоянию до его эталона. Поэтому отступ вычисляем так: расстояние до чужого эталона минус расстояние до своего. Положительное значение означает, что свой эталон ближе и ответ верный. Отрицательное означает выбор чужого класса, ноль — равенство оценок. Чтобы назвать класс своим и оценить правильность по знаку, нужна истинная метка объекта. Однако один образец может грубо описывать разнообразие класса. Альтернативный подход — обучить разделяющую границу по всей выборке.</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https://arxiv.org/abs/1810.05691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SVM, или машина опорных векторов, — алгоритм обучения классификатора. Линейная SVM при двух признаках строит прямую, разделяющую плоскость на области выбора классов. Граница решения — положения, при пересечении которых меняется выбираемый класс. Число f — результат вычисления линейного правила: его знак выбирает класс, а f=0 задаёт границу. Это другой способ построения правила: SVM рассматривает всю обучающую выборку, а не только два эталона. Эталоны остаются отдельным способом сравнения объектов; их нельзя считать заменой данных для обучения SVM. После обучения положение прямой фиксируется, и новое наблюдение получает класс по тому, с какой стороны оно оказалось. Но между примерами можно провести разные границы. Чтобы выбрать одну, SVM учитывает расположение ближайших обучающих объектов.</a:t>
            </a:r>
          </a:p>
          <a:p xmlns:a="http://schemas.openxmlformats.org/drawingml/2006/main">
            <a:r>
              <a:t/>
            </a:r>
          </a:p>
          <a:p xmlns:a="http://schemas.openxmlformats.org/drawingml/2006/main">
            <a:r>
              <a:t>Источники:</a:t>
            </a:r>
          </a:p>
          <a:p xmlns:a="http://schemas.openxmlformats.org/drawingml/2006/main">
            <a:r>
              <a:t>https://doi.org/10.1007/BF00994018</a:t>
            </a:r>
          </a:p>
          <a:p xmlns:a="http://schemas.openxmlformats.org/drawingml/2006/main">
            <a:r>
              <a:t>https://see.stanford.edu/materials/aimlcs229/cs229-notes3.pdf</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Зазор SVM — полоса вокруг разделяющей границы, которую алгоритм стремится сделать широкой. Такая постановка учитывает, насколько близко обучающие объекты подходят к границе. Мягкий зазор допускает, что отдельные объекты попадут внутрь полосы или даже на неверную сторону. За нарушения назначается штраф. Параметр C определяет их цену относительно стремления сделать полосу шире. Опорные векторы — обучающие объекты, участвующие в определении границы. Это роль в обучении модели, тогда как эталон выполняет роль образца класса. Термины поэтому не взаимозаменяемы. Когда обучение завершено, можно перестать обсуждать подбор прямой и измерить расстояние до уже готовой границы для любого объекта.</a:t>
            </a:r>
          </a:p>
          <a:p xmlns:a="http://schemas.openxmlformats.org/drawingml/2006/main">
            <a:r>
              <a:t/>
            </a:r>
          </a:p>
          <a:p xmlns:a="http://schemas.openxmlformats.org/drawingml/2006/main">
            <a:r>
              <a:t>Источники:</a:t>
            </a:r>
          </a:p>
          <a:p xmlns:a="http://schemas.openxmlformats.org/drawingml/2006/main">
            <a:r>
              <a:t>https://doi.org/10.1007/BF00994018</a:t>
            </a:r>
          </a:p>
          <a:p xmlns:a="http://schemas.openxmlformats.org/drawingml/2006/main">
            <a:r>
              <a:t>https://see.stanford.edu/materials/aimlcs229/cs229-notes3.pdf</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Геометрический отступ — расстояние до границы со знаком: плюс на правильной стороне и минус на ошибочной. Для проверки правильности снова требуется истинная метка. Обозначим этот отступ буквой γ. Его модуль — неотрицательное расстояние r, доступное и без известной метки. Для линейной модели это запас сохранения текущего ответа: изменение признаков меньшей длины не пересечёт границу. Расстояние выражено в выбранном масштабе и не является вероятностью. Большой запас способен сохранять ошибочный ответ. Разность расстояний до эталонов и геометрический отступ SVM имеют разные определения. Малый запас выделяет решения, которые легко изменить.</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https://www.cv-foundation.org/openaccess/content_cvpr_2016/papers/Moosavi-Dezfooli_DeepFool_A_Simple_CVPR_2016_paper.pdf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Пограничный объект расположен близко к границе: небольшое изменение его признаков может сменить прогноз. Пограничными бывают оба класса, правильные решения и ошибки. Чтобы отбирать такие объекты, после обучения выбирают порог расстояния для дополнительной проверки. Здесь нужно разделить две полосы. Зазор SVM участвует в обучении и выборе границы. Полоса перепроверки нужна для анализа готовых результатов и задаётся отдельным порогом. Этот порог не следует автоматически из параметра C. По расстоянию нельзя узнать правильный класс, зато можно выделить чувствительные к изменению признаков ответы. Теперь определения готовы: применим их последовательно к одной задаче сетевой безопасности.</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Рассмотрим нормальный трафик и SYN-flood. Обычное TCP-соединение начинается с рукопожатия: клиент отправляет SYN, сервер отвечает SYN-ACK, клиент завершает обмен подтверждением ACK. При SYN-flood множество начатых подключений не завершается. Если сервер хранит их состояние, очередь незавершённых подключений и ресурсы могут оказаться заняты, мешая обычным клиентам. Наша задача — классифицировать окна наблюдения за трафиком: нормальная работа или SYN-flood. При этом большое количество подключений встречается и при легитимной нагрузке, а незавершённость бывает связана с проблемами сети. Поэтому нужен набор измеримых признаков, а не предположение, что всякий рост активности означает атаку.</a:t>
            </a:r>
          </a:p>
          <a:p xmlns:a="http://schemas.openxmlformats.org/drawingml/2006/main">
            <a:r>
              <a:t/>
            </a:r>
          </a:p>
          <a:p xmlns:a="http://schemas.openxmlformats.org/drawingml/2006/main">
            <a:r>
              <a:t>Источники:</a:t>
            </a:r>
          </a:p>
          <a:p xmlns:a="http://schemas.openxmlformats.org/drawingml/2006/main">
            <a:r>
              <a:t>https://www.rfc-editor.org/rfc/rfc4987.html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Один объект — окно десять секунд к одному IP-адресу и TCP-порту. Первый признак — среднее количество входящих SYN в секунду. Второй — доля начатых попыток без полного рукопожатия за три секунды. Скорость учитывает повторные SYN, а при подсчёте попыток повторы объединяют. Нужны оба направления обмена; окна без SYN исключаем. Последним попыткам окна даём время завершиться, поэтому измерение получается с задержкой. Для расчётов SYN в секунду делим на тысячу, проценты — на сто. Учебная таблица содержит двадцать обучающих окон, поровну двух классов, и восемь специально выбранных проверок. Все значения синтетические. По обучающим окнам теперь выберем два медоида.</a:t>
            </a:r>
          </a:p>
          <a:p xmlns:a="http://schemas.openxmlformats.org/drawingml/2006/main">
            <a:r>
              <a:t/>
            </a:r>
          </a:p>
          <a:p xmlns:a="http://schemas.openxmlformats.org/drawingml/2006/main">
            <a:r>
              <a:t>Источники:</a:t>
            </a:r>
          </a:p>
          <a:p xmlns:a="http://schemas.openxmlformats.org/drawingml/2006/main">
            <a:r>
              <a:t>https://www.rfc-editor.org/rfc/rfc4987.html</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Эталоном нормального трафика стал объект N05: 600 SYN в секунду и 15 процентов незавершённых попыток. Эталоном SYN-flood стал A06: 1300 SYN в секунду и 65 процентов. В ноутбуке для каждого кандидата проверена сумма расстояний до остальных обучающих объектов своего класса. Названные объекты дают минимумы этих сумм. Так выполнен именно тот алгоритм выбора медоида, который мы разобрали в теории. Числа описывают наши учебные образцы и не являются универсальными порогами атаки для любого сервера. Один и тот же уровень нагрузки у разных сервисов имеет разный смысл. Проверим выбранное правило на конкретном окне T07.</a:t>
            </a:r>
          </a:p>
          <a:p xmlns:a="http://schemas.openxmlformats.org/drawingml/2006/main">
            <a:r>
              <a:t/>
            </a:r>
          </a:p>
          <a:p xmlns:a="http://schemas.openxmlformats.org/drawingml/2006/main">
            <a:r>
              <a:t>Источники:</a:t>
            </a:r>
          </a:p>
          <a:p xmlns:a="http://schemas.openxmlformats.org/drawingml/2006/main">
            <a:r>
              <a:t>https://arxiv.org/abs/1810.05691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У T07 скорость 1200 SYN в секунду, незавершённость 16 процентов. Истинный класс в нашей учебной таблице — норма. После масштабирования получаем координаты 1,20 и 0,16. Расстояние до нормального эталона примерно 0,600083, до эталона атаки — 0,500100. Ближе оказался эталон атаки, поэтому правило ошиблось. Для известного нормального класса отступ — чужое расстояние минус своё: 0,500100 минус 0,600083, то есть примерно минус 0,099983. Отрицательный знак согласуется с ошибкой. Высокая легитимная нагрузка иллюстрирует ограничение описания класса одним образцом. Не меняя данные, построим альтернативное правило SVM на той же обучающей выборке.</a:t>
            </a:r>
          </a:p>
          <a:p xmlns:a="http://schemas.openxmlformats.org/drawingml/2006/main">
            <a:r>
              <a:t/>
            </a:r>
          </a:p>
          <a:p xmlns:a="http://schemas.openxmlformats.org/drawingml/2006/main">
            <a:r>
              <a:t>Источники:</a:t>
            </a:r>
          </a:p>
          <a:p xmlns:a="http://schemas.openxmlformats.org/drawingml/2006/main">
            <a:r>
              <a:t>https://arxiv.org/abs/1810.05691</a:t>
            </a:r>
          </a:p>
          <a:p xmlns:a="http://schemas.openxmlformats.org/drawingml/2006/main">
            <a:r>
              <a:t>https://see.stanford.edu/materials/aimlcs229/cs229-notes3.pdf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 Colab используем SVC из библиотеки scikit-learn — реализацию SVM. Обучаем линейную модель с C, равным единице, на всех двадцати объектах. В коде также зафиксированы точность вычисления и остальные настройки для воспроизводимости. Масштаб признаков и разделение данных остаются прежними. Эталоны не заменяют обучающую выборку и не являются единственными примерами для SVM. В коде норме назначена метка минус один, SYN-flood — плюс один. Одна ячейка обучает модель, следующая получает прогноз и расстояние. Подробные коэффициенты доступны в ноутбуке; для сравнения нам сейчас важнее поведение правила. Поэтому снова подадим T07 с теми же измерениями.</a:t>
            </a:r>
          </a:p>
          <a:p xmlns:a="http://schemas.openxmlformats.org/drawingml/2006/main">
            <a:r>
              <a:t/>
            </a:r>
          </a:p>
          <a:p xmlns:a="http://schemas.openxmlformats.org/drawingml/2006/main">
            <a:r>
              <a:t>Источники:</a:t>
            </a:r>
          </a:p>
          <a:p xmlns:a="http://schemas.openxmlformats.org/drawingml/2006/main">
            <a:r>
              <a:t>https://doi.org/10.1007/BF00994018</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T07 SVM выбирает нормальный трафик, что совпадает с известной учебной меткой. Числовая оценка f примерно минус 0,248833: в нашей кодировке отрицательный знак выбирает норму. Геометрический отступ γ при этом положительный, около 0,101921, поскольку ответ правильный. Расстояние r равно 0,101921. Таким образом, знак оценки выбирает класс, а знак размеченного отступа показывает правильность. Этот запас относится к изменению масштабированных признаков. Его нельзя напрямую сравнивать с минус 0,099983 у эталонного правила: определения разные. Исправление одной иллюстрации также не доказывает, что SVM всегда лучше. Теперь вычислим те же характеристики для остальных проверочных окон.</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 таблице собраны все восемь окон от T01 до T08: истинный класс, прогноз SVM, геометрический отступ со знаком и запас без знака. Для T04 и T05 геометрический отступ отрицателен — здесь модель ошиблась. Для остальных он положителен. Запас r во всех случаях неотрицателен и равен модулю γ, поэтому сам по себе не сообщает, правильный ли ответ. Таблица позволяет проверить вычисления и сравнить положение наблюдений относительно одной готовой границы. Однако специально подобранные синтетические примеры не являются независимым тестом качества детектора. Из этой таблицы выделим малые запасы и разберём значение двух ошибок.</a:t>
            </a:r>
          </a:p>
          <a:p xmlns:a="http://schemas.openxmlformats.org/drawingml/2006/main">
            <a:r>
              <a:t/>
            </a:r>
          </a:p>
          <a:p xmlns:a="http://schemas.openxmlformats.org/drawingml/2006/main">
            <a:r>
              <a:t>Источники: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демонстрации выбираем порог r меньше 0,10. В перепроверку попадают T03, T04, T05 и T06. Это отдельное правило обработки результатов, а не зазор SVM при обучении. T04 — пропуск атаки: по метке это SYN-flood, а модель ответила «норма». T05 — ложная тревога: нормальный объект назван атакой. Пропуск создаёт риск оставить атаку без внимания, ложная тревога нагружает аналитика и может мешать пользователям при необоснованной реакции. Обе ошибки здесь оказались пограничными, но это не гарантирует выявление всех ошибок на реальном трафике. Значит, полезно передавать специалисту ИБ и прогноз, и отдельный признак пограничности.</a:t>
            </a:r>
          </a:p>
          <a:p xmlns:a="http://schemas.openxmlformats.org/drawingml/2006/main">
            <a:r>
              <a:t/>
            </a:r>
          </a:p>
          <a:p xmlns:a="http://schemas.openxmlformats.org/drawingml/2006/main">
            <a:r>
              <a:t>Источники:</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Вводим два отдельных флага. attack_alert означает прогноз атаки при любом запасе. boundary_review означает малый запас при любом прогнозе. triage — наша учебная функция первичной сортировки. Для входа 900 и 40 она выдаёт норму, первый флаг False, второй True. Здесь False означает «нет», True — «да». Для 1550 и 88 — SYN-flood, True и False: отсутствие пограничности не отменяет сигнал атаки. SOC — команда мониторинга и реагирования информационной безопасности. Аналитик сопоставляет результат с журналами, доступностью сервиса, очередью соединений, потерями и контекстом нагрузки. Наш прототип не выполняет автоматическую блокировку и не внедрён в сеть. Валидация — проверка на отдельно выделенных данных. Для рабочей системы нужны реальные данные, валидация с разделением по времени и оценка пропусков и ложных тревог. Так запас дополняет решение, сохраняя свой исходный смысл.</a:t>
            </a:r>
          </a:p>
          <a:p xmlns:a="http://schemas.openxmlformats.org/drawingml/2006/main">
            <a:r>
              <a:t/>
            </a:r>
          </a:p>
          <a:p xmlns:a="http://schemas.openxmlformats.org/drawingml/2006/main">
            <a:r>
              <a:t>Источники:</a:t>
            </a:r>
          </a:p>
          <a:p xmlns:a="http://schemas.openxmlformats.org/drawingml/2006/main">
            <a:r>
              <a:t>https://csrc.nist.gov/pubs/sp/800/94/final</a:t>
            </a:r>
          </a:p>
          <a:p xmlns:a="http://schemas.openxmlformats.org/drawingml/2006/main">
            <a:r>
              <a:t>https://www.rfc-editor.org/rfc/rfc4987.html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Сквозной пример связал введённые понятия. Мы выбрали эталоны нормы N05 и атаки A06 по понятному критерию медоида. Одно окно T07 последовательно прошло правило ближайшего эталона и SVM: первое ошиблось, второе дало правильный ответ для известной метки. Затем вычислены отступы всех восьми проверочных объектов. Малый запас выделил T03–T06, включая две известные ошибки. Это помогает объяснять решение и назначать дополнительную проверку. При этом ни эталон, ни отступ не гарантируют правильность классификации или защищённость сервера. Числа получены из учебной таблицы, а определения и методы опираются на опубликованные источники.</a:t>
            </a:r>
          </a:p>
          <a:p xmlns:a="http://schemas.openxmlformats.org/drawingml/2006/main">
            <a:r>
              <a:t/>
            </a:r>
          </a:p>
          <a:p xmlns:a="http://schemas.openxmlformats.org/drawingml/2006/main">
            <a:r>
              <a:t>Источники:</a:t>
            </a:r>
          </a:p>
          <a:p xmlns:a="http://schemas.openxmlformats.org/drawingml/2006/main">
            <a:r>
              <a:t>https://arxiv.org/abs/1810.05691</a:t>
            </a:r>
          </a:p>
          <a:p xmlns:a="http://schemas.openxmlformats.org/drawingml/2006/main">
            <a:r>
              <a:t>https://see.stanford.edu/materials/aimlcs229/cs229-notes3.pdf</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Основы SVM приведены в статье Кортеса и Вапника, конспекте Stanford CS229 и документации scikit-learn. Выбор медоидов описан у Шуберта и Руссеу. RFC 4987 объясняет SYN-flood и способы противодействия. Работа DeepFool рассматривает геометрию изменения решения; здесь используется линейный случай. CICDDoS2019 указан как возможный материал следующего этапа и в расчётах не использован. Руководство NIST SP 800-94 служит источником общих понятий об обнаружении вторжений и проверке тревог. Полная учебная таблица, расчёты и короткая демонстрация доступны в ноутбуке.</a:t>
            </a:r>
          </a:p>
          <a:p xmlns:a="http://schemas.openxmlformats.org/drawingml/2006/main">
            <a:r>
              <a:t/>
            </a:r>
          </a:p>
          <a:p xmlns:a="http://schemas.openxmlformats.org/drawingml/2006/main">
            <a:r>
              <a:t>Источники:</a:t>
            </a:r>
          </a:p>
          <a:p xmlns:a="http://schemas.openxmlformats.org/drawingml/2006/main">
            <a:r>
              <a:t>https://doi.org/10.1007/BF00994018</a:t>
            </a:r>
          </a:p>
          <a:p xmlns:a="http://schemas.openxmlformats.org/drawingml/2006/main">
            <a:r>
              <a:t>https://see.stanford.edu/materials/aimlcs229/cs229-notes3.pdf</a:t>
            </a:r>
          </a:p>
          <a:p xmlns:a="http://schemas.openxmlformats.org/drawingml/2006/main">
            <a:r>
              <a:t>https://arxiv.org/abs/1810.05691</a:t>
            </a:r>
          </a:p>
          <a:p xmlns:a="http://schemas.openxmlformats.org/drawingml/2006/main">
            <a:r>
              <a:t>https://www.rfc-editor.org/rfc/rfc4987.html</a:t>
            </a:r>
          </a:p>
          <a:p xmlns:a="http://schemas.openxmlformats.org/drawingml/2006/main">
            <a:r>
              <a:t>https://scikit-learn.org/stable/modules/svm.html</a:t>
            </a:r>
          </a:p>
          <a:p xmlns:a="http://schemas.openxmlformats.org/drawingml/2006/main">
            <a:r>
              <a:t>https://www.cv-foundation.org/openaccess/content_cvpr_2016/papers/Moosavi-Dezfooli_DeepFool_A_Simple_CVPR_2016_paper.pdf</a:t>
            </a:r>
          </a:p>
          <a:p xmlns:a="http://schemas.openxmlformats.org/drawingml/2006/main">
            <a:r>
              <a:t>https://www.unb.ca/cic/datasets/ddos-2019.html</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75c48260f484ff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e50d3f6ece343a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34eab9de87e4c9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5851fd5fae749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8f4571de8db45f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83e683ed28d404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03B9C66-5A24-4907-8BBA-1BE5D5A52EE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5846D61-E01A-4B19-91A8-FE2F4C6BD62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1C30A11-12F1-48EF-A34F-D3125A615BB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1C7265-30EA-4241-8258-6258C1C0C1E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7CAB691-E453-4D86-A951-7491DD232D8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BAB1EAD-554F-4D03-AD16-D0B5F0D5A29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716A2CB-7D35-40FF-9F33-5534E06ACA7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8FEB472-1D35-4E00-8A8E-3893D4B10DD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8A5A96A-7FA7-4FC1-B466-792D22DA408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81621A8-F46B-4DEB-B773-1B3F30AB6EE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20c097743c64c9d" /><Relationship Type="http://schemas.openxmlformats.org/officeDocument/2006/relationships/slideLayout" Target="/ppt/slideLayouts/slideLayout1.xml" Id="R7a3ceccb8add4b59" /><Relationship Type="http://schemas.openxmlformats.org/officeDocument/2006/relationships/slideLayout" Target="/ppt/slideLayouts/slideLayout2.xml" Id="Rba057f3f7e5b4a59" /><Relationship Type="http://schemas.openxmlformats.org/officeDocument/2006/relationships/slideLayout" Target="/ppt/slideLayouts/slideLayout3.xml" Id="R61cb292779f849d3" /><Relationship Type="http://schemas.openxmlformats.org/officeDocument/2006/relationships/slideLayout" Target="/ppt/slideLayouts/slideLayout4.xml" Id="R17ab28f013cc49a9" /><Relationship Type="http://schemas.openxmlformats.org/officeDocument/2006/relationships/slideLayout" Target="/ppt/slideLayouts/slideLayout5.xml" Id="Rc73122982dfe4c74" /><Relationship Type="http://schemas.openxmlformats.org/officeDocument/2006/relationships/slideLayout" Target="/ppt/slideLayouts/slideLayout6.xml" Id="Rfa2ed47e72c3456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a3ceccb8add4b59"/>
    <p:sldLayoutId xmlns:r="http://schemas.openxmlformats.org/officeDocument/2006/relationships" id="2147483650" r:id="Rba057f3f7e5b4a59"/>
    <p:sldLayoutId xmlns:r="http://schemas.openxmlformats.org/officeDocument/2006/relationships" id="2147483651" r:id="R61cb292779f849d3"/>
    <p:sldLayoutId xmlns:r="http://schemas.openxmlformats.org/officeDocument/2006/relationships" id="2147483652" r:id="R17ab28f013cc49a9"/>
    <p:sldLayoutId xmlns:r="http://schemas.openxmlformats.org/officeDocument/2006/relationships" id="2147483653" r:id="Rc73122982dfe4c74"/>
    <p:sldLayoutId xmlns:r="http://schemas.openxmlformats.org/officeDocument/2006/relationships" id="2147483654" r:id="Rfa2ed47e72c3456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0602fc9d10b4b38" /><Relationship Type="http://schemas.openxmlformats.org/officeDocument/2006/relationships/notesSlide" Target="/ppt/notesSlides/notesSlide1.xml" Id="R5ea8bf9bb143497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65eb0fa5d1144ac" /><Relationship Type="http://schemas.openxmlformats.org/officeDocument/2006/relationships/notesSlide" Target="/ppt/notesSlides/notesSlide2.xml" Id="Rfb9781d312ca42d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872f17330994000" /><Relationship Type="http://schemas.openxmlformats.org/officeDocument/2006/relationships/notesSlide" Target="/ppt/notesSlides/notesSlide3.xml" Id="Re85da2383ad24b0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a5a4261849144d9" /><Relationship Type="http://schemas.openxmlformats.org/officeDocument/2006/relationships/notesSlide" Target="/ppt/notesSlides/notesSlide4.xml" Id="Rb4e7a04ff5e74bf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26585bd0b1b407a" /><Relationship Type="http://schemas.openxmlformats.org/officeDocument/2006/relationships/notesSlide" Target="/ppt/notesSlides/notesSlide5.xml" Id="Rd3111cc1769847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3ee3dae503e4d0f" /><Relationship Type="http://schemas.openxmlformats.org/officeDocument/2006/relationships/notesSlide" Target="/ppt/notesSlides/notesSlide6.xml" Id="Rf73c3970a24a4ee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cca9cd32ae4473e" /><Relationship Type="http://schemas.openxmlformats.org/officeDocument/2006/relationships/notesSlide" Target="/ppt/notesSlides/notesSlide7.xml" Id="Rc3bf69c888b5406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b7a82f15e764e46" /><Relationship Type="http://schemas.openxmlformats.org/officeDocument/2006/relationships/notesSlide" Target="/ppt/notesSlides/notesSlide8.xml" Id="Rc68f4e9cfa44454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e7c5c7c67ba4942" /><Relationship Type="http://schemas.openxmlformats.org/officeDocument/2006/relationships/notesSlide" Target="/ppt/notesSlides/notesSlide9.xml" Id="Rcd0749a93d814fa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ffb92b271e84a65" /><Relationship Type="http://schemas.openxmlformats.org/officeDocument/2006/relationships/notesSlide" Target="/ppt/notesSlides/notesSlide10.xml" Id="Re5d77fde7da54fa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c7d0580954e435d" /><Relationship Type="http://schemas.openxmlformats.org/officeDocument/2006/relationships/notesSlide" Target="/ppt/notesSlides/notesSlide11.xml" Id="R3e656176136344e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40548e3af2f4ad9" /><Relationship Type="http://schemas.openxmlformats.org/officeDocument/2006/relationships/notesSlide" Target="/ppt/notesSlides/notesSlide12.xml" Id="R71cdee5e56374f5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d18abc9bace4485" /><Relationship Type="http://schemas.openxmlformats.org/officeDocument/2006/relationships/notesSlide" Target="/ppt/notesSlides/notesSlide13.xml" Id="Rfd29136b36c84b9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e39c9071b724d5c" /><Relationship Type="http://schemas.openxmlformats.org/officeDocument/2006/relationships/notesSlide" Target="/ppt/notesSlides/notesSlide14.xml" Id="Rc368947e41584db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0515347363b749c6" /><Relationship Type="http://schemas.openxmlformats.org/officeDocument/2006/relationships/notesSlide" Target="/ppt/notesSlides/notesSlide15.xml" Id="R917734ea25cd400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ceba5cfad474167" /><Relationship Type="http://schemas.openxmlformats.org/officeDocument/2006/relationships/notesSlide" Target="/ppt/notesSlides/notesSlide16.xml" Id="Ra38896e50e3b440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48a456ac875494d" /><Relationship Type="http://schemas.openxmlformats.org/officeDocument/2006/relationships/notesSlide" Target="/ppt/notesSlides/notesSlide17.xml" Id="R2152901abd4e461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a1b1d429fb54406" /><Relationship Type="http://schemas.openxmlformats.org/officeDocument/2006/relationships/notesSlide" Target="/ppt/notesSlides/notesSlide18.xml" Id="Rf535569d8f1f417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563bc5d216674504" /><Relationship Type="http://schemas.openxmlformats.org/officeDocument/2006/relationships/notesSlide" Target="/ppt/notesSlides/notesSlide19.xml" Id="Re590cccf923643c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ab0758ec0ae4976" /><Relationship Type="http://schemas.openxmlformats.org/officeDocument/2006/relationships/notesSlide" Target="/ppt/notesSlides/notesSlide20.xml" Id="R699be2f0f9a345d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2a9adc586d143f1" /><Relationship Type="http://schemas.openxmlformats.org/officeDocument/2006/relationships/notesSlide" Target="/ppt/notesSlides/notesSlide21.xml" Id="R107cc0a528a14c7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50b8cbeb86e413d" /><Relationship Type="http://schemas.openxmlformats.org/officeDocument/2006/relationships/notesSlide" Target="/ppt/notesSlides/notesSlide22.xml" Id="Rbd1ae55c2f804f7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7bfe352f1d44397" /><Relationship Type="http://schemas.openxmlformats.org/officeDocument/2006/relationships/hyperlink" Target="https://doi.org/10.1007/BF00994018" TargetMode="External" Id="Rc9d86b128166451e" /><Relationship Type="http://schemas.openxmlformats.org/officeDocument/2006/relationships/hyperlink" Target="https://see.stanford.edu/materials/aimlcs229/cs229-notes3.pdf" TargetMode="External" Id="R76f149ca911240f2" /><Relationship Type="http://schemas.openxmlformats.org/officeDocument/2006/relationships/hyperlink" Target="https://arxiv.org/abs/1810.05691" TargetMode="External" Id="Rc669ec1e75af49b6" /><Relationship Type="http://schemas.openxmlformats.org/officeDocument/2006/relationships/hyperlink" Target="https://www.rfc-editor.org/rfc/rfc4987.html" TargetMode="External" Id="R6285b7c262f14576" /><Relationship Type="http://schemas.openxmlformats.org/officeDocument/2006/relationships/hyperlink" Target="https://scikit-learn.org/stable/modules/svm.html" TargetMode="External" Id="R33f2713d916e4c2a" /><Relationship Type="http://schemas.openxmlformats.org/officeDocument/2006/relationships/hyperlink" Target="https://www.cv-foundation.org/openaccess/content_cvpr_2016/papers/Moosavi-Dezfooli_DeepFool_A_Simple_CVPR_2016_paper.pdf" TargetMode="External" Id="R03105559cef04e7f" /><Relationship Type="http://schemas.openxmlformats.org/officeDocument/2006/relationships/hyperlink" Target="https://www.unb.ca/cic/datasets/ddos-2019.html" TargetMode="External" Id="R802b6feb644941e4" /><Relationship Type="http://schemas.openxmlformats.org/officeDocument/2006/relationships/hyperlink" Target="https://csrc.nist.gov/pubs/sp/800/94/final" TargetMode="External" Id="R1c7af5f610cd4761" /><Relationship Type="http://schemas.openxmlformats.org/officeDocument/2006/relationships/notesSlide" Target="/ppt/notesSlides/notesSlide23.xml" Id="R9a5ee91d59664dfa" /></Relationships>
</file>

<file path=ppt/slides/slide1.xml><?xml version="1.0" encoding="utf-8"?>
<p:sld xmlns:p="http://schemas.openxmlformats.org/presentationml/2006/main">
  <p:cSld>
    <p:bg>
      <p:bgPr>
        <a:solidFill xmlns:a="http://schemas.openxmlformats.org/drawingml/2006/main">
          <a:srgbClr val="101C32"/>
        </a:solidFill>
      </p:bgPr>
    </p:bg>
    <p:spTree>
      <p:nvGrpSpPr>
        <p:cNvPr id="1" name=""/>
        <p:cNvGrpSpPr/>
        <p:nvPr/>
      </p:nvGrpSpPr>
      <p:grpSpPr>
        <a:xfrm xmlns:a="http://schemas.openxmlformats.org/drawingml/2006/main"/>
      </p:grpSpPr>
      <p:sp>
        <p:nvSpPr>
          <p:cNvPr id="8" name="text-1">
            <a:extLst xmlns:a="http://schemas.openxmlformats.org/drawingml/2006/main">
              <a:ext uri="{FF2B5EF4-FFF2-40B4-BE49-F238E27FC236}">
                <a16:creationId xmlns:a16="http://schemas.microsoft.com/office/drawing/2014/main" id="{F629799E-8CA9-494D-8DDA-02CBA47BF661}"/>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r>
              <a:t/>
            </a:r>
          </a:p>
        </p:txBody>
      </p:sp>
      <p:sp>
        <p:nvSpPr>
          <p:cNvPr id="2" name="">
            <a:extLst xmlns:a="http://schemas.openxmlformats.org/drawingml/2006/main">
              <a:ext uri="{FF2B5EF4-FFF2-40B4-BE49-F238E27FC236}">
                <a16:creationId xmlns:a16="http://schemas.microsoft.com/office/drawing/2014/main" id="{34DCEFD0-7862-4BE9-934B-E6A9216BCE61}"/>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3" name="text-2">
            <a:extLst xmlns:a="http://schemas.openxmlformats.org/drawingml/2006/main">
              <a:ext uri="{FF2B5EF4-FFF2-40B4-BE49-F238E27FC236}">
                <a16:creationId xmlns:a16="http://schemas.microsoft.com/office/drawing/2014/main" id="{621E54CE-33B2-4E37-8434-8988A147A319}"/>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4" name="text-3">
            <a:extLst xmlns:a="http://schemas.openxmlformats.org/drawingml/2006/main">
              <a:ext uri="{FF2B5EF4-FFF2-40B4-BE49-F238E27FC236}">
                <a16:creationId xmlns:a16="http://schemas.microsoft.com/office/drawing/2014/main" id="{309BBB06-3418-4DB7-B372-3F7479B6D7DC}"/>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01</a:t>
            </a:r>
          </a:p>
        </p:txBody>
      </p:sp>
      <p:sp>
        <p:nvSpPr>
          <p:cNvPr id="5" name="text-4">
            <a:extLst xmlns:a="http://schemas.openxmlformats.org/drawingml/2006/main">
              <a:ext uri="{FF2B5EF4-FFF2-40B4-BE49-F238E27FC236}">
                <a16:creationId xmlns:a16="http://schemas.microsoft.com/office/drawing/2014/main" id="{06F98C63-F723-4E24-9224-E86D34630C85}"/>
              </a:ext>
            </a:extLst>
          </p:cNvPr>
          <p:cNvSpPr>
            <a:spLocks xmlns:a="http://schemas.openxmlformats.org/drawingml/2006/main" noGrp="1"/>
          </p:cNvSpPr>
          <p:nvPr/>
        </p:nvSpPr>
        <p:spPr>
          <a:xfrm xmlns:a="http://schemas.openxmlformats.org/drawingml/2006/main">
            <a:off x="609600" y="5238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E5B64A"/>
                </a:solidFill>
                <a:latin typeface="DejaVu Sans"/>
                <a:ea typeface="DejaVu Sans"/>
                <a:cs typeface="DejaVu Sans"/>
              </a:defRPr>
            </a:defPPr>
          </a:lstStyle>
          <a:p xmlns:a="http://schemas.openxmlformats.org/drawingml/2006/main">
            <a:pPr>
              <a:defRPr sz="1650" b="1">
                <a:solidFill>
                  <a:srgbClr val="E5B64A"/>
                </a:solidFill>
                <a:latin typeface="DejaVu Sans"/>
                <a:ea typeface="DejaVu Sans"/>
                <a:cs typeface="DejaVu Sans"/>
              </a:defRPr>
            </a:pPr>
            <a:r>
              <a:rPr sz="1650" b="1">
                <a:solidFill>
                  <a:srgbClr val="E5B64A"/>
                </a:solidFill>
                <a:latin typeface="DejaVu Sans"/>
                <a:ea typeface="DejaVu Sans"/>
                <a:cs typeface="DejaVu Sans"/>
              </a:rPr>
              <a:t>1.13  ·  КЛАССИФИКАЦИЯ В ИНФОРМАЦИОННОЙ БЕЗОПАСНОСТИ</a:t>
            </a:r>
          </a:p>
        </p:txBody>
      </p:sp>
      <p:sp>
        <p:nvSpPr>
          <p:cNvPr id="6" name="text-5">
            <a:extLst xmlns:a="http://schemas.openxmlformats.org/drawingml/2006/main">
              <a:ext uri="{FF2B5EF4-FFF2-40B4-BE49-F238E27FC236}">
                <a16:creationId xmlns:a16="http://schemas.microsoft.com/office/drawing/2014/main" id="{F0BEF66B-097D-49DC-96AF-BCF854BA040E}"/>
              </a:ext>
            </a:extLst>
          </p:cNvPr>
          <p:cNvSpPr>
            <a:spLocks xmlns:a="http://schemas.openxmlformats.org/drawingml/2006/main" noGrp="1"/>
          </p:cNvSpPr>
          <p:nvPr/>
        </p:nvSpPr>
        <p:spPr>
          <a:xfrm xmlns:a="http://schemas.openxmlformats.org/drawingml/2006/main">
            <a:off x="609600" y="1571625"/>
            <a:ext cx="109537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750" b="1">
                <a:solidFill>
                  <a:srgbClr val="FFFFFF"/>
                </a:solidFill>
                <a:latin typeface="DejaVu Sans"/>
                <a:ea typeface="DejaVu Sans"/>
                <a:cs typeface="DejaVu Sans"/>
              </a:defRPr>
            </a:defPPr>
          </a:lstStyle>
          <a:p xmlns:a="http://schemas.openxmlformats.org/drawingml/2006/main">
            <a:pPr>
              <a:defRPr sz="3750" b="1">
                <a:solidFill>
                  <a:srgbClr val="FFFFFF"/>
                </a:solidFill>
                <a:latin typeface="DejaVu Sans"/>
                <a:ea typeface="DejaVu Sans"/>
                <a:cs typeface="DejaVu Sans"/>
              </a:defRPr>
            </a:pPr>
            <a:r>
              <a:rPr sz="3750" b="1">
                <a:solidFill>
                  <a:srgbClr val="FFFFFF"/>
                </a:solidFill>
                <a:latin typeface="DejaVu Sans"/>
                <a:ea typeface="DejaVu Sans"/>
                <a:cs typeface="DejaVu Sans"/>
              </a:rPr>
              <a:t>Понятие эталона.</a:t>
            </a:r>
          </a:p>
          <a:p xmlns:a="http://schemas.openxmlformats.org/drawingml/2006/main">
            <a:pPr>
              <a:defRPr sz="3750" b="1">
                <a:solidFill>
                  <a:srgbClr val="FFFFFF"/>
                </a:solidFill>
                <a:latin typeface="DejaVu Sans"/>
                <a:ea typeface="DejaVu Sans"/>
                <a:cs typeface="DejaVu Sans"/>
              </a:defRPr>
            </a:pPr>
            <a:r>
              <a:rPr sz="3750" b="1">
                <a:solidFill>
                  <a:srgbClr val="FFFFFF"/>
                </a:solidFill>
                <a:latin typeface="DejaVu Sans"/>
                <a:ea typeface="DejaVu Sans"/>
                <a:cs typeface="DejaVu Sans"/>
              </a:rPr>
              <a:t>Отступы и классификация</a:t>
            </a:r>
          </a:p>
          <a:p xmlns:a="http://schemas.openxmlformats.org/drawingml/2006/main">
            <a:pPr>
              <a:defRPr sz="3750" b="1">
                <a:solidFill>
                  <a:srgbClr val="FFFFFF"/>
                </a:solidFill>
                <a:latin typeface="DejaVu Sans"/>
                <a:ea typeface="DejaVu Sans"/>
                <a:cs typeface="DejaVu Sans"/>
              </a:defRPr>
            </a:pPr>
            <a:r>
              <a:rPr sz="3750" b="1">
                <a:solidFill>
                  <a:srgbClr val="FFFFFF"/>
                </a:solidFill>
                <a:latin typeface="DejaVu Sans"/>
                <a:ea typeface="DejaVu Sans"/>
                <a:cs typeface="DejaVu Sans"/>
              </a:rPr>
              <a:t>объектов качества</a:t>
            </a:r>
          </a:p>
        </p:txBody>
      </p:sp>
      <p:sp>
        <p:nvSpPr>
          <p:cNvPr id="7" name="text-6">
            <a:extLst xmlns:a="http://schemas.openxmlformats.org/drawingml/2006/main">
              <a:ext uri="{FF2B5EF4-FFF2-40B4-BE49-F238E27FC236}">
                <a16:creationId xmlns:a16="http://schemas.microsoft.com/office/drawing/2014/main" id="{C8924A35-F84D-42EC-AB81-AE29E83B6B0E}"/>
              </a:ext>
            </a:extLst>
          </p:cNvPr>
          <p:cNvSpPr>
            <a:spLocks xmlns:a="http://schemas.openxmlformats.org/drawingml/2006/main" noGrp="1"/>
          </p:cNvSpPr>
          <p:nvPr/>
        </p:nvSpPr>
        <p:spPr>
          <a:xfrm xmlns:a="http://schemas.openxmlformats.org/drawingml/2006/main">
            <a:off x="609600" y="4543425"/>
            <a:ext cx="10906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A9DDE0"/>
                </a:solidFill>
                <a:latin typeface="DejaVu Sans"/>
                <a:ea typeface="DejaVu Sans"/>
                <a:cs typeface="DejaVu Sans"/>
              </a:defRPr>
            </a:defPPr>
          </a:lstStyle>
          <a:p xmlns:a="http://schemas.openxmlformats.org/drawingml/2006/main">
            <a:pPr>
              <a:defRPr sz="2250" b="0">
                <a:solidFill>
                  <a:srgbClr val="A9DDE0"/>
                </a:solidFill>
                <a:latin typeface="DejaVu Sans"/>
                <a:ea typeface="DejaVu Sans"/>
                <a:cs typeface="DejaVu Sans"/>
              </a:defRPr>
            </a:pPr>
            <a:r>
              <a:rPr sz="2250" b="0">
                <a:solidFill>
                  <a:srgbClr val="A9DDE0"/>
                </a:solidFill>
                <a:latin typeface="DejaVu Sans"/>
                <a:ea typeface="DejaVu Sans"/>
                <a:cs typeface="DejaVu Sans"/>
              </a:rPr>
              <a:t>От основных понятий — к разбору нормального трафика и SYN-flood</a:t>
            </a:r>
          </a:p>
        </p:txBody>
      </p:sp>
    </p:spTree>
    <p:extLst>
      <p:ext uri="{BB962C8B-B14F-4D97-AF65-F5344CB8AC3E}">
        <p14:creationId xmlns:p14="http://schemas.microsoft.com/office/powerpoint/2010/main" val="1179667175"/>
      </p:ext>
    </p:extLst>
  </p:cSld>
</p:sld>
</file>

<file path=ppt/slides/slide2.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8" name="text-7">
            <a:extLst xmlns:a="http://schemas.openxmlformats.org/drawingml/2006/main">
              <a:ext uri="{FF2B5EF4-FFF2-40B4-BE49-F238E27FC236}">
                <a16:creationId xmlns:a16="http://schemas.microsoft.com/office/drawing/2014/main" id="{E7D63F50-9696-4539-A660-13F6844E2171}"/>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Объект, признаки, класс и классификация</a:t>
            </a:r>
          </a:p>
        </p:txBody>
      </p:sp>
      <p:sp>
        <p:nvSpPr>
          <p:cNvPr id="2" name="">
            <a:extLst xmlns:a="http://schemas.openxmlformats.org/drawingml/2006/main">
              <a:ext uri="{FF2B5EF4-FFF2-40B4-BE49-F238E27FC236}">
                <a16:creationId xmlns:a16="http://schemas.microsoft.com/office/drawing/2014/main" id="{0375E5FA-0037-43D4-BDFC-674E2E5F3BF4}"/>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3" name="text-8">
            <a:extLst xmlns:a="http://schemas.openxmlformats.org/drawingml/2006/main">
              <a:ext uri="{FF2B5EF4-FFF2-40B4-BE49-F238E27FC236}">
                <a16:creationId xmlns:a16="http://schemas.microsoft.com/office/drawing/2014/main" id="{34027BBB-6167-434F-B0F9-01665007E0A7}"/>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4" name="text-9">
            <a:extLst xmlns:a="http://schemas.openxmlformats.org/drawingml/2006/main">
              <a:ext uri="{FF2B5EF4-FFF2-40B4-BE49-F238E27FC236}">
                <a16:creationId xmlns:a16="http://schemas.microsoft.com/office/drawing/2014/main" id="{392522CD-969D-45AC-8975-55E38D49B972}"/>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02</a:t>
            </a:r>
          </a:p>
        </p:txBody>
      </p:sp>
      <p:graphicFrame>
        <p:nvGraphicFramePr>
          <p:cNvPr id="5" name="">
            <a:extLst xmlns:a="http://schemas.openxmlformats.org/drawingml/2006/main">
              <a:ext uri="{FF2B5EF4-FFF2-40B4-BE49-F238E27FC236}">
                <a16:creationId xmlns:a16="http://schemas.microsoft.com/office/drawing/2014/main" id="{152BC524-D891-4F63-9363-814AAA597E5A}"/>
              </a:ext>
            </a:extLst>
          </p:cNvPr>
          <p:cNvGraphicFramePr/>
          <p:nvPr/>
        </p:nvGraphicFramePr>
        <p:xfrm>
          <a:off xmlns:a="http://schemas.openxmlformats.org/drawingml/2006/main" x="571500" y="1866900"/>
          <a:ext xmlns:a="http://schemas.openxmlformats.org/drawingml/2006/main" cx="11049000" cy="3190875"/>
        </p:xfrm>
        <a:graphic xmlns:a="http://schemas.openxmlformats.org/drawingml/2006/main">
          <a:graphicData uri="http://schemas.openxmlformats.org/drawingml/2006/table">
            <a:tbl>
              <a:tblPr/>
              <a:tblGrid>
                <a:gridCol w="3013364"/>
                <a:gridCol w="8035636"/>
              </a:tblGrid>
              <a:tr h="638175">
                <a:tc>
                  <a:txBody>
                    <a:bodyPr lIns="114300" tIns="95250" rIns="95250" bIns="76200"/>
                    <a:lstStyle/>
                    <a:p>
                      <a:r>
                        <a:rPr sz="2100" b="1">
                          <a:solidFill>
                            <a:srgbClr val="FFFFFF"/>
                          </a:solidFill>
                          <a:latin typeface="DejaVu Sans"/>
                          <a:ea typeface="DejaVu Sans"/>
                          <a:cs typeface="DejaVu Sans"/>
                        </a:rPr>
                        <a:t>Понятие</a:t>
                      </a:r>
                    </a:p>
                  </a:txBody>
                  <a:tcPr marL="91440" marR="91440" marT="45720" marB="45720" anchor="ctr">
                    <a:solidFill>
                      <a:srgbClr val="101C32"/>
                    </a:solidFill>
                  </a:tcPr>
                </a:tc>
                <a:tc>
                  <a:txBody>
                    <a:bodyPr lIns="114300" tIns="95250" rIns="95250" bIns="76200"/>
                    <a:lstStyle/>
                    <a:p>
                      <a:r>
                        <a:rPr sz="2100" b="1">
                          <a:solidFill>
                            <a:srgbClr val="FFFFFF"/>
                          </a:solidFill>
                          <a:latin typeface="DejaVu Sans"/>
                          <a:ea typeface="DejaVu Sans"/>
                          <a:cs typeface="DejaVu Sans"/>
                        </a:rPr>
                        <a:t>Что означает</a:t>
                      </a:r>
                    </a:p>
                  </a:txBody>
                  <a:tcPr marL="91440" marR="91440" marT="45720" marB="45720" anchor="ctr">
                    <a:solidFill>
                      <a:srgbClr val="101C32"/>
                    </a:solidFill>
                  </a:tcPr>
                </a:tc>
              </a:tr>
              <a:tr h="638175">
                <a:tc>
                  <a:txBody>
                    <a:bodyPr lIns="114300" tIns="95250" rIns="95250" bIns="76200"/>
                    <a:lstStyle/>
                    <a:p>
                      <a:r>
                        <a:rPr sz="2100" b="0">
                          <a:solidFill>
                            <a:srgbClr val="101C32"/>
                          </a:solidFill>
                          <a:latin typeface="DejaVu Sans"/>
                          <a:ea typeface="DejaVu Sans"/>
                          <a:cs typeface="DejaVu Sans"/>
                        </a:rPr>
                        <a:t>Объект</a:t>
                      </a:r>
                    </a:p>
                  </a:txBody>
                  <a:tcPr marL="91440" marR="91440" marT="45720" marB="45720" anchor="ctr">
                    <a:solidFill>
                      <a:srgbClr val="FFFFFF"/>
                    </a:solidFill>
                  </a:tcPr>
                </a:tc>
                <a:tc>
                  <a:txBody>
                    <a:bodyPr lIns="114300" tIns="95250" rIns="95250" bIns="76200"/>
                    <a:lstStyle/>
                    <a:p>
                      <a:r>
                        <a:rPr sz="2100" b="0">
                          <a:solidFill>
                            <a:srgbClr val="101C32"/>
                          </a:solidFill>
                          <a:latin typeface="DejaVu Sans"/>
                          <a:ea typeface="DejaVu Sans"/>
                          <a:cs typeface="DejaVu Sans"/>
                        </a:rPr>
                        <a:t>То, что мы исследуем</a:t>
                      </a:r>
                    </a:p>
                  </a:txBody>
                  <a:tcPr marL="91440" marR="91440" marT="45720" marB="45720" anchor="ctr">
                    <a:solidFill>
                      <a:srgbClr val="FFFFFF"/>
                    </a:solidFill>
                  </a:tcPr>
                </a:tc>
              </a:tr>
              <a:tr h="638175">
                <a:tc>
                  <a:txBody>
                    <a:bodyPr lIns="114300" tIns="95250" rIns="95250" bIns="76200"/>
                    <a:lstStyle/>
                    <a:p>
                      <a:r>
                        <a:rPr sz="2100" b="0">
                          <a:solidFill>
                            <a:srgbClr val="101C32"/>
                          </a:solidFill>
                          <a:latin typeface="DejaVu Sans"/>
                          <a:ea typeface="DejaVu Sans"/>
                          <a:cs typeface="DejaVu Sans"/>
                        </a:rPr>
                        <a:t>Признаки</a:t>
                      </a:r>
                    </a:p>
                  </a:txBody>
                  <a:tcPr marL="91440" marR="91440" marT="45720" marB="45720" anchor="ctr">
                    <a:solidFill>
                      <a:srgbClr val="EAF0F4"/>
                    </a:solidFill>
                  </a:tcPr>
                </a:tc>
                <a:tc>
                  <a:txBody>
                    <a:bodyPr lIns="114300" tIns="95250" rIns="95250" bIns="76200"/>
                    <a:lstStyle/>
                    <a:p>
                      <a:r>
                        <a:rPr sz="2100" b="0">
                          <a:solidFill>
                            <a:srgbClr val="101C32"/>
                          </a:solidFill>
                          <a:latin typeface="DejaVu Sans"/>
                          <a:ea typeface="DejaVu Sans"/>
                          <a:cs typeface="DejaVu Sans"/>
                        </a:rPr>
                        <a:t>Измеримые свойства объекта</a:t>
                      </a:r>
                    </a:p>
                  </a:txBody>
                  <a:tcPr marL="91440" marR="91440" marT="45720" marB="45720" anchor="ctr">
                    <a:solidFill>
                      <a:srgbClr val="EAF0F4"/>
                    </a:solidFill>
                  </a:tcPr>
                </a:tc>
              </a:tr>
              <a:tr h="638175">
                <a:tc>
                  <a:txBody>
                    <a:bodyPr lIns="114300" tIns="95250" rIns="95250" bIns="76200"/>
                    <a:lstStyle/>
                    <a:p>
                      <a:r>
                        <a:rPr sz="2100" b="0">
                          <a:solidFill>
                            <a:srgbClr val="101C32"/>
                          </a:solidFill>
                          <a:latin typeface="DejaVu Sans"/>
                          <a:ea typeface="DejaVu Sans"/>
                          <a:cs typeface="DejaVu Sans"/>
                        </a:rPr>
                        <a:t>Класс</a:t>
                      </a:r>
                    </a:p>
                  </a:txBody>
                  <a:tcPr marL="91440" marR="91440" marT="45720" marB="45720" anchor="ctr">
                    <a:solidFill>
                      <a:srgbClr val="FFFFFF"/>
                    </a:solidFill>
                  </a:tcPr>
                </a:tc>
                <a:tc>
                  <a:txBody>
                    <a:bodyPr lIns="114300" tIns="95250" rIns="95250" bIns="76200"/>
                    <a:lstStyle/>
                    <a:p>
                      <a:r>
                        <a:rPr sz="2100" b="0">
                          <a:solidFill>
                            <a:srgbClr val="101C32"/>
                          </a:solidFill>
                          <a:latin typeface="DejaVu Sans"/>
                          <a:ea typeface="DejaVu Sans"/>
                          <a:cs typeface="DejaVu Sans"/>
                        </a:rPr>
                        <a:t>Одна из заранее заданных групп</a:t>
                      </a:r>
                    </a:p>
                  </a:txBody>
                  <a:tcPr marL="91440" marR="91440" marT="45720" marB="45720" anchor="ctr">
                    <a:solidFill>
                      <a:srgbClr val="FFFFFF"/>
                    </a:solidFill>
                  </a:tcPr>
                </a:tc>
              </a:tr>
              <a:tr h="638175">
                <a:tc>
                  <a:txBody>
                    <a:bodyPr lIns="114300" tIns="95250" rIns="95250" bIns="76200"/>
                    <a:lstStyle/>
                    <a:p>
                      <a:r>
                        <a:rPr sz="2100" b="0">
                          <a:solidFill>
                            <a:srgbClr val="101C32"/>
                          </a:solidFill>
                          <a:latin typeface="DejaVu Sans"/>
                          <a:ea typeface="DejaVu Sans"/>
                          <a:cs typeface="DejaVu Sans"/>
                        </a:rPr>
                        <a:t>Классификация</a:t>
                      </a:r>
                    </a:p>
                  </a:txBody>
                  <a:tcPr marL="91440" marR="91440" marT="45720" marB="45720" anchor="ctr">
                    <a:solidFill>
                      <a:srgbClr val="EAF0F4"/>
                    </a:solidFill>
                  </a:tcPr>
                </a:tc>
                <a:tc>
                  <a:txBody>
                    <a:bodyPr lIns="114300" tIns="95250" rIns="95250" bIns="76200"/>
                    <a:lstStyle/>
                    <a:p>
                      <a:r>
                        <a:rPr sz="2100" b="0">
                          <a:solidFill>
                            <a:srgbClr val="101C32"/>
                          </a:solidFill>
                          <a:latin typeface="DejaVu Sans"/>
                          <a:ea typeface="DejaVu Sans"/>
                          <a:cs typeface="DejaVu Sans"/>
                        </a:rPr>
                        <a:t>Выбор класса по признакам объекта</a:t>
                      </a:r>
                    </a:p>
                  </a:txBody>
                  <a:tcPr marL="91440" marR="91440" marT="45720" marB="45720" anchor="ctr">
                    <a:solidFill>
                      <a:srgbClr val="EAF0F4"/>
                    </a:solidFill>
                  </a:tcPr>
                </a:tc>
              </a:tr>
            </a:tbl>
          </a:graphicData>
        </a:graphic>
      </p:graphicFrame>
      <p:sp>
        <p:nvSpPr>
          <p:cNvPr id="6" name="">
            <a:extLst xmlns:a="http://schemas.openxmlformats.org/drawingml/2006/main">
              <a:ext uri="{FF2B5EF4-FFF2-40B4-BE49-F238E27FC236}">
                <a16:creationId xmlns:a16="http://schemas.microsoft.com/office/drawing/2014/main" id="{1E4D5F45-9C7D-452A-A3EB-9FB67B9E61BF}"/>
              </a:ext>
            </a:extLst>
          </p:cNvPr>
          <p:cNvSpPr>
            <a:spLocks xmlns:a="http://schemas.openxmlformats.org/drawingml/2006/main" noGrp="1"/>
          </p:cNvSpPr>
          <p:nvPr/>
        </p:nvSpPr>
        <p:spPr>
          <a:xfrm xmlns:a="http://schemas.openxmlformats.org/drawingml/2006/main">
            <a:off x="571500" y="551497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7" name="text-10">
            <a:extLst xmlns:a="http://schemas.openxmlformats.org/drawingml/2006/main">
              <a:ext uri="{FF2B5EF4-FFF2-40B4-BE49-F238E27FC236}">
                <a16:creationId xmlns:a16="http://schemas.microsoft.com/office/drawing/2014/main" id="{C195DF89-061A-4565-AC12-4C7F80C38DF8}"/>
              </a:ext>
            </a:extLst>
          </p:cNvPr>
          <p:cNvSpPr>
            <a:spLocks xmlns:a="http://schemas.openxmlformats.org/drawingml/2006/main" noGrp="1"/>
          </p:cNvSpPr>
          <p:nvPr/>
        </p:nvSpPr>
        <p:spPr>
          <a:xfrm xmlns:a="http://schemas.openxmlformats.org/drawingml/2006/main">
            <a:off x="571500" y="567690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Чтобы выбрать класс, нужно задать правило</a:t>
            </a:r>
          </a:p>
        </p:txBody>
      </p:sp>
    </p:spTree>
    <p:extLst>
      <p:ext uri="{BB962C8B-B14F-4D97-AF65-F5344CB8AC3E}">
        <p14:creationId xmlns:p14="http://schemas.microsoft.com/office/powerpoint/2010/main" val="2044689037"/>
      </p:ext>
    </p:extLst>
  </p:cSld>
</p:sld>
</file>

<file path=ppt/slides/slide3.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0" name="text-11">
            <a:extLst xmlns:a="http://schemas.openxmlformats.org/drawingml/2006/main">
              <a:ext uri="{FF2B5EF4-FFF2-40B4-BE49-F238E27FC236}">
                <a16:creationId xmlns:a16="http://schemas.microsoft.com/office/drawing/2014/main" id="{10CF8543-CB2A-45DB-935F-96BD742DACA5}"/>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Модель и её обучение</a:t>
            </a:r>
          </a:p>
        </p:txBody>
      </p:sp>
      <p:sp>
        <p:nvSpPr>
          <p:cNvPr id="2" name="text-12">
            <a:extLst xmlns:a="http://schemas.openxmlformats.org/drawingml/2006/main">
              <a:ext uri="{FF2B5EF4-FFF2-40B4-BE49-F238E27FC236}">
                <a16:creationId xmlns:a16="http://schemas.microsoft.com/office/drawing/2014/main" id="{E110121F-E65E-4CA8-803D-03BDB0D57E25}"/>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Классификатор, или модель, — правило выбора класса по признакам</a:t>
            </a:r>
          </a:p>
        </p:txBody>
      </p:sp>
      <p:sp>
        <p:nvSpPr>
          <p:cNvPr id="3" name="">
            <a:extLst xmlns:a="http://schemas.openxmlformats.org/drawingml/2006/main">
              <a:ext uri="{FF2B5EF4-FFF2-40B4-BE49-F238E27FC236}">
                <a16:creationId xmlns:a16="http://schemas.microsoft.com/office/drawing/2014/main" id="{2307F2F3-1FD8-4FC4-9E93-F0A83FE1F353}"/>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3">
            <a:extLst xmlns:a="http://schemas.openxmlformats.org/drawingml/2006/main">
              <a:ext uri="{FF2B5EF4-FFF2-40B4-BE49-F238E27FC236}">
                <a16:creationId xmlns:a16="http://schemas.microsoft.com/office/drawing/2014/main" id="{EDAE3FC1-DCBC-4AD6-9596-059813676F29}"/>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[2, 5]</a:t>
            </a:r>
          </a:p>
        </p:txBody>
      </p:sp>
      <p:sp>
        <p:nvSpPr>
          <p:cNvPr id="5" name="text-14">
            <a:extLst xmlns:a="http://schemas.openxmlformats.org/drawingml/2006/main">
              <a:ext uri="{FF2B5EF4-FFF2-40B4-BE49-F238E27FC236}">
                <a16:creationId xmlns:a16="http://schemas.microsoft.com/office/drawing/2014/main" id="{D97C0711-F60C-454A-B620-DA0A0AEA8E00}"/>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03</a:t>
            </a:r>
          </a:p>
        </p:txBody>
      </p:sp>
      <p:graphicFrame>
        <p:nvGraphicFramePr>
          <p:cNvPr id="6" name="">
            <a:extLst xmlns:a="http://schemas.openxmlformats.org/drawingml/2006/main">
              <a:ext uri="{FF2B5EF4-FFF2-40B4-BE49-F238E27FC236}">
                <a16:creationId xmlns:a16="http://schemas.microsoft.com/office/drawing/2014/main" id="{2A880BD1-F2AB-4294-8E61-DE487D6DA51A}"/>
              </a:ext>
            </a:extLst>
          </p:cNvPr>
          <p:cNvGraphicFramePr/>
          <p:nvPr/>
        </p:nvGraphicFramePr>
        <p:xfrm>
          <a:off xmlns:a="http://schemas.openxmlformats.org/drawingml/2006/main" x="571500" y="2219325"/>
          <a:ext xmlns:a="http://schemas.openxmlformats.org/drawingml/2006/main" cx="11049000" cy="2057400"/>
        </p:xfrm>
        <a:graphic xmlns:a="http://schemas.openxmlformats.org/drawingml/2006/main">
          <a:graphicData uri="http://schemas.openxmlformats.org/drawingml/2006/table">
            <a:tbl>
              <a:tblPr/>
              <a:tblGrid>
                <a:gridCol w="5524500"/>
                <a:gridCol w="5524500"/>
              </a:tblGrid>
              <a:tr h="685800">
                <a:tc>
                  <a:txBody>
                    <a:bodyPr lIns="114300" tIns="95250" rIns="95250" bIns="76200"/>
                    <a:lstStyle/>
                    <a:p>
                      <a:r>
                        <a:rPr sz="2025" b="1">
                          <a:solidFill>
                            <a:srgbClr val="FFFFFF"/>
                          </a:solidFill>
                          <a:latin typeface="DejaVu Sans"/>
                          <a:ea typeface="DejaVu Sans"/>
                          <a:cs typeface="DejaVu Sans"/>
                        </a:rPr>
                        <a:t>Обучение</a:t>
                      </a:r>
                    </a:p>
                  </a:txBody>
                  <a:tcPr marL="91440" marR="91440" marT="45720" marB="45720" anchor="ctr">
                    <a:solidFill>
                      <a:srgbClr val="101C32"/>
                    </a:solidFill>
                  </a:tcPr>
                </a:tc>
                <a:tc>
                  <a:txBody>
                    <a:bodyPr lIns="114300" tIns="95250" rIns="95250" bIns="76200"/>
                    <a:lstStyle/>
                    <a:p>
                      <a:r>
                        <a:rPr sz="2025" b="1">
                          <a:solidFill>
                            <a:srgbClr val="FFFFFF"/>
                          </a:solidFill>
                          <a:latin typeface="DejaVu Sans"/>
                          <a:ea typeface="DejaVu Sans"/>
                          <a:cs typeface="DejaVu Sans"/>
                        </a:rPr>
                        <a:t>Применение готовой модели</a:t>
                      </a:r>
                    </a:p>
                  </a:txBody>
                  <a:tcPr marL="91440" marR="91440" marT="45720" marB="45720" anchor="ctr">
                    <a:solidFill>
                      <a:srgbClr val="101C32"/>
                    </a:solidFill>
                  </a:tcPr>
                </a:tc>
              </a:tr>
              <a:tr h="685800">
                <a:tc>
                  <a:txBody>
                    <a:bodyPr lIns="114300" tIns="95250" rIns="95250" bIns="76200"/>
                    <a:lstStyle/>
                    <a:p>
                      <a:r>
                        <a:rPr sz="2025" b="0">
                          <a:solidFill>
                            <a:srgbClr val="101C32"/>
                          </a:solidFill>
                          <a:latin typeface="DejaVu Sans"/>
                          <a:ea typeface="DejaVu Sans"/>
                          <a:cs typeface="DejaVu Sans"/>
                        </a:rPr>
                        <a:t>Объекты + известные классы (метки)</a:t>
                      </a:r>
                    </a:p>
                  </a:txBody>
                  <a:tcPr marL="91440" marR="91440" marT="45720" marB="45720" anchor="ctr">
                    <a:solidFill>
                      <a:srgbClr val="FFFFFF"/>
                    </a:solidFill>
                  </a:tcPr>
                </a:tc>
                <a:tc>
                  <a:txBody>
                    <a:bodyPr lIns="114300" tIns="95250" rIns="95250" bIns="76200"/>
                    <a:lstStyle/>
                    <a:p>
                      <a:r>
                        <a:rPr sz="2025" b="0">
                          <a:solidFill>
                            <a:srgbClr val="101C32"/>
                          </a:solidFill>
                          <a:latin typeface="DejaVu Sans"/>
                          <a:ea typeface="DejaVu Sans"/>
                          <a:cs typeface="DejaVu Sans"/>
                        </a:rPr>
                        <a:t>Признаки нового объекта</a:t>
                      </a:r>
                    </a:p>
                  </a:txBody>
                  <a:tcPr marL="91440" marR="91440" marT="45720" marB="45720" anchor="ctr">
                    <a:solidFill>
                      <a:srgbClr val="FFFFFF"/>
                    </a:solidFill>
                  </a:tcPr>
                </a:tc>
              </a:tr>
              <a:tr h="685800">
                <a:tc>
                  <a:txBody>
                    <a:bodyPr lIns="114300" tIns="95250" rIns="95250" bIns="76200"/>
                    <a:lstStyle/>
                    <a:p>
                      <a:r>
                        <a:rPr sz="2025" b="0">
                          <a:solidFill>
                            <a:srgbClr val="101C32"/>
                          </a:solidFill>
                          <a:latin typeface="DejaVu Sans"/>
                          <a:ea typeface="DejaVu Sans"/>
                          <a:cs typeface="DejaVu Sans"/>
                        </a:rPr>
                        <a:t>Подбираем правило по этим примерам</a:t>
                      </a:r>
                    </a:p>
                  </a:txBody>
                  <a:tcPr marL="91440" marR="91440" marT="45720" marB="45720" anchor="ctr">
                    <a:solidFill>
                      <a:srgbClr val="EAF0F4"/>
                    </a:solidFill>
                  </a:tcPr>
                </a:tc>
                <a:tc>
                  <a:txBody>
                    <a:bodyPr lIns="114300" tIns="95250" rIns="95250" bIns="76200"/>
                    <a:lstStyle/>
                    <a:p>
                      <a:r>
                        <a:rPr sz="2025" b="0">
                          <a:solidFill>
                            <a:srgbClr val="101C32"/>
                          </a:solidFill>
                          <a:latin typeface="DejaVu Sans"/>
                          <a:ea typeface="DejaVu Sans"/>
                          <a:cs typeface="DejaVu Sans"/>
                        </a:rPr>
                        <a:t>Получаем прогноз класса</a:t>
                      </a:r>
                    </a:p>
                  </a:txBody>
                  <a:tcPr marL="91440" marR="91440" marT="45720" marB="45720" anchor="ctr">
                    <a:solidFill>
                      <a:srgbClr val="EAF0F4"/>
                    </a:solidFill>
                  </a:tcPr>
                </a:tc>
              </a:tr>
            </a:tbl>
          </a:graphicData>
        </a:graphic>
      </p:graphicFrame>
      <p:sp>
        <p:nvSpPr>
          <p:cNvPr id="7" name="text-15">
            <a:extLst xmlns:a="http://schemas.openxmlformats.org/drawingml/2006/main">
              <a:ext uri="{FF2B5EF4-FFF2-40B4-BE49-F238E27FC236}">
                <a16:creationId xmlns:a16="http://schemas.microsoft.com/office/drawing/2014/main" id="{2EB63084-8640-4DB1-93BE-A2FA02FD0FCF}"/>
              </a:ext>
            </a:extLst>
          </p:cNvPr>
          <p:cNvSpPr>
            <a:spLocks xmlns:a="http://schemas.openxmlformats.org/drawingml/2006/main" noGrp="1"/>
          </p:cNvSpPr>
          <p:nvPr/>
        </p:nvSpPr>
        <p:spPr>
          <a:xfrm xmlns:a="http://schemas.openxmlformats.org/drawingml/2006/main">
            <a:off x="571500" y="4619625"/>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01C32"/>
                </a:solidFill>
                <a:latin typeface="DejaVu Sans"/>
                <a:ea typeface="DejaVu Sans"/>
                <a:cs typeface="DejaVu Sans"/>
              </a:defRPr>
            </a:defPPr>
          </a:lstStyle>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Обучающая выборка — набор примеров с известными метками.</a:t>
            </a:r>
          </a:p>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Известная метка и прогноз модели могут не совпадать: это ошибка.</a:t>
            </a:r>
          </a:p>
        </p:txBody>
      </p:sp>
      <p:sp>
        <p:nvSpPr>
          <p:cNvPr id="8" name="">
            <a:extLst xmlns:a="http://schemas.openxmlformats.org/drawingml/2006/main">
              <a:ext uri="{FF2B5EF4-FFF2-40B4-BE49-F238E27FC236}">
                <a16:creationId xmlns:a16="http://schemas.microsoft.com/office/drawing/2014/main" id="{074E8A68-D434-40F5-BB34-E64231EAAAA9}"/>
              </a:ext>
            </a:extLst>
          </p:cNvPr>
          <p:cNvSpPr>
            <a:spLocks xmlns:a="http://schemas.openxmlformats.org/drawingml/2006/main" noGrp="1"/>
          </p:cNvSpPr>
          <p:nvPr/>
        </p:nvSpPr>
        <p:spPr>
          <a:xfrm xmlns:a="http://schemas.openxmlformats.org/drawingml/2006/main">
            <a:off x="571500" y="5657850"/>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9" name="text-16">
            <a:extLst xmlns:a="http://schemas.openxmlformats.org/drawingml/2006/main">
              <a:ext uri="{FF2B5EF4-FFF2-40B4-BE49-F238E27FC236}">
                <a16:creationId xmlns:a16="http://schemas.microsoft.com/office/drawing/2014/main" id="{66C9E171-3888-4FF8-9A1F-18B3720FA42E}"/>
              </a:ext>
            </a:extLst>
          </p:cNvPr>
          <p:cNvSpPr>
            <a:spLocks xmlns:a="http://schemas.openxmlformats.org/drawingml/2006/main" noGrp="1"/>
          </p:cNvSpPr>
          <p:nvPr/>
        </p:nvSpPr>
        <p:spPr>
          <a:xfrm xmlns:a="http://schemas.openxmlformats.org/drawingml/2006/main">
            <a:off x="571500" y="5819775"/>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Начнём с простого правила — сравнения с образцами классов</a:t>
            </a:r>
          </a:p>
        </p:txBody>
      </p:sp>
    </p:spTree>
    <p:extLst>
      <p:ext uri="{BB962C8B-B14F-4D97-AF65-F5344CB8AC3E}">
        <p14:creationId xmlns:p14="http://schemas.microsoft.com/office/powerpoint/2010/main" val="1568608709"/>
      </p:ext>
    </p:extLst>
  </p:cSld>
</p:sld>
</file>

<file path=ppt/slides/slide4.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2" name="text-17">
            <a:extLst xmlns:a="http://schemas.openxmlformats.org/drawingml/2006/main">
              <a:ext uri="{FF2B5EF4-FFF2-40B4-BE49-F238E27FC236}">
                <a16:creationId xmlns:a16="http://schemas.microsoft.com/office/drawing/2014/main" id="{4C9C5E4E-6911-43DB-B4F3-026B79CCAE14}"/>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Определение эталона класса</a:t>
            </a:r>
          </a:p>
        </p:txBody>
      </p:sp>
      <p:sp>
        <p:nvSpPr>
          <p:cNvPr id="2" name="">
            <a:extLst xmlns:a="http://schemas.openxmlformats.org/drawingml/2006/main">
              <a:ext uri="{FF2B5EF4-FFF2-40B4-BE49-F238E27FC236}">
                <a16:creationId xmlns:a16="http://schemas.microsoft.com/office/drawing/2014/main" id="{1A854047-CB19-4C3A-AF85-443182F27F5B}"/>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3" name="text-18">
            <a:extLst xmlns:a="http://schemas.openxmlformats.org/drawingml/2006/main">
              <a:ext uri="{FF2B5EF4-FFF2-40B4-BE49-F238E27FC236}">
                <a16:creationId xmlns:a16="http://schemas.microsoft.com/office/drawing/2014/main" id="{839ED22A-1FA2-4FB3-8A15-2738A4DFF4A9}"/>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4" name="text-19">
            <a:extLst xmlns:a="http://schemas.openxmlformats.org/drawingml/2006/main">
              <a:ext uri="{FF2B5EF4-FFF2-40B4-BE49-F238E27FC236}">
                <a16:creationId xmlns:a16="http://schemas.microsoft.com/office/drawing/2014/main" id="{12A6AB16-5FB6-431D-B3A0-D6EBD516750D}"/>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04</a:t>
            </a:r>
          </a:p>
        </p:txBody>
      </p:sp>
      <p:sp>
        <p:nvSpPr>
          <p:cNvPr id="5" name="text-20">
            <a:extLst xmlns:a="http://schemas.openxmlformats.org/drawingml/2006/main">
              <a:ext uri="{FF2B5EF4-FFF2-40B4-BE49-F238E27FC236}">
                <a16:creationId xmlns:a16="http://schemas.microsoft.com/office/drawing/2014/main" id="{50884BD0-7335-46F8-A69C-1D4099270FC8}"/>
              </a:ext>
            </a:extLst>
          </p:cNvPr>
          <p:cNvSpPr>
            <a:spLocks xmlns:a="http://schemas.openxmlformats.org/drawingml/2006/main" noGrp="1"/>
          </p:cNvSpPr>
          <p:nvPr/>
        </p:nvSpPr>
        <p:spPr>
          <a:xfrm xmlns:a="http://schemas.openxmlformats.org/drawingml/2006/main">
            <a:off x="571500" y="1981200"/>
            <a:ext cx="11049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550" b="1">
                <a:solidFill>
                  <a:srgbClr val="101C32"/>
                </a:solidFill>
                <a:latin typeface="DejaVu Sans"/>
                <a:ea typeface="DejaVu Sans"/>
                <a:cs typeface="DejaVu Sans"/>
              </a:defRPr>
            </a:defPPr>
          </a:lstStyle>
          <a:p xmlns:a="http://schemas.openxmlformats.org/drawingml/2006/main">
            <a:pPr>
              <a:defRPr sz="2550" b="1">
                <a:solidFill>
                  <a:srgbClr val="101C32"/>
                </a:solidFill>
                <a:latin typeface="DejaVu Sans"/>
                <a:ea typeface="DejaVu Sans"/>
                <a:cs typeface="DejaVu Sans"/>
              </a:defRPr>
            </a:pPr>
            <a:r>
              <a:rPr sz="2550" b="1">
                <a:solidFill>
                  <a:srgbClr val="101C32"/>
                </a:solidFill>
                <a:latin typeface="DejaVu Sans"/>
                <a:ea typeface="DejaVu Sans"/>
                <a:cs typeface="DejaVu Sans"/>
              </a:rPr>
              <a:t>Эталон класса — образец этого класса,</a:t>
            </a:r>
          </a:p>
          <a:p xmlns:a="http://schemas.openxmlformats.org/drawingml/2006/main">
            <a:pPr>
              <a:defRPr sz="2550" b="1">
                <a:solidFill>
                  <a:srgbClr val="101C32"/>
                </a:solidFill>
                <a:latin typeface="DejaVu Sans"/>
                <a:ea typeface="DejaVu Sans"/>
                <a:cs typeface="DejaVu Sans"/>
              </a:defRPr>
            </a:pPr>
            <a:r>
              <a:rPr sz="2550" b="1">
                <a:solidFill>
                  <a:srgbClr val="101C32"/>
                </a:solidFill>
                <a:latin typeface="DejaVu Sans"/>
                <a:ea typeface="DejaVu Sans"/>
                <a:cs typeface="DejaVu Sans"/>
              </a:rPr>
              <a:t>принятый для сравнения с другими объектами.</a:t>
            </a:r>
          </a:p>
        </p:txBody>
      </p:sp>
      <p:sp>
        <p:nvSpPr>
          <p:cNvPr id="6" name="text-21">
            <a:extLst xmlns:a="http://schemas.openxmlformats.org/drawingml/2006/main">
              <a:ext uri="{FF2B5EF4-FFF2-40B4-BE49-F238E27FC236}">
                <a16:creationId xmlns:a16="http://schemas.microsoft.com/office/drawing/2014/main" id="{7882839B-2CBB-4128-A114-9BEA8CBBA111}"/>
              </a:ext>
            </a:extLst>
          </p:cNvPr>
          <p:cNvSpPr>
            <a:spLocks xmlns:a="http://schemas.openxmlformats.org/drawingml/2006/main" noGrp="1"/>
          </p:cNvSpPr>
          <p:nvPr/>
        </p:nvSpPr>
        <p:spPr>
          <a:xfrm xmlns:a="http://schemas.openxmlformats.org/drawingml/2006/main">
            <a:off x="571500" y="371475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Зачем он нужен</a:t>
            </a:r>
          </a:p>
        </p:txBody>
      </p:sp>
      <p:sp>
        <p:nvSpPr>
          <p:cNvPr id="7" name="text-22">
            <a:extLst xmlns:a="http://schemas.openxmlformats.org/drawingml/2006/main">
              <a:ext uri="{FF2B5EF4-FFF2-40B4-BE49-F238E27FC236}">
                <a16:creationId xmlns:a16="http://schemas.microsoft.com/office/drawing/2014/main" id="{72922AAC-61E9-4E4D-8A94-9E84C30512BD}"/>
              </a:ext>
            </a:extLst>
          </p:cNvPr>
          <p:cNvSpPr>
            <a:spLocks xmlns:a="http://schemas.openxmlformats.org/drawingml/2006/main" noGrp="1"/>
          </p:cNvSpPr>
          <p:nvPr/>
        </p:nvSpPr>
        <p:spPr>
          <a:xfrm xmlns:a="http://schemas.openxmlformats.org/drawingml/2006/main">
            <a:off x="571500" y="4248150"/>
            <a:ext cx="5334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Помогает понять, к какому классу</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ближе исследуемый объект</a:t>
            </a:r>
          </a:p>
        </p:txBody>
      </p:sp>
      <p:sp>
        <p:nvSpPr>
          <p:cNvPr id="8" name="text-23">
            <a:extLst xmlns:a="http://schemas.openxmlformats.org/drawingml/2006/main">
              <a:ext uri="{FF2B5EF4-FFF2-40B4-BE49-F238E27FC236}">
                <a16:creationId xmlns:a16="http://schemas.microsoft.com/office/drawing/2014/main" id="{5401B1BB-8DEA-4797-B229-02063B6C523D}"/>
              </a:ext>
            </a:extLst>
          </p:cNvPr>
          <p:cNvSpPr>
            <a:spLocks xmlns:a="http://schemas.openxmlformats.org/drawingml/2006/main" noGrp="1"/>
          </p:cNvSpPr>
          <p:nvPr/>
        </p:nvSpPr>
        <p:spPr>
          <a:xfrm xmlns:a="http://schemas.openxmlformats.org/drawingml/2006/main">
            <a:off x="6429375" y="3714750"/>
            <a:ext cx="519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Как его использовать</a:t>
            </a:r>
          </a:p>
        </p:txBody>
      </p:sp>
      <p:sp>
        <p:nvSpPr>
          <p:cNvPr id="9" name="text-24">
            <a:extLst xmlns:a="http://schemas.openxmlformats.org/drawingml/2006/main">
              <a:ext uri="{FF2B5EF4-FFF2-40B4-BE49-F238E27FC236}">
                <a16:creationId xmlns:a16="http://schemas.microsoft.com/office/drawing/2014/main" id="{1FBD92DB-BE03-43B6-BA31-20389194BFF3}"/>
              </a:ext>
            </a:extLst>
          </p:cNvPr>
          <p:cNvSpPr>
            <a:spLocks xmlns:a="http://schemas.openxmlformats.org/drawingml/2006/main" noGrp="1"/>
          </p:cNvSpPr>
          <p:nvPr/>
        </p:nvSpPr>
        <p:spPr>
          <a:xfrm xmlns:a="http://schemas.openxmlformats.org/drawingml/2006/main">
            <a:off x="6429375" y="4248150"/>
            <a:ext cx="5191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Выбрать образец каждого класса</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и сравнить с ними новый объект</a:t>
            </a:r>
          </a:p>
        </p:txBody>
      </p:sp>
      <p:sp>
        <p:nvSpPr>
          <p:cNvPr id="10" name="">
            <a:extLst xmlns:a="http://schemas.openxmlformats.org/drawingml/2006/main">
              <a:ext uri="{FF2B5EF4-FFF2-40B4-BE49-F238E27FC236}">
                <a16:creationId xmlns:a16="http://schemas.microsoft.com/office/drawing/2014/main" id="{82010857-C785-4081-9146-04BAB96CE60F}"/>
              </a:ext>
            </a:extLst>
          </p:cNvPr>
          <p:cNvSpPr>
            <a:spLocks xmlns:a="http://schemas.openxmlformats.org/drawingml/2006/main" noGrp="1"/>
          </p:cNvSpPr>
          <p:nvPr/>
        </p:nvSpPr>
        <p:spPr>
          <a:xfrm xmlns:a="http://schemas.openxmlformats.org/drawingml/2006/main">
            <a:off x="571500" y="5676900"/>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1" name="text-25">
            <a:extLst xmlns:a="http://schemas.openxmlformats.org/drawingml/2006/main">
              <a:ext uri="{FF2B5EF4-FFF2-40B4-BE49-F238E27FC236}">
                <a16:creationId xmlns:a16="http://schemas.microsoft.com/office/drawing/2014/main" id="{81F50AF9-5424-4754-A6CF-C501FBC499F2}"/>
              </a:ext>
            </a:extLst>
          </p:cNvPr>
          <p:cNvSpPr>
            <a:spLocks xmlns:a="http://schemas.openxmlformats.org/drawingml/2006/main" noGrp="1"/>
          </p:cNvSpPr>
          <p:nvPr/>
        </p:nvSpPr>
        <p:spPr>
          <a:xfrm xmlns:a="http://schemas.openxmlformats.org/drawingml/2006/main">
            <a:off x="571500" y="5838825"/>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Определение эталона и способ его выбора — разные вопросы</a:t>
            </a:r>
          </a:p>
        </p:txBody>
      </p:sp>
    </p:spTree>
    <p:extLst>
      <p:ext uri="{BB962C8B-B14F-4D97-AF65-F5344CB8AC3E}">
        <p14:creationId xmlns:p14="http://schemas.microsoft.com/office/powerpoint/2010/main" val="53508175"/>
      </p:ext>
    </p:extLst>
  </p:cSld>
</p:sld>
</file>

<file path=ppt/slides/slide5.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3" name="text-26">
            <a:extLst xmlns:a="http://schemas.openxmlformats.org/drawingml/2006/main">
              <a:ext uri="{FF2B5EF4-FFF2-40B4-BE49-F238E27FC236}">
                <a16:creationId xmlns:a16="http://schemas.microsoft.com/office/drawing/2014/main" id="{9DA4354C-A6E3-4D5D-8079-B348596B2911}"/>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Похожесть измеряем расстоянием</a:t>
            </a:r>
          </a:p>
        </p:txBody>
      </p:sp>
      <p:sp>
        <p:nvSpPr>
          <p:cNvPr id="2" name="text-27">
            <a:extLst xmlns:a="http://schemas.openxmlformats.org/drawingml/2006/main">
              <a:ext uri="{FF2B5EF4-FFF2-40B4-BE49-F238E27FC236}">
                <a16:creationId xmlns:a16="http://schemas.microsoft.com/office/drawing/2014/main" id="{8B6A62B3-F0FF-49A9-BD3D-3016238B7D87}"/>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Все объекты описываем одним и тем же набором признаков</a:t>
            </a:r>
          </a:p>
        </p:txBody>
      </p:sp>
      <p:sp>
        <p:nvSpPr>
          <p:cNvPr id="3" name="">
            <a:extLst xmlns:a="http://schemas.openxmlformats.org/drawingml/2006/main">
              <a:ext uri="{FF2B5EF4-FFF2-40B4-BE49-F238E27FC236}">
                <a16:creationId xmlns:a16="http://schemas.microsoft.com/office/drawing/2014/main" id="{7A6B4029-CD10-4A88-854C-EC758E9D359D}"/>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28">
            <a:extLst xmlns:a="http://schemas.openxmlformats.org/drawingml/2006/main">
              <a:ext uri="{FF2B5EF4-FFF2-40B4-BE49-F238E27FC236}">
                <a16:creationId xmlns:a16="http://schemas.microsoft.com/office/drawing/2014/main" id="{9EA8D293-4D4D-449E-94D7-3970BD536738}"/>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[3, 5]</a:t>
            </a:r>
          </a:p>
        </p:txBody>
      </p:sp>
      <p:sp>
        <p:nvSpPr>
          <p:cNvPr id="5" name="text-29">
            <a:extLst xmlns:a="http://schemas.openxmlformats.org/drawingml/2006/main">
              <a:ext uri="{FF2B5EF4-FFF2-40B4-BE49-F238E27FC236}">
                <a16:creationId xmlns:a16="http://schemas.microsoft.com/office/drawing/2014/main" id="{4305079C-2F71-42E2-BA09-8BB98334487D}"/>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05</a:t>
            </a:r>
          </a:p>
        </p:txBody>
      </p:sp>
      <p:sp>
        <p:nvSpPr>
          <p:cNvPr id="6" name="text-30">
            <a:extLst xmlns:a="http://schemas.openxmlformats.org/drawingml/2006/main">
              <a:ext uri="{FF2B5EF4-FFF2-40B4-BE49-F238E27FC236}">
                <a16:creationId xmlns:a16="http://schemas.microsoft.com/office/drawing/2014/main" id="{6CEA0434-B508-4B71-97E9-7E9F081BAAB0}"/>
              </a:ext>
            </a:extLst>
          </p:cNvPr>
          <p:cNvSpPr>
            <a:spLocks xmlns:a="http://schemas.openxmlformats.org/drawingml/2006/main" noGrp="1"/>
          </p:cNvSpPr>
          <p:nvPr/>
        </p:nvSpPr>
        <p:spPr>
          <a:xfrm xmlns:a="http://schemas.openxmlformats.org/drawingml/2006/main">
            <a:off x="571500" y="19907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101C32"/>
                </a:solidFill>
                <a:latin typeface="DejaVu Sans"/>
                <a:ea typeface="DejaVu Sans"/>
                <a:cs typeface="DejaVu Sans"/>
              </a:defRPr>
            </a:defPPr>
          </a:lstStyle>
          <a:p xmlns:a="http://schemas.openxmlformats.org/drawingml/2006/main">
            <a:pPr>
              <a:defRPr sz="2250" b="1">
                <a:solidFill>
                  <a:srgbClr val="101C32"/>
                </a:solidFill>
                <a:latin typeface="DejaVu Sans"/>
                <a:ea typeface="DejaVu Sans"/>
                <a:cs typeface="DejaVu Sans"/>
              </a:defRPr>
            </a:pPr>
            <a:r>
              <a:rPr sz="2250" b="1">
                <a:solidFill>
                  <a:srgbClr val="101C32"/>
                </a:solidFill>
                <a:latin typeface="DejaVu Sans"/>
                <a:ea typeface="DejaVu Sans"/>
                <a:cs typeface="DejaVu Sans"/>
              </a:rPr>
              <a:t>Значения двух признаков — координаты точки.</a:t>
            </a:r>
          </a:p>
          <a:p xmlns:a="http://schemas.openxmlformats.org/drawingml/2006/main">
            <a:pPr>
              <a:defRPr sz="2250" b="1">
                <a:solidFill>
                  <a:srgbClr val="101C32"/>
                </a:solidFill>
                <a:latin typeface="DejaVu Sans"/>
                <a:ea typeface="DejaVu Sans"/>
                <a:cs typeface="DejaVu Sans"/>
              </a:defRPr>
            </a:pPr>
            <a:r>
              <a:rPr sz="2250" b="1">
                <a:solidFill>
                  <a:srgbClr val="101C32"/>
                </a:solidFill>
                <a:latin typeface="DejaVu Sans"/>
                <a:ea typeface="DejaVu Sans"/>
                <a:cs typeface="DejaVu Sans"/>
              </a:rPr>
              <a:t>Евклидово расстояние — расстояние по прямой</a:t>
            </a:r>
          </a:p>
          <a:p xmlns:a="http://schemas.openxmlformats.org/drawingml/2006/main">
            <a:pPr>
              <a:defRPr sz="2250" b="1">
                <a:solidFill>
                  <a:srgbClr val="101C32"/>
                </a:solidFill>
                <a:latin typeface="DejaVu Sans"/>
                <a:ea typeface="DejaVu Sans"/>
                <a:cs typeface="DejaVu Sans"/>
              </a:defRPr>
            </a:pPr>
            <a:r>
              <a:rPr sz="2250" b="1">
                <a:solidFill>
                  <a:srgbClr val="101C32"/>
                </a:solidFill>
                <a:latin typeface="DejaVu Sans"/>
                <a:ea typeface="DejaVu Sans"/>
                <a:cs typeface="DejaVu Sans"/>
              </a:rPr>
              <a:t>между точками после выбора масштаба.</a:t>
            </a:r>
          </a:p>
        </p:txBody>
      </p:sp>
      <p:sp>
        <p:nvSpPr>
          <p:cNvPr id="7" name="text-31">
            <a:extLst xmlns:a="http://schemas.openxmlformats.org/drawingml/2006/main">
              <a:ext uri="{FF2B5EF4-FFF2-40B4-BE49-F238E27FC236}">
                <a16:creationId xmlns:a16="http://schemas.microsoft.com/office/drawing/2014/main" id="{CA8B402B-CD34-44D0-8A30-A74DFAC94BA7}"/>
              </a:ext>
            </a:extLst>
          </p:cNvPr>
          <p:cNvSpPr>
            <a:spLocks xmlns:a="http://schemas.openxmlformats.org/drawingml/2006/main" noGrp="1"/>
          </p:cNvSpPr>
          <p:nvPr/>
        </p:nvSpPr>
        <p:spPr>
          <a:xfrm xmlns:a="http://schemas.openxmlformats.org/drawingml/2006/main">
            <a:off x="571500" y="3648075"/>
            <a:ext cx="519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Меньше расстояние</a:t>
            </a:r>
          </a:p>
        </p:txBody>
      </p:sp>
      <p:sp>
        <p:nvSpPr>
          <p:cNvPr id="8" name="text-32">
            <a:extLst xmlns:a="http://schemas.openxmlformats.org/drawingml/2006/main">
              <a:ext uri="{FF2B5EF4-FFF2-40B4-BE49-F238E27FC236}">
                <a16:creationId xmlns:a16="http://schemas.microsoft.com/office/drawing/2014/main" id="{3ADFD644-C95B-4BE0-AEED-2BA9D9078894}"/>
              </a:ext>
            </a:extLst>
          </p:cNvPr>
          <p:cNvSpPr>
            <a:spLocks xmlns:a="http://schemas.openxmlformats.org/drawingml/2006/main" noGrp="1"/>
          </p:cNvSpPr>
          <p:nvPr/>
        </p:nvSpPr>
        <p:spPr>
          <a:xfrm xmlns:a="http://schemas.openxmlformats.org/drawingml/2006/main">
            <a:off x="571500" y="4181475"/>
            <a:ext cx="5191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Объекты ближе друг к другу</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в выбранном описании</a:t>
            </a:r>
          </a:p>
        </p:txBody>
      </p:sp>
      <p:sp>
        <p:nvSpPr>
          <p:cNvPr id="9" name="text-33">
            <a:extLst xmlns:a="http://schemas.openxmlformats.org/drawingml/2006/main">
              <a:ext uri="{FF2B5EF4-FFF2-40B4-BE49-F238E27FC236}">
                <a16:creationId xmlns:a16="http://schemas.microsoft.com/office/drawing/2014/main" id="{8DB5E9EC-42D6-418A-9819-86E94ACB8D00}"/>
              </a:ext>
            </a:extLst>
          </p:cNvPr>
          <p:cNvSpPr>
            <a:spLocks xmlns:a="http://schemas.openxmlformats.org/drawingml/2006/main" noGrp="1"/>
          </p:cNvSpPr>
          <p:nvPr/>
        </p:nvSpPr>
        <p:spPr>
          <a:xfrm xmlns:a="http://schemas.openxmlformats.org/drawingml/2006/main">
            <a:off x="6429375" y="3648075"/>
            <a:ext cx="519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01C32"/>
                </a:solidFill>
                <a:latin typeface="DejaVu Sans"/>
                <a:ea typeface="DejaVu Sans"/>
                <a:cs typeface="DejaVu Sans"/>
              </a:defRPr>
            </a:defPPr>
          </a:lstStyle>
          <a:p xmlns:a="http://schemas.openxmlformats.org/drawingml/2006/main">
            <a:pPr>
              <a:defRPr sz="2175" b="1">
                <a:solidFill>
                  <a:srgbClr val="101C32"/>
                </a:solidFill>
                <a:latin typeface="DejaVu Sans"/>
                <a:ea typeface="DejaVu Sans"/>
                <a:cs typeface="DejaVu Sans"/>
              </a:defRPr>
            </a:pPr>
            <a:r>
              <a:rPr sz="2175" b="1">
                <a:solidFill>
                  <a:srgbClr val="101C32"/>
                </a:solidFill>
                <a:latin typeface="DejaVu Sans"/>
                <a:ea typeface="DejaVu Sans"/>
                <a:cs typeface="DejaVu Sans"/>
              </a:rPr>
              <a:t>Сначала задаём масштаб</a:t>
            </a:r>
          </a:p>
        </p:txBody>
      </p:sp>
      <p:sp>
        <p:nvSpPr>
          <p:cNvPr id="10" name="text-34">
            <a:extLst xmlns:a="http://schemas.openxmlformats.org/drawingml/2006/main">
              <a:ext uri="{FF2B5EF4-FFF2-40B4-BE49-F238E27FC236}">
                <a16:creationId xmlns:a16="http://schemas.microsoft.com/office/drawing/2014/main" id="{C3906437-4BD7-4351-8816-E6B30C4A1261}"/>
              </a:ext>
            </a:extLst>
          </p:cNvPr>
          <p:cNvSpPr>
            <a:spLocks xmlns:a="http://schemas.openxmlformats.org/drawingml/2006/main" noGrp="1"/>
          </p:cNvSpPr>
          <p:nvPr/>
        </p:nvSpPr>
        <p:spPr>
          <a:xfrm xmlns:a="http://schemas.openxmlformats.org/drawingml/2006/main">
            <a:off x="6429375" y="4181475"/>
            <a:ext cx="5191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Разные единицы и большие числа</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могут подавить другой признак</a:t>
            </a:r>
          </a:p>
        </p:txBody>
      </p:sp>
      <p:sp>
        <p:nvSpPr>
          <p:cNvPr id="11" name="">
            <a:extLst xmlns:a="http://schemas.openxmlformats.org/drawingml/2006/main">
              <a:ext uri="{FF2B5EF4-FFF2-40B4-BE49-F238E27FC236}">
                <a16:creationId xmlns:a16="http://schemas.microsoft.com/office/drawing/2014/main" id="{8805CFC9-31C0-4F81-B05B-6A7A0F2A6344}"/>
              </a:ext>
            </a:extLst>
          </p:cNvPr>
          <p:cNvSpPr>
            <a:spLocks xmlns:a="http://schemas.openxmlformats.org/drawingml/2006/main" noGrp="1"/>
          </p:cNvSpPr>
          <p:nvPr/>
        </p:nvSpPr>
        <p:spPr>
          <a:xfrm xmlns:a="http://schemas.openxmlformats.org/drawingml/2006/main">
            <a:off x="571500" y="5657850"/>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2" name="text-35">
            <a:extLst xmlns:a="http://schemas.openxmlformats.org/drawingml/2006/main">
              <a:ext uri="{FF2B5EF4-FFF2-40B4-BE49-F238E27FC236}">
                <a16:creationId xmlns:a16="http://schemas.microsoft.com/office/drawing/2014/main" id="{3C30A591-A43A-4468-B205-33C6EC8DBB12}"/>
              </a:ext>
            </a:extLst>
          </p:cNvPr>
          <p:cNvSpPr>
            <a:spLocks xmlns:a="http://schemas.openxmlformats.org/drawingml/2006/main" noGrp="1"/>
          </p:cNvSpPr>
          <p:nvPr/>
        </p:nvSpPr>
        <p:spPr>
          <a:xfrm xmlns:a="http://schemas.openxmlformats.org/drawingml/2006/main">
            <a:off x="571500" y="5819775"/>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Эталоны выбираем и сравниваем в одном масштабе</a:t>
            </a:r>
          </a:p>
        </p:txBody>
      </p:sp>
    </p:spTree>
    <p:extLst>
      <p:ext uri="{BB962C8B-B14F-4D97-AF65-F5344CB8AC3E}">
        <p14:creationId xmlns:p14="http://schemas.microsoft.com/office/powerpoint/2010/main" val="628153846"/>
      </p:ext>
    </p:extLst>
  </p:cSld>
</p:sld>
</file>

<file path=ppt/slides/slide6.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5" name="text-36">
            <a:extLst xmlns:a="http://schemas.openxmlformats.org/drawingml/2006/main">
              <a:ext uri="{FF2B5EF4-FFF2-40B4-BE49-F238E27FC236}">
                <a16:creationId xmlns:a16="http://schemas.microsoft.com/office/drawing/2014/main" id="{2527611F-94A6-40EB-990E-8F444350A7AC}"/>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Выбор эталона: медоид</a:t>
            </a:r>
          </a:p>
        </p:txBody>
      </p:sp>
      <p:sp>
        <p:nvSpPr>
          <p:cNvPr id="2" name="text-37">
            <a:extLst xmlns:a="http://schemas.openxmlformats.org/drawingml/2006/main">
              <a:ext uri="{FF2B5EF4-FFF2-40B4-BE49-F238E27FC236}">
                <a16:creationId xmlns:a16="http://schemas.microsoft.com/office/drawing/2014/main" id="{9B92F983-B30F-4D13-9DBB-ABE1A2B6570A}"/>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Один из способов выбрать образец класса</a:t>
            </a:r>
          </a:p>
        </p:txBody>
      </p:sp>
      <p:sp>
        <p:nvSpPr>
          <p:cNvPr id="3" name="">
            <a:extLst xmlns:a="http://schemas.openxmlformats.org/drawingml/2006/main">
              <a:ext uri="{FF2B5EF4-FFF2-40B4-BE49-F238E27FC236}">
                <a16:creationId xmlns:a16="http://schemas.microsoft.com/office/drawing/2014/main" id="{01CCC790-C248-41C5-BB44-64E7184D0CEC}"/>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38">
            <a:extLst xmlns:a="http://schemas.openxmlformats.org/drawingml/2006/main">
              <a:ext uri="{FF2B5EF4-FFF2-40B4-BE49-F238E27FC236}">
                <a16:creationId xmlns:a16="http://schemas.microsoft.com/office/drawing/2014/main" id="{BE6C08FC-B7E3-4C1A-B162-099C20DF189B}"/>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[3]</a:t>
            </a:r>
          </a:p>
        </p:txBody>
      </p:sp>
      <p:sp>
        <p:nvSpPr>
          <p:cNvPr id="5" name="text-39">
            <a:extLst xmlns:a="http://schemas.openxmlformats.org/drawingml/2006/main">
              <a:ext uri="{FF2B5EF4-FFF2-40B4-BE49-F238E27FC236}">
                <a16:creationId xmlns:a16="http://schemas.microsoft.com/office/drawing/2014/main" id="{C7C9F55B-F9AA-4B88-9B92-BBD4B7B0FB26}"/>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06</a:t>
            </a:r>
          </a:p>
        </p:txBody>
      </p:sp>
      <p:sp>
        <p:nvSpPr>
          <p:cNvPr id="6" name="text-40">
            <a:extLst xmlns:a="http://schemas.openxmlformats.org/drawingml/2006/main">
              <a:ext uri="{FF2B5EF4-FFF2-40B4-BE49-F238E27FC236}">
                <a16:creationId xmlns:a16="http://schemas.microsoft.com/office/drawing/2014/main" id="{3A0EC616-11A4-42EE-A639-178869C6AF08}"/>
              </a:ext>
            </a:extLst>
          </p:cNvPr>
          <p:cNvSpPr>
            <a:spLocks xmlns:a="http://schemas.openxmlformats.org/drawingml/2006/main" noGrp="1"/>
          </p:cNvSpPr>
          <p:nvPr/>
        </p:nvSpPr>
        <p:spPr>
          <a:xfrm xmlns:a="http://schemas.openxmlformats.org/drawingml/2006/main">
            <a:off x="571500" y="2057400"/>
            <a:ext cx="11049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01C32"/>
                </a:solidFill>
                <a:latin typeface="DejaVu Sans"/>
                <a:ea typeface="DejaVu Sans"/>
                <a:cs typeface="DejaVu Sans"/>
              </a:defRPr>
            </a:defPPr>
          </a:lstStyle>
          <a:p xmlns:a="http://schemas.openxmlformats.org/drawingml/2006/main">
            <a:pPr>
              <a:defRPr sz="2325" b="1">
                <a:solidFill>
                  <a:srgbClr val="101C32"/>
                </a:solidFill>
                <a:latin typeface="DejaVu Sans"/>
                <a:ea typeface="DejaVu Sans"/>
                <a:cs typeface="DejaVu Sans"/>
              </a:defRPr>
            </a:pPr>
            <a:r>
              <a:rPr sz="2325" b="1">
                <a:solidFill>
                  <a:srgbClr val="101C32"/>
                </a:solidFill>
                <a:latin typeface="DejaVu Sans"/>
                <a:ea typeface="DejaVu Sans"/>
                <a:cs typeface="DejaVu Sans"/>
              </a:rPr>
              <a:t>Медоид — объект с наименьшей суммой расстояний</a:t>
            </a:r>
          </a:p>
          <a:p xmlns:a="http://schemas.openxmlformats.org/drawingml/2006/main">
            <a:pPr>
              <a:defRPr sz="2325" b="1">
                <a:solidFill>
                  <a:srgbClr val="101C32"/>
                </a:solidFill>
                <a:latin typeface="DejaVu Sans"/>
                <a:ea typeface="DejaVu Sans"/>
                <a:cs typeface="DejaVu Sans"/>
              </a:defRPr>
            </a:pPr>
            <a:r>
              <a:rPr sz="2325" b="1">
                <a:solidFill>
                  <a:srgbClr val="101C32"/>
                </a:solidFill>
                <a:latin typeface="DejaVu Sans"/>
                <a:ea typeface="DejaVu Sans"/>
                <a:cs typeface="DejaVu Sans"/>
              </a:rPr>
              <a:t>до остальных объектов своего класса.</a:t>
            </a:r>
          </a:p>
        </p:txBody>
      </p:sp>
      <p:sp>
        <p:nvSpPr>
          <p:cNvPr id="7" name="text-41">
            <a:extLst xmlns:a="http://schemas.openxmlformats.org/drawingml/2006/main">
              <a:ext uri="{FF2B5EF4-FFF2-40B4-BE49-F238E27FC236}">
                <a16:creationId xmlns:a16="http://schemas.microsoft.com/office/drawing/2014/main" id="{83BADCD3-AA17-4195-AEC9-0DB8AE6B3B49}"/>
              </a:ext>
            </a:extLst>
          </p:cNvPr>
          <p:cNvSpPr>
            <a:spLocks xmlns:a="http://schemas.openxmlformats.org/drawingml/2006/main" noGrp="1"/>
          </p:cNvSpPr>
          <p:nvPr/>
        </p:nvSpPr>
        <p:spPr>
          <a:xfrm xmlns:a="http://schemas.openxmlformats.org/drawingml/2006/main">
            <a:off x="619125" y="3371850"/>
            <a:ext cx="57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1</a:t>
            </a:r>
          </a:p>
        </p:txBody>
      </p:sp>
      <p:sp>
        <p:nvSpPr>
          <p:cNvPr id="8" name="text-42">
            <a:extLst xmlns:a="http://schemas.openxmlformats.org/drawingml/2006/main">
              <a:ext uri="{FF2B5EF4-FFF2-40B4-BE49-F238E27FC236}">
                <a16:creationId xmlns:a16="http://schemas.microsoft.com/office/drawing/2014/main" id="{41EE4CA0-552A-4B61-AE72-9213F508DF52}"/>
              </a:ext>
            </a:extLst>
          </p:cNvPr>
          <p:cNvSpPr>
            <a:spLocks xmlns:a="http://schemas.openxmlformats.org/drawingml/2006/main" noGrp="1"/>
          </p:cNvSpPr>
          <p:nvPr/>
        </p:nvSpPr>
        <p:spPr>
          <a:xfrm xmlns:a="http://schemas.openxmlformats.org/drawingml/2006/main">
            <a:off x="1381125" y="3371850"/>
            <a:ext cx="1009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01C32"/>
                </a:solidFill>
                <a:latin typeface="DejaVu Sans"/>
                <a:ea typeface="DejaVu Sans"/>
                <a:cs typeface="DejaVu Sans"/>
              </a:defRPr>
            </a:defPPr>
          </a:lstStyle>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Берём кандидата из обучающих объектов класса</a:t>
            </a:r>
          </a:p>
        </p:txBody>
      </p:sp>
      <p:sp>
        <p:nvSpPr>
          <p:cNvPr id="9" name="text-43">
            <a:extLst xmlns:a="http://schemas.openxmlformats.org/drawingml/2006/main">
              <a:ext uri="{FF2B5EF4-FFF2-40B4-BE49-F238E27FC236}">
                <a16:creationId xmlns:a16="http://schemas.microsoft.com/office/drawing/2014/main" id="{0EFF9E9B-6A52-4CD8-9F33-95093F43DA31}"/>
              </a:ext>
            </a:extLst>
          </p:cNvPr>
          <p:cNvSpPr>
            <a:spLocks xmlns:a="http://schemas.openxmlformats.org/drawingml/2006/main" noGrp="1"/>
          </p:cNvSpPr>
          <p:nvPr/>
        </p:nvSpPr>
        <p:spPr>
          <a:xfrm xmlns:a="http://schemas.openxmlformats.org/drawingml/2006/main">
            <a:off x="619125" y="4019550"/>
            <a:ext cx="57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2</a:t>
            </a:r>
          </a:p>
        </p:txBody>
      </p:sp>
      <p:sp>
        <p:nvSpPr>
          <p:cNvPr id="10" name="text-44">
            <a:extLst xmlns:a="http://schemas.openxmlformats.org/drawingml/2006/main">
              <a:ext uri="{FF2B5EF4-FFF2-40B4-BE49-F238E27FC236}">
                <a16:creationId xmlns:a16="http://schemas.microsoft.com/office/drawing/2014/main" id="{59A22476-4DDE-4CEF-B16D-F2390DFE1AFF}"/>
              </a:ext>
            </a:extLst>
          </p:cNvPr>
          <p:cNvSpPr>
            <a:spLocks xmlns:a="http://schemas.openxmlformats.org/drawingml/2006/main" noGrp="1"/>
          </p:cNvSpPr>
          <p:nvPr/>
        </p:nvSpPr>
        <p:spPr>
          <a:xfrm xmlns:a="http://schemas.openxmlformats.org/drawingml/2006/main">
            <a:off x="1381125" y="4019550"/>
            <a:ext cx="1009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01C32"/>
                </a:solidFill>
                <a:latin typeface="DejaVu Sans"/>
                <a:ea typeface="DejaVu Sans"/>
                <a:cs typeface="DejaVu Sans"/>
              </a:defRPr>
            </a:defPPr>
          </a:lstStyle>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Складываем расстояния от него до остальных</a:t>
            </a:r>
          </a:p>
        </p:txBody>
      </p:sp>
      <p:sp>
        <p:nvSpPr>
          <p:cNvPr id="11" name="text-45">
            <a:extLst xmlns:a="http://schemas.openxmlformats.org/drawingml/2006/main">
              <a:ext uri="{FF2B5EF4-FFF2-40B4-BE49-F238E27FC236}">
                <a16:creationId xmlns:a16="http://schemas.microsoft.com/office/drawing/2014/main" id="{2C8040A3-C824-415F-A2A2-64D0CF9DFB75}"/>
              </a:ext>
            </a:extLst>
          </p:cNvPr>
          <p:cNvSpPr>
            <a:spLocks xmlns:a="http://schemas.openxmlformats.org/drawingml/2006/main" noGrp="1"/>
          </p:cNvSpPr>
          <p:nvPr/>
        </p:nvSpPr>
        <p:spPr>
          <a:xfrm xmlns:a="http://schemas.openxmlformats.org/drawingml/2006/main">
            <a:off x="619125" y="4667250"/>
            <a:ext cx="57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3</a:t>
            </a:r>
          </a:p>
        </p:txBody>
      </p:sp>
      <p:sp>
        <p:nvSpPr>
          <p:cNvPr id="12" name="text-46">
            <a:extLst xmlns:a="http://schemas.openxmlformats.org/drawingml/2006/main">
              <a:ext uri="{FF2B5EF4-FFF2-40B4-BE49-F238E27FC236}">
                <a16:creationId xmlns:a16="http://schemas.microsoft.com/office/drawing/2014/main" id="{A887EED3-0FEE-4B52-AF68-83DB91B3EF16}"/>
              </a:ext>
            </a:extLst>
          </p:cNvPr>
          <p:cNvSpPr>
            <a:spLocks xmlns:a="http://schemas.openxmlformats.org/drawingml/2006/main" noGrp="1"/>
          </p:cNvSpPr>
          <p:nvPr/>
        </p:nvSpPr>
        <p:spPr>
          <a:xfrm xmlns:a="http://schemas.openxmlformats.org/drawingml/2006/main">
            <a:off x="1381125" y="4667250"/>
            <a:ext cx="1009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01C32"/>
                </a:solidFill>
                <a:latin typeface="DejaVu Sans"/>
                <a:ea typeface="DejaVu Sans"/>
                <a:cs typeface="DejaVu Sans"/>
              </a:defRPr>
            </a:defPPr>
          </a:lstStyle>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Выбираем кандидата с наименьшей суммой</a:t>
            </a:r>
          </a:p>
        </p:txBody>
      </p:sp>
      <p:sp>
        <p:nvSpPr>
          <p:cNvPr id="13" name="">
            <a:extLst xmlns:a="http://schemas.openxmlformats.org/drawingml/2006/main">
              <a:ext uri="{FF2B5EF4-FFF2-40B4-BE49-F238E27FC236}">
                <a16:creationId xmlns:a16="http://schemas.microsoft.com/office/drawing/2014/main" id="{4A4E37BB-E29D-4DA0-B0DD-7154BC46E5B4}"/>
              </a:ext>
            </a:extLst>
          </p:cNvPr>
          <p:cNvSpPr>
            <a:spLocks xmlns:a="http://schemas.openxmlformats.org/drawingml/2006/main" noGrp="1"/>
          </p:cNvSpPr>
          <p:nvPr/>
        </p:nvSpPr>
        <p:spPr>
          <a:xfrm xmlns:a="http://schemas.openxmlformats.org/drawingml/2006/main">
            <a:off x="571500" y="5676900"/>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4" name="text-47">
            <a:extLst xmlns:a="http://schemas.openxmlformats.org/drawingml/2006/main">
              <a:ext uri="{FF2B5EF4-FFF2-40B4-BE49-F238E27FC236}">
                <a16:creationId xmlns:a16="http://schemas.microsoft.com/office/drawing/2014/main" id="{B24BE0BE-A0D7-4F23-B25B-BB2CF1CCCCD6}"/>
              </a:ext>
            </a:extLst>
          </p:cNvPr>
          <p:cNvSpPr>
            <a:spLocks xmlns:a="http://schemas.openxmlformats.org/drawingml/2006/main" noGrp="1"/>
          </p:cNvSpPr>
          <p:nvPr/>
        </p:nvSpPr>
        <p:spPr>
          <a:xfrm xmlns:a="http://schemas.openxmlformats.org/drawingml/2006/main">
            <a:off x="571500" y="5838825"/>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Повторяем для каждого класса. Проверочные объекты не используем</a:t>
            </a:r>
          </a:p>
        </p:txBody>
      </p:sp>
    </p:spTree>
    <p:extLst>
      <p:ext uri="{BB962C8B-B14F-4D97-AF65-F5344CB8AC3E}">
        <p14:creationId xmlns:p14="http://schemas.microsoft.com/office/powerpoint/2010/main" val="906351392"/>
      </p:ext>
    </p:extLst>
  </p:cSld>
</p:sld>
</file>

<file path=ppt/slides/slide7.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9" name="text-48">
            <a:extLst xmlns:a="http://schemas.openxmlformats.org/drawingml/2006/main">
              <a:ext uri="{FF2B5EF4-FFF2-40B4-BE49-F238E27FC236}">
                <a16:creationId xmlns:a16="http://schemas.microsoft.com/office/drawing/2014/main" id="{8C7B4CD9-8820-47E2-B245-E52AFB45FD56}"/>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Правило ближайшего эталона</a:t>
            </a:r>
          </a:p>
        </p:txBody>
      </p:sp>
      <p:sp>
        <p:nvSpPr>
          <p:cNvPr id="2" name="">
            <a:extLst xmlns:a="http://schemas.openxmlformats.org/drawingml/2006/main">
              <a:ext uri="{FF2B5EF4-FFF2-40B4-BE49-F238E27FC236}">
                <a16:creationId xmlns:a16="http://schemas.microsoft.com/office/drawing/2014/main" id="{1A264194-5065-4FD0-9499-EC9669E21804}"/>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3" name="text-49">
            <a:extLst xmlns:a="http://schemas.openxmlformats.org/drawingml/2006/main">
              <a:ext uri="{FF2B5EF4-FFF2-40B4-BE49-F238E27FC236}">
                <a16:creationId xmlns:a16="http://schemas.microsoft.com/office/drawing/2014/main" id="{71DDF41C-BFEE-4760-A935-B405AB3B07D1}"/>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4" name="text-50">
            <a:extLst xmlns:a="http://schemas.openxmlformats.org/drawingml/2006/main">
              <a:ext uri="{FF2B5EF4-FFF2-40B4-BE49-F238E27FC236}">
                <a16:creationId xmlns:a16="http://schemas.microsoft.com/office/drawing/2014/main" id="{3D3E6B0F-CF42-4B42-B6B9-FF9DC7FDB81B}"/>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07</a:t>
            </a:r>
          </a:p>
        </p:txBody>
      </p:sp>
      <p:graphicFrame>
        <p:nvGraphicFramePr>
          <p:cNvPr id="5" name="">
            <a:extLst xmlns:a="http://schemas.openxmlformats.org/drawingml/2006/main">
              <a:ext uri="{FF2B5EF4-FFF2-40B4-BE49-F238E27FC236}">
                <a16:creationId xmlns:a16="http://schemas.microsoft.com/office/drawing/2014/main" id="{4DB86A8C-C384-4E66-9E76-C4D52A909540}"/>
              </a:ext>
            </a:extLst>
          </p:cNvPr>
          <p:cNvGraphicFramePr/>
          <p:nvPr/>
        </p:nvGraphicFramePr>
        <p:xfrm>
          <a:off xmlns:a="http://schemas.openxmlformats.org/drawingml/2006/main" x="571500" y="1971675"/>
          <a:ext xmlns:a="http://schemas.openxmlformats.org/drawingml/2006/main" cx="11049000" cy="2686050"/>
        </p:xfrm>
        <a:graphic xmlns:a="http://schemas.openxmlformats.org/drawingml/2006/main">
          <a:graphicData uri="http://schemas.openxmlformats.org/drawingml/2006/table">
            <a:tbl>
              <a:tblPr/>
              <a:tblGrid>
                <a:gridCol w="3429000"/>
                <a:gridCol w="7620000"/>
              </a:tblGrid>
              <a:tr h="671513">
                <a:tc>
                  <a:txBody>
                    <a:bodyPr lIns="114300" tIns="95250" rIns="95250" bIns="76200"/>
                    <a:lstStyle/>
                    <a:p>
                      <a:r>
                        <a:rPr sz="2100" b="1">
                          <a:solidFill>
                            <a:srgbClr val="FFFFFF"/>
                          </a:solidFill>
                          <a:latin typeface="DejaVu Sans"/>
                          <a:ea typeface="DejaVu Sans"/>
                          <a:cs typeface="DejaVu Sans"/>
                        </a:rPr>
                        <a:t>Шаг</a:t>
                      </a:r>
                    </a:p>
                  </a:txBody>
                  <a:tcPr marL="91440" marR="91440" marT="45720" marB="45720" anchor="ctr">
                    <a:solidFill>
                      <a:srgbClr val="101C32"/>
                    </a:solidFill>
                  </a:tcPr>
                </a:tc>
                <a:tc>
                  <a:txBody>
                    <a:bodyPr lIns="114300" tIns="95250" rIns="95250" bIns="76200"/>
                    <a:lstStyle/>
                    <a:p>
                      <a:r>
                        <a:rPr sz="2100" b="1">
                          <a:solidFill>
                            <a:srgbClr val="FFFFFF"/>
                          </a:solidFill>
                          <a:latin typeface="DejaVu Sans"/>
                          <a:ea typeface="DejaVu Sans"/>
                          <a:cs typeface="DejaVu Sans"/>
                        </a:rPr>
                        <a:t>Действие</a:t>
                      </a:r>
                    </a:p>
                  </a:txBody>
                  <a:tcPr marL="91440" marR="91440" marT="45720" marB="45720" anchor="ctr">
                    <a:solidFill>
                      <a:srgbClr val="101C32"/>
                    </a:solidFill>
                  </a:tcPr>
                </a:tc>
              </a:tr>
              <a:tr h="671513">
                <a:tc>
                  <a:txBody>
                    <a:bodyPr lIns="114300" tIns="95250" rIns="95250" bIns="76200"/>
                    <a:lstStyle/>
                    <a:p>
                      <a:r>
                        <a:rPr sz="2100" b="0">
                          <a:solidFill>
                            <a:srgbClr val="101C32"/>
                          </a:solidFill>
                          <a:latin typeface="DejaVu Sans"/>
                          <a:ea typeface="DejaVu Sans"/>
                          <a:cs typeface="DejaVu Sans"/>
                        </a:rPr>
                        <a:t>1. Описать объект</a:t>
                      </a:r>
                    </a:p>
                  </a:txBody>
                  <a:tcPr marL="91440" marR="91440" marT="45720" marB="45720" anchor="ctr">
                    <a:solidFill>
                      <a:srgbClr val="FFFFFF"/>
                    </a:solidFill>
                  </a:tcPr>
                </a:tc>
                <a:tc>
                  <a:txBody>
                    <a:bodyPr lIns="114300" tIns="95250" rIns="95250" bIns="76200"/>
                    <a:lstStyle/>
                    <a:p>
                      <a:r>
                        <a:rPr sz="2100" b="0">
                          <a:solidFill>
                            <a:srgbClr val="101C32"/>
                          </a:solidFill>
                          <a:latin typeface="DejaVu Sans"/>
                          <a:ea typeface="DejaVu Sans"/>
                          <a:cs typeface="DejaVu Sans"/>
                        </a:rPr>
                        <a:t>Получить признаки в том же масштабе</a:t>
                      </a:r>
                    </a:p>
                  </a:txBody>
                  <a:tcPr marL="91440" marR="91440" marT="45720" marB="45720" anchor="ctr">
                    <a:solidFill>
                      <a:srgbClr val="FFFFFF"/>
                    </a:solidFill>
                  </a:tcPr>
                </a:tc>
              </a:tr>
              <a:tr h="671513">
                <a:tc>
                  <a:txBody>
                    <a:bodyPr lIns="114300" tIns="95250" rIns="95250" bIns="76200"/>
                    <a:lstStyle/>
                    <a:p>
                      <a:r>
                        <a:rPr sz="2100" b="0">
                          <a:solidFill>
                            <a:srgbClr val="101C32"/>
                          </a:solidFill>
                          <a:latin typeface="DejaVu Sans"/>
                          <a:ea typeface="DejaVu Sans"/>
                          <a:cs typeface="DejaVu Sans"/>
                        </a:rPr>
                        <a:t>2. Сравнить</a:t>
                      </a:r>
                    </a:p>
                  </a:txBody>
                  <a:tcPr marL="91440" marR="91440" marT="45720" marB="45720" anchor="ctr">
                    <a:solidFill>
                      <a:srgbClr val="EAF0F4"/>
                    </a:solidFill>
                  </a:tcPr>
                </a:tc>
                <a:tc>
                  <a:txBody>
                    <a:bodyPr lIns="114300" tIns="95250" rIns="95250" bIns="76200"/>
                    <a:lstStyle/>
                    <a:p>
                      <a:r>
                        <a:rPr sz="2100" b="0">
                          <a:solidFill>
                            <a:srgbClr val="101C32"/>
                          </a:solidFill>
                          <a:latin typeface="DejaVu Sans"/>
                          <a:ea typeface="DejaVu Sans"/>
                          <a:cs typeface="DejaVu Sans"/>
                        </a:rPr>
                        <a:t>Посчитать расстояние до каждого эталона</a:t>
                      </a:r>
                    </a:p>
                  </a:txBody>
                  <a:tcPr marL="91440" marR="91440" marT="45720" marB="45720" anchor="ctr">
                    <a:solidFill>
                      <a:srgbClr val="EAF0F4"/>
                    </a:solidFill>
                  </a:tcPr>
                </a:tc>
              </a:tr>
              <a:tr h="671513">
                <a:tc>
                  <a:txBody>
                    <a:bodyPr lIns="114300" tIns="95250" rIns="95250" bIns="76200"/>
                    <a:lstStyle/>
                    <a:p>
                      <a:r>
                        <a:rPr sz="2100" b="0">
                          <a:solidFill>
                            <a:srgbClr val="101C32"/>
                          </a:solidFill>
                          <a:latin typeface="DejaVu Sans"/>
                          <a:ea typeface="DejaVu Sans"/>
                          <a:cs typeface="DejaVu Sans"/>
                        </a:rPr>
                        <a:t>3. Классифицировать</a:t>
                      </a:r>
                    </a:p>
                  </a:txBody>
                  <a:tcPr marL="91440" marR="91440" marT="45720" marB="45720" anchor="ctr">
                    <a:solidFill>
                      <a:srgbClr val="FFFFFF"/>
                    </a:solidFill>
                  </a:tcPr>
                </a:tc>
                <a:tc>
                  <a:txBody>
                    <a:bodyPr lIns="114300" tIns="95250" rIns="95250" bIns="76200"/>
                    <a:lstStyle/>
                    <a:p>
                      <a:r>
                        <a:rPr sz="2100" b="0">
                          <a:solidFill>
                            <a:srgbClr val="101C32"/>
                          </a:solidFill>
                          <a:latin typeface="DejaVu Sans"/>
                          <a:ea typeface="DejaVu Sans"/>
                          <a:cs typeface="DejaVu Sans"/>
                        </a:rPr>
                        <a:t>Выбрать класс ближайшего эталона</a:t>
                      </a:r>
                    </a:p>
                  </a:txBody>
                  <a:tcPr marL="91440" marR="91440" marT="45720" marB="45720" anchor="ctr">
                    <a:solidFill>
                      <a:srgbClr val="FFFFFF"/>
                    </a:solidFill>
                  </a:tcPr>
                </a:tc>
              </a:tr>
            </a:tbl>
          </a:graphicData>
        </a:graphic>
      </p:graphicFrame>
      <p:sp>
        <p:nvSpPr>
          <p:cNvPr id="6" name="text-51">
            <a:extLst xmlns:a="http://schemas.openxmlformats.org/drawingml/2006/main">
              <a:ext uri="{FF2B5EF4-FFF2-40B4-BE49-F238E27FC236}">
                <a16:creationId xmlns:a16="http://schemas.microsoft.com/office/drawing/2014/main" id="{5E94C85A-C6EA-41F2-B12B-EC2BC9852D97}"/>
              </a:ext>
            </a:extLst>
          </p:cNvPr>
          <p:cNvSpPr>
            <a:spLocks xmlns:a="http://schemas.openxmlformats.org/drawingml/2006/main" noGrp="1"/>
          </p:cNvSpPr>
          <p:nvPr/>
        </p:nvSpPr>
        <p:spPr>
          <a:xfrm xmlns:a="http://schemas.openxmlformats.org/drawingml/2006/main">
            <a:off x="571500" y="5019675"/>
            <a:ext cx="1104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01C32"/>
                </a:solidFill>
                <a:latin typeface="DejaVu Sans"/>
                <a:ea typeface="DejaVu Sans"/>
                <a:cs typeface="DejaVu Sans"/>
              </a:defRPr>
            </a:defPPr>
          </a:lstStyle>
          <a:p xmlns:a="http://schemas.openxmlformats.org/drawingml/2006/main">
            <a:pPr>
              <a:defRPr sz="2100" b="1">
                <a:solidFill>
                  <a:srgbClr val="101C32"/>
                </a:solidFill>
                <a:latin typeface="DejaVu Sans"/>
                <a:ea typeface="DejaVu Sans"/>
                <a:cs typeface="DejaVu Sans"/>
              </a:defRPr>
            </a:pPr>
            <a:r>
              <a:rPr sz="2100" b="1">
                <a:solidFill>
                  <a:srgbClr val="101C32"/>
                </a:solidFill>
                <a:latin typeface="DejaVu Sans"/>
                <a:ea typeface="DejaVu Sans"/>
                <a:cs typeface="DejaVu Sans"/>
              </a:rPr>
              <a:t>Если расстояния почти равны, преимущество выбранного класса мало.</a:t>
            </a:r>
          </a:p>
        </p:txBody>
      </p:sp>
      <p:sp>
        <p:nvSpPr>
          <p:cNvPr id="7" name="">
            <a:extLst xmlns:a="http://schemas.openxmlformats.org/drawingml/2006/main">
              <a:ext uri="{FF2B5EF4-FFF2-40B4-BE49-F238E27FC236}">
                <a16:creationId xmlns:a16="http://schemas.microsoft.com/office/drawing/2014/main" id="{C28F79C7-DF50-4584-99C0-43426C8D7A23}"/>
              </a:ext>
            </a:extLst>
          </p:cNvPr>
          <p:cNvSpPr>
            <a:spLocks xmlns:a="http://schemas.openxmlformats.org/drawingml/2006/main" noGrp="1"/>
          </p:cNvSpPr>
          <p:nvPr/>
        </p:nvSpPr>
        <p:spPr>
          <a:xfrm xmlns:a="http://schemas.openxmlformats.org/drawingml/2006/main">
            <a:off x="571500" y="5734050"/>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8" name="text-52">
            <a:extLst xmlns:a="http://schemas.openxmlformats.org/drawingml/2006/main">
              <a:ext uri="{FF2B5EF4-FFF2-40B4-BE49-F238E27FC236}">
                <a16:creationId xmlns:a16="http://schemas.microsoft.com/office/drawing/2014/main" id="{8F58ACAC-E0D5-48D4-8E8B-2A565BFFF31E}"/>
              </a:ext>
            </a:extLst>
          </p:cNvPr>
          <p:cNvSpPr>
            <a:spLocks xmlns:a="http://schemas.openxmlformats.org/drawingml/2006/main" noGrp="1"/>
          </p:cNvSpPr>
          <p:nvPr/>
        </p:nvSpPr>
        <p:spPr>
          <a:xfrm xmlns:a="http://schemas.openxmlformats.org/drawingml/2006/main">
            <a:off x="571500" y="5895975"/>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Как выразить это преимущество числом?</a:t>
            </a:r>
          </a:p>
        </p:txBody>
      </p:sp>
    </p:spTree>
    <p:extLst>
      <p:ext uri="{BB962C8B-B14F-4D97-AF65-F5344CB8AC3E}">
        <p14:creationId xmlns:p14="http://schemas.microsoft.com/office/powerpoint/2010/main" val="1524652946"/>
      </p:ext>
    </p:extLst>
  </p:cSld>
</p:sld>
</file>

<file path=ppt/slides/slide8.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1" name="text-53">
            <a:extLst xmlns:a="http://schemas.openxmlformats.org/drawingml/2006/main">
              <a:ext uri="{FF2B5EF4-FFF2-40B4-BE49-F238E27FC236}">
                <a16:creationId xmlns:a16="http://schemas.microsoft.com/office/drawing/2014/main" id="{D412A9F5-CF67-4B16-986C-C33216712875}"/>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Отступ: преимущество своего класса</a:t>
            </a:r>
          </a:p>
        </p:txBody>
      </p:sp>
      <p:sp>
        <p:nvSpPr>
          <p:cNvPr id="2" name="text-54">
            <a:extLst xmlns:a="http://schemas.openxmlformats.org/drawingml/2006/main">
              <a:ext uri="{FF2B5EF4-FFF2-40B4-BE49-F238E27FC236}">
                <a16:creationId xmlns:a16="http://schemas.microsoft.com/office/drawing/2014/main" id="{0232353A-5A3A-4E03-96B6-A67063796B86}"/>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Отступ — разность оценок истинного класса и конкурирующего класса</a:t>
            </a:r>
          </a:p>
        </p:txBody>
      </p:sp>
      <p:sp>
        <p:nvSpPr>
          <p:cNvPr id="3" name="">
            <a:extLst xmlns:a="http://schemas.openxmlformats.org/drawingml/2006/main">
              <a:ext uri="{FF2B5EF4-FFF2-40B4-BE49-F238E27FC236}">
                <a16:creationId xmlns:a16="http://schemas.microsoft.com/office/drawing/2014/main" id="{C171CEB5-8929-4B60-B1AE-2F9E59794AD7}"/>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55">
            <a:extLst xmlns:a="http://schemas.openxmlformats.org/drawingml/2006/main">
              <a:ext uri="{FF2B5EF4-FFF2-40B4-BE49-F238E27FC236}">
                <a16:creationId xmlns:a16="http://schemas.microsoft.com/office/drawing/2014/main" id="{1D6E6F32-03B0-4B09-8E0B-F19B8AE7631C}"/>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[2]; правило для эталонов — в этой работе</a:t>
            </a:r>
          </a:p>
        </p:txBody>
      </p:sp>
      <p:sp>
        <p:nvSpPr>
          <p:cNvPr id="5" name="text-56">
            <a:extLst xmlns:a="http://schemas.openxmlformats.org/drawingml/2006/main">
              <a:ext uri="{FF2B5EF4-FFF2-40B4-BE49-F238E27FC236}">
                <a16:creationId xmlns:a16="http://schemas.microsoft.com/office/drawing/2014/main" id="{FC44EE0F-6E2A-4FB9-8B83-36EAD146D87D}"/>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08</a:t>
            </a:r>
          </a:p>
        </p:txBody>
      </p:sp>
      <p:sp>
        <p:nvSpPr>
          <p:cNvPr id="6" name="text-57">
            <a:extLst xmlns:a="http://schemas.openxmlformats.org/drawingml/2006/main">
              <a:ext uri="{FF2B5EF4-FFF2-40B4-BE49-F238E27FC236}">
                <a16:creationId xmlns:a16="http://schemas.microsoft.com/office/drawing/2014/main" id="{58BA0308-C669-48E5-BDB8-74BE6E45E84A}"/>
              </a:ext>
            </a:extLst>
          </p:cNvPr>
          <p:cNvSpPr>
            <a:spLocks xmlns:a="http://schemas.openxmlformats.org/drawingml/2006/main" noGrp="1"/>
          </p:cNvSpPr>
          <p:nvPr/>
        </p:nvSpPr>
        <p:spPr>
          <a:xfrm xmlns:a="http://schemas.openxmlformats.org/drawingml/2006/main">
            <a:off x="571500" y="20859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01C32"/>
                </a:solidFill>
                <a:latin typeface="DejaVu Sans"/>
                <a:ea typeface="DejaVu Sans"/>
                <a:cs typeface="DejaVu Sans"/>
              </a:defRPr>
            </a:defPPr>
          </a:lstStyle>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Оценка показывает, насколько правило предпочитает класс.</a:t>
            </a:r>
          </a:p>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Для эталона оценка класса = минус расстояние.</a:t>
            </a:r>
          </a:p>
        </p:txBody>
      </p:sp>
      <p:sp>
        <p:nvSpPr>
          <p:cNvPr id="7" name="text-58">
            <a:extLst xmlns:a="http://schemas.openxmlformats.org/drawingml/2006/main">
              <a:ext uri="{FF2B5EF4-FFF2-40B4-BE49-F238E27FC236}">
                <a16:creationId xmlns:a16="http://schemas.microsoft.com/office/drawing/2014/main" id="{19C22FA9-415D-4A17-9DEB-D80470FEFC15}"/>
              </a:ext>
            </a:extLst>
          </p:cNvPr>
          <p:cNvSpPr>
            <a:spLocks xmlns:a="http://schemas.openxmlformats.org/drawingml/2006/main" noGrp="1"/>
          </p:cNvSpPr>
          <p:nvPr/>
        </p:nvSpPr>
        <p:spPr>
          <a:xfrm xmlns:a="http://schemas.openxmlformats.org/drawingml/2006/main">
            <a:off x="571500" y="3152775"/>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1">
                <a:solidFill>
                  <a:srgbClr val="101C32"/>
                </a:solidFill>
                <a:latin typeface="DejaVu Sans"/>
                <a:ea typeface="DejaVu Sans"/>
                <a:cs typeface="DejaVu Sans"/>
              </a:defRPr>
            </a:defPPr>
          </a:lstStyle>
          <a:p xmlns:a="http://schemas.openxmlformats.org/drawingml/2006/main">
            <a:pPr>
              <a:defRPr sz="2475" b="1">
                <a:solidFill>
                  <a:srgbClr val="101C32"/>
                </a:solidFill>
                <a:latin typeface="DejaVu Sans"/>
                <a:ea typeface="DejaVu Sans"/>
                <a:cs typeface="DejaVu Sans"/>
              </a:defRPr>
            </a:pPr>
            <a:r>
              <a:rPr sz="2475" b="1">
                <a:solidFill>
                  <a:srgbClr val="101C32"/>
                </a:solidFill>
                <a:latin typeface="DejaVu Sans"/>
                <a:ea typeface="DejaVu Sans"/>
                <a:cs typeface="DejaVu Sans"/>
              </a:rPr>
              <a:t>отступ = расстояние до чужого − до своего</a:t>
            </a:r>
          </a:p>
        </p:txBody>
      </p:sp>
      <p:graphicFrame>
        <p:nvGraphicFramePr>
          <p:cNvPr id="8" name="">
            <a:extLst xmlns:a="http://schemas.openxmlformats.org/drawingml/2006/main">
              <a:ext uri="{FF2B5EF4-FFF2-40B4-BE49-F238E27FC236}">
                <a16:creationId xmlns:a16="http://schemas.microsoft.com/office/drawing/2014/main" id="{732C4E7C-490D-4EE0-8EB8-10D3E00E54F5}"/>
              </a:ext>
            </a:extLst>
          </p:cNvPr>
          <p:cNvGraphicFramePr/>
          <p:nvPr/>
        </p:nvGraphicFramePr>
        <p:xfrm>
          <a:off xmlns:a="http://schemas.openxmlformats.org/drawingml/2006/main" x="571500" y="4210050"/>
          <a:ext xmlns:a="http://schemas.openxmlformats.org/drawingml/2006/main" cx="11049000" cy="1095375"/>
        </p:xfrm>
        <a:graphic xmlns:a="http://schemas.openxmlformats.org/drawingml/2006/main">
          <a:graphicData uri="http://schemas.openxmlformats.org/drawingml/2006/table">
            <a:tbl>
              <a:tblPr/>
              <a:tblGrid>
                <a:gridCol w="3683000"/>
                <a:gridCol w="3683000"/>
                <a:gridCol w="3683000"/>
              </a:tblGrid>
              <a:tr h="547688">
                <a:tc>
                  <a:txBody>
                    <a:bodyPr lIns="114300" tIns="95250" rIns="95250" bIns="76200"/>
                    <a:lstStyle/>
                    <a:p>
                      <a:r>
                        <a:rPr sz="1875" b="1">
                          <a:solidFill>
                            <a:srgbClr val="FFFFFF"/>
                          </a:solidFill>
                          <a:latin typeface="DejaVu Sans"/>
                          <a:ea typeface="DejaVu Sans"/>
                          <a:cs typeface="DejaVu Sans"/>
                        </a:rPr>
                        <a:t>Положительный</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Нулевой</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Отрицательный</a:t>
                      </a:r>
                    </a:p>
                  </a:txBody>
                  <a:tcPr marL="91440" marR="91440" marT="45720" marB="45720" anchor="ctr">
                    <a:solidFill>
                      <a:srgbClr val="101C32"/>
                    </a:solidFill>
                  </a:tcPr>
                </a:tc>
              </a:tr>
              <a:tr h="547688">
                <a:tc>
                  <a:txBody>
                    <a:bodyPr lIns="114300" tIns="95250" rIns="95250" bIns="76200"/>
                    <a:lstStyle/>
                    <a:p>
                      <a:r>
                        <a:rPr sz="1875" b="0">
                          <a:solidFill>
                            <a:srgbClr val="101C32"/>
                          </a:solidFill>
                          <a:latin typeface="DejaVu Sans"/>
                          <a:ea typeface="DejaVu Sans"/>
                          <a:cs typeface="DejaVu Sans"/>
                        </a:rPr>
                        <a:t>Свой класс ближе</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Расстояния равны</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Чужой класс ближе</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64BF8F97-24C6-47F1-A2E8-4205EB24AA15}"/>
              </a:ext>
            </a:extLst>
          </p:cNvPr>
          <p:cNvSpPr>
            <a:spLocks xmlns:a="http://schemas.openxmlformats.org/drawingml/2006/main" noGrp="1"/>
          </p:cNvSpPr>
          <p:nvPr/>
        </p:nvSpPr>
        <p:spPr>
          <a:xfrm xmlns:a="http://schemas.openxmlformats.org/drawingml/2006/main">
            <a:off x="571500" y="564832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0" name="text-59">
            <a:extLst xmlns:a="http://schemas.openxmlformats.org/drawingml/2006/main">
              <a:ext uri="{FF2B5EF4-FFF2-40B4-BE49-F238E27FC236}">
                <a16:creationId xmlns:a16="http://schemas.microsoft.com/office/drawing/2014/main" id="{29071EAC-7362-4804-AC37-5E686FA711FE}"/>
              </a:ext>
            </a:extLst>
          </p:cNvPr>
          <p:cNvSpPr>
            <a:spLocks xmlns:a="http://schemas.openxmlformats.org/drawingml/2006/main" noGrp="1"/>
          </p:cNvSpPr>
          <p:nvPr/>
        </p:nvSpPr>
        <p:spPr>
          <a:xfrm xmlns:a="http://schemas.openxmlformats.org/drawingml/2006/main">
            <a:off x="571500" y="581025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Для проверки правильности по знаку нужна истинная метка</a:t>
            </a:r>
          </a:p>
        </p:txBody>
      </p:sp>
    </p:spTree>
    <p:extLst>
      <p:ext uri="{BB962C8B-B14F-4D97-AF65-F5344CB8AC3E}">
        <p14:creationId xmlns:p14="http://schemas.microsoft.com/office/powerpoint/2010/main" val="1741879573"/>
      </p:ext>
    </p:extLst>
  </p:cSld>
</p:sld>
</file>

<file path=ppt/slides/slide9.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29" name="text-60">
            <a:extLst xmlns:a="http://schemas.openxmlformats.org/drawingml/2006/main">
              <a:ext uri="{FF2B5EF4-FFF2-40B4-BE49-F238E27FC236}">
                <a16:creationId xmlns:a16="http://schemas.microsoft.com/office/drawing/2014/main" id="{8322AB45-C3DC-418D-B093-40AE5D890D78}"/>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SVM: граница по обучающим примерам</a:t>
            </a:r>
          </a:p>
        </p:txBody>
      </p:sp>
      <p:sp>
        <p:nvSpPr>
          <p:cNvPr id="2" name="text-61">
            <a:extLst xmlns:a="http://schemas.openxmlformats.org/drawingml/2006/main">
              <a:ext uri="{FF2B5EF4-FFF2-40B4-BE49-F238E27FC236}">
                <a16:creationId xmlns:a16="http://schemas.microsoft.com/office/drawing/2014/main" id="{3F030B26-E44C-42C4-A28D-D65E45BEC3AA}"/>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SVM — метод опорных векторов. При двух признаках линейная модель строит прямую.</a:t>
            </a:r>
          </a:p>
        </p:txBody>
      </p:sp>
      <p:sp>
        <p:nvSpPr>
          <p:cNvPr id="3" name="">
            <a:extLst xmlns:a="http://schemas.openxmlformats.org/drawingml/2006/main">
              <a:ext uri="{FF2B5EF4-FFF2-40B4-BE49-F238E27FC236}">
                <a16:creationId xmlns:a16="http://schemas.microsoft.com/office/drawing/2014/main" id="{B07F31D5-F40E-4D10-9E25-BA779A82B6FE}"/>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62">
            <a:extLst xmlns:a="http://schemas.openxmlformats.org/drawingml/2006/main">
              <a:ext uri="{FF2B5EF4-FFF2-40B4-BE49-F238E27FC236}">
                <a16:creationId xmlns:a16="http://schemas.microsoft.com/office/drawing/2014/main" id="{426A501E-B40C-4192-AF2E-134B994AF00E}"/>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[1, 2, 5]</a:t>
            </a:r>
          </a:p>
        </p:txBody>
      </p:sp>
      <p:sp>
        <p:nvSpPr>
          <p:cNvPr id="5" name="text-63">
            <a:extLst xmlns:a="http://schemas.openxmlformats.org/drawingml/2006/main">
              <a:ext uri="{FF2B5EF4-FFF2-40B4-BE49-F238E27FC236}">
                <a16:creationId xmlns:a16="http://schemas.microsoft.com/office/drawing/2014/main" id="{E986E980-F4AE-4BB2-A904-CA01565C0D92}"/>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09</a:t>
            </a:r>
          </a:p>
        </p:txBody>
      </p:sp>
      <p:sp>
        <p:nvSpPr>
          <p:cNvPr id="6" name="">
            <a:extLst xmlns:a="http://schemas.openxmlformats.org/drawingml/2006/main">
              <a:ext uri="{FF2B5EF4-FFF2-40B4-BE49-F238E27FC236}">
                <a16:creationId xmlns:a16="http://schemas.microsoft.com/office/drawing/2014/main" id="{205180E8-649A-494F-933D-B73EE4627037}"/>
              </a:ext>
            </a:extLst>
          </p:cNvPr>
          <p:cNvSpPr>
            <a:spLocks xmlns:a="http://schemas.openxmlformats.org/drawingml/2006/main" noGrp="1"/>
          </p:cNvSpPr>
          <p:nvPr/>
        </p:nvSpPr>
        <p:spPr>
          <a:xfrm xmlns:a="http://schemas.openxmlformats.org/drawingml/2006/main">
            <a:off x="857250" y="5238750"/>
            <a:ext cx="5715000" cy="9525"/>
          </a:xfrm>
          <a:custGeom xmlns:a="http://schemas.openxmlformats.org/drawingml/2006/main">
            <a:pathLst>
              <a:path w="5715000" h="9525">
                <a:moveTo>
                  <a:pt x="0" y="0"/>
                </a:moveTo>
                <a:lnTo>
                  <a:pt x="5715000" y="0"/>
                </a:lnTo>
              </a:path>
            </a:pathLst>
          </a:custGeom>
          <a:noFill xmlns:a="http://schemas.openxmlformats.org/drawingml/2006/main"/>
          <a:ln xmlns:a="http://schemas.openxmlformats.org/drawingml/2006/main" w="19050">
            <a:solidFill>
              <a:srgbClr val="536377"/>
            </a:solidFill>
            <a:prstDash val="solid"/>
          </a:ln>
        </p:spPr>
      </p:sp>
      <p:sp>
        <p:nvSpPr>
          <p:cNvPr id="7" name="">
            <a:extLst xmlns:a="http://schemas.openxmlformats.org/drawingml/2006/main">
              <a:ext uri="{FF2B5EF4-FFF2-40B4-BE49-F238E27FC236}">
                <a16:creationId xmlns:a16="http://schemas.microsoft.com/office/drawing/2014/main" id="{3BC6299B-A639-4E8A-BFA1-F7D02B40D1BB}"/>
              </a:ext>
            </a:extLst>
          </p:cNvPr>
          <p:cNvSpPr>
            <a:spLocks xmlns:a="http://schemas.openxmlformats.org/drawingml/2006/main" noGrp="1"/>
          </p:cNvSpPr>
          <p:nvPr/>
        </p:nvSpPr>
        <p:spPr>
          <a:xfrm xmlns:a="http://schemas.openxmlformats.org/drawingml/2006/main">
            <a:off x="857250" y="2190750"/>
            <a:ext cx="9525" cy="3048000"/>
          </a:xfrm>
          <a:custGeom xmlns:a="http://schemas.openxmlformats.org/drawingml/2006/main">
            <a:pathLst>
              <a:path w="9525" h="3048000">
                <a:moveTo>
                  <a:pt x="0" y="3048000"/>
                </a:moveTo>
                <a:lnTo>
                  <a:pt x="0" y="0"/>
                </a:lnTo>
              </a:path>
            </a:pathLst>
          </a:custGeom>
          <a:noFill xmlns:a="http://schemas.openxmlformats.org/drawingml/2006/main"/>
          <a:ln xmlns:a="http://schemas.openxmlformats.org/drawingml/2006/main" w="19050">
            <a:solidFill>
              <a:srgbClr val="536377"/>
            </a:solidFill>
            <a:prstDash val="solid"/>
          </a:ln>
        </p:spPr>
      </p:sp>
      <p:sp>
        <p:nvSpPr>
          <p:cNvPr id="8" name="text-64">
            <a:extLst xmlns:a="http://schemas.openxmlformats.org/drawingml/2006/main">
              <a:ext uri="{FF2B5EF4-FFF2-40B4-BE49-F238E27FC236}">
                <a16:creationId xmlns:a16="http://schemas.microsoft.com/office/drawing/2014/main" id="{DDB9B722-E1EC-4E9C-92C6-B8865D90042E}"/>
              </a:ext>
            </a:extLst>
          </p:cNvPr>
          <p:cNvSpPr>
            <a:spLocks xmlns:a="http://schemas.openxmlformats.org/drawingml/2006/main" noGrp="1"/>
          </p:cNvSpPr>
          <p:nvPr/>
        </p:nvSpPr>
        <p:spPr>
          <a:xfrm xmlns:a="http://schemas.openxmlformats.org/drawingml/2006/main">
            <a:off x="3048000" y="542925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Признак 1</a:t>
            </a:r>
          </a:p>
        </p:txBody>
      </p:sp>
      <p:sp>
        <p:nvSpPr>
          <p:cNvPr id="9" name="text-65">
            <a:extLst xmlns:a="http://schemas.openxmlformats.org/drawingml/2006/main">
              <a:ext uri="{FF2B5EF4-FFF2-40B4-BE49-F238E27FC236}">
                <a16:creationId xmlns:a16="http://schemas.microsoft.com/office/drawing/2014/main" id="{6C0E74B5-12F2-41F3-B48D-D814897DEDD0}"/>
              </a:ext>
            </a:extLst>
          </p:cNvPr>
          <p:cNvSpPr>
            <a:spLocks xmlns:a="http://schemas.openxmlformats.org/drawingml/2006/main" noGrp="1"/>
          </p:cNvSpPr>
          <p:nvPr/>
        </p:nvSpPr>
        <p:spPr>
          <a:xfrm xmlns:a="http://schemas.openxmlformats.org/drawingml/2006/main">
            <a:off x="857250" y="183832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Признак 2</a:t>
            </a:r>
          </a:p>
        </p:txBody>
      </p:sp>
      <p:sp>
        <p:nvSpPr>
          <p:cNvPr id="10" name="">
            <a:extLst xmlns:a="http://schemas.openxmlformats.org/drawingml/2006/main">
              <a:ext uri="{FF2B5EF4-FFF2-40B4-BE49-F238E27FC236}">
                <a16:creationId xmlns:a16="http://schemas.microsoft.com/office/drawing/2014/main" id="{96073BC2-5C9C-459D-8CB4-D6F4E8889B00}"/>
              </a:ext>
            </a:extLst>
          </p:cNvPr>
          <p:cNvSpPr>
            <a:spLocks xmlns:a="http://schemas.openxmlformats.org/drawingml/2006/main" noGrp="1"/>
          </p:cNvSpPr>
          <p:nvPr/>
        </p:nvSpPr>
        <p:spPr>
          <a:xfrm xmlns:a="http://schemas.openxmlformats.org/drawingml/2006/main">
            <a:off x="2905125" y="2190750"/>
            <a:ext cx="2190750" cy="3048000"/>
          </a:xfrm>
          <a:custGeom xmlns:a="http://schemas.openxmlformats.org/drawingml/2006/main">
            <a:pathLst>
              <a:path w="2190750" h="3048000">
                <a:moveTo>
                  <a:pt x="0" y="3048000"/>
                </a:moveTo>
                <a:lnTo>
                  <a:pt x="2190750" y="0"/>
                </a:lnTo>
              </a:path>
            </a:pathLst>
          </a:custGeom>
          <a:noFill xmlns:a="http://schemas.openxmlformats.org/drawingml/2006/main"/>
          <a:ln xmlns:a="http://schemas.openxmlformats.org/drawingml/2006/main" w="28575">
            <a:solidFill>
              <a:srgbClr val="101C32"/>
            </a:solidFill>
            <a:prstDash val="solid"/>
          </a:ln>
        </p:spPr>
      </p:sp>
      <p:sp>
        <p:nvSpPr>
          <p:cNvPr id="11" name="">
            <a:extLst xmlns:a="http://schemas.openxmlformats.org/drawingml/2006/main">
              <a:ext uri="{FF2B5EF4-FFF2-40B4-BE49-F238E27FC236}">
                <a16:creationId xmlns:a16="http://schemas.microsoft.com/office/drawing/2014/main" id="{622FE9F3-5880-4EB8-B89F-1511A88F0CDA}"/>
              </a:ext>
            </a:extLst>
          </p:cNvPr>
          <p:cNvSpPr>
            <a:spLocks xmlns:a="http://schemas.openxmlformats.org/drawingml/2006/main" noGrp="1"/>
          </p:cNvSpPr>
          <p:nvPr/>
        </p:nvSpPr>
        <p:spPr>
          <a:xfrm xmlns:a="http://schemas.openxmlformats.org/drawingml/2006/main">
            <a:off x="1390650" y="429577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2" name="">
            <a:extLst xmlns:a="http://schemas.openxmlformats.org/drawingml/2006/main">
              <a:ext uri="{FF2B5EF4-FFF2-40B4-BE49-F238E27FC236}">
                <a16:creationId xmlns:a16="http://schemas.microsoft.com/office/drawing/2014/main" id="{D07DC5F5-36E2-4E15-A08A-2DF4A60BE6A2}"/>
              </a:ext>
            </a:extLst>
          </p:cNvPr>
          <p:cNvSpPr>
            <a:spLocks xmlns:a="http://schemas.openxmlformats.org/drawingml/2006/main" noGrp="1"/>
          </p:cNvSpPr>
          <p:nvPr/>
        </p:nvSpPr>
        <p:spPr>
          <a:xfrm xmlns:a="http://schemas.openxmlformats.org/drawingml/2006/main">
            <a:off x="1724025" y="315277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3" name="">
            <a:extLst xmlns:a="http://schemas.openxmlformats.org/drawingml/2006/main">
              <a:ext uri="{FF2B5EF4-FFF2-40B4-BE49-F238E27FC236}">
                <a16:creationId xmlns:a16="http://schemas.microsoft.com/office/drawing/2014/main" id="{FC99C0B0-6303-4263-A056-D24FC065D06B}"/>
              </a:ext>
            </a:extLst>
          </p:cNvPr>
          <p:cNvSpPr>
            <a:spLocks xmlns:a="http://schemas.openxmlformats.org/drawingml/2006/main" noGrp="1"/>
          </p:cNvSpPr>
          <p:nvPr/>
        </p:nvSpPr>
        <p:spPr>
          <a:xfrm xmlns:a="http://schemas.openxmlformats.org/drawingml/2006/main">
            <a:off x="2009775" y="372427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4" name="">
            <a:extLst xmlns:a="http://schemas.openxmlformats.org/drawingml/2006/main">
              <a:ext uri="{FF2B5EF4-FFF2-40B4-BE49-F238E27FC236}">
                <a16:creationId xmlns:a16="http://schemas.microsoft.com/office/drawing/2014/main" id="{7BEEFA38-D4DA-4A18-ACC0-493F93E34E65}"/>
              </a:ext>
            </a:extLst>
          </p:cNvPr>
          <p:cNvSpPr>
            <a:spLocks xmlns:a="http://schemas.openxmlformats.org/drawingml/2006/main" noGrp="1"/>
          </p:cNvSpPr>
          <p:nvPr/>
        </p:nvSpPr>
        <p:spPr>
          <a:xfrm xmlns:a="http://schemas.openxmlformats.org/drawingml/2006/main">
            <a:off x="2486025" y="286702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5" name="">
            <a:extLst xmlns:a="http://schemas.openxmlformats.org/drawingml/2006/main">
              <a:ext uri="{FF2B5EF4-FFF2-40B4-BE49-F238E27FC236}">
                <a16:creationId xmlns:a16="http://schemas.microsoft.com/office/drawing/2014/main" id="{A719BB63-DCF8-4C59-9455-B410FC352901}"/>
              </a:ext>
            </a:extLst>
          </p:cNvPr>
          <p:cNvSpPr>
            <a:spLocks xmlns:a="http://schemas.openxmlformats.org/drawingml/2006/main" noGrp="1"/>
          </p:cNvSpPr>
          <p:nvPr/>
        </p:nvSpPr>
        <p:spPr>
          <a:xfrm xmlns:a="http://schemas.openxmlformats.org/drawingml/2006/main">
            <a:off x="2700338" y="439102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6" name="">
            <a:extLst xmlns:a="http://schemas.openxmlformats.org/drawingml/2006/main">
              <a:ext uri="{FF2B5EF4-FFF2-40B4-BE49-F238E27FC236}">
                <a16:creationId xmlns:a16="http://schemas.microsoft.com/office/drawing/2014/main" id="{B50A1FC2-ED82-4369-B7F0-15712444098D}"/>
              </a:ext>
            </a:extLst>
          </p:cNvPr>
          <p:cNvSpPr>
            <a:spLocks xmlns:a="http://schemas.openxmlformats.org/drawingml/2006/main" noGrp="1"/>
          </p:cNvSpPr>
          <p:nvPr/>
        </p:nvSpPr>
        <p:spPr>
          <a:xfrm xmlns:a="http://schemas.openxmlformats.org/drawingml/2006/main">
            <a:off x="3105150" y="248602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7" name="">
            <a:extLst xmlns:a="http://schemas.openxmlformats.org/drawingml/2006/main">
              <a:ext uri="{FF2B5EF4-FFF2-40B4-BE49-F238E27FC236}">
                <a16:creationId xmlns:a16="http://schemas.microsoft.com/office/drawing/2014/main" id="{5272A73B-86F9-48BA-8CE7-E05DC1825FA5}"/>
              </a:ext>
            </a:extLst>
          </p:cNvPr>
          <p:cNvSpPr>
            <a:spLocks xmlns:a="http://schemas.openxmlformats.org/drawingml/2006/main" noGrp="1"/>
          </p:cNvSpPr>
          <p:nvPr/>
        </p:nvSpPr>
        <p:spPr>
          <a:xfrm xmlns:a="http://schemas.openxmlformats.org/drawingml/2006/main">
            <a:off x="3965377" y="4486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18" name="">
            <a:extLst xmlns:a="http://schemas.openxmlformats.org/drawingml/2006/main">
              <a:ext uri="{FF2B5EF4-FFF2-40B4-BE49-F238E27FC236}">
                <a16:creationId xmlns:a16="http://schemas.microsoft.com/office/drawing/2014/main" id="{66518810-F535-4E90-AC9A-A1666D560947}"/>
              </a:ext>
            </a:extLst>
          </p:cNvPr>
          <p:cNvSpPr>
            <a:spLocks xmlns:a="http://schemas.openxmlformats.org/drawingml/2006/main" noGrp="1"/>
          </p:cNvSpPr>
          <p:nvPr/>
        </p:nvSpPr>
        <p:spPr>
          <a:xfrm xmlns:a="http://schemas.openxmlformats.org/drawingml/2006/main">
            <a:off x="4867275" y="3724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19" name="">
            <a:extLst xmlns:a="http://schemas.openxmlformats.org/drawingml/2006/main">
              <a:ext uri="{FF2B5EF4-FFF2-40B4-BE49-F238E27FC236}">
                <a16:creationId xmlns:a16="http://schemas.microsoft.com/office/drawing/2014/main" id="{81DBCD47-4A98-4936-890B-11F460AEC77D}"/>
              </a:ext>
            </a:extLst>
          </p:cNvPr>
          <p:cNvSpPr>
            <a:spLocks xmlns:a="http://schemas.openxmlformats.org/drawingml/2006/main" noGrp="1"/>
          </p:cNvSpPr>
          <p:nvPr/>
        </p:nvSpPr>
        <p:spPr>
          <a:xfrm xmlns:a="http://schemas.openxmlformats.org/drawingml/2006/main">
            <a:off x="5486400" y="3343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0" name="">
            <a:extLst xmlns:a="http://schemas.openxmlformats.org/drawingml/2006/main">
              <a:ext uri="{FF2B5EF4-FFF2-40B4-BE49-F238E27FC236}">
                <a16:creationId xmlns:a16="http://schemas.microsoft.com/office/drawing/2014/main" id="{ACC814D6-BF77-4B56-99E9-3B80EDE46576}"/>
              </a:ext>
            </a:extLst>
          </p:cNvPr>
          <p:cNvSpPr>
            <a:spLocks xmlns:a="http://schemas.openxmlformats.org/drawingml/2006/main" noGrp="1"/>
          </p:cNvSpPr>
          <p:nvPr/>
        </p:nvSpPr>
        <p:spPr>
          <a:xfrm xmlns:a="http://schemas.openxmlformats.org/drawingml/2006/main">
            <a:off x="5819775" y="248602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1" name="">
            <a:extLst xmlns:a="http://schemas.openxmlformats.org/drawingml/2006/main">
              <a:ext uri="{FF2B5EF4-FFF2-40B4-BE49-F238E27FC236}">
                <a16:creationId xmlns:a16="http://schemas.microsoft.com/office/drawing/2014/main" id="{284F5504-1E32-45ED-A9FC-16ED5EAC398D}"/>
              </a:ext>
            </a:extLst>
          </p:cNvPr>
          <p:cNvSpPr>
            <a:spLocks xmlns:a="http://schemas.openxmlformats.org/drawingml/2006/main" noGrp="1"/>
          </p:cNvSpPr>
          <p:nvPr/>
        </p:nvSpPr>
        <p:spPr>
          <a:xfrm xmlns:a="http://schemas.openxmlformats.org/drawingml/2006/main">
            <a:off x="6105525" y="4105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2" name="">
            <a:extLst xmlns:a="http://schemas.openxmlformats.org/drawingml/2006/main">
              <a:ext uri="{FF2B5EF4-FFF2-40B4-BE49-F238E27FC236}">
                <a16:creationId xmlns:a16="http://schemas.microsoft.com/office/drawing/2014/main" id="{290001AA-14E0-45E0-95FA-9E8353C9F8C8}"/>
              </a:ext>
            </a:extLst>
          </p:cNvPr>
          <p:cNvSpPr>
            <a:spLocks xmlns:a="http://schemas.openxmlformats.org/drawingml/2006/main" noGrp="1"/>
          </p:cNvSpPr>
          <p:nvPr/>
        </p:nvSpPr>
        <p:spPr>
          <a:xfrm xmlns:a="http://schemas.openxmlformats.org/drawingml/2006/main">
            <a:off x="5153025" y="4914900"/>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3" name="text-66">
            <a:extLst xmlns:a="http://schemas.openxmlformats.org/drawingml/2006/main">
              <a:ext uri="{FF2B5EF4-FFF2-40B4-BE49-F238E27FC236}">
                <a16:creationId xmlns:a16="http://schemas.microsoft.com/office/drawing/2014/main" id="{388848C9-4E0F-4612-94D5-12B198697063}"/>
              </a:ext>
            </a:extLst>
          </p:cNvPr>
          <p:cNvSpPr>
            <a:spLocks xmlns:a="http://schemas.openxmlformats.org/drawingml/2006/main" noGrp="1"/>
          </p:cNvSpPr>
          <p:nvPr/>
        </p:nvSpPr>
        <p:spPr>
          <a:xfrm xmlns:a="http://schemas.openxmlformats.org/drawingml/2006/main">
            <a:off x="1047750" y="5619750"/>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008C95"/>
                </a:solidFill>
                <a:latin typeface="DejaVu Sans"/>
                <a:ea typeface="DejaVu Sans"/>
                <a:cs typeface="DejaVu Sans"/>
              </a:defRPr>
            </a:defPPr>
          </a:lstStyle>
          <a:p xmlns:a="http://schemas.openxmlformats.org/drawingml/2006/main">
            <a:pPr>
              <a:defRPr sz="1650" b="1">
                <a:solidFill>
                  <a:srgbClr val="008C95"/>
                </a:solidFill>
                <a:latin typeface="DejaVu Sans"/>
                <a:ea typeface="DejaVu Sans"/>
                <a:cs typeface="DejaVu Sans"/>
              </a:defRPr>
            </a:pPr>
            <a:r>
              <a:rPr sz="1650" b="1">
                <a:solidFill>
                  <a:srgbClr val="008C95"/>
                </a:solidFill>
                <a:latin typeface="DejaVu Sans"/>
                <a:ea typeface="DejaVu Sans"/>
                <a:cs typeface="DejaVu Sans"/>
              </a:rPr>
              <a:t>Класс 1</a:t>
            </a:r>
          </a:p>
        </p:txBody>
      </p:sp>
      <p:sp>
        <p:nvSpPr>
          <p:cNvPr id="24" name="text-67">
            <a:extLst xmlns:a="http://schemas.openxmlformats.org/drawingml/2006/main">
              <a:ext uri="{FF2B5EF4-FFF2-40B4-BE49-F238E27FC236}">
                <a16:creationId xmlns:a16="http://schemas.microsoft.com/office/drawing/2014/main" id="{315A0085-C6F2-400E-9062-C48C9F521711}"/>
              </a:ext>
            </a:extLst>
          </p:cNvPr>
          <p:cNvSpPr>
            <a:spLocks xmlns:a="http://schemas.openxmlformats.org/drawingml/2006/main" noGrp="1"/>
          </p:cNvSpPr>
          <p:nvPr/>
        </p:nvSpPr>
        <p:spPr>
          <a:xfrm xmlns:a="http://schemas.openxmlformats.org/drawingml/2006/main">
            <a:off x="4191000" y="5619750"/>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E85555"/>
                </a:solidFill>
                <a:latin typeface="DejaVu Sans"/>
                <a:ea typeface="DejaVu Sans"/>
                <a:cs typeface="DejaVu Sans"/>
              </a:defRPr>
            </a:defPPr>
          </a:lstStyle>
          <a:p xmlns:a="http://schemas.openxmlformats.org/drawingml/2006/main">
            <a:pPr>
              <a:defRPr sz="1650" b="1">
                <a:solidFill>
                  <a:srgbClr val="E85555"/>
                </a:solidFill>
                <a:latin typeface="DejaVu Sans"/>
                <a:ea typeface="DejaVu Sans"/>
                <a:cs typeface="DejaVu Sans"/>
              </a:defRPr>
            </a:pPr>
            <a:r>
              <a:rPr sz="1650" b="1">
                <a:solidFill>
                  <a:srgbClr val="E85555"/>
                </a:solidFill>
                <a:latin typeface="DejaVu Sans"/>
                <a:ea typeface="DejaVu Sans"/>
                <a:cs typeface="DejaVu Sans"/>
              </a:rPr>
              <a:t>Класс 2</a:t>
            </a:r>
          </a:p>
        </p:txBody>
      </p:sp>
      <p:sp>
        <p:nvSpPr>
          <p:cNvPr id="25" name="text-68">
            <a:extLst xmlns:a="http://schemas.openxmlformats.org/drawingml/2006/main">
              <a:ext uri="{FF2B5EF4-FFF2-40B4-BE49-F238E27FC236}">
                <a16:creationId xmlns:a16="http://schemas.microsoft.com/office/drawing/2014/main" id="{221F211A-4D72-485B-BFA8-E610F41DBFF8}"/>
              </a:ext>
            </a:extLst>
          </p:cNvPr>
          <p:cNvSpPr>
            <a:spLocks xmlns:a="http://schemas.openxmlformats.org/drawingml/2006/main" noGrp="1"/>
          </p:cNvSpPr>
          <p:nvPr/>
        </p:nvSpPr>
        <p:spPr>
          <a:xfrm xmlns:a="http://schemas.openxmlformats.org/drawingml/2006/main">
            <a:off x="7143750" y="2171700"/>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101C32"/>
                </a:solidFill>
                <a:latin typeface="DejaVu Sans"/>
                <a:ea typeface="DejaVu Sans"/>
                <a:cs typeface="DejaVu Sans"/>
              </a:defRPr>
            </a:defPPr>
          </a:lstStyle>
          <a:p xmlns:a="http://schemas.openxmlformats.org/drawingml/2006/main">
            <a:pPr>
              <a:defRPr sz="2250" b="1">
                <a:solidFill>
                  <a:srgbClr val="101C32"/>
                </a:solidFill>
                <a:latin typeface="DejaVu Sans"/>
                <a:ea typeface="DejaVu Sans"/>
                <a:cs typeface="DejaVu Sans"/>
              </a:defRPr>
            </a:pPr>
            <a:r>
              <a:rPr sz="2250" b="1">
                <a:solidFill>
                  <a:srgbClr val="101C32"/>
                </a:solidFill>
                <a:latin typeface="DejaVu Sans"/>
                <a:ea typeface="DejaVu Sans"/>
                <a:cs typeface="DejaVu Sans"/>
              </a:rPr>
              <a:t>Граница решения</a:t>
            </a:r>
          </a:p>
        </p:txBody>
      </p:sp>
      <p:sp>
        <p:nvSpPr>
          <p:cNvPr id="26" name="text-69">
            <a:extLst xmlns:a="http://schemas.openxmlformats.org/drawingml/2006/main">
              <a:ext uri="{FF2B5EF4-FFF2-40B4-BE49-F238E27FC236}">
                <a16:creationId xmlns:a16="http://schemas.microsoft.com/office/drawing/2014/main" id="{8B777DE1-8F53-4E08-8E66-F4068822B69A}"/>
              </a:ext>
            </a:extLst>
          </p:cNvPr>
          <p:cNvSpPr>
            <a:spLocks xmlns:a="http://schemas.openxmlformats.org/drawingml/2006/main" noGrp="1"/>
          </p:cNvSpPr>
          <p:nvPr/>
        </p:nvSpPr>
        <p:spPr>
          <a:xfrm xmlns:a="http://schemas.openxmlformats.org/drawingml/2006/main">
            <a:off x="7143750" y="2714625"/>
            <a:ext cx="428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01C32"/>
                </a:solidFill>
                <a:latin typeface="DejaVu Sans"/>
                <a:ea typeface="DejaVu Sans"/>
                <a:cs typeface="DejaVu Sans"/>
              </a:defRPr>
            </a:defPPr>
          </a:lstStyle>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На ней меняется</a:t>
            </a:r>
          </a:p>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выбираемый класс.</a:t>
            </a:r>
          </a:p>
        </p:txBody>
      </p:sp>
      <p:sp>
        <p:nvSpPr>
          <p:cNvPr id="27" name="text-70">
            <a:extLst xmlns:a="http://schemas.openxmlformats.org/drawingml/2006/main">
              <a:ext uri="{FF2B5EF4-FFF2-40B4-BE49-F238E27FC236}">
                <a16:creationId xmlns:a16="http://schemas.microsoft.com/office/drawing/2014/main" id="{0D43E67A-F1A3-4BEE-96B9-2F14153E44ED}"/>
              </a:ext>
            </a:extLst>
          </p:cNvPr>
          <p:cNvSpPr>
            <a:spLocks xmlns:a="http://schemas.openxmlformats.org/drawingml/2006/main" noGrp="1"/>
          </p:cNvSpPr>
          <p:nvPr/>
        </p:nvSpPr>
        <p:spPr>
          <a:xfrm xmlns:a="http://schemas.openxmlformats.org/drawingml/2006/main">
            <a:off x="7143750" y="3724275"/>
            <a:ext cx="42862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01C32"/>
                </a:solidFill>
                <a:latin typeface="DejaVu Sans"/>
                <a:ea typeface="DejaVu Sans"/>
                <a:cs typeface="DejaVu Sans"/>
              </a:defRPr>
            </a:defPPr>
          </a:lstStyle>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Правило вычисляет число f.</a:t>
            </a:r>
          </a:p>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Его знак выбирает класс;</a:t>
            </a:r>
          </a:p>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f = 0 — граница.</a:t>
            </a:r>
          </a:p>
        </p:txBody>
      </p:sp>
      <p:sp>
        <p:nvSpPr>
          <p:cNvPr id="28" name="text-71">
            <a:extLst xmlns:a="http://schemas.openxmlformats.org/drawingml/2006/main">
              <a:ext uri="{FF2B5EF4-FFF2-40B4-BE49-F238E27FC236}">
                <a16:creationId xmlns:a16="http://schemas.microsoft.com/office/drawing/2014/main" id="{BF088910-6FE9-428B-ACC6-263700CECBD6}"/>
              </a:ext>
            </a:extLst>
          </p:cNvPr>
          <p:cNvSpPr>
            <a:spLocks xmlns:a="http://schemas.openxmlformats.org/drawingml/2006/main" noGrp="1"/>
          </p:cNvSpPr>
          <p:nvPr/>
        </p:nvSpPr>
        <p:spPr>
          <a:xfrm xmlns:a="http://schemas.openxmlformats.org/drawingml/2006/main">
            <a:off x="7143750" y="5257800"/>
            <a:ext cx="42862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008C95"/>
                </a:solidFill>
                <a:latin typeface="DejaVu Sans"/>
                <a:ea typeface="DejaVu Sans"/>
                <a:cs typeface="DejaVu Sans"/>
              </a:defRPr>
            </a:defPPr>
          </a:lstStyle>
          <a:p xmlns:a="http://schemas.openxmlformats.org/drawingml/2006/main">
            <a:pPr>
              <a:defRPr sz="1800" b="1">
                <a:solidFill>
                  <a:srgbClr val="008C95"/>
                </a:solidFill>
                <a:latin typeface="DejaVu Sans"/>
                <a:ea typeface="DejaVu Sans"/>
                <a:cs typeface="DejaVu Sans"/>
              </a:defRPr>
            </a:pPr>
            <a:r>
              <a:rPr sz="1800" b="1">
                <a:solidFill>
                  <a:srgbClr val="008C95"/>
                </a:solidFill>
                <a:latin typeface="DejaVu Sans"/>
                <a:ea typeface="DejaVu Sans"/>
                <a:cs typeface="DejaVu Sans"/>
              </a:rPr>
              <a:t>SVM обучается на всей выборке,</a:t>
            </a:r>
          </a:p>
          <a:p xmlns:a="http://schemas.openxmlformats.org/drawingml/2006/main">
            <a:pPr>
              <a:defRPr sz="1800" b="1">
                <a:solidFill>
                  <a:srgbClr val="008C95"/>
                </a:solidFill>
                <a:latin typeface="DejaVu Sans"/>
                <a:ea typeface="DejaVu Sans"/>
                <a:cs typeface="DejaVu Sans"/>
              </a:defRPr>
            </a:pPr>
            <a:r>
              <a:rPr sz="1800" b="1">
                <a:solidFill>
                  <a:srgbClr val="008C95"/>
                </a:solidFill>
                <a:latin typeface="DejaVu Sans"/>
                <a:ea typeface="DejaVu Sans"/>
                <a:cs typeface="DejaVu Sans"/>
              </a:rPr>
              <a:t>а не на двух эталонах.</a:t>
            </a:r>
          </a:p>
        </p:txBody>
      </p:sp>
    </p:spTree>
    <p:extLst>
      <p:ext uri="{BB962C8B-B14F-4D97-AF65-F5344CB8AC3E}">
        <p14:creationId xmlns:p14="http://schemas.microsoft.com/office/powerpoint/2010/main" val="180902255"/>
      </p:ext>
    </p:extLst>
  </p:cSld>
</p:sld>
</file>

<file path=ppt/slides/slide10.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37" name="text-72">
            <a:extLst xmlns:a="http://schemas.openxmlformats.org/drawingml/2006/main">
              <a:ext uri="{FF2B5EF4-FFF2-40B4-BE49-F238E27FC236}">
                <a16:creationId xmlns:a16="http://schemas.microsoft.com/office/drawing/2014/main" id="{C86360A9-4198-4BD1-88AC-D3EB933A235E}"/>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Зазор и мягкий зазор SVM</a:t>
            </a:r>
          </a:p>
        </p:txBody>
      </p:sp>
      <p:sp>
        <p:nvSpPr>
          <p:cNvPr id="2" name="text-73">
            <a:extLst xmlns:a="http://schemas.openxmlformats.org/drawingml/2006/main">
              <a:ext uri="{FF2B5EF4-FFF2-40B4-BE49-F238E27FC236}">
                <a16:creationId xmlns:a16="http://schemas.microsoft.com/office/drawing/2014/main" id="{67BA044D-4C09-440E-A268-E35635B9D2C3}"/>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Зазор — полоса вокруг границы, которую SVM стремится сделать широкой</a:t>
            </a:r>
          </a:p>
        </p:txBody>
      </p:sp>
      <p:sp>
        <p:nvSpPr>
          <p:cNvPr id="3" name="">
            <a:extLst xmlns:a="http://schemas.openxmlformats.org/drawingml/2006/main">
              <a:ext uri="{FF2B5EF4-FFF2-40B4-BE49-F238E27FC236}">
                <a16:creationId xmlns:a16="http://schemas.microsoft.com/office/drawing/2014/main" id="{7CEA7331-F549-4236-BC47-9BA480C76C40}"/>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74">
            <a:extLst xmlns:a="http://schemas.openxmlformats.org/drawingml/2006/main">
              <a:ext uri="{FF2B5EF4-FFF2-40B4-BE49-F238E27FC236}">
                <a16:creationId xmlns:a16="http://schemas.microsoft.com/office/drawing/2014/main" id="{F6C397B9-EB39-43ED-BB75-6E9A12E7456D}"/>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[1, 2, 5]</a:t>
            </a:r>
          </a:p>
        </p:txBody>
      </p:sp>
      <p:sp>
        <p:nvSpPr>
          <p:cNvPr id="5" name="text-75">
            <a:extLst xmlns:a="http://schemas.openxmlformats.org/drawingml/2006/main">
              <a:ext uri="{FF2B5EF4-FFF2-40B4-BE49-F238E27FC236}">
                <a16:creationId xmlns:a16="http://schemas.microsoft.com/office/drawing/2014/main" id="{1D1669AC-2EF9-4748-AC91-0B6165FDD29C}"/>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10</a:t>
            </a:r>
          </a:p>
        </p:txBody>
      </p:sp>
      <p:sp>
        <p:nvSpPr>
          <p:cNvPr id="6" name="">
            <a:extLst xmlns:a="http://schemas.openxmlformats.org/drawingml/2006/main">
              <a:ext uri="{FF2B5EF4-FFF2-40B4-BE49-F238E27FC236}">
                <a16:creationId xmlns:a16="http://schemas.microsoft.com/office/drawing/2014/main" id="{B0BFF347-8D33-40F8-B949-554B519C230B}"/>
              </a:ext>
            </a:extLst>
          </p:cNvPr>
          <p:cNvSpPr>
            <a:spLocks xmlns:a="http://schemas.openxmlformats.org/drawingml/2006/main" noGrp="1"/>
          </p:cNvSpPr>
          <p:nvPr/>
        </p:nvSpPr>
        <p:spPr>
          <a:xfrm xmlns:a="http://schemas.openxmlformats.org/drawingml/2006/main">
            <a:off x="857250" y="5238750"/>
            <a:ext cx="5715000" cy="9525"/>
          </a:xfrm>
          <a:custGeom xmlns:a="http://schemas.openxmlformats.org/drawingml/2006/main">
            <a:pathLst>
              <a:path w="5715000" h="9525">
                <a:moveTo>
                  <a:pt x="0" y="0"/>
                </a:moveTo>
                <a:lnTo>
                  <a:pt x="5715000" y="0"/>
                </a:lnTo>
              </a:path>
            </a:pathLst>
          </a:custGeom>
          <a:noFill xmlns:a="http://schemas.openxmlformats.org/drawingml/2006/main"/>
          <a:ln xmlns:a="http://schemas.openxmlformats.org/drawingml/2006/main" w="19050">
            <a:solidFill>
              <a:srgbClr val="536377"/>
            </a:solidFill>
            <a:prstDash val="solid"/>
          </a:ln>
        </p:spPr>
      </p:sp>
      <p:sp>
        <p:nvSpPr>
          <p:cNvPr id="7" name="">
            <a:extLst xmlns:a="http://schemas.openxmlformats.org/drawingml/2006/main">
              <a:ext uri="{FF2B5EF4-FFF2-40B4-BE49-F238E27FC236}">
                <a16:creationId xmlns:a16="http://schemas.microsoft.com/office/drawing/2014/main" id="{93F0ED03-059A-49D6-BAC4-20A5D4129FAB}"/>
              </a:ext>
            </a:extLst>
          </p:cNvPr>
          <p:cNvSpPr>
            <a:spLocks xmlns:a="http://schemas.openxmlformats.org/drawingml/2006/main" noGrp="1"/>
          </p:cNvSpPr>
          <p:nvPr/>
        </p:nvSpPr>
        <p:spPr>
          <a:xfrm xmlns:a="http://schemas.openxmlformats.org/drawingml/2006/main">
            <a:off x="857250" y="2190750"/>
            <a:ext cx="9525" cy="3048000"/>
          </a:xfrm>
          <a:custGeom xmlns:a="http://schemas.openxmlformats.org/drawingml/2006/main">
            <a:pathLst>
              <a:path w="9525" h="3048000">
                <a:moveTo>
                  <a:pt x="0" y="3048000"/>
                </a:moveTo>
                <a:lnTo>
                  <a:pt x="0" y="0"/>
                </a:lnTo>
              </a:path>
            </a:pathLst>
          </a:custGeom>
          <a:noFill xmlns:a="http://schemas.openxmlformats.org/drawingml/2006/main"/>
          <a:ln xmlns:a="http://schemas.openxmlformats.org/drawingml/2006/main" w="19050">
            <a:solidFill>
              <a:srgbClr val="536377"/>
            </a:solidFill>
            <a:prstDash val="solid"/>
          </a:ln>
        </p:spPr>
      </p:sp>
      <p:sp>
        <p:nvSpPr>
          <p:cNvPr id="8" name="text-76">
            <a:extLst xmlns:a="http://schemas.openxmlformats.org/drawingml/2006/main">
              <a:ext uri="{FF2B5EF4-FFF2-40B4-BE49-F238E27FC236}">
                <a16:creationId xmlns:a16="http://schemas.microsoft.com/office/drawing/2014/main" id="{9A452E9B-7C12-4434-A812-9B14B651D147}"/>
              </a:ext>
            </a:extLst>
          </p:cNvPr>
          <p:cNvSpPr>
            <a:spLocks xmlns:a="http://schemas.openxmlformats.org/drawingml/2006/main" noGrp="1"/>
          </p:cNvSpPr>
          <p:nvPr/>
        </p:nvSpPr>
        <p:spPr>
          <a:xfrm xmlns:a="http://schemas.openxmlformats.org/drawingml/2006/main">
            <a:off x="3048000" y="542925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Признак 1</a:t>
            </a:r>
          </a:p>
        </p:txBody>
      </p:sp>
      <p:sp>
        <p:nvSpPr>
          <p:cNvPr id="9" name="text-77">
            <a:extLst xmlns:a="http://schemas.openxmlformats.org/drawingml/2006/main">
              <a:ext uri="{FF2B5EF4-FFF2-40B4-BE49-F238E27FC236}">
                <a16:creationId xmlns:a16="http://schemas.microsoft.com/office/drawing/2014/main" id="{A24FF463-2555-4E1A-82B3-1EC36E9F8C7F}"/>
              </a:ext>
            </a:extLst>
          </p:cNvPr>
          <p:cNvSpPr>
            <a:spLocks xmlns:a="http://schemas.openxmlformats.org/drawingml/2006/main" noGrp="1"/>
          </p:cNvSpPr>
          <p:nvPr/>
        </p:nvSpPr>
        <p:spPr>
          <a:xfrm xmlns:a="http://schemas.openxmlformats.org/drawingml/2006/main">
            <a:off x="857250" y="183832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Признак 2</a:t>
            </a:r>
          </a:p>
        </p:txBody>
      </p:sp>
      <p:sp>
        <p:nvSpPr>
          <p:cNvPr id="10" name="">
            <a:extLst xmlns:a="http://schemas.openxmlformats.org/drawingml/2006/main">
              <a:ext uri="{FF2B5EF4-FFF2-40B4-BE49-F238E27FC236}">
                <a16:creationId xmlns:a16="http://schemas.microsoft.com/office/drawing/2014/main" id="{E62A5E6C-F458-46FC-9C32-0684B72AC9F3}"/>
              </a:ext>
            </a:extLst>
          </p:cNvPr>
          <p:cNvSpPr>
            <a:spLocks xmlns:a="http://schemas.openxmlformats.org/drawingml/2006/main" noGrp="1"/>
          </p:cNvSpPr>
          <p:nvPr/>
        </p:nvSpPr>
        <p:spPr>
          <a:xfrm xmlns:a="http://schemas.openxmlformats.org/drawingml/2006/main">
            <a:off x="2238375" y="2190750"/>
            <a:ext cx="3524250" cy="3048000"/>
          </a:xfrm>
          <a:custGeom xmlns:a="http://schemas.openxmlformats.org/drawingml/2006/main">
            <a:pathLst>
              <a:path w="3524250" h="3048000">
                <a:moveTo>
                  <a:pt x="0" y="3048000"/>
                </a:moveTo>
                <a:lnTo>
                  <a:pt x="1333500" y="3048000"/>
                </a:lnTo>
                <a:lnTo>
                  <a:pt x="3524250" y="0"/>
                </a:lnTo>
                <a:lnTo>
                  <a:pt x="2190750" y="0"/>
                </a:lnTo>
                <a:close/>
              </a:path>
            </a:pathLst>
          </a:custGeom>
          <a:solidFill xmlns:a="http://schemas.openxmlformats.org/drawingml/2006/main">
            <a:srgbClr val="E1E7ED"/>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6753374-23E6-4F25-86A6-753B9E056CE4}"/>
              </a:ext>
            </a:extLst>
          </p:cNvPr>
          <p:cNvSpPr>
            <a:spLocks xmlns:a="http://schemas.openxmlformats.org/drawingml/2006/main" noGrp="1"/>
          </p:cNvSpPr>
          <p:nvPr/>
        </p:nvSpPr>
        <p:spPr>
          <a:xfrm xmlns:a="http://schemas.openxmlformats.org/drawingml/2006/main">
            <a:off x="2238375" y="2190750"/>
            <a:ext cx="2190750" cy="3048000"/>
          </a:xfrm>
          <a:custGeom xmlns:a="http://schemas.openxmlformats.org/drawingml/2006/main">
            <a:pathLst>
              <a:path w="2190750" h="3048000">
                <a:moveTo>
                  <a:pt x="0" y="3048000"/>
                </a:moveTo>
                <a:lnTo>
                  <a:pt x="2190750" y="0"/>
                </a:lnTo>
              </a:path>
            </a:pathLst>
          </a:custGeom>
          <a:noFill xmlns:a="http://schemas.openxmlformats.org/drawingml/2006/main"/>
          <a:ln xmlns:a="http://schemas.openxmlformats.org/drawingml/2006/main" w="17145">
            <a:solidFill>
              <a:srgbClr val="536377"/>
            </a:solidFill>
            <a:prstDash val="dash"/>
          </a:ln>
        </p:spPr>
      </p:sp>
      <p:sp>
        <p:nvSpPr>
          <p:cNvPr id="12" name="">
            <a:extLst xmlns:a="http://schemas.openxmlformats.org/drawingml/2006/main">
              <a:ext uri="{FF2B5EF4-FFF2-40B4-BE49-F238E27FC236}">
                <a16:creationId xmlns:a16="http://schemas.microsoft.com/office/drawing/2014/main" id="{51EBF8DC-FD94-460E-8D2F-0F79F2579BA4}"/>
              </a:ext>
            </a:extLst>
          </p:cNvPr>
          <p:cNvSpPr>
            <a:spLocks xmlns:a="http://schemas.openxmlformats.org/drawingml/2006/main" noGrp="1"/>
          </p:cNvSpPr>
          <p:nvPr/>
        </p:nvSpPr>
        <p:spPr>
          <a:xfrm xmlns:a="http://schemas.openxmlformats.org/drawingml/2006/main">
            <a:off x="3571875" y="2190750"/>
            <a:ext cx="2190750" cy="3048000"/>
          </a:xfrm>
          <a:custGeom xmlns:a="http://schemas.openxmlformats.org/drawingml/2006/main">
            <a:pathLst>
              <a:path w="2190750" h="3048000">
                <a:moveTo>
                  <a:pt x="0" y="3048000"/>
                </a:moveTo>
                <a:lnTo>
                  <a:pt x="2190750" y="0"/>
                </a:lnTo>
              </a:path>
            </a:pathLst>
          </a:custGeom>
          <a:noFill xmlns:a="http://schemas.openxmlformats.org/drawingml/2006/main"/>
          <a:ln xmlns:a="http://schemas.openxmlformats.org/drawingml/2006/main" w="17145">
            <a:solidFill>
              <a:srgbClr val="536377"/>
            </a:solidFill>
            <a:prstDash val="dash"/>
          </a:ln>
        </p:spPr>
      </p:sp>
      <p:sp>
        <p:nvSpPr>
          <p:cNvPr id="13" name="">
            <a:extLst xmlns:a="http://schemas.openxmlformats.org/drawingml/2006/main">
              <a:ext uri="{FF2B5EF4-FFF2-40B4-BE49-F238E27FC236}">
                <a16:creationId xmlns:a16="http://schemas.microsoft.com/office/drawing/2014/main" id="{18215A82-2161-439F-92F6-4BA61A4B3B4D}"/>
              </a:ext>
            </a:extLst>
          </p:cNvPr>
          <p:cNvSpPr>
            <a:spLocks xmlns:a="http://schemas.openxmlformats.org/drawingml/2006/main" noGrp="1"/>
          </p:cNvSpPr>
          <p:nvPr/>
        </p:nvSpPr>
        <p:spPr>
          <a:xfrm xmlns:a="http://schemas.openxmlformats.org/drawingml/2006/main">
            <a:off x="2905125" y="2190750"/>
            <a:ext cx="2190750" cy="3048000"/>
          </a:xfrm>
          <a:custGeom xmlns:a="http://schemas.openxmlformats.org/drawingml/2006/main">
            <a:pathLst>
              <a:path w="2190750" h="3048000">
                <a:moveTo>
                  <a:pt x="0" y="3048000"/>
                </a:moveTo>
                <a:lnTo>
                  <a:pt x="2190750" y="0"/>
                </a:lnTo>
              </a:path>
            </a:pathLst>
          </a:custGeom>
          <a:noFill xmlns:a="http://schemas.openxmlformats.org/drawingml/2006/main"/>
          <a:ln xmlns:a="http://schemas.openxmlformats.org/drawingml/2006/main" w="28575">
            <a:solidFill>
              <a:srgbClr val="101C32"/>
            </a:solidFill>
            <a:prstDash val="solid"/>
          </a:ln>
        </p:spPr>
      </p:sp>
      <p:sp>
        <p:nvSpPr>
          <p:cNvPr id="14" name="">
            <a:extLst xmlns:a="http://schemas.openxmlformats.org/drawingml/2006/main">
              <a:ext uri="{FF2B5EF4-FFF2-40B4-BE49-F238E27FC236}">
                <a16:creationId xmlns:a16="http://schemas.microsoft.com/office/drawing/2014/main" id="{4472FAFF-0B5C-4A91-B04A-88EDC3316C89}"/>
              </a:ext>
            </a:extLst>
          </p:cNvPr>
          <p:cNvSpPr>
            <a:spLocks xmlns:a="http://schemas.openxmlformats.org/drawingml/2006/main" noGrp="1"/>
          </p:cNvSpPr>
          <p:nvPr/>
        </p:nvSpPr>
        <p:spPr>
          <a:xfrm xmlns:a="http://schemas.openxmlformats.org/drawingml/2006/main">
            <a:off x="1390650" y="429577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5" name="">
            <a:extLst xmlns:a="http://schemas.openxmlformats.org/drawingml/2006/main">
              <a:ext uri="{FF2B5EF4-FFF2-40B4-BE49-F238E27FC236}">
                <a16:creationId xmlns:a16="http://schemas.microsoft.com/office/drawing/2014/main" id="{3E2143FB-8FB0-4B2C-9942-02A1587F49D5}"/>
              </a:ext>
            </a:extLst>
          </p:cNvPr>
          <p:cNvSpPr>
            <a:spLocks xmlns:a="http://schemas.openxmlformats.org/drawingml/2006/main" noGrp="1"/>
          </p:cNvSpPr>
          <p:nvPr/>
        </p:nvSpPr>
        <p:spPr>
          <a:xfrm xmlns:a="http://schemas.openxmlformats.org/drawingml/2006/main">
            <a:off x="1724025" y="315277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6" name="">
            <a:extLst xmlns:a="http://schemas.openxmlformats.org/drawingml/2006/main">
              <a:ext uri="{FF2B5EF4-FFF2-40B4-BE49-F238E27FC236}">
                <a16:creationId xmlns:a16="http://schemas.microsoft.com/office/drawing/2014/main" id="{2909030D-C785-47CC-8410-248621CACCD1}"/>
              </a:ext>
            </a:extLst>
          </p:cNvPr>
          <p:cNvSpPr>
            <a:spLocks xmlns:a="http://schemas.openxmlformats.org/drawingml/2006/main" noGrp="1"/>
          </p:cNvSpPr>
          <p:nvPr/>
        </p:nvSpPr>
        <p:spPr>
          <a:xfrm xmlns:a="http://schemas.openxmlformats.org/drawingml/2006/main">
            <a:off x="2009775" y="372427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7" name="">
            <a:extLst xmlns:a="http://schemas.openxmlformats.org/drawingml/2006/main">
              <a:ext uri="{FF2B5EF4-FFF2-40B4-BE49-F238E27FC236}">
                <a16:creationId xmlns:a16="http://schemas.microsoft.com/office/drawing/2014/main" id="{8D528CEF-9F44-4569-ADA2-86AF4B7647FB}"/>
              </a:ext>
            </a:extLst>
          </p:cNvPr>
          <p:cNvSpPr>
            <a:spLocks xmlns:a="http://schemas.openxmlformats.org/drawingml/2006/main" noGrp="1"/>
          </p:cNvSpPr>
          <p:nvPr/>
        </p:nvSpPr>
        <p:spPr>
          <a:xfrm xmlns:a="http://schemas.openxmlformats.org/drawingml/2006/main">
            <a:off x="2486025" y="286702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8" name="">
            <a:extLst xmlns:a="http://schemas.openxmlformats.org/drawingml/2006/main">
              <a:ext uri="{FF2B5EF4-FFF2-40B4-BE49-F238E27FC236}">
                <a16:creationId xmlns:a16="http://schemas.microsoft.com/office/drawing/2014/main" id="{E8F0E259-AC6E-4552-A350-62FEA27CCEF7}"/>
              </a:ext>
            </a:extLst>
          </p:cNvPr>
          <p:cNvSpPr>
            <a:spLocks xmlns:a="http://schemas.openxmlformats.org/drawingml/2006/main" noGrp="1"/>
          </p:cNvSpPr>
          <p:nvPr/>
        </p:nvSpPr>
        <p:spPr>
          <a:xfrm xmlns:a="http://schemas.openxmlformats.org/drawingml/2006/main">
            <a:off x="2700338" y="439102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9" name="">
            <a:extLst xmlns:a="http://schemas.openxmlformats.org/drawingml/2006/main">
              <a:ext uri="{FF2B5EF4-FFF2-40B4-BE49-F238E27FC236}">
                <a16:creationId xmlns:a16="http://schemas.microsoft.com/office/drawing/2014/main" id="{37CC5D06-1C90-499A-BA33-E06FA0AADB9E}"/>
              </a:ext>
            </a:extLst>
          </p:cNvPr>
          <p:cNvSpPr>
            <a:spLocks xmlns:a="http://schemas.openxmlformats.org/drawingml/2006/main" noGrp="1"/>
          </p:cNvSpPr>
          <p:nvPr/>
        </p:nvSpPr>
        <p:spPr>
          <a:xfrm xmlns:a="http://schemas.openxmlformats.org/drawingml/2006/main">
            <a:off x="3105150" y="248602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20" name="">
            <a:extLst xmlns:a="http://schemas.openxmlformats.org/drawingml/2006/main">
              <a:ext uri="{FF2B5EF4-FFF2-40B4-BE49-F238E27FC236}">
                <a16:creationId xmlns:a16="http://schemas.microsoft.com/office/drawing/2014/main" id="{A42A0213-4791-4BB1-BA2E-3B537B15B72E}"/>
              </a:ext>
            </a:extLst>
          </p:cNvPr>
          <p:cNvSpPr>
            <a:spLocks xmlns:a="http://schemas.openxmlformats.org/drawingml/2006/main" noGrp="1"/>
          </p:cNvSpPr>
          <p:nvPr/>
        </p:nvSpPr>
        <p:spPr>
          <a:xfrm xmlns:a="http://schemas.openxmlformats.org/drawingml/2006/main">
            <a:off x="3965377" y="4486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1" name="">
            <a:extLst xmlns:a="http://schemas.openxmlformats.org/drawingml/2006/main">
              <a:ext uri="{FF2B5EF4-FFF2-40B4-BE49-F238E27FC236}">
                <a16:creationId xmlns:a16="http://schemas.microsoft.com/office/drawing/2014/main" id="{956734E5-658E-43FC-873B-73BA10BB6741}"/>
              </a:ext>
            </a:extLst>
          </p:cNvPr>
          <p:cNvSpPr>
            <a:spLocks xmlns:a="http://schemas.openxmlformats.org/drawingml/2006/main" noGrp="1"/>
          </p:cNvSpPr>
          <p:nvPr/>
        </p:nvSpPr>
        <p:spPr>
          <a:xfrm xmlns:a="http://schemas.openxmlformats.org/drawingml/2006/main">
            <a:off x="4867275" y="3724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2" name="">
            <a:extLst xmlns:a="http://schemas.openxmlformats.org/drawingml/2006/main">
              <a:ext uri="{FF2B5EF4-FFF2-40B4-BE49-F238E27FC236}">
                <a16:creationId xmlns:a16="http://schemas.microsoft.com/office/drawing/2014/main" id="{281598FD-68E7-4454-AF91-010253E549B9}"/>
              </a:ext>
            </a:extLst>
          </p:cNvPr>
          <p:cNvSpPr>
            <a:spLocks xmlns:a="http://schemas.openxmlformats.org/drawingml/2006/main" noGrp="1"/>
          </p:cNvSpPr>
          <p:nvPr/>
        </p:nvSpPr>
        <p:spPr>
          <a:xfrm xmlns:a="http://schemas.openxmlformats.org/drawingml/2006/main">
            <a:off x="5486400" y="3343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3" name="">
            <a:extLst xmlns:a="http://schemas.openxmlformats.org/drawingml/2006/main">
              <a:ext uri="{FF2B5EF4-FFF2-40B4-BE49-F238E27FC236}">
                <a16:creationId xmlns:a16="http://schemas.microsoft.com/office/drawing/2014/main" id="{2EFC1752-642C-44AB-97A3-3C837D9E5E7B}"/>
              </a:ext>
            </a:extLst>
          </p:cNvPr>
          <p:cNvSpPr>
            <a:spLocks xmlns:a="http://schemas.openxmlformats.org/drawingml/2006/main" noGrp="1"/>
          </p:cNvSpPr>
          <p:nvPr/>
        </p:nvSpPr>
        <p:spPr>
          <a:xfrm xmlns:a="http://schemas.openxmlformats.org/drawingml/2006/main">
            <a:off x="5819775" y="248602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4" name="">
            <a:extLst xmlns:a="http://schemas.openxmlformats.org/drawingml/2006/main">
              <a:ext uri="{FF2B5EF4-FFF2-40B4-BE49-F238E27FC236}">
                <a16:creationId xmlns:a16="http://schemas.microsoft.com/office/drawing/2014/main" id="{F3A4A622-9A6C-4944-B6A6-B354105A4EB0}"/>
              </a:ext>
            </a:extLst>
          </p:cNvPr>
          <p:cNvSpPr>
            <a:spLocks xmlns:a="http://schemas.openxmlformats.org/drawingml/2006/main" noGrp="1"/>
          </p:cNvSpPr>
          <p:nvPr/>
        </p:nvSpPr>
        <p:spPr>
          <a:xfrm xmlns:a="http://schemas.openxmlformats.org/drawingml/2006/main">
            <a:off x="6105525" y="4105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5" name="">
            <a:extLst xmlns:a="http://schemas.openxmlformats.org/drawingml/2006/main">
              <a:ext uri="{FF2B5EF4-FFF2-40B4-BE49-F238E27FC236}">
                <a16:creationId xmlns:a16="http://schemas.microsoft.com/office/drawing/2014/main" id="{888CEF36-5506-4BED-AB96-7FDFC2B33C01}"/>
              </a:ext>
            </a:extLst>
          </p:cNvPr>
          <p:cNvSpPr>
            <a:spLocks xmlns:a="http://schemas.openxmlformats.org/drawingml/2006/main" noGrp="1"/>
          </p:cNvSpPr>
          <p:nvPr/>
        </p:nvSpPr>
        <p:spPr>
          <a:xfrm xmlns:a="http://schemas.openxmlformats.org/drawingml/2006/main">
            <a:off x="5153025" y="4914900"/>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6" name="">
            <a:extLst xmlns:a="http://schemas.openxmlformats.org/drawingml/2006/main">
              <a:ext uri="{FF2B5EF4-FFF2-40B4-BE49-F238E27FC236}">
                <a16:creationId xmlns:a16="http://schemas.microsoft.com/office/drawing/2014/main" id="{7CD04FB5-CA19-4AA3-A1F3-D28AFCAD0BE1}"/>
              </a:ext>
            </a:extLst>
          </p:cNvPr>
          <p:cNvSpPr>
            <a:spLocks xmlns:a="http://schemas.openxmlformats.org/drawingml/2006/main" noGrp="1"/>
          </p:cNvSpPr>
          <p:nvPr/>
        </p:nvSpPr>
        <p:spPr>
          <a:xfrm xmlns:a="http://schemas.openxmlformats.org/drawingml/2006/main">
            <a:off x="2633663" y="4324350"/>
            <a:ext cx="304800" cy="304800"/>
          </a:xfrm>
          <a:prstGeom xmlns:a="http://schemas.openxmlformats.org/drawingml/2006/main" prst="ellipse">
            <a:avLst/>
          </a:prstGeom>
          <a:noFill xmlns:a="http://schemas.openxmlformats.org/drawingml/2006/main"/>
          <a:ln xmlns:a="http://schemas.openxmlformats.org/drawingml/2006/main" w="28575">
            <a:solidFill>
              <a:srgbClr val="101C32"/>
            </a:solidFill>
          </a:ln>
        </p:spPr>
      </p:sp>
      <p:sp>
        <p:nvSpPr>
          <p:cNvPr id="27" name="">
            <a:extLst xmlns:a="http://schemas.openxmlformats.org/drawingml/2006/main">
              <a:ext uri="{FF2B5EF4-FFF2-40B4-BE49-F238E27FC236}">
                <a16:creationId xmlns:a16="http://schemas.microsoft.com/office/drawing/2014/main" id="{084DFC95-33B2-477B-9F5D-00D355DB4E43}"/>
              </a:ext>
            </a:extLst>
          </p:cNvPr>
          <p:cNvSpPr>
            <a:spLocks xmlns:a="http://schemas.openxmlformats.org/drawingml/2006/main" noGrp="1"/>
          </p:cNvSpPr>
          <p:nvPr/>
        </p:nvSpPr>
        <p:spPr>
          <a:xfrm xmlns:a="http://schemas.openxmlformats.org/drawingml/2006/main">
            <a:off x="3898702" y="4419600"/>
            <a:ext cx="304800" cy="304800"/>
          </a:xfrm>
          <a:prstGeom xmlns:a="http://schemas.openxmlformats.org/drawingml/2006/main" prst="ellipse">
            <a:avLst/>
          </a:prstGeom>
          <a:noFill xmlns:a="http://schemas.openxmlformats.org/drawingml/2006/main"/>
          <a:ln xmlns:a="http://schemas.openxmlformats.org/drawingml/2006/main" w="28575">
            <a:solidFill>
              <a:srgbClr val="101C32"/>
            </a:solidFill>
          </a:ln>
        </p:spPr>
      </p:sp>
      <p:sp>
        <p:nvSpPr>
          <p:cNvPr id="28" name="">
            <a:extLst xmlns:a="http://schemas.openxmlformats.org/drawingml/2006/main">
              <a:ext uri="{FF2B5EF4-FFF2-40B4-BE49-F238E27FC236}">
                <a16:creationId xmlns:a16="http://schemas.microsoft.com/office/drawing/2014/main" id="{88A1C21B-5A44-45EF-8585-B385E75B2BCE}"/>
              </a:ext>
            </a:extLst>
          </p:cNvPr>
          <p:cNvSpPr>
            <a:spLocks xmlns:a="http://schemas.openxmlformats.org/drawingml/2006/main" noGrp="1"/>
          </p:cNvSpPr>
          <p:nvPr/>
        </p:nvSpPr>
        <p:spPr>
          <a:xfrm xmlns:a="http://schemas.openxmlformats.org/drawingml/2006/main">
            <a:off x="3390900" y="381952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9" name="">
            <a:extLst xmlns:a="http://schemas.openxmlformats.org/drawingml/2006/main">
              <a:ext uri="{FF2B5EF4-FFF2-40B4-BE49-F238E27FC236}">
                <a16:creationId xmlns:a16="http://schemas.microsoft.com/office/drawing/2014/main" id="{AD5E249F-80EF-49EB-A2F8-A49C56391B15}"/>
              </a:ext>
            </a:extLst>
          </p:cNvPr>
          <p:cNvSpPr>
            <a:spLocks xmlns:a="http://schemas.openxmlformats.org/drawingml/2006/main" noGrp="1"/>
          </p:cNvSpPr>
          <p:nvPr/>
        </p:nvSpPr>
        <p:spPr>
          <a:xfrm xmlns:a="http://schemas.openxmlformats.org/drawingml/2006/main">
            <a:off x="3324225" y="3752850"/>
            <a:ext cx="304800" cy="304800"/>
          </a:xfrm>
          <a:prstGeom xmlns:a="http://schemas.openxmlformats.org/drawingml/2006/main" prst="ellipse">
            <a:avLst/>
          </a:prstGeom>
          <a:noFill xmlns:a="http://schemas.openxmlformats.org/drawingml/2006/main"/>
          <a:ln xmlns:a="http://schemas.openxmlformats.org/drawingml/2006/main" w="28575">
            <a:solidFill>
              <a:srgbClr val="101C32"/>
            </a:solidFill>
          </a:ln>
        </p:spPr>
      </p:sp>
      <p:sp>
        <p:nvSpPr>
          <p:cNvPr id="30" name="text-78">
            <a:extLst xmlns:a="http://schemas.openxmlformats.org/drawingml/2006/main">
              <a:ext uri="{FF2B5EF4-FFF2-40B4-BE49-F238E27FC236}">
                <a16:creationId xmlns:a16="http://schemas.microsoft.com/office/drawing/2014/main" id="{1A2D5FD2-3E1B-4369-BEE1-43B12E0D6C7A}"/>
              </a:ext>
            </a:extLst>
          </p:cNvPr>
          <p:cNvSpPr>
            <a:spLocks xmlns:a="http://schemas.openxmlformats.org/drawingml/2006/main" noGrp="1"/>
          </p:cNvSpPr>
          <p:nvPr/>
        </p:nvSpPr>
        <p:spPr>
          <a:xfrm xmlns:a="http://schemas.openxmlformats.org/drawingml/2006/main">
            <a:off x="1047750" y="5619750"/>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008C95"/>
                </a:solidFill>
                <a:latin typeface="DejaVu Sans"/>
                <a:ea typeface="DejaVu Sans"/>
                <a:cs typeface="DejaVu Sans"/>
              </a:defRPr>
            </a:defPPr>
          </a:lstStyle>
          <a:p xmlns:a="http://schemas.openxmlformats.org/drawingml/2006/main">
            <a:pPr>
              <a:defRPr sz="1650" b="1">
                <a:solidFill>
                  <a:srgbClr val="008C95"/>
                </a:solidFill>
                <a:latin typeface="DejaVu Sans"/>
                <a:ea typeface="DejaVu Sans"/>
                <a:cs typeface="DejaVu Sans"/>
              </a:defRPr>
            </a:pPr>
            <a:r>
              <a:rPr sz="1650" b="1">
                <a:solidFill>
                  <a:srgbClr val="008C95"/>
                </a:solidFill>
                <a:latin typeface="DejaVu Sans"/>
                <a:ea typeface="DejaVu Sans"/>
                <a:cs typeface="DejaVu Sans"/>
              </a:rPr>
              <a:t>Класс 1</a:t>
            </a:r>
          </a:p>
        </p:txBody>
      </p:sp>
      <p:sp>
        <p:nvSpPr>
          <p:cNvPr id="31" name="text-79">
            <a:extLst xmlns:a="http://schemas.openxmlformats.org/drawingml/2006/main">
              <a:ext uri="{FF2B5EF4-FFF2-40B4-BE49-F238E27FC236}">
                <a16:creationId xmlns:a16="http://schemas.microsoft.com/office/drawing/2014/main" id="{709FCC33-3003-4C17-A6CC-6B63B1B71AF7}"/>
              </a:ext>
            </a:extLst>
          </p:cNvPr>
          <p:cNvSpPr>
            <a:spLocks xmlns:a="http://schemas.openxmlformats.org/drawingml/2006/main" noGrp="1"/>
          </p:cNvSpPr>
          <p:nvPr/>
        </p:nvSpPr>
        <p:spPr>
          <a:xfrm xmlns:a="http://schemas.openxmlformats.org/drawingml/2006/main">
            <a:off x="4191000" y="5619750"/>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E85555"/>
                </a:solidFill>
                <a:latin typeface="DejaVu Sans"/>
                <a:ea typeface="DejaVu Sans"/>
                <a:cs typeface="DejaVu Sans"/>
              </a:defRPr>
            </a:defPPr>
          </a:lstStyle>
          <a:p xmlns:a="http://schemas.openxmlformats.org/drawingml/2006/main">
            <a:pPr>
              <a:defRPr sz="1650" b="1">
                <a:solidFill>
                  <a:srgbClr val="E85555"/>
                </a:solidFill>
                <a:latin typeface="DejaVu Sans"/>
                <a:ea typeface="DejaVu Sans"/>
                <a:cs typeface="DejaVu Sans"/>
              </a:defRPr>
            </a:pPr>
            <a:r>
              <a:rPr sz="1650" b="1">
                <a:solidFill>
                  <a:srgbClr val="E85555"/>
                </a:solidFill>
                <a:latin typeface="DejaVu Sans"/>
                <a:ea typeface="DejaVu Sans"/>
                <a:cs typeface="DejaVu Sans"/>
              </a:rPr>
              <a:t>Класс 2</a:t>
            </a:r>
          </a:p>
        </p:txBody>
      </p:sp>
      <p:sp>
        <p:nvSpPr>
          <p:cNvPr id="32" name="text-80">
            <a:extLst xmlns:a="http://schemas.openxmlformats.org/drawingml/2006/main">
              <a:ext uri="{FF2B5EF4-FFF2-40B4-BE49-F238E27FC236}">
                <a16:creationId xmlns:a16="http://schemas.microsoft.com/office/drawing/2014/main" id="{0D425BE8-6EB6-4759-98BA-B2A40E66F293}"/>
              </a:ext>
            </a:extLst>
          </p:cNvPr>
          <p:cNvSpPr>
            <a:spLocks xmlns:a="http://schemas.openxmlformats.org/drawingml/2006/main" noGrp="1"/>
          </p:cNvSpPr>
          <p:nvPr/>
        </p:nvSpPr>
        <p:spPr>
          <a:xfrm xmlns:a="http://schemas.openxmlformats.org/drawingml/2006/main">
            <a:off x="7143750" y="2095500"/>
            <a:ext cx="4286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008C95"/>
                </a:solidFill>
                <a:latin typeface="DejaVu Sans"/>
                <a:ea typeface="DejaVu Sans"/>
                <a:cs typeface="DejaVu Sans"/>
              </a:defRPr>
            </a:defPPr>
          </a:lstStyle>
          <a:p xmlns:a="http://schemas.openxmlformats.org/drawingml/2006/main">
            <a:pPr>
              <a:defRPr sz="2250" b="1">
                <a:solidFill>
                  <a:srgbClr val="008C95"/>
                </a:solidFill>
                <a:latin typeface="DejaVu Sans"/>
                <a:ea typeface="DejaVu Sans"/>
                <a:cs typeface="DejaVu Sans"/>
              </a:defRPr>
            </a:pPr>
            <a:r>
              <a:rPr sz="2250" b="1">
                <a:solidFill>
                  <a:srgbClr val="008C95"/>
                </a:solidFill>
                <a:latin typeface="DejaVu Sans"/>
                <a:ea typeface="DejaVu Sans"/>
                <a:cs typeface="DejaVu Sans"/>
              </a:rPr>
              <a:t>Мягкий зазор</a:t>
            </a:r>
          </a:p>
        </p:txBody>
      </p:sp>
      <p:sp>
        <p:nvSpPr>
          <p:cNvPr id="33" name="text-81">
            <a:extLst xmlns:a="http://schemas.openxmlformats.org/drawingml/2006/main">
              <a:ext uri="{FF2B5EF4-FFF2-40B4-BE49-F238E27FC236}">
                <a16:creationId xmlns:a16="http://schemas.microsoft.com/office/drawing/2014/main" id="{5A2E7D88-2A2D-48A5-A80F-2D7719079DBC}"/>
              </a:ext>
            </a:extLst>
          </p:cNvPr>
          <p:cNvSpPr>
            <a:spLocks xmlns:a="http://schemas.openxmlformats.org/drawingml/2006/main" noGrp="1"/>
          </p:cNvSpPr>
          <p:nvPr/>
        </p:nvSpPr>
        <p:spPr>
          <a:xfrm xmlns:a="http://schemas.openxmlformats.org/drawingml/2006/main">
            <a:off x="7143750" y="2600325"/>
            <a:ext cx="4286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101C32"/>
                </a:solidFill>
                <a:latin typeface="DejaVu Sans"/>
                <a:ea typeface="DejaVu Sans"/>
                <a:cs typeface="DejaVu Sans"/>
              </a:defRPr>
            </a:defPPr>
          </a:lstStyle>
          <a:p xmlns:a="http://schemas.openxmlformats.org/drawingml/2006/main">
            <a:pPr>
              <a:defRPr sz="1950" b="0">
                <a:solidFill>
                  <a:srgbClr val="101C32"/>
                </a:solidFill>
                <a:latin typeface="DejaVu Sans"/>
                <a:ea typeface="DejaVu Sans"/>
                <a:cs typeface="DejaVu Sans"/>
              </a:defRPr>
            </a:pPr>
            <a:r>
              <a:rPr sz="1950" b="0">
                <a:solidFill>
                  <a:srgbClr val="101C32"/>
                </a:solidFill>
                <a:latin typeface="DejaVu Sans"/>
                <a:ea typeface="DejaVu Sans"/>
                <a:cs typeface="DejaVu Sans"/>
              </a:rPr>
              <a:t>Допускает объекты внутри</a:t>
            </a:r>
          </a:p>
          <a:p xmlns:a="http://schemas.openxmlformats.org/drawingml/2006/main">
            <a:pPr>
              <a:defRPr sz="1950" b="0">
                <a:solidFill>
                  <a:srgbClr val="101C32"/>
                </a:solidFill>
                <a:latin typeface="DejaVu Sans"/>
                <a:ea typeface="DejaVu Sans"/>
                <a:cs typeface="DejaVu Sans"/>
              </a:defRPr>
            </a:pPr>
            <a:r>
              <a:rPr sz="1950" b="0">
                <a:solidFill>
                  <a:srgbClr val="101C32"/>
                </a:solidFill>
                <a:latin typeface="DejaVu Sans"/>
                <a:ea typeface="DejaVu Sans"/>
                <a:cs typeface="DejaVu Sans"/>
              </a:rPr>
              <a:t>полосы и на неверной стороне.</a:t>
            </a:r>
          </a:p>
          <a:p xmlns:a="http://schemas.openxmlformats.org/drawingml/2006/main">
            <a:pPr>
              <a:defRPr sz="1950" b="0">
                <a:solidFill>
                  <a:srgbClr val="101C32"/>
                </a:solidFill>
                <a:latin typeface="DejaVu Sans"/>
                <a:ea typeface="DejaVu Sans"/>
                <a:cs typeface="DejaVu Sans"/>
              </a:defRPr>
            </a:pPr>
            <a:r>
              <a:rPr sz="1950" b="0">
                <a:solidFill>
                  <a:srgbClr val="101C32"/>
                </a:solidFill>
                <a:latin typeface="DejaVu Sans"/>
                <a:ea typeface="DejaVu Sans"/>
                <a:cs typeface="DejaVu Sans"/>
              </a:rPr>
              <a:t>За нарушения есть штраф.</a:t>
            </a:r>
          </a:p>
        </p:txBody>
      </p:sp>
      <p:sp>
        <p:nvSpPr>
          <p:cNvPr id="34" name="text-82">
            <a:extLst xmlns:a="http://schemas.openxmlformats.org/drawingml/2006/main">
              <a:ext uri="{FF2B5EF4-FFF2-40B4-BE49-F238E27FC236}">
                <a16:creationId xmlns:a16="http://schemas.microsoft.com/office/drawing/2014/main" id="{BED5CFB6-87BC-4C92-BBCC-DCD0FEBAF1B2}"/>
              </a:ext>
            </a:extLst>
          </p:cNvPr>
          <p:cNvSpPr>
            <a:spLocks xmlns:a="http://schemas.openxmlformats.org/drawingml/2006/main" noGrp="1"/>
          </p:cNvSpPr>
          <p:nvPr/>
        </p:nvSpPr>
        <p:spPr>
          <a:xfrm xmlns:a="http://schemas.openxmlformats.org/drawingml/2006/main">
            <a:off x="7143750" y="4048125"/>
            <a:ext cx="4286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01C32"/>
                </a:solidFill>
                <a:latin typeface="DejaVu Sans"/>
                <a:ea typeface="DejaVu Sans"/>
                <a:cs typeface="DejaVu Sans"/>
              </a:defRPr>
            </a:defPPr>
          </a:lstStyle>
          <a:p xmlns:a="http://schemas.openxmlformats.org/drawingml/2006/main">
            <a:pPr>
              <a:defRPr sz="2025" b="1">
                <a:solidFill>
                  <a:srgbClr val="101C32"/>
                </a:solidFill>
                <a:latin typeface="DejaVu Sans"/>
                <a:ea typeface="DejaVu Sans"/>
                <a:cs typeface="DejaVu Sans"/>
              </a:defRPr>
            </a:pPr>
            <a:r>
              <a:rPr sz="2025" b="1">
                <a:solidFill>
                  <a:srgbClr val="101C32"/>
                </a:solidFill>
                <a:latin typeface="DejaVu Sans"/>
                <a:ea typeface="DejaVu Sans"/>
                <a:cs typeface="DejaVu Sans"/>
              </a:rPr>
              <a:t>C — цена нарушений.</a:t>
            </a:r>
          </a:p>
        </p:txBody>
      </p:sp>
      <p:sp>
        <p:nvSpPr>
          <p:cNvPr id="35" name="text-83">
            <a:extLst xmlns:a="http://schemas.openxmlformats.org/drawingml/2006/main">
              <a:ext uri="{FF2B5EF4-FFF2-40B4-BE49-F238E27FC236}">
                <a16:creationId xmlns:a16="http://schemas.microsoft.com/office/drawing/2014/main" id="{C455E75B-8E54-431C-B8D7-474FC0604335}"/>
              </a:ext>
            </a:extLst>
          </p:cNvPr>
          <p:cNvSpPr>
            <a:spLocks xmlns:a="http://schemas.openxmlformats.org/drawingml/2006/main" noGrp="1"/>
          </p:cNvSpPr>
          <p:nvPr/>
        </p:nvSpPr>
        <p:spPr>
          <a:xfrm xmlns:a="http://schemas.openxmlformats.org/drawingml/2006/main">
            <a:off x="7143750" y="4667250"/>
            <a:ext cx="4286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Опорные векторы — примеры,</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участвующие в определении</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границы. На схеме — в кольцах.</a:t>
            </a:r>
          </a:p>
        </p:txBody>
      </p:sp>
      <p:sp>
        <p:nvSpPr>
          <p:cNvPr id="36" name="text-84">
            <a:extLst xmlns:a="http://schemas.openxmlformats.org/drawingml/2006/main">
              <a:ext uri="{FF2B5EF4-FFF2-40B4-BE49-F238E27FC236}">
                <a16:creationId xmlns:a16="http://schemas.microsoft.com/office/drawing/2014/main" id="{055E3EB8-A50C-44D4-8C53-F9D15FEDF1DF}"/>
              </a:ext>
            </a:extLst>
          </p:cNvPr>
          <p:cNvSpPr>
            <a:spLocks xmlns:a="http://schemas.openxmlformats.org/drawingml/2006/main" noGrp="1"/>
          </p:cNvSpPr>
          <p:nvPr/>
        </p:nvSpPr>
        <p:spPr>
          <a:xfrm xmlns:a="http://schemas.openxmlformats.org/drawingml/2006/main">
            <a:off x="857250" y="60769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377"/>
                </a:solidFill>
                <a:latin typeface="DejaVu Sans"/>
                <a:ea typeface="DejaVu Sans"/>
                <a:cs typeface="DejaVu Sans"/>
              </a:defRPr>
            </a:defPPr>
          </a:lstStyle>
          <a:p xmlns:a="http://schemas.openxmlformats.org/drawingml/2006/main">
            <a:pPr>
              <a:defRPr sz="1350" b="0">
                <a:solidFill>
                  <a:srgbClr val="536377"/>
                </a:solidFill>
                <a:latin typeface="DejaVu Sans"/>
                <a:ea typeface="DejaVu Sans"/>
                <a:cs typeface="DejaVu Sans"/>
              </a:defRPr>
            </a:pPr>
            <a:r>
              <a:rPr sz="1350" b="0">
                <a:solidFill>
                  <a:srgbClr val="536377"/>
                </a:solidFill>
                <a:latin typeface="DejaVu Sans"/>
                <a:ea typeface="DejaVu Sans"/>
                <a:cs typeface="DejaVu Sans"/>
              </a:rPr>
              <a:t>Схема обучения; учебные классы пока обозначены условно.</a:t>
            </a:r>
          </a:p>
        </p:txBody>
      </p:sp>
    </p:spTree>
    <p:extLst>
      <p:ext uri="{BB962C8B-B14F-4D97-AF65-F5344CB8AC3E}">
        <p14:creationId xmlns:p14="http://schemas.microsoft.com/office/powerpoint/2010/main" val="424190696"/>
      </p:ext>
    </p:extLst>
  </p:cSld>
</p:sld>
</file>

<file path=ppt/slides/slide11.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9" name="text-85">
            <a:extLst xmlns:a="http://schemas.openxmlformats.org/drawingml/2006/main">
              <a:ext uri="{FF2B5EF4-FFF2-40B4-BE49-F238E27FC236}">
                <a16:creationId xmlns:a16="http://schemas.microsoft.com/office/drawing/2014/main" id="{946B34F2-CC65-4919-B970-C0C8B2D63CC9}"/>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Геометрический отступ и запас прочности</a:t>
            </a:r>
          </a:p>
        </p:txBody>
      </p:sp>
      <p:sp>
        <p:nvSpPr>
          <p:cNvPr id="2" name="text-86">
            <a:extLst xmlns:a="http://schemas.openxmlformats.org/drawingml/2006/main">
              <a:ext uri="{FF2B5EF4-FFF2-40B4-BE49-F238E27FC236}">
                <a16:creationId xmlns:a16="http://schemas.microsoft.com/office/drawing/2014/main" id="{07105CE1-E9B2-429C-9FB5-DD58C260D4AA}"/>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Для уже обученной линейной модели</a:t>
            </a:r>
          </a:p>
        </p:txBody>
      </p:sp>
      <p:sp>
        <p:nvSpPr>
          <p:cNvPr id="3" name="">
            <a:extLst xmlns:a="http://schemas.openxmlformats.org/drawingml/2006/main">
              <a:ext uri="{FF2B5EF4-FFF2-40B4-BE49-F238E27FC236}">
                <a16:creationId xmlns:a16="http://schemas.microsoft.com/office/drawing/2014/main" id="{23A07D65-7FBA-4946-84F0-2BF13657CF36}"/>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87">
            <a:extLst xmlns:a="http://schemas.openxmlformats.org/drawingml/2006/main">
              <a:ext uri="{FF2B5EF4-FFF2-40B4-BE49-F238E27FC236}">
                <a16:creationId xmlns:a16="http://schemas.microsoft.com/office/drawing/2014/main" id="{5FB13478-172D-44E2-A79C-AAE26979FF08}"/>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[2, 6]</a:t>
            </a:r>
          </a:p>
        </p:txBody>
      </p:sp>
      <p:sp>
        <p:nvSpPr>
          <p:cNvPr id="5" name="text-88">
            <a:extLst xmlns:a="http://schemas.openxmlformats.org/drawingml/2006/main">
              <a:ext uri="{FF2B5EF4-FFF2-40B4-BE49-F238E27FC236}">
                <a16:creationId xmlns:a16="http://schemas.microsoft.com/office/drawing/2014/main" id="{088CCD33-3A39-4FAD-9574-64115D1FEAB9}"/>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a:t>
            </a:r>
          </a:p>
        </p:txBody>
      </p:sp>
      <p:graphicFrame>
        <p:nvGraphicFramePr>
          <p:cNvPr id="6" name="">
            <a:extLst xmlns:a="http://schemas.openxmlformats.org/drawingml/2006/main">
              <a:ext uri="{FF2B5EF4-FFF2-40B4-BE49-F238E27FC236}">
                <a16:creationId xmlns:a16="http://schemas.microsoft.com/office/drawing/2014/main" id="{5DE82DB2-7E1F-439F-B780-708D1A29124F}"/>
              </a:ext>
            </a:extLst>
          </p:cNvPr>
          <p:cNvGraphicFramePr/>
          <p:nvPr/>
        </p:nvGraphicFramePr>
        <p:xfrm>
          <a:off xmlns:a="http://schemas.openxmlformats.org/drawingml/2006/main" x="571500" y="2124075"/>
          <a:ext xmlns:a="http://schemas.openxmlformats.org/drawingml/2006/main" cx="11049000" cy="2505075"/>
        </p:xfrm>
        <a:graphic xmlns:a="http://schemas.openxmlformats.org/drawingml/2006/main">
          <a:graphicData uri="http://schemas.openxmlformats.org/drawingml/2006/table">
            <a:tbl>
              <a:tblPr/>
              <a:tblGrid>
                <a:gridCol w="5524500"/>
                <a:gridCol w="5524500"/>
              </a:tblGrid>
              <a:tr h="835025">
                <a:tc>
                  <a:txBody>
                    <a:bodyPr lIns="114300" tIns="95250" rIns="95250" bIns="76200"/>
                    <a:lstStyle/>
                    <a:p>
                      <a:r>
                        <a:rPr sz="1950" b="1">
                          <a:solidFill>
                            <a:srgbClr val="FFFFFF"/>
                          </a:solidFill>
                          <a:latin typeface="DejaVu Sans"/>
                          <a:ea typeface="DejaVu Sans"/>
                          <a:cs typeface="DejaVu Sans"/>
                        </a:rPr>
                        <a:t>Что измеряем</a:t>
                      </a:r>
                    </a:p>
                  </a:txBody>
                  <a:tcPr marL="91440" marR="91440" marT="45720" marB="45720" anchor="ctr">
                    <a:solidFill>
                      <a:srgbClr val="101C32"/>
                    </a:solidFill>
                  </a:tcPr>
                </a:tc>
                <a:tc>
                  <a:txBody>
                    <a:bodyPr lIns="114300" tIns="95250" rIns="95250" bIns="76200"/>
                    <a:lstStyle/>
                    <a:p>
                      <a:r>
                        <a:rPr sz="1950" b="1">
                          <a:solidFill>
                            <a:srgbClr val="FFFFFF"/>
                          </a:solidFill>
                          <a:latin typeface="DejaVu Sans"/>
                          <a:ea typeface="DejaVu Sans"/>
                          <a:cs typeface="DejaVu Sans"/>
                        </a:rPr>
                        <a:t>Как читаем</a:t>
                      </a:r>
                    </a:p>
                  </a:txBody>
                  <a:tcPr marL="91440" marR="91440" marT="45720" marB="45720" anchor="ctr">
                    <a:solidFill>
                      <a:srgbClr val="101C32"/>
                    </a:solidFill>
                  </a:tcPr>
                </a:tc>
              </a:tr>
              <a:tr h="835025">
                <a:tc>
                  <a:txBody>
                    <a:bodyPr lIns="114300" tIns="95250" rIns="95250" bIns="76200"/>
                    <a:lstStyle/>
                    <a:p>
                      <a:r>
                        <a:rPr sz="1950" b="0">
                          <a:solidFill>
                            <a:srgbClr val="101C32"/>
                          </a:solidFill>
                          <a:latin typeface="DejaVu Sans"/>
                          <a:ea typeface="DejaVu Sans"/>
                          <a:cs typeface="DejaVu Sans"/>
                        </a:rPr>
                        <a:t>Геометрический отступ γ</a:t>
                      </a:r>
                    </a:p>
                    <a:p>
                      <a:r>
                        <a:rPr sz="1950" b="0">
                          <a:solidFill>
                            <a:srgbClr val="101C32"/>
                          </a:solidFill>
                          <a:latin typeface="DejaVu Sans"/>
                          <a:ea typeface="DejaVu Sans"/>
                          <a:cs typeface="DejaVu Sans"/>
                        </a:rPr>
                        <a:t>Расстояние до границы со знаком</a:t>
                      </a:r>
                    </a:p>
                  </a:txBody>
                  <a:tcPr marL="91440" marR="91440" marT="45720" marB="45720" anchor="ctr">
                    <a:solidFill>
                      <a:srgbClr val="FFFFFF"/>
                    </a:solidFill>
                  </a:tcPr>
                </a:tc>
                <a:tc>
                  <a:txBody>
                    <a:bodyPr lIns="114300" tIns="95250" rIns="95250" bIns="76200"/>
                    <a:lstStyle/>
                    <a:p>
                      <a:r>
                        <a:rPr sz="1950" b="0">
                          <a:solidFill>
                            <a:srgbClr val="101C32"/>
                          </a:solidFill>
                          <a:latin typeface="DejaVu Sans"/>
                          <a:ea typeface="DejaVu Sans"/>
                          <a:cs typeface="DejaVu Sans"/>
                        </a:rPr>
                        <a:t>+ на правильной стороне</a:t>
                      </a:r>
                    </a:p>
                    <a:p>
                      <a:r>
                        <a:rPr sz="1950" b="0">
                          <a:solidFill>
                            <a:srgbClr val="101C32"/>
                          </a:solidFill>
                          <a:latin typeface="DejaVu Sans"/>
                          <a:ea typeface="DejaVu Sans"/>
                          <a:cs typeface="DejaVu Sans"/>
                        </a:rPr>
                        <a:t>− на ошибочной; нужна метка</a:t>
                      </a:r>
                    </a:p>
                  </a:txBody>
                  <a:tcPr marL="91440" marR="91440" marT="45720" marB="45720" anchor="ctr">
                    <a:solidFill>
                      <a:srgbClr val="FFFFFF"/>
                    </a:solidFill>
                  </a:tcPr>
                </a:tc>
              </a:tr>
              <a:tr h="835025">
                <a:tc>
                  <a:txBody>
                    <a:bodyPr lIns="114300" tIns="95250" rIns="95250" bIns="76200"/>
                    <a:lstStyle/>
                    <a:p>
                      <a:r>
                        <a:rPr sz="1950" b="0">
                          <a:solidFill>
                            <a:srgbClr val="101C32"/>
                          </a:solidFill>
                          <a:latin typeface="DejaVu Sans"/>
                          <a:ea typeface="DejaVu Sans"/>
                          <a:cs typeface="DejaVu Sans"/>
                        </a:rPr>
                        <a:t>Расстояние без знака r = |γ|</a:t>
                      </a:r>
                    </a:p>
                    <a:p>
                      <a:r>
                        <a:rPr sz="1950" b="0">
                          <a:solidFill>
                            <a:srgbClr val="101C32"/>
                          </a:solidFill>
                          <a:latin typeface="DejaVu Sans"/>
                          <a:ea typeface="DejaVu Sans"/>
                          <a:cs typeface="DejaVu Sans"/>
                        </a:rPr>
                        <a:t>Запас сохранения текущего ответа</a:t>
                      </a:r>
                    </a:p>
                  </a:txBody>
                  <a:tcPr marL="91440" marR="91440" marT="45720" marB="45720" anchor="ctr">
                    <a:solidFill>
                      <a:srgbClr val="EAF0F4"/>
                    </a:solidFill>
                  </a:tcPr>
                </a:tc>
                <a:tc>
                  <a:txBody>
                    <a:bodyPr lIns="114300" tIns="95250" rIns="95250" bIns="76200"/>
                    <a:lstStyle/>
                    <a:p>
                      <a:r>
                        <a:rPr sz="1950" b="0">
                          <a:solidFill>
                            <a:srgbClr val="101C32"/>
                          </a:solidFill>
                          <a:latin typeface="DejaVu Sans"/>
                          <a:ea typeface="DejaVu Sans"/>
                          <a:cs typeface="DejaVu Sans"/>
                        </a:rPr>
                        <a:t>Как мало нужно изменить признаки,</a:t>
                      </a:r>
                    </a:p>
                    <a:p>
                      <a:r>
                        <a:rPr sz="1950" b="0">
                          <a:solidFill>
                            <a:srgbClr val="101C32"/>
                          </a:solidFill>
                          <a:latin typeface="DejaVu Sans"/>
                          <a:ea typeface="DejaVu Sans"/>
                          <a:cs typeface="DejaVu Sans"/>
                        </a:rPr>
                        <a:t>чтобы дойти до границы</a:t>
                      </a:r>
                    </a:p>
                  </a:txBody>
                  <a:tcPr marL="91440" marR="91440" marT="45720" marB="45720" anchor="ctr">
                    <a:solidFill>
                      <a:srgbClr val="EAF0F4"/>
                    </a:solidFill>
                  </a:tcPr>
                </a:tc>
              </a:tr>
            </a:tbl>
          </a:graphicData>
        </a:graphic>
      </p:graphicFrame>
      <p:sp>
        <p:nvSpPr>
          <p:cNvPr id="7" name="text-89">
            <a:extLst xmlns:a="http://schemas.openxmlformats.org/drawingml/2006/main">
              <a:ext uri="{FF2B5EF4-FFF2-40B4-BE49-F238E27FC236}">
                <a16:creationId xmlns:a16="http://schemas.microsoft.com/office/drawing/2014/main" id="{6C106C8B-53C4-4796-8719-D094499448C8}"/>
              </a:ext>
            </a:extLst>
          </p:cNvPr>
          <p:cNvSpPr>
            <a:spLocks xmlns:a="http://schemas.openxmlformats.org/drawingml/2006/main" noGrp="1"/>
          </p:cNvSpPr>
          <p:nvPr/>
        </p:nvSpPr>
        <p:spPr>
          <a:xfrm xmlns:a="http://schemas.openxmlformats.org/drawingml/2006/main">
            <a:off x="571500" y="4953000"/>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01C32"/>
                </a:solidFill>
                <a:latin typeface="DejaVu Sans"/>
                <a:ea typeface="DejaVu Sans"/>
                <a:cs typeface="DejaVu Sans"/>
              </a:defRPr>
            </a:defPPr>
          </a:lstStyle>
          <a:p xmlns:a="http://schemas.openxmlformats.org/drawingml/2006/main">
            <a:pPr>
              <a:defRPr sz="2025" b="1">
                <a:solidFill>
                  <a:srgbClr val="101C32"/>
                </a:solidFill>
                <a:latin typeface="DejaVu Sans"/>
                <a:ea typeface="DejaVu Sans"/>
                <a:cs typeface="DejaVu Sans"/>
              </a:defRPr>
            </a:pPr>
            <a:r>
              <a:rPr sz="2025" b="1">
                <a:solidFill>
                  <a:srgbClr val="101C32"/>
                </a:solidFill>
                <a:latin typeface="DejaVu Sans"/>
                <a:ea typeface="DejaVu Sans"/>
                <a:cs typeface="DejaVu Sans"/>
              </a:rPr>
              <a:t>Это расстояние в выбранном масштабе, а не вероятность.</a:t>
            </a:r>
          </a:p>
          <a:p xmlns:a="http://schemas.openxmlformats.org/drawingml/2006/main">
            <a:pPr>
              <a:defRPr sz="2025" b="1">
                <a:solidFill>
                  <a:srgbClr val="101C32"/>
                </a:solidFill>
                <a:latin typeface="DejaVu Sans"/>
                <a:ea typeface="DejaVu Sans"/>
                <a:cs typeface="DejaVu Sans"/>
              </a:defRPr>
            </a:pPr>
            <a:r>
              <a:rPr sz="2025" b="1">
                <a:solidFill>
                  <a:srgbClr val="101C32"/>
                </a:solidFill>
                <a:latin typeface="DejaVu Sans"/>
                <a:ea typeface="DejaVu Sans"/>
                <a:cs typeface="DejaVu Sans"/>
              </a:rPr>
              <a:t>Большой запас может сохранять ошибочный ответ.</a:t>
            </a:r>
          </a:p>
        </p:txBody>
      </p:sp>
      <p:sp>
        <p:nvSpPr>
          <p:cNvPr id="8" name="text-90">
            <a:extLst xmlns:a="http://schemas.openxmlformats.org/drawingml/2006/main">
              <a:ext uri="{FF2B5EF4-FFF2-40B4-BE49-F238E27FC236}">
                <a16:creationId xmlns:a16="http://schemas.microsoft.com/office/drawing/2014/main" id="{636EDA27-423B-4ADD-9C65-974BC893D644}"/>
              </a:ext>
            </a:extLst>
          </p:cNvPr>
          <p:cNvSpPr>
            <a:spLocks xmlns:a="http://schemas.openxmlformats.org/drawingml/2006/main" noGrp="1"/>
          </p:cNvSpPr>
          <p:nvPr/>
        </p:nvSpPr>
        <p:spPr>
          <a:xfrm xmlns:a="http://schemas.openxmlformats.org/drawingml/2006/main">
            <a:off x="571500" y="6010275"/>
            <a:ext cx="1104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Отступ для эталонов и геометрический отступ SVM определены по-разному.</a:t>
            </a:r>
          </a:p>
        </p:txBody>
      </p:sp>
    </p:spTree>
    <p:extLst>
      <p:ext uri="{BB962C8B-B14F-4D97-AF65-F5344CB8AC3E}">
        <p14:creationId xmlns:p14="http://schemas.microsoft.com/office/powerpoint/2010/main" val="143402806"/>
      </p:ext>
    </p:extLst>
  </p:cSld>
</p:sld>
</file>

<file path=ppt/slides/slide12.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9" name="text-91">
            <a:extLst xmlns:a="http://schemas.openxmlformats.org/drawingml/2006/main">
              <a:ext uri="{FF2B5EF4-FFF2-40B4-BE49-F238E27FC236}">
                <a16:creationId xmlns:a16="http://schemas.microsoft.com/office/drawing/2014/main" id="{46E0BB56-6E6D-41F6-A73D-2D8CCC06027E}"/>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Что такое пограничный объект</a:t>
            </a:r>
          </a:p>
        </p:txBody>
      </p:sp>
      <p:sp>
        <p:nvSpPr>
          <p:cNvPr id="2" name="">
            <a:extLst xmlns:a="http://schemas.openxmlformats.org/drawingml/2006/main">
              <a:ext uri="{FF2B5EF4-FFF2-40B4-BE49-F238E27FC236}">
                <a16:creationId xmlns:a16="http://schemas.microsoft.com/office/drawing/2014/main" id="{21EB12B5-A132-439A-A2A1-5731A733A283}"/>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3" name="text-92">
            <a:extLst xmlns:a="http://schemas.openxmlformats.org/drawingml/2006/main">
              <a:ext uri="{FF2B5EF4-FFF2-40B4-BE49-F238E27FC236}">
                <a16:creationId xmlns:a16="http://schemas.microsoft.com/office/drawing/2014/main" id="{E8D963CE-9342-4016-9139-6A13B5DA498C}"/>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4" name="text-93">
            <a:extLst xmlns:a="http://schemas.openxmlformats.org/drawingml/2006/main">
              <a:ext uri="{FF2B5EF4-FFF2-40B4-BE49-F238E27FC236}">
                <a16:creationId xmlns:a16="http://schemas.microsoft.com/office/drawing/2014/main" id="{A47E321E-D034-45FC-92C2-6880F099A45E}"/>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12</a:t>
            </a:r>
          </a:p>
        </p:txBody>
      </p:sp>
      <p:sp>
        <p:nvSpPr>
          <p:cNvPr id="5" name="text-94">
            <a:extLst xmlns:a="http://schemas.openxmlformats.org/drawingml/2006/main">
              <a:ext uri="{FF2B5EF4-FFF2-40B4-BE49-F238E27FC236}">
                <a16:creationId xmlns:a16="http://schemas.microsoft.com/office/drawing/2014/main" id="{79D4C060-AABE-42F3-A3DF-8E94D2D1ABE2}"/>
              </a:ext>
            </a:extLst>
          </p:cNvPr>
          <p:cNvSpPr>
            <a:spLocks xmlns:a="http://schemas.openxmlformats.org/drawingml/2006/main" noGrp="1"/>
          </p:cNvSpPr>
          <p:nvPr/>
        </p:nvSpPr>
        <p:spPr>
          <a:xfrm xmlns:a="http://schemas.openxmlformats.org/drawingml/2006/main">
            <a:off x="571500" y="1924050"/>
            <a:ext cx="11049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101C32"/>
                </a:solidFill>
                <a:latin typeface="DejaVu Sans"/>
                <a:ea typeface="DejaVu Sans"/>
                <a:cs typeface="DejaVu Sans"/>
              </a:defRPr>
            </a:defPPr>
          </a:lstStyle>
          <a:p xmlns:a="http://schemas.openxmlformats.org/drawingml/2006/main">
            <a:pPr>
              <a:defRPr sz="2400" b="1">
                <a:solidFill>
                  <a:srgbClr val="101C32"/>
                </a:solidFill>
                <a:latin typeface="DejaVu Sans"/>
                <a:ea typeface="DejaVu Sans"/>
                <a:cs typeface="DejaVu Sans"/>
              </a:defRPr>
            </a:pPr>
            <a:r>
              <a:rPr sz="2400" b="1">
                <a:solidFill>
                  <a:srgbClr val="101C32"/>
                </a:solidFill>
                <a:latin typeface="DejaVu Sans"/>
                <a:ea typeface="DejaVu Sans"/>
                <a:cs typeface="DejaVu Sans"/>
              </a:rPr>
              <a:t>Пограничный объект близок к границе: небольшое изменение</a:t>
            </a:r>
          </a:p>
          <a:p xmlns:a="http://schemas.openxmlformats.org/drawingml/2006/main">
            <a:pPr>
              <a:defRPr sz="2400" b="1">
                <a:solidFill>
                  <a:srgbClr val="101C32"/>
                </a:solidFill>
                <a:latin typeface="DejaVu Sans"/>
                <a:ea typeface="DejaVu Sans"/>
                <a:cs typeface="DejaVu Sans"/>
              </a:defRPr>
            </a:pPr>
            <a:r>
              <a:rPr sz="2400" b="1">
                <a:solidFill>
                  <a:srgbClr val="101C32"/>
                </a:solidFill>
                <a:latin typeface="DejaVu Sans"/>
                <a:ea typeface="DejaVu Sans"/>
                <a:cs typeface="DejaVu Sans"/>
              </a:rPr>
              <a:t>признаков может изменить прогноз.</a:t>
            </a:r>
          </a:p>
        </p:txBody>
      </p:sp>
      <p:graphicFrame>
        <p:nvGraphicFramePr>
          <p:cNvPr id="6" name="">
            <a:extLst xmlns:a="http://schemas.openxmlformats.org/drawingml/2006/main">
              <a:ext uri="{FF2B5EF4-FFF2-40B4-BE49-F238E27FC236}">
                <a16:creationId xmlns:a16="http://schemas.microsoft.com/office/drawing/2014/main" id="{38767CC0-4F5C-49D0-B3D5-E3C5614838B1}"/>
              </a:ext>
            </a:extLst>
          </p:cNvPr>
          <p:cNvGraphicFramePr/>
          <p:nvPr/>
        </p:nvGraphicFramePr>
        <p:xfrm>
          <a:off xmlns:a="http://schemas.openxmlformats.org/drawingml/2006/main" x="571500" y="3343275"/>
          <a:ext xmlns:a="http://schemas.openxmlformats.org/drawingml/2006/main" cx="11049000" cy="2000250"/>
        </p:xfrm>
        <a:graphic xmlns:a="http://schemas.openxmlformats.org/drawingml/2006/main">
          <a:graphicData uri="http://schemas.openxmlformats.org/drawingml/2006/table">
            <a:tbl>
              <a:tblPr/>
              <a:tblGrid>
                <a:gridCol w="5524500"/>
                <a:gridCol w="5524500"/>
              </a:tblGrid>
              <a:tr h="666750">
                <a:tc>
                  <a:txBody>
                    <a:bodyPr lIns="114300" tIns="95250" rIns="95250" bIns="76200"/>
                    <a:lstStyle/>
                    <a:p>
                      <a:r>
                        <a:rPr sz="2025" b="1">
                          <a:solidFill>
                            <a:srgbClr val="FFFFFF"/>
                          </a:solidFill>
                          <a:latin typeface="DejaVu Sans"/>
                          <a:ea typeface="DejaVu Sans"/>
                          <a:cs typeface="DejaVu Sans"/>
                        </a:rPr>
                        <a:t>Зазор SVM</a:t>
                      </a:r>
                    </a:p>
                  </a:txBody>
                  <a:tcPr marL="91440" marR="91440" marT="45720" marB="45720" anchor="ctr">
                    <a:solidFill>
                      <a:srgbClr val="101C32"/>
                    </a:solidFill>
                  </a:tcPr>
                </a:tc>
                <a:tc>
                  <a:txBody>
                    <a:bodyPr lIns="114300" tIns="95250" rIns="95250" bIns="76200"/>
                    <a:lstStyle/>
                    <a:p>
                      <a:r>
                        <a:rPr sz="2025" b="1">
                          <a:solidFill>
                            <a:srgbClr val="FFFFFF"/>
                          </a:solidFill>
                          <a:latin typeface="DejaVu Sans"/>
                          <a:ea typeface="DejaVu Sans"/>
                          <a:cs typeface="DejaVu Sans"/>
                        </a:rPr>
                        <a:t>Полоса перепроверки</a:t>
                      </a:r>
                    </a:p>
                  </a:txBody>
                  <a:tcPr marL="91440" marR="91440" marT="45720" marB="45720" anchor="ctr">
                    <a:solidFill>
                      <a:srgbClr val="101C32"/>
                    </a:solidFill>
                  </a:tcPr>
                </a:tc>
              </a:tr>
              <a:tr h="666750">
                <a:tc>
                  <a:txBody>
                    <a:bodyPr lIns="114300" tIns="95250" rIns="95250" bIns="76200"/>
                    <a:lstStyle/>
                    <a:p>
                      <a:r>
                        <a:rPr sz="2025" b="0">
                          <a:solidFill>
                            <a:srgbClr val="101C32"/>
                          </a:solidFill>
                          <a:latin typeface="DejaVu Sans"/>
                          <a:ea typeface="DejaVu Sans"/>
                          <a:cs typeface="DejaVu Sans"/>
                        </a:rPr>
                        <a:t>Участвует в обучении модели</a:t>
                      </a:r>
                    </a:p>
                  </a:txBody>
                  <a:tcPr marL="91440" marR="91440" marT="45720" marB="45720" anchor="ctr">
                    <a:solidFill>
                      <a:srgbClr val="FFFFFF"/>
                    </a:solidFill>
                  </a:tcPr>
                </a:tc>
                <a:tc>
                  <a:txBody>
                    <a:bodyPr lIns="114300" tIns="95250" rIns="95250" bIns="76200"/>
                    <a:lstStyle/>
                    <a:p>
                      <a:r>
                        <a:rPr sz="2025" b="0">
                          <a:solidFill>
                            <a:srgbClr val="101C32"/>
                          </a:solidFill>
                          <a:latin typeface="DejaVu Sans"/>
                          <a:ea typeface="DejaVu Sans"/>
                          <a:cs typeface="DejaVu Sans"/>
                        </a:rPr>
                        <a:t>Выделяем у готовых результатов</a:t>
                      </a:r>
                    </a:p>
                  </a:txBody>
                  <a:tcPr marL="91440" marR="91440" marT="45720" marB="45720" anchor="ctr">
                    <a:solidFill>
                      <a:srgbClr val="FFFFFF"/>
                    </a:solidFill>
                  </a:tcPr>
                </a:tc>
              </a:tr>
              <a:tr h="666750">
                <a:tc>
                  <a:txBody>
                    <a:bodyPr lIns="114300" tIns="95250" rIns="95250" bIns="76200"/>
                    <a:lstStyle/>
                    <a:p>
                      <a:r>
                        <a:rPr sz="2025" b="0">
                          <a:solidFill>
                            <a:srgbClr val="101C32"/>
                          </a:solidFill>
                          <a:latin typeface="DejaVu Sans"/>
                          <a:ea typeface="DejaVu Sans"/>
                          <a:cs typeface="DejaVu Sans"/>
                        </a:rPr>
                        <a:t>Компромисс регулируется C</a:t>
                      </a:r>
                    </a:p>
                  </a:txBody>
                  <a:tcPr marL="91440" marR="91440" marT="45720" marB="45720" anchor="ctr">
                    <a:solidFill>
                      <a:srgbClr val="EAF0F4"/>
                    </a:solidFill>
                  </a:tcPr>
                </a:tc>
                <a:tc>
                  <a:txBody>
                    <a:bodyPr lIns="114300" tIns="95250" rIns="95250" bIns="76200"/>
                    <a:lstStyle/>
                    <a:p>
                      <a:r>
                        <a:rPr sz="2025" b="0">
                          <a:solidFill>
                            <a:srgbClr val="101C32"/>
                          </a:solidFill>
                          <a:latin typeface="DejaVu Sans"/>
                          <a:ea typeface="DejaVu Sans"/>
                          <a:cs typeface="DejaVu Sans"/>
                        </a:rPr>
                        <a:t>Порог выбираем отдельно</a:t>
                      </a:r>
                    </a:p>
                  </a:txBody>
                  <a:tcPr marL="91440" marR="91440" marT="45720" marB="45720" anchor="ctr">
                    <a:solidFill>
                      <a:srgbClr val="EAF0F4"/>
                    </a:solidFill>
                  </a:tcPr>
                </a:tc>
              </a:tr>
            </a:tbl>
          </a:graphicData>
        </a:graphic>
      </p:graphicFrame>
      <p:sp>
        <p:nvSpPr>
          <p:cNvPr id="7" name="">
            <a:extLst xmlns:a="http://schemas.openxmlformats.org/drawingml/2006/main">
              <a:ext uri="{FF2B5EF4-FFF2-40B4-BE49-F238E27FC236}">
                <a16:creationId xmlns:a16="http://schemas.microsoft.com/office/drawing/2014/main" id="{C6C9B1E4-F600-4DC2-9C4A-03478202B209}"/>
              </a:ext>
            </a:extLst>
          </p:cNvPr>
          <p:cNvSpPr>
            <a:spLocks xmlns:a="http://schemas.openxmlformats.org/drawingml/2006/main" noGrp="1"/>
          </p:cNvSpPr>
          <p:nvPr/>
        </p:nvSpPr>
        <p:spPr>
          <a:xfrm xmlns:a="http://schemas.openxmlformats.org/drawingml/2006/main">
            <a:off x="571500" y="5695950"/>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8" name="text-95">
            <a:extLst xmlns:a="http://schemas.openxmlformats.org/drawingml/2006/main">
              <a:ext uri="{FF2B5EF4-FFF2-40B4-BE49-F238E27FC236}">
                <a16:creationId xmlns:a16="http://schemas.microsoft.com/office/drawing/2014/main" id="{0B793277-4C8D-4206-A6CD-679EE5EA58A2}"/>
              </a:ext>
            </a:extLst>
          </p:cNvPr>
          <p:cNvSpPr>
            <a:spLocks xmlns:a="http://schemas.openxmlformats.org/drawingml/2006/main" noGrp="1"/>
          </p:cNvSpPr>
          <p:nvPr/>
        </p:nvSpPr>
        <p:spPr>
          <a:xfrm xmlns:a="http://schemas.openxmlformats.org/drawingml/2006/main">
            <a:off x="571500" y="5857875"/>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Пограничными бывают оба класса, верные ответы и ошибки</a:t>
            </a:r>
          </a:p>
        </p:txBody>
      </p:sp>
    </p:spTree>
    <p:extLst>
      <p:ext uri="{BB962C8B-B14F-4D97-AF65-F5344CB8AC3E}">
        <p14:creationId xmlns:p14="http://schemas.microsoft.com/office/powerpoint/2010/main" val="303105799"/>
      </p:ext>
    </p:extLst>
  </p:cSld>
</p:sld>
</file>

<file path=ppt/slides/slide13.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3" name="text-96">
            <a:extLst xmlns:a="http://schemas.openxmlformats.org/drawingml/2006/main">
              <a:ext uri="{FF2B5EF4-FFF2-40B4-BE49-F238E27FC236}">
                <a16:creationId xmlns:a16="http://schemas.microsoft.com/office/drawing/2014/main" id="{BB3D85FB-5730-42ED-A2A7-A1C882D1AEF4}"/>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Единый пример: норма и SYN-flood</a:t>
            </a:r>
          </a:p>
        </p:txBody>
      </p:sp>
      <p:sp>
        <p:nvSpPr>
          <p:cNvPr id="2" name="text-97">
            <a:extLst xmlns:a="http://schemas.openxmlformats.org/drawingml/2006/main">
              <a:ext uri="{FF2B5EF4-FFF2-40B4-BE49-F238E27FC236}">
                <a16:creationId xmlns:a16="http://schemas.microsoft.com/office/drawing/2014/main" id="{E1D0F19C-6DAC-43F0-8957-9000873E5B1B}"/>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Классифицируем окна трафика к одному сервису</a:t>
            </a:r>
          </a:p>
        </p:txBody>
      </p:sp>
      <p:sp>
        <p:nvSpPr>
          <p:cNvPr id="3" name="">
            <a:extLst xmlns:a="http://schemas.openxmlformats.org/drawingml/2006/main">
              <a:ext uri="{FF2B5EF4-FFF2-40B4-BE49-F238E27FC236}">
                <a16:creationId xmlns:a16="http://schemas.microsoft.com/office/drawing/2014/main" id="{68370562-1271-485C-9D60-508C5AD34138}"/>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98">
            <a:extLst xmlns:a="http://schemas.openxmlformats.org/drawingml/2006/main">
              <a:ext uri="{FF2B5EF4-FFF2-40B4-BE49-F238E27FC236}">
                <a16:creationId xmlns:a16="http://schemas.microsoft.com/office/drawing/2014/main" id="{513B0E8D-E7C8-4AC9-878F-89C91E8E1F90}"/>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[4]</a:t>
            </a:r>
          </a:p>
        </p:txBody>
      </p:sp>
      <p:sp>
        <p:nvSpPr>
          <p:cNvPr id="5" name="text-99">
            <a:extLst xmlns:a="http://schemas.openxmlformats.org/drawingml/2006/main">
              <a:ext uri="{FF2B5EF4-FFF2-40B4-BE49-F238E27FC236}">
                <a16:creationId xmlns:a16="http://schemas.microsoft.com/office/drawing/2014/main" id="{D08EF552-F802-4413-BC8E-B50E83E5E8C2}"/>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13</a:t>
            </a:r>
          </a:p>
        </p:txBody>
      </p:sp>
      <p:sp>
        <p:nvSpPr>
          <p:cNvPr id="6" name="text-100">
            <a:extLst xmlns:a="http://schemas.openxmlformats.org/drawingml/2006/main">
              <a:ext uri="{FF2B5EF4-FFF2-40B4-BE49-F238E27FC236}">
                <a16:creationId xmlns:a16="http://schemas.microsoft.com/office/drawing/2014/main" id="{984FB733-D2D8-4B85-9E49-8349A410A104}"/>
              </a:ext>
            </a:extLst>
          </p:cNvPr>
          <p:cNvSpPr>
            <a:spLocks xmlns:a="http://schemas.openxmlformats.org/drawingml/2006/main" noGrp="1"/>
          </p:cNvSpPr>
          <p:nvPr/>
        </p:nvSpPr>
        <p:spPr>
          <a:xfrm xmlns:a="http://schemas.openxmlformats.org/drawingml/2006/main">
            <a:off x="571500" y="215265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Обычное TCP-подключение</a:t>
            </a:r>
          </a:p>
        </p:txBody>
      </p:sp>
      <p:sp>
        <p:nvSpPr>
          <p:cNvPr id="7" name="text-101">
            <a:extLst xmlns:a="http://schemas.openxmlformats.org/drawingml/2006/main">
              <a:ext uri="{FF2B5EF4-FFF2-40B4-BE49-F238E27FC236}">
                <a16:creationId xmlns:a16="http://schemas.microsoft.com/office/drawing/2014/main" id="{DA0C8022-62DF-4E78-8D67-D001C269BEA7}"/>
              </a:ext>
            </a:extLst>
          </p:cNvPr>
          <p:cNvSpPr>
            <a:spLocks xmlns:a="http://schemas.openxmlformats.org/drawingml/2006/main" noGrp="1"/>
          </p:cNvSpPr>
          <p:nvPr/>
        </p:nvSpPr>
        <p:spPr>
          <a:xfrm xmlns:a="http://schemas.openxmlformats.org/drawingml/2006/main">
            <a:off x="571500" y="2686050"/>
            <a:ext cx="5238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SYN → SYN-ACK → ACK</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Клиент и сервер завершают</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трёхэтапное рукопожатие.</a:t>
            </a:r>
          </a:p>
        </p:txBody>
      </p:sp>
      <p:sp>
        <p:nvSpPr>
          <p:cNvPr id="8" name="text-102">
            <a:extLst xmlns:a="http://schemas.openxmlformats.org/drawingml/2006/main">
              <a:ext uri="{FF2B5EF4-FFF2-40B4-BE49-F238E27FC236}">
                <a16:creationId xmlns:a16="http://schemas.microsoft.com/office/drawing/2014/main" id="{ED3C08D3-1F4C-4BB5-8FA9-BB9F12586F55}"/>
              </a:ext>
            </a:extLst>
          </p:cNvPr>
          <p:cNvSpPr>
            <a:spLocks xmlns:a="http://schemas.openxmlformats.org/drawingml/2006/main" noGrp="1"/>
          </p:cNvSpPr>
          <p:nvPr/>
        </p:nvSpPr>
        <p:spPr>
          <a:xfrm xmlns:a="http://schemas.openxmlformats.org/drawingml/2006/main">
            <a:off x="6381750" y="215265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E85555"/>
                </a:solidFill>
                <a:latin typeface="DejaVu Sans"/>
                <a:ea typeface="DejaVu Sans"/>
                <a:cs typeface="DejaVu Sans"/>
              </a:defRPr>
            </a:defPPr>
          </a:lstStyle>
          <a:p xmlns:a="http://schemas.openxmlformats.org/drawingml/2006/main">
            <a:pPr>
              <a:defRPr sz="2175" b="1">
                <a:solidFill>
                  <a:srgbClr val="E85555"/>
                </a:solidFill>
                <a:latin typeface="DejaVu Sans"/>
                <a:ea typeface="DejaVu Sans"/>
                <a:cs typeface="DejaVu Sans"/>
              </a:defRPr>
            </a:pPr>
            <a:r>
              <a:rPr sz="2175" b="1">
                <a:solidFill>
                  <a:srgbClr val="E85555"/>
                </a:solidFill>
                <a:latin typeface="DejaVu Sans"/>
                <a:ea typeface="DejaVu Sans"/>
                <a:cs typeface="DejaVu Sans"/>
              </a:rPr>
              <a:t>SYN-flood</a:t>
            </a:r>
          </a:p>
        </p:txBody>
      </p:sp>
      <p:sp>
        <p:nvSpPr>
          <p:cNvPr id="9" name="text-103">
            <a:extLst xmlns:a="http://schemas.openxmlformats.org/drawingml/2006/main">
              <a:ext uri="{FF2B5EF4-FFF2-40B4-BE49-F238E27FC236}">
                <a16:creationId xmlns:a16="http://schemas.microsoft.com/office/drawing/2014/main" id="{EE6AFE1E-EEEA-4AB6-8A09-A2AF5CDEBB1B}"/>
              </a:ext>
            </a:extLst>
          </p:cNvPr>
          <p:cNvSpPr>
            <a:spLocks xmlns:a="http://schemas.openxmlformats.org/drawingml/2006/main" noGrp="1"/>
          </p:cNvSpPr>
          <p:nvPr/>
        </p:nvSpPr>
        <p:spPr>
          <a:xfrm xmlns:a="http://schemas.openxmlformats.org/drawingml/2006/main">
            <a:off x="6381750" y="2686050"/>
            <a:ext cx="5238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Множество начатых подключений</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не завершается. Занятая очередь</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может мешать обычным клиентам.</a:t>
            </a:r>
          </a:p>
        </p:txBody>
      </p:sp>
      <p:sp>
        <p:nvSpPr>
          <p:cNvPr id="10" name="text-104">
            <a:extLst xmlns:a="http://schemas.openxmlformats.org/drawingml/2006/main">
              <a:ext uri="{FF2B5EF4-FFF2-40B4-BE49-F238E27FC236}">
                <a16:creationId xmlns:a16="http://schemas.microsoft.com/office/drawing/2014/main" id="{C62C3183-B90B-4C54-8DED-6380A153F627}"/>
              </a:ext>
            </a:extLst>
          </p:cNvPr>
          <p:cNvSpPr>
            <a:spLocks xmlns:a="http://schemas.openxmlformats.org/drawingml/2006/main" noGrp="1"/>
          </p:cNvSpPr>
          <p:nvPr/>
        </p:nvSpPr>
        <p:spPr>
          <a:xfrm xmlns:a="http://schemas.openxmlformats.org/drawingml/2006/main">
            <a:off x="571500" y="4600575"/>
            <a:ext cx="11049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01C32"/>
                </a:solidFill>
                <a:latin typeface="DejaVu Sans"/>
                <a:ea typeface="DejaVu Sans"/>
                <a:cs typeface="DejaVu Sans"/>
              </a:defRPr>
            </a:defPPr>
          </a:lstStyle>
          <a:p xmlns:a="http://schemas.openxmlformats.org/drawingml/2006/main">
            <a:pPr>
              <a:defRPr sz="2175" b="1">
                <a:solidFill>
                  <a:srgbClr val="101C32"/>
                </a:solidFill>
                <a:latin typeface="DejaVu Sans"/>
                <a:ea typeface="DejaVu Sans"/>
                <a:cs typeface="DejaVu Sans"/>
              </a:defRPr>
            </a:pPr>
            <a:r>
              <a:rPr sz="2175" b="1">
                <a:solidFill>
                  <a:srgbClr val="101C32"/>
                </a:solidFill>
                <a:latin typeface="DejaVu Sans"/>
                <a:ea typeface="DejaVu Sans"/>
                <a:cs typeface="DejaVu Sans"/>
              </a:rPr>
              <a:t>Два класса: нормальный трафик и SYN-flood.</a:t>
            </a:r>
          </a:p>
          <a:p xmlns:a="http://schemas.openxmlformats.org/drawingml/2006/main">
            <a:pPr>
              <a:defRPr sz="2175" b="1">
                <a:solidFill>
                  <a:srgbClr val="101C32"/>
                </a:solidFill>
                <a:latin typeface="DejaVu Sans"/>
                <a:ea typeface="DejaVu Sans"/>
                <a:cs typeface="DejaVu Sans"/>
              </a:defRPr>
            </a:pPr>
            <a:r>
              <a:rPr sz="2175" b="1">
                <a:solidFill>
                  <a:srgbClr val="101C32"/>
                </a:solidFill>
                <a:latin typeface="DejaVu Sans"/>
                <a:ea typeface="DejaVu Sans"/>
                <a:cs typeface="DejaVu Sans"/>
              </a:rPr>
              <a:t>Большое число SYN само по себе ещё не доказывает атаку.</a:t>
            </a:r>
          </a:p>
        </p:txBody>
      </p:sp>
      <p:sp>
        <p:nvSpPr>
          <p:cNvPr id="11" name="">
            <a:extLst xmlns:a="http://schemas.openxmlformats.org/drawingml/2006/main">
              <a:ext uri="{FF2B5EF4-FFF2-40B4-BE49-F238E27FC236}">
                <a16:creationId xmlns:a16="http://schemas.microsoft.com/office/drawing/2014/main" id="{15985B5D-5B5C-4759-AF72-84D347CBF833}"/>
              </a:ext>
            </a:extLst>
          </p:cNvPr>
          <p:cNvSpPr>
            <a:spLocks xmlns:a="http://schemas.openxmlformats.org/drawingml/2006/main" noGrp="1"/>
          </p:cNvSpPr>
          <p:nvPr/>
        </p:nvSpPr>
        <p:spPr>
          <a:xfrm xmlns:a="http://schemas.openxmlformats.org/drawingml/2006/main">
            <a:off x="571500" y="572452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2" name="text-105">
            <a:extLst xmlns:a="http://schemas.openxmlformats.org/drawingml/2006/main">
              <a:ext uri="{FF2B5EF4-FFF2-40B4-BE49-F238E27FC236}">
                <a16:creationId xmlns:a16="http://schemas.microsoft.com/office/drawing/2014/main" id="{834DCDF5-B4AB-455E-971A-B3AE514C5EEA}"/>
              </a:ext>
            </a:extLst>
          </p:cNvPr>
          <p:cNvSpPr>
            <a:spLocks xmlns:a="http://schemas.openxmlformats.org/drawingml/2006/main" noGrp="1"/>
          </p:cNvSpPr>
          <p:nvPr/>
        </p:nvSpPr>
        <p:spPr>
          <a:xfrm xmlns:a="http://schemas.openxmlformats.org/drawingml/2006/main">
            <a:off x="571500" y="588645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Теперь определим, что именно измеряем в каждом окне</a:t>
            </a:r>
          </a:p>
        </p:txBody>
      </p:sp>
    </p:spTree>
    <p:extLst>
      <p:ext uri="{BB962C8B-B14F-4D97-AF65-F5344CB8AC3E}">
        <p14:creationId xmlns:p14="http://schemas.microsoft.com/office/powerpoint/2010/main" val="70765629"/>
      </p:ext>
    </p:extLst>
  </p:cSld>
</p:sld>
</file>

<file path=ppt/slides/slide14.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9" name="text-106">
            <a:extLst xmlns:a="http://schemas.openxmlformats.org/drawingml/2006/main">
              <a:ext uri="{FF2B5EF4-FFF2-40B4-BE49-F238E27FC236}">
                <a16:creationId xmlns:a16="http://schemas.microsoft.com/office/drawing/2014/main" id="{5652589E-4CC8-456A-B1C7-01B49C56E5CB}"/>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Из трафика получаем признаки</a:t>
            </a:r>
          </a:p>
        </p:txBody>
      </p:sp>
      <p:sp>
        <p:nvSpPr>
          <p:cNvPr id="2" name="text-107">
            <a:extLst xmlns:a="http://schemas.openxmlformats.org/drawingml/2006/main">
              <a:ext uri="{FF2B5EF4-FFF2-40B4-BE49-F238E27FC236}">
                <a16:creationId xmlns:a16="http://schemas.microsoft.com/office/drawing/2014/main" id="{F343F4E0-C2C5-46CF-902B-18A64ACF6CBD}"/>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Объект — окно 10 секунд к одному IP и TCP-порту</a:t>
            </a:r>
          </a:p>
        </p:txBody>
      </p:sp>
      <p:sp>
        <p:nvSpPr>
          <p:cNvPr id="3" name="">
            <a:extLst xmlns:a="http://schemas.openxmlformats.org/drawingml/2006/main">
              <a:ext uri="{FF2B5EF4-FFF2-40B4-BE49-F238E27FC236}">
                <a16:creationId xmlns:a16="http://schemas.microsoft.com/office/drawing/2014/main" id="{C04BC6B0-D155-4523-A284-4EB34A4FEA70}"/>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08">
            <a:extLst xmlns:a="http://schemas.openxmlformats.org/drawingml/2006/main">
              <a:ext uri="{FF2B5EF4-FFF2-40B4-BE49-F238E27FC236}">
                <a16:creationId xmlns:a16="http://schemas.microsoft.com/office/drawing/2014/main" id="{2131DF39-B3FE-4D5D-A7C6-3E1E64C0243A}"/>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[4]; данные и определения измерений — учебные</a:t>
            </a:r>
          </a:p>
        </p:txBody>
      </p:sp>
      <p:sp>
        <p:nvSpPr>
          <p:cNvPr id="5" name="text-109">
            <a:extLst xmlns:a="http://schemas.openxmlformats.org/drawingml/2006/main">
              <a:ext uri="{FF2B5EF4-FFF2-40B4-BE49-F238E27FC236}">
                <a16:creationId xmlns:a16="http://schemas.microsoft.com/office/drawing/2014/main" id="{411AEDE2-8EA8-4796-AB30-EC4831CBC6A1}"/>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14</a:t>
            </a:r>
          </a:p>
        </p:txBody>
      </p:sp>
      <p:graphicFrame>
        <p:nvGraphicFramePr>
          <p:cNvPr id="6" name="">
            <a:extLst xmlns:a="http://schemas.openxmlformats.org/drawingml/2006/main">
              <a:ext uri="{FF2B5EF4-FFF2-40B4-BE49-F238E27FC236}">
                <a16:creationId xmlns:a16="http://schemas.microsoft.com/office/drawing/2014/main" id="{33B356AE-056A-4DB8-9F6B-79F92458F818}"/>
              </a:ext>
            </a:extLst>
          </p:cNvPr>
          <p:cNvGraphicFramePr/>
          <p:nvPr/>
        </p:nvGraphicFramePr>
        <p:xfrm>
          <a:off xmlns:a="http://schemas.openxmlformats.org/drawingml/2006/main" x="571500" y="2124075"/>
          <a:ext xmlns:a="http://schemas.openxmlformats.org/drawingml/2006/main" cx="11049000" cy="1905000"/>
        </p:xfrm>
        <a:graphic xmlns:a="http://schemas.openxmlformats.org/drawingml/2006/main">
          <a:graphicData uri="http://schemas.openxmlformats.org/drawingml/2006/table">
            <a:tbl>
              <a:tblPr/>
              <a:tblGrid>
                <a:gridCol w="3370881"/>
                <a:gridCol w="5243593"/>
                <a:gridCol w="2434525"/>
              </a:tblGrid>
              <a:tr h="635000">
                <a:tc>
                  <a:txBody>
                    <a:bodyPr lIns="114300" tIns="95250" rIns="95250" bIns="76200"/>
                    <a:lstStyle/>
                    <a:p>
                      <a:r>
                        <a:rPr sz="1875" b="1">
                          <a:solidFill>
                            <a:srgbClr val="FFFFFF"/>
                          </a:solidFill>
                          <a:latin typeface="DejaVu Sans"/>
                          <a:ea typeface="DejaVu Sans"/>
                          <a:cs typeface="DejaVu Sans"/>
                        </a:rPr>
                        <a:t>Признак</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Смысл</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Масштаб в коде</a:t>
                      </a:r>
                    </a:p>
                  </a:txBody>
                  <a:tcPr marL="91440" marR="91440" marT="45720" marB="45720" anchor="ctr">
                    <a:solidFill>
                      <a:srgbClr val="101C32"/>
                    </a:solidFill>
                  </a:tcPr>
                </a:tc>
              </a:tr>
              <a:tr h="635000">
                <a:tc>
                  <a:txBody>
                    <a:bodyPr lIns="114300" tIns="95250" rIns="95250" bIns="76200"/>
                    <a:lstStyle/>
                    <a:p>
                      <a:r>
                        <a:rPr sz="1875" b="0">
                          <a:solidFill>
                            <a:srgbClr val="101C32"/>
                          </a:solidFill>
                          <a:latin typeface="DejaVu Sans"/>
                          <a:ea typeface="DejaVu Sans"/>
                          <a:cs typeface="DejaVu Sans"/>
                        </a:rPr>
                        <a:t>Входящие SYN/с</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Интенсивность начала подключений</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 1000</a:t>
                      </a:r>
                    </a:p>
                  </a:txBody>
                  <a:tcPr marL="91440" marR="91440" marT="45720" marB="45720" anchor="ctr">
                    <a:solidFill>
                      <a:srgbClr val="FFFFFF"/>
                    </a:solidFill>
                  </a:tcPr>
                </a:tc>
              </a:tr>
              <a:tr h="635000">
                <a:tc>
                  <a:txBody>
                    <a:bodyPr lIns="114300" tIns="95250" rIns="95250" bIns="76200"/>
                    <a:lstStyle/>
                    <a:p>
                      <a:r>
                        <a:rPr sz="1875" b="0">
                          <a:solidFill>
                            <a:srgbClr val="101C32"/>
                          </a:solidFill>
                          <a:latin typeface="DejaVu Sans"/>
                          <a:ea typeface="DejaVu Sans"/>
                          <a:cs typeface="DejaVu Sans"/>
                        </a:rPr>
                        <a:t>Незавершённые попытки, %</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Нет полного рукопожатия за 3 с</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 100</a:t>
                      </a:r>
                    </a:p>
                  </a:txBody>
                  <a:tcPr marL="91440" marR="91440" marT="45720" marB="45720" anchor="ctr">
                    <a:solidFill>
                      <a:srgbClr val="EAF0F4"/>
                    </a:solidFill>
                  </a:tcPr>
                </a:tc>
              </a:tr>
            </a:tbl>
          </a:graphicData>
        </a:graphic>
      </p:graphicFrame>
      <p:sp>
        <p:nvSpPr>
          <p:cNvPr id="7" name="text-110">
            <a:extLst xmlns:a="http://schemas.openxmlformats.org/drawingml/2006/main">
              <a:ext uri="{FF2B5EF4-FFF2-40B4-BE49-F238E27FC236}">
                <a16:creationId xmlns:a16="http://schemas.microsoft.com/office/drawing/2014/main" id="{20AE66BC-6A1D-4AB6-B5ED-CFF01AD4A4E4}"/>
              </a:ext>
            </a:extLst>
          </p:cNvPr>
          <p:cNvSpPr>
            <a:spLocks xmlns:a="http://schemas.openxmlformats.org/drawingml/2006/main" noGrp="1"/>
          </p:cNvSpPr>
          <p:nvPr/>
        </p:nvSpPr>
        <p:spPr>
          <a:xfrm xmlns:a="http://schemas.openxmlformats.org/drawingml/2006/main">
            <a:off x="571500" y="4371975"/>
            <a:ext cx="1104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01C32"/>
                </a:solidFill>
                <a:latin typeface="DejaVu Sans"/>
                <a:ea typeface="DejaVu Sans"/>
                <a:cs typeface="DejaVu Sans"/>
              </a:defRPr>
            </a:defPPr>
          </a:lstStyle>
          <a:p xmlns:a="http://schemas.openxmlformats.org/drawingml/2006/main">
            <a:pPr>
              <a:defRPr sz="2100" b="1">
                <a:solidFill>
                  <a:srgbClr val="101C32"/>
                </a:solidFill>
                <a:latin typeface="DejaVu Sans"/>
                <a:ea typeface="DejaVu Sans"/>
                <a:cs typeface="DejaVu Sans"/>
              </a:defRPr>
            </a:pPr>
            <a:r>
              <a:rPr sz="2100" b="1">
                <a:solidFill>
                  <a:srgbClr val="101C32"/>
                </a:solidFill>
                <a:latin typeface="DejaVu Sans"/>
                <a:ea typeface="DejaVu Sans"/>
                <a:cs typeface="DejaVu Sans"/>
              </a:rPr>
              <a:t>20 окон для обучения: 10 нормы + 10 атаки.</a:t>
            </a:r>
          </a:p>
          <a:p xmlns:a="http://schemas.openxmlformats.org/drawingml/2006/main">
            <a:pPr>
              <a:defRPr sz="2100" b="1">
                <a:solidFill>
                  <a:srgbClr val="101C32"/>
                </a:solidFill>
                <a:latin typeface="DejaVu Sans"/>
                <a:ea typeface="DejaVu Sans"/>
                <a:cs typeface="DejaVu Sans"/>
              </a:defRPr>
            </a:pPr>
            <a:r>
              <a:rPr sz="2100" b="1">
                <a:solidFill>
                  <a:srgbClr val="101C32"/>
                </a:solidFill>
                <a:latin typeface="DejaVu Sans"/>
                <a:ea typeface="DejaVu Sans"/>
                <a:cs typeface="DejaVu Sans"/>
              </a:rPr>
              <a:t>8 специально выбранных проверок. Все значения синтетические.</a:t>
            </a:r>
          </a:p>
        </p:txBody>
      </p:sp>
      <p:sp>
        <p:nvSpPr>
          <p:cNvPr id="8" name="text-111">
            <a:extLst xmlns:a="http://schemas.openxmlformats.org/drawingml/2006/main">
              <a:ext uri="{FF2B5EF4-FFF2-40B4-BE49-F238E27FC236}">
                <a16:creationId xmlns:a16="http://schemas.microsoft.com/office/drawing/2014/main" id="{1515E0F9-9BBE-4A4C-80C7-B7C8C47932A5}"/>
              </a:ext>
            </a:extLst>
          </p:cNvPr>
          <p:cNvSpPr>
            <a:spLocks xmlns:a="http://schemas.openxmlformats.org/drawingml/2006/main" noGrp="1"/>
          </p:cNvSpPr>
          <p:nvPr/>
        </p:nvSpPr>
        <p:spPr>
          <a:xfrm xmlns:a="http://schemas.openxmlformats.org/drawingml/2006/main">
            <a:off x="571500" y="55721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Нужны оба направления трафика. Повторы SYN входят в скорость, но объединяются</a:t>
            </a:r>
          </a:p>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в одну попытку для доли. Окна без SYN исключаем; ждём 3 с для завершения наблюдения.</a:t>
            </a:r>
          </a:p>
        </p:txBody>
      </p:sp>
    </p:spTree>
    <p:extLst>
      <p:ext uri="{BB962C8B-B14F-4D97-AF65-F5344CB8AC3E}">
        <p14:creationId xmlns:p14="http://schemas.microsoft.com/office/powerpoint/2010/main" val="1813993715"/>
      </p:ext>
    </p:extLst>
  </p:cSld>
</p:sld>
</file>

<file path=ppt/slides/slide15.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0" name="text-112">
            <a:extLst xmlns:a="http://schemas.openxmlformats.org/drawingml/2006/main">
              <a:ext uri="{FF2B5EF4-FFF2-40B4-BE49-F238E27FC236}">
                <a16:creationId xmlns:a16="http://schemas.microsoft.com/office/drawing/2014/main" id="{BFDE3E3A-7C50-4DE0-AE14-E32A73C0EE38}"/>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Выбираем два эталона трафика</a:t>
            </a:r>
          </a:p>
        </p:txBody>
      </p:sp>
      <p:sp>
        <p:nvSpPr>
          <p:cNvPr id="2" name="text-113">
            <a:extLst xmlns:a="http://schemas.openxmlformats.org/drawingml/2006/main">
              <a:ext uri="{FF2B5EF4-FFF2-40B4-BE49-F238E27FC236}">
                <a16:creationId xmlns:a16="http://schemas.microsoft.com/office/drawing/2014/main" id="{D4C67568-340D-496D-BEAA-128F97ED46A1}"/>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В каждом классе находим медоид среди обучающих окон</a:t>
            </a:r>
          </a:p>
        </p:txBody>
      </p:sp>
      <p:sp>
        <p:nvSpPr>
          <p:cNvPr id="3" name="">
            <a:extLst xmlns:a="http://schemas.openxmlformats.org/drawingml/2006/main">
              <a:ext uri="{FF2B5EF4-FFF2-40B4-BE49-F238E27FC236}">
                <a16:creationId xmlns:a16="http://schemas.microsoft.com/office/drawing/2014/main" id="{B7BC8A0C-662D-404B-8B0E-64E668943F0E}"/>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14">
            <a:extLst xmlns:a="http://schemas.openxmlformats.org/drawingml/2006/main">
              <a:ext uri="{FF2B5EF4-FFF2-40B4-BE49-F238E27FC236}">
                <a16:creationId xmlns:a16="http://schemas.microsoft.com/office/drawing/2014/main" id="{F616F7C2-48D1-4DA1-9C89-51BEC4AD3606}"/>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[3]; собственный расчёт в Colab</a:t>
            </a:r>
          </a:p>
        </p:txBody>
      </p:sp>
      <p:sp>
        <p:nvSpPr>
          <p:cNvPr id="5" name="text-115">
            <a:extLst xmlns:a="http://schemas.openxmlformats.org/drawingml/2006/main">
              <a:ext uri="{FF2B5EF4-FFF2-40B4-BE49-F238E27FC236}">
                <a16:creationId xmlns:a16="http://schemas.microsoft.com/office/drawing/2014/main" id="{E3F54B0C-E76C-434F-B07E-8F6EADF0892E}"/>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15</a:t>
            </a:r>
          </a:p>
        </p:txBody>
      </p:sp>
      <p:graphicFrame>
        <p:nvGraphicFramePr>
          <p:cNvPr id="6" name="">
            <a:extLst xmlns:a="http://schemas.openxmlformats.org/drawingml/2006/main">
              <a:ext uri="{FF2B5EF4-FFF2-40B4-BE49-F238E27FC236}">
                <a16:creationId xmlns:a16="http://schemas.microsoft.com/office/drawing/2014/main" id="{FECCF406-B3AD-4258-ADAE-2FD3545EA8B6}"/>
              </a:ext>
            </a:extLst>
          </p:cNvPr>
          <p:cNvGraphicFramePr/>
          <p:nvPr/>
        </p:nvGraphicFramePr>
        <p:xfrm>
          <a:off xmlns:a="http://schemas.openxmlformats.org/drawingml/2006/main" x="571500" y="2257425"/>
          <a:ext xmlns:a="http://schemas.openxmlformats.org/drawingml/2006/main" cx="11049000" cy="2076450"/>
        </p:xfrm>
        <a:graphic xmlns:a="http://schemas.openxmlformats.org/drawingml/2006/main">
          <a:graphicData uri="http://schemas.openxmlformats.org/drawingml/2006/table">
            <a:tbl>
              <a:tblPr/>
              <a:tblGrid>
                <a:gridCol w="3069167"/>
                <a:gridCol w="2455333"/>
                <a:gridCol w="2455333"/>
                <a:gridCol w="3069167"/>
              </a:tblGrid>
              <a:tr h="692150">
                <a:tc>
                  <a:txBody>
                    <a:bodyPr lIns="114300" tIns="95250" rIns="95250" bIns="76200"/>
                    <a:lstStyle/>
                    <a:p>
                      <a:r>
                        <a:rPr sz="2175" b="1">
                          <a:solidFill>
                            <a:srgbClr val="FFFFFF"/>
                          </a:solidFill>
                          <a:latin typeface="DejaVu Sans"/>
                          <a:ea typeface="DejaVu Sans"/>
                          <a:cs typeface="DejaVu Sans"/>
                        </a:rPr>
                        <a:t>Класс</a:t>
                      </a:r>
                    </a:p>
                  </a:txBody>
                  <a:tcPr marL="91440" marR="91440" marT="45720" marB="45720" anchor="ctr">
                    <a:solidFill>
                      <a:srgbClr val="101C32"/>
                    </a:solidFill>
                  </a:tcPr>
                </a:tc>
                <a:tc>
                  <a:txBody>
                    <a:bodyPr lIns="114300" tIns="95250" rIns="95250" bIns="76200"/>
                    <a:lstStyle/>
                    <a:p>
                      <a:r>
                        <a:rPr sz="2175" b="1">
                          <a:solidFill>
                            <a:srgbClr val="FFFFFF"/>
                          </a:solidFill>
                          <a:latin typeface="DejaVu Sans"/>
                          <a:ea typeface="DejaVu Sans"/>
                          <a:cs typeface="DejaVu Sans"/>
                        </a:rPr>
                        <a:t>Эталон</a:t>
                      </a:r>
                    </a:p>
                  </a:txBody>
                  <a:tcPr marL="91440" marR="91440" marT="45720" marB="45720" anchor="ctr">
                    <a:solidFill>
                      <a:srgbClr val="101C32"/>
                    </a:solidFill>
                  </a:tcPr>
                </a:tc>
                <a:tc>
                  <a:txBody>
                    <a:bodyPr lIns="114300" tIns="95250" rIns="95250" bIns="76200"/>
                    <a:lstStyle/>
                    <a:p>
                      <a:r>
                        <a:rPr sz="2175" b="1">
                          <a:solidFill>
                            <a:srgbClr val="FFFFFF"/>
                          </a:solidFill>
                          <a:latin typeface="DejaVu Sans"/>
                          <a:ea typeface="DejaVu Sans"/>
                          <a:cs typeface="DejaVu Sans"/>
                        </a:rPr>
                        <a:t>SYN/с</a:t>
                      </a:r>
                    </a:p>
                  </a:txBody>
                  <a:tcPr marL="91440" marR="91440" marT="45720" marB="45720" anchor="ctr">
                    <a:solidFill>
                      <a:srgbClr val="101C32"/>
                    </a:solidFill>
                  </a:tcPr>
                </a:tc>
                <a:tc>
                  <a:txBody>
                    <a:bodyPr lIns="114300" tIns="95250" rIns="95250" bIns="76200"/>
                    <a:lstStyle/>
                    <a:p>
                      <a:r>
                        <a:rPr sz="2175" b="1">
                          <a:solidFill>
                            <a:srgbClr val="FFFFFF"/>
                          </a:solidFill>
                          <a:latin typeface="DejaVu Sans"/>
                          <a:ea typeface="DejaVu Sans"/>
                          <a:cs typeface="DejaVu Sans"/>
                        </a:rPr>
                        <a:t>Не завершены</a:t>
                      </a:r>
                    </a:p>
                  </a:txBody>
                  <a:tcPr marL="91440" marR="91440" marT="45720" marB="45720" anchor="ctr">
                    <a:solidFill>
                      <a:srgbClr val="101C32"/>
                    </a:solidFill>
                  </a:tcPr>
                </a:tc>
              </a:tr>
              <a:tr h="692150">
                <a:tc>
                  <a:txBody>
                    <a:bodyPr lIns="114300" tIns="95250" rIns="95250" bIns="76200"/>
                    <a:lstStyle/>
                    <a:p>
                      <a:r>
                        <a:rPr sz="2175"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2175" b="0">
                          <a:solidFill>
                            <a:srgbClr val="101C32"/>
                          </a:solidFill>
                          <a:latin typeface="DejaVu Sans"/>
                          <a:ea typeface="DejaVu Sans"/>
                          <a:cs typeface="DejaVu Sans"/>
                        </a:rPr>
                        <a:t>N05</a:t>
                      </a:r>
                    </a:p>
                  </a:txBody>
                  <a:tcPr marL="91440" marR="91440" marT="45720" marB="45720" anchor="ctr">
                    <a:solidFill>
                      <a:srgbClr val="FFFFFF"/>
                    </a:solidFill>
                  </a:tcPr>
                </a:tc>
                <a:tc>
                  <a:txBody>
                    <a:bodyPr lIns="114300" tIns="95250" rIns="95250" bIns="76200"/>
                    <a:lstStyle/>
                    <a:p>
                      <a:r>
                        <a:rPr sz="2175" b="0">
                          <a:solidFill>
                            <a:srgbClr val="101C32"/>
                          </a:solidFill>
                          <a:latin typeface="DejaVu Sans"/>
                          <a:ea typeface="DejaVu Sans"/>
                          <a:cs typeface="DejaVu Sans"/>
                        </a:rPr>
                        <a:t>600</a:t>
                      </a:r>
                    </a:p>
                  </a:txBody>
                  <a:tcPr marL="91440" marR="91440" marT="45720" marB="45720" anchor="ctr">
                    <a:solidFill>
                      <a:srgbClr val="FFFFFF"/>
                    </a:solidFill>
                  </a:tcPr>
                </a:tc>
                <a:tc>
                  <a:txBody>
                    <a:bodyPr lIns="114300" tIns="95250" rIns="95250" bIns="76200"/>
                    <a:lstStyle/>
                    <a:p>
                      <a:r>
                        <a:rPr sz="2175" b="0">
                          <a:solidFill>
                            <a:srgbClr val="101C32"/>
                          </a:solidFill>
                          <a:latin typeface="DejaVu Sans"/>
                          <a:ea typeface="DejaVu Sans"/>
                          <a:cs typeface="DejaVu Sans"/>
                        </a:rPr>
                        <a:t>15%</a:t>
                      </a:r>
                    </a:p>
                  </a:txBody>
                  <a:tcPr marL="91440" marR="91440" marT="45720" marB="45720" anchor="ctr">
                    <a:solidFill>
                      <a:srgbClr val="FFFFFF"/>
                    </a:solidFill>
                  </a:tcPr>
                </a:tc>
              </a:tr>
              <a:tr h="692150">
                <a:tc>
                  <a:txBody>
                    <a:bodyPr lIns="114300" tIns="95250" rIns="95250" bIns="76200"/>
                    <a:lstStyle/>
                    <a:p>
                      <a:r>
                        <a:rPr sz="2175" b="0">
                          <a:solidFill>
                            <a:srgbClr val="101C32"/>
                          </a:solidFill>
                          <a:latin typeface="DejaVu Sans"/>
                          <a:ea typeface="DejaVu Sans"/>
                          <a:cs typeface="DejaVu Sans"/>
                        </a:rPr>
                        <a:t>SYN-flood</a:t>
                      </a:r>
                    </a:p>
                  </a:txBody>
                  <a:tcPr marL="91440" marR="91440" marT="45720" marB="45720" anchor="ctr">
                    <a:solidFill>
                      <a:srgbClr val="EAF0F4"/>
                    </a:solidFill>
                  </a:tcPr>
                </a:tc>
                <a:tc>
                  <a:txBody>
                    <a:bodyPr lIns="114300" tIns="95250" rIns="95250" bIns="76200"/>
                    <a:lstStyle/>
                    <a:p>
                      <a:r>
                        <a:rPr sz="2175" b="0">
                          <a:solidFill>
                            <a:srgbClr val="101C32"/>
                          </a:solidFill>
                          <a:latin typeface="DejaVu Sans"/>
                          <a:ea typeface="DejaVu Sans"/>
                          <a:cs typeface="DejaVu Sans"/>
                        </a:rPr>
                        <a:t>A06</a:t>
                      </a:r>
                    </a:p>
                  </a:txBody>
                  <a:tcPr marL="91440" marR="91440" marT="45720" marB="45720" anchor="ctr">
                    <a:solidFill>
                      <a:srgbClr val="EAF0F4"/>
                    </a:solidFill>
                  </a:tcPr>
                </a:tc>
                <a:tc>
                  <a:txBody>
                    <a:bodyPr lIns="114300" tIns="95250" rIns="95250" bIns="76200"/>
                    <a:lstStyle/>
                    <a:p>
                      <a:r>
                        <a:rPr sz="2175" b="0">
                          <a:solidFill>
                            <a:srgbClr val="101C32"/>
                          </a:solidFill>
                          <a:latin typeface="DejaVu Sans"/>
                          <a:ea typeface="DejaVu Sans"/>
                          <a:cs typeface="DejaVu Sans"/>
                        </a:rPr>
                        <a:t>1300</a:t>
                      </a:r>
                    </a:p>
                  </a:txBody>
                  <a:tcPr marL="91440" marR="91440" marT="45720" marB="45720" anchor="ctr">
                    <a:solidFill>
                      <a:srgbClr val="EAF0F4"/>
                    </a:solidFill>
                  </a:tcPr>
                </a:tc>
                <a:tc>
                  <a:txBody>
                    <a:bodyPr lIns="114300" tIns="95250" rIns="95250" bIns="76200"/>
                    <a:lstStyle/>
                    <a:p>
                      <a:r>
                        <a:rPr sz="2175" b="0">
                          <a:solidFill>
                            <a:srgbClr val="101C32"/>
                          </a:solidFill>
                          <a:latin typeface="DejaVu Sans"/>
                          <a:ea typeface="DejaVu Sans"/>
                          <a:cs typeface="DejaVu Sans"/>
                        </a:rPr>
                        <a:t>65%</a:t>
                      </a:r>
                    </a:p>
                  </a:txBody>
                  <a:tcPr marL="91440" marR="91440" marT="45720" marB="45720" anchor="ctr">
                    <a:solidFill>
                      <a:srgbClr val="EAF0F4"/>
                    </a:solidFill>
                  </a:tcPr>
                </a:tc>
              </a:tr>
            </a:tbl>
          </a:graphicData>
        </a:graphic>
      </p:graphicFrame>
      <p:sp>
        <p:nvSpPr>
          <p:cNvPr id="7" name="text-116">
            <a:extLst xmlns:a="http://schemas.openxmlformats.org/drawingml/2006/main">
              <a:ext uri="{FF2B5EF4-FFF2-40B4-BE49-F238E27FC236}">
                <a16:creationId xmlns:a16="http://schemas.microsoft.com/office/drawing/2014/main" id="{CB7AE887-5D32-43EB-8897-8176B64997DF}"/>
              </a:ext>
            </a:extLst>
          </p:cNvPr>
          <p:cNvSpPr>
            <a:spLocks xmlns:a="http://schemas.openxmlformats.org/drawingml/2006/main" noGrp="1"/>
          </p:cNvSpPr>
          <p:nvPr/>
        </p:nvSpPr>
        <p:spPr>
          <a:xfrm xmlns:a="http://schemas.openxmlformats.org/drawingml/2006/main">
            <a:off x="571500" y="4695825"/>
            <a:ext cx="11049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01C32"/>
                </a:solidFill>
                <a:latin typeface="DejaVu Sans"/>
                <a:ea typeface="DejaVu Sans"/>
                <a:cs typeface="DejaVu Sans"/>
              </a:defRPr>
            </a:defPPr>
          </a:lstStyle>
          <a:p xmlns:a="http://schemas.openxmlformats.org/drawingml/2006/main">
            <a:pPr>
              <a:defRPr sz="2100" b="0">
                <a:solidFill>
                  <a:srgbClr val="101C32"/>
                </a:solidFill>
                <a:latin typeface="DejaVu Sans"/>
                <a:ea typeface="DejaVu Sans"/>
                <a:cs typeface="DejaVu Sans"/>
              </a:defRPr>
            </a:pPr>
            <a:r>
              <a:rPr sz="2100" b="0">
                <a:solidFill>
                  <a:srgbClr val="101C32"/>
                </a:solidFill>
                <a:latin typeface="DejaVu Sans"/>
                <a:ea typeface="DejaVu Sans"/>
                <a:cs typeface="DejaVu Sans"/>
              </a:rPr>
              <a:t>Код складывает расстояния для каждого кандидата.</a:t>
            </a:r>
          </a:p>
          <a:p xmlns:a="http://schemas.openxmlformats.org/drawingml/2006/main">
            <a:pPr>
              <a:defRPr sz="2100" b="0">
                <a:solidFill>
                  <a:srgbClr val="101C32"/>
                </a:solidFill>
                <a:latin typeface="DejaVu Sans"/>
                <a:ea typeface="DejaVu Sans"/>
                <a:cs typeface="DejaVu Sans"/>
              </a:defRPr>
            </a:pPr>
            <a:r>
              <a:rPr sz="2100" b="0">
                <a:solidFill>
                  <a:srgbClr val="101C32"/>
                </a:solidFill>
                <a:latin typeface="DejaVu Sans"/>
                <a:ea typeface="DejaVu Sans"/>
                <a:cs typeface="DejaVu Sans"/>
              </a:rPr>
              <a:t>N05 и A06 дают минимальную сумму в своих классах.</a:t>
            </a:r>
          </a:p>
        </p:txBody>
      </p:sp>
      <p:sp>
        <p:nvSpPr>
          <p:cNvPr id="8" name="">
            <a:extLst xmlns:a="http://schemas.openxmlformats.org/drawingml/2006/main">
              <a:ext uri="{FF2B5EF4-FFF2-40B4-BE49-F238E27FC236}">
                <a16:creationId xmlns:a16="http://schemas.microsoft.com/office/drawing/2014/main" id="{903AAC72-6EC3-476A-8A92-5C2F9477CA42}"/>
              </a:ext>
            </a:extLst>
          </p:cNvPr>
          <p:cNvSpPr>
            <a:spLocks xmlns:a="http://schemas.openxmlformats.org/drawingml/2006/main" noGrp="1"/>
          </p:cNvSpPr>
          <p:nvPr/>
        </p:nvSpPr>
        <p:spPr>
          <a:xfrm xmlns:a="http://schemas.openxmlformats.org/drawingml/2006/main">
            <a:off x="571500" y="5734050"/>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9" name="text-117">
            <a:extLst xmlns:a="http://schemas.openxmlformats.org/drawingml/2006/main">
              <a:ext uri="{FF2B5EF4-FFF2-40B4-BE49-F238E27FC236}">
                <a16:creationId xmlns:a16="http://schemas.microsoft.com/office/drawing/2014/main" id="{B6770731-2C30-4F6D-86BF-92933B6205B7}"/>
              </a:ext>
            </a:extLst>
          </p:cNvPr>
          <p:cNvSpPr>
            <a:spLocks xmlns:a="http://schemas.openxmlformats.org/drawingml/2006/main" noGrp="1"/>
          </p:cNvSpPr>
          <p:nvPr/>
        </p:nvSpPr>
        <p:spPr>
          <a:xfrm xmlns:a="http://schemas.openxmlformats.org/drawingml/2006/main">
            <a:off x="571500" y="5895975"/>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Это образцы нашей выборки, а не универсальные пороги атаки</a:t>
            </a:r>
          </a:p>
        </p:txBody>
      </p:sp>
    </p:spTree>
    <p:extLst>
      <p:ext uri="{BB962C8B-B14F-4D97-AF65-F5344CB8AC3E}">
        <p14:creationId xmlns:p14="http://schemas.microsoft.com/office/powerpoint/2010/main" val="125117406"/>
      </p:ext>
    </p:extLst>
  </p:cSld>
</p:sld>
</file>

<file path=ppt/slides/slide16.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1" name="text-118">
            <a:extLst xmlns:a="http://schemas.openxmlformats.org/drawingml/2006/main">
              <a:ext uri="{FF2B5EF4-FFF2-40B4-BE49-F238E27FC236}">
                <a16:creationId xmlns:a16="http://schemas.microsoft.com/office/drawing/2014/main" id="{396AE670-7780-4CEB-A91F-FDC226E27988}"/>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Окно T07: классификация по эталонам</a:t>
            </a:r>
          </a:p>
        </p:txBody>
      </p:sp>
      <p:sp>
        <p:nvSpPr>
          <p:cNvPr id="2" name="text-119">
            <a:extLst xmlns:a="http://schemas.openxmlformats.org/drawingml/2006/main">
              <a:ext uri="{FF2B5EF4-FFF2-40B4-BE49-F238E27FC236}">
                <a16:creationId xmlns:a16="http://schemas.microsoft.com/office/drawing/2014/main" id="{97A6DA22-CA40-43A4-87A0-903D6BCAD87A}"/>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1200 SYN/с и 16% незавершённых; известный учебный класс — норма</a:t>
            </a:r>
          </a:p>
        </p:txBody>
      </p:sp>
      <p:sp>
        <p:nvSpPr>
          <p:cNvPr id="3" name="">
            <a:extLst xmlns:a="http://schemas.openxmlformats.org/drawingml/2006/main">
              <a:ext uri="{FF2B5EF4-FFF2-40B4-BE49-F238E27FC236}">
                <a16:creationId xmlns:a16="http://schemas.microsoft.com/office/drawing/2014/main" id="{51A64BD5-40C1-4E06-B075-D1AD4CDECF1C}"/>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20">
            <a:extLst xmlns:a="http://schemas.openxmlformats.org/drawingml/2006/main">
              <a:ext uri="{FF2B5EF4-FFF2-40B4-BE49-F238E27FC236}">
                <a16:creationId xmlns:a16="http://schemas.microsoft.com/office/drawing/2014/main" id="{16B82DBF-A615-44CF-A558-9319657100D2}"/>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5" name="text-121">
            <a:extLst xmlns:a="http://schemas.openxmlformats.org/drawingml/2006/main">
              <a:ext uri="{FF2B5EF4-FFF2-40B4-BE49-F238E27FC236}">
                <a16:creationId xmlns:a16="http://schemas.microsoft.com/office/drawing/2014/main" id="{E4FE6064-AC22-4A87-80F4-6BA3883A9B16}"/>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16</a:t>
            </a:r>
          </a:p>
        </p:txBody>
      </p:sp>
      <p:sp>
        <p:nvSpPr>
          <p:cNvPr id="6" name="text-122">
            <a:extLst xmlns:a="http://schemas.openxmlformats.org/drawingml/2006/main">
              <a:ext uri="{FF2B5EF4-FFF2-40B4-BE49-F238E27FC236}">
                <a16:creationId xmlns:a16="http://schemas.microsoft.com/office/drawing/2014/main" id="{FE13FBF6-FCA8-475D-8FB2-5C8F9ECF803E}"/>
              </a:ext>
            </a:extLst>
          </p:cNvPr>
          <p:cNvSpPr>
            <a:spLocks xmlns:a="http://schemas.openxmlformats.org/drawingml/2006/main" noGrp="1"/>
          </p:cNvSpPr>
          <p:nvPr/>
        </p:nvSpPr>
        <p:spPr>
          <a:xfrm xmlns:a="http://schemas.openxmlformats.org/drawingml/2006/main">
            <a:off x="571500" y="2076450"/>
            <a:ext cx="11049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01C32"/>
                </a:solidFill>
                <a:latin typeface="DejaVu Sans"/>
                <a:ea typeface="DejaVu Sans"/>
                <a:cs typeface="DejaVu Sans"/>
              </a:defRPr>
            </a:defPPr>
          </a:lstStyle>
          <a:p xmlns:a="http://schemas.openxmlformats.org/drawingml/2006/main">
            <a:pPr>
              <a:defRPr sz="2175" b="1">
                <a:solidFill>
                  <a:srgbClr val="101C32"/>
                </a:solidFill>
                <a:latin typeface="DejaVu Sans"/>
                <a:ea typeface="DejaVu Sans"/>
                <a:cs typeface="DejaVu Sans"/>
              </a:defRPr>
            </a:pPr>
            <a:r>
              <a:rPr sz="2175" b="1">
                <a:solidFill>
                  <a:srgbClr val="101C32"/>
                </a:solidFill>
                <a:latin typeface="DejaVu Sans"/>
                <a:ea typeface="DejaVu Sans"/>
                <a:cs typeface="DejaVu Sans"/>
              </a:rPr>
              <a:t>После масштаба: (1,20; 0,16)</a:t>
            </a:r>
          </a:p>
        </p:txBody>
      </p:sp>
      <p:graphicFrame>
        <p:nvGraphicFramePr>
          <p:cNvPr id="7" name="">
            <a:extLst xmlns:a="http://schemas.openxmlformats.org/drawingml/2006/main">
              <a:ext uri="{FF2B5EF4-FFF2-40B4-BE49-F238E27FC236}">
                <a16:creationId xmlns:a16="http://schemas.microsoft.com/office/drawing/2014/main" id="{9FAAD5B7-9E70-4CD2-91A1-D8FFEF661402}"/>
              </a:ext>
            </a:extLst>
          </p:cNvPr>
          <p:cNvGraphicFramePr/>
          <p:nvPr/>
        </p:nvGraphicFramePr>
        <p:xfrm>
          <a:off xmlns:a="http://schemas.openxmlformats.org/drawingml/2006/main" x="571500" y="2809875"/>
          <a:ext xmlns:a="http://schemas.openxmlformats.org/drawingml/2006/main" cx="11049000" cy="1200150"/>
        </p:xfrm>
        <a:graphic xmlns:a="http://schemas.openxmlformats.org/drawingml/2006/main">
          <a:graphicData uri="http://schemas.openxmlformats.org/drawingml/2006/table">
            <a:tbl>
              <a:tblPr/>
              <a:tblGrid>
                <a:gridCol w="5524500"/>
                <a:gridCol w="5524500"/>
              </a:tblGrid>
              <a:tr h="600075">
                <a:tc>
                  <a:txBody>
                    <a:bodyPr lIns="114300" tIns="95250" rIns="95250" bIns="76200"/>
                    <a:lstStyle/>
                    <a:p>
                      <a:r>
                        <a:rPr sz="2175" b="1">
                          <a:solidFill>
                            <a:srgbClr val="FFFFFF"/>
                          </a:solidFill>
                          <a:latin typeface="DejaVu Sans"/>
                          <a:ea typeface="DejaVu Sans"/>
                          <a:cs typeface="DejaVu Sans"/>
                        </a:rPr>
                        <a:t>До эталона нормы N05</a:t>
                      </a:r>
                    </a:p>
                  </a:txBody>
                  <a:tcPr marL="91440" marR="91440" marT="45720" marB="45720" anchor="ctr">
                    <a:solidFill>
                      <a:srgbClr val="101C32"/>
                    </a:solidFill>
                  </a:tcPr>
                </a:tc>
                <a:tc>
                  <a:txBody>
                    <a:bodyPr lIns="114300" tIns="95250" rIns="95250" bIns="76200"/>
                    <a:lstStyle/>
                    <a:p>
                      <a:r>
                        <a:rPr sz="2175" b="1">
                          <a:solidFill>
                            <a:srgbClr val="FFFFFF"/>
                          </a:solidFill>
                          <a:latin typeface="DejaVu Sans"/>
                          <a:ea typeface="DejaVu Sans"/>
                          <a:cs typeface="DejaVu Sans"/>
                        </a:rPr>
                        <a:t>До эталона атаки A06</a:t>
                      </a:r>
                    </a:p>
                  </a:txBody>
                  <a:tcPr marL="91440" marR="91440" marT="45720" marB="45720" anchor="ctr">
                    <a:solidFill>
                      <a:srgbClr val="101C32"/>
                    </a:solidFill>
                  </a:tcPr>
                </a:tc>
              </a:tr>
              <a:tr h="600075">
                <a:tc>
                  <a:txBody>
                    <a:bodyPr lIns="114300" tIns="95250" rIns="95250" bIns="76200"/>
                    <a:lstStyle/>
                    <a:p>
                      <a:r>
                        <a:rPr sz="2175" b="0">
                          <a:solidFill>
                            <a:srgbClr val="101C32"/>
                          </a:solidFill>
                          <a:latin typeface="DejaVu Sans"/>
                          <a:ea typeface="DejaVu Sans"/>
                          <a:cs typeface="DejaVu Sans"/>
                        </a:rPr>
                        <a:t>0,600083</a:t>
                      </a:r>
                    </a:p>
                  </a:txBody>
                  <a:tcPr marL="91440" marR="91440" marT="45720" marB="45720" anchor="ctr">
                    <a:solidFill>
                      <a:srgbClr val="FFFFFF"/>
                    </a:solidFill>
                  </a:tcPr>
                </a:tc>
                <a:tc>
                  <a:txBody>
                    <a:bodyPr lIns="114300" tIns="95250" rIns="95250" bIns="76200"/>
                    <a:lstStyle/>
                    <a:p>
                      <a:r>
                        <a:rPr sz="2175" b="0">
                          <a:solidFill>
                            <a:srgbClr val="101C32"/>
                          </a:solidFill>
                          <a:latin typeface="DejaVu Sans"/>
                          <a:ea typeface="DejaVu Sans"/>
                          <a:cs typeface="DejaVu Sans"/>
                        </a:rPr>
                        <a:t>0,500100</a:t>
                      </a:r>
                    </a:p>
                  </a:txBody>
                  <a:tcPr marL="91440" marR="91440" marT="45720" marB="45720" anchor="ctr">
                    <a:solidFill>
                      <a:srgbClr val="FFFFFF"/>
                    </a:solidFill>
                  </a:tcPr>
                </a:tc>
              </a:tr>
            </a:tbl>
          </a:graphicData>
        </a:graphic>
      </p:graphicFrame>
      <p:sp>
        <p:nvSpPr>
          <p:cNvPr id="8" name="text-123">
            <a:extLst xmlns:a="http://schemas.openxmlformats.org/drawingml/2006/main">
              <a:ext uri="{FF2B5EF4-FFF2-40B4-BE49-F238E27FC236}">
                <a16:creationId xmlns:a16="http://schemas.microsoft.com/office/drawing/2014/main" id="{6858149E-AF8B-4212-9EB9-621C3806632B}"/>
              </a:ext>
            </a:extLst>
          </p:cNvPr>
          <p:cNvSpPr>
            <a:spLocks xmlns:a="http://schemas.openxmlformats.org/drawingml/2006/main" noGrp="1"/>
          </p:cNvSpPr>
          <p:nvPr/>
        </p:nvSpPr>
        <p:spPr>
          <a:xfrm xmlns:a="http://schemas.openxmlformats.org/drawingml/2006/main">
            <a:off x="571500" y="4410075"/>
            <a:ext cx="11049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E85555"/>
                </a:solidFill>
                <a:latin typeface="DejaVu Sans"/>
                <a:ea typeface="DejaVu Sans"/>
                <a:cs typeface="DejaVu Sans"/>
              </a:defRPr>
            </a:defPPr>
          </a:lstStyle>
          <a:p xmlns:a="http://schemas.openxmlformats.org/drawingml/2006/main">
            <a:pPr>
              <a:defRPr sz="2250" b="1">
                <a:solidFill>
                  <a:srgbClr val="E85555"/>
                </a:solidFill>
                <a:latin typeface="DejaVu Sans"/>
                <a:ea typeface="DejaVu Sans"/>
                <a:cs typeface="DejaVu Sans"/>
              </a:defRPr>
            </a:pPr>
            <a:r>
              <a:rPr sz="2250" b="1">
                <a:solidFill>
                  <a:srgbClr val="E85555"/>
                </a:solidFill>
                <a:latin typeface="DejaVu Sans"/>
                <a:ea typeface="DejaVu Sans"/>
                <a:cs typeface="DejaVu Sans"/>
              </a:rPr>
              <a:t>Ближе эталон атаки → прогноз «SYN-flood» → ошибка.</a:t>
            </a:r>
          </a:p>
          <a:p xmlns:a="http://schemas.openxmlformats.org/drawingml/2006/main">
            <a:pPr>
              <a:defRPr sz="2250" b="1">
                <a:solidFill>
                  <a:srgbClr val="E85555"/>
                </a:solidFill>
                <a:latin typeface="DejaVu Sans"/>
                <a:ea typeface="DejaVu Sans"/>
                <a:cs typeface="DejaVu Sans"/>
              </a:defRPr>
            </a:pPr>
            <a:r>
              <a:rPr sz="2250" b="1">
                <a:solidFill>
                  <a:srgbClr val="E85555"/>
                </a:solidFill>
                <a:latin typeface="DejaVu Sans"/>
                <a:ea typeface="DejaVu Sans"/>
                <a:cs typeface="DejaVu Sans"/>
              </a:rPr>
              <a:t>Отступ = 0,500100 − 0,600083 ≈ −0,099983</a:t>
            </a:r>
          </a:p>
        </p:txBody>
      </p:sp>
      <p:sp>
        <p:nvSpPr>
          <p:cNvPr id="9" name="">
            <a:extLst xmlns:a="http://schemas.openxmlformats.org/drawingml/2006/main">
              <a:ext uri="{FF2B5EF4-FFF2-40B4-BE49-F238E27FC236}">
                <a16:creationId xmlns:a16="http://schemas.microsoft.com/office/drawing/2014/main" id="{506D45D2-CD63-4096-BB3F-C34554B25390}"/>
              </a:ext>
            </a:extLst>
          </p:cNvPr>
          <p:cNvSpPr>
            <a:spLocks xmlns:a="http://schemas.openxmlformats.org/drawingml/2006/main" noGrp="1"/>
          </p:cNvSpPr>
          <p:nvPr/>
        </p:nvSpPr>
        <p:spPr>
          <a:xfrm xmlns:a="http://schemas.openxmlformats.org/drawingml/2006/main">
            <a:off x="571500" y="5715000"/>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0" name="text-124">
            <a:extLst xmlns:a="http://schemas.openxmlformats.org/drawingml/2006/main">
              <a:ext uri="{FF2B5EF4-FFF2-40B4-BE49-F238E27FC236}">
                <a16:creationId xmlns:a16="http://schemas.microsoft.com/office/drawing/2014/main" id="{CA54F135-3D7C-4E66-B386-48D54066365E}"/>
              </a:ext>
            </a:extLst>
          </p:cNvPr>
          <p:cNvSpPr>
            <a:spLocks xmlns:a="http://schemas.openxmlformats.org/drawingml/2006/main" noGrp="1"/>
          </p:cNvSpPr>
          <p:nvPr/>
        </p:nvSpPr>
        <p:spPr>
          <a:xfrm xmlns:a="http://schemas.openxmlformats.org/drawingml/2006/main">
            <a:off x="571500" y="5876925"/>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Один образец грубо описал норму при высокой легитимной нагрузке</a:t>
            </a:r>
          </a:p>
        </p:txBody>
      </p:sp>
    </p:spTree>
    <p:extLst>
      <p:ext uri="{BB962C8B-B14F-4D97-AF65-F5344CB8AC3E}">
        <p14:creationId xmlns:p14="http://schemas.microsoft.com/office/powerpoint/2010/main" val="340933120"/>
      </p:ext>
    </p:extLst>
  </p:cSld>
</p:sld>
</file>

<file path=ppt/slides/slide17.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0" name="text-125">
            <a:extLst xmlns:a="http://schemas.openxmlformats.org/drawingml/2006/main">
              <a:ext uri="{FF2B5EF4-FFF2-40B4-BE49-F238E27FC236}">
                <a16:creationId xmlns:a16="http://schemas.microsoft.com/office/drawing/2014/main" id="{B1401903-FB3E-4B6A-8EB0-A53D1EE61D56}"/>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Обучаем SVM на той же выборке</a:t>
            </a:r>
          </a:p>
        </p:txBody>
      </p:sp>
      <p:sp>
        <p:nvSpPr>
          <p:cNvPr id="2" name="text-126">
            <a:extLst xmlns:a="http://schemas.openxmlformats.org/drawingml/2006/main">
              <a:ext uri="{FF2B5EF4-FFF2-40B4-BE49-F238E27FC236}">
                <a16:creationId xmlns:a16="http://schemas.microsoft.com/office/drawing/2014/main" id="{C5336183-65A2-4DC0-AEB4-4F14F0950179}"/>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SVC — реализация алгоритма SVM в библиотеке scikit-learn</a:t>
            </a:r>
          </a:p>
        </p:txBody>
      </p:sp>
      <p:sp>
        <p:nvSpPr>
          <p:cNvPr id="3" name="">
            <a:extLst xmlns:a="http://schemas.openxmlformats.org/drawingml/2006/main">
              <a:ext uri="{FF2B5EF4-FFF2-40B4-BE49-F238E27FC236}">
                <a16:creationId xmlns:a16="http://schemas.microsoft.com/office/drawing/2014/main" id="{B2BDB7A4-979F-4C35-AB95-55F4131445B3}"/>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27">
            <a:extLst xmlns:a="http://schemas.openxmlformats.org/drawingml/2006/main">
              <a:ext uri="{FF2B5EF4-FFF2-40B4-BE49-F238E27FC236}">
                <a16:creationId xmlns:a16="http://schemas.microsoft.com/office/drawing/2014/main" id="{56287DC1-C408-4288-B53C-6EE054C67021}"/>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[5]; собственный расчёт</a:t>
            </a:r>
          </a:p>
        </p:txBody>
      </p:sp>
      <p:sp>
        <p:nvSpPr>
          <p:cNvPr id="5" name="text-128">
            <a:extLst xmlns:a="http://schemas.openxmlformats.org/drawingml/2006/main">
              <a:ext uri="{FF2B5EF4-FFF2-40B4-BE49-F238E27FC236}">
                <a16:creationId xmlns:a16="http://schemas.microsoft.com/office/drawing/2014/main" id="{2AF76D68-5029-425F-BD9B-0243CE2F486F}"/>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17</a:t>
            </a:r>
          </a:p>
        </p:txBody>
      </p:sp>
      <p:sp>
        <p:nvSpPr>
          <p:cNvPr id="6" name="text-129">
            <a:extLst xmlns:a="http://schemas.openxmlformats.org/drawingml/2006/main">
              <a:ext uri="{FF2B5EF4-FFF2-40B4-BE49-F238E27FC236}">
                <a16:creationId xmlns:a16="http://schemas.microsoft.com/office/drawing/2014/main" id="{5EB9FBCE-9C89-426E-A67D-CFD97292E312}"/>
              </a:ext>
            </a:extLst>
          </p:cNvPr>
          <p:cNvSpPr>
            <a:spLocks xmlns:a="http://schemas.openxmlformats.org/drawingml/2006/main" noGrp="1"/>
          </p:cNvSpPr>
          <p:nvPr/>
        </p:nvSpPr>
        <p:spPr>
          <a:xfrm xmlns:a="http://schemas.openxmlformats.org/drawingml/2006/main">
            <a:off x="571500" y="2152650"/>
            <a:ext cx="11049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01C32"/>
                </a:solidFill>
                <a:latin typeface="DejaVu Sans Mono"/>
                <a:ea typeface="DejaVu Sans Mono"/>
                <a:cs typeface="DejaVu Sans Mono"/>
              </a:defRPr>
            </a:defPPr>
          </a:lstStyle>
          <a:p xmlns:a="http://schemas.openxmlformats.org/drawingml/2006/main">
            <a:pPr>
              <a:defRPr sz="2175" b="0">
                <a:solidFill>
                  <a:srgbClr val="101C32"/>
                </a:solidFill>
                <a:latin typeface="DejaVu Sans Mono"/>
                <a:ea typeface="DejaVu Sans Mono"/>
                <a:cs typeface="DejaVu Sans Mono"/>
              </a:defRPr>
            </a:pPr>
            <a:r>
              <a:rPr sz="2175" b="0">
                <a:solidFill>
                  <a:srgbClr val="101C32"/>
                </a:solidFill>
                <a:latin typeface="DejaVu Sans Mono"/>
                <a:ea typeface="DejaVu Sans Mono"/>
                <a:cs typeface="DejaVu Sans Mono"/>
              </a:rPr>
              <a:t>model = SVC(kernel="linear", C=1,</a:t>
            </a:r>
          </a:p>
          <a:p xmlns:a="http://schemas.openxmlformats.org/drawingml/2006/main">
            <a:pPr>
              <a:defRPr sz="2175" b="0">
                <a:solidFill>
                  <a:srgbClr val="101C32"/>
                </a:solidFill>
                <a:latin typeface="DejaVu Sans Mono"/>
                <a:ea typeface="DejaVu Sans Mono"/>
                <a:cs typeface="DejaVu Sans Mono"/>
              </a:defRPr>
            </a:pPr>
            <a:r>
              <a:rPr sz="2175" b="0">
                <a:solidFill>
                  <a:srgbClr val="101C32"/>
                </a:solidFill>
                <a:latin typeface="DejaVu Sans Mono"/>
                <a:ea typeface="DejaVu Sans Mono"/>
                <a:cs typeface="DejaVu Sans Mono"/>
              </a:rPr>
              <a:t>            tol=1e-10, shrinking=False)</a:t>
            </a:r>
          </a:p>
          <a:p xmlns:a="http://schemas.openxmlformats.org/drawingml/2006/main">
            <a:pPr>
              <a:defRPr sz="2175" b="0">
                <a:solidFill>
                  <a:srgbClr val="101C32"/>
                </a:solidFill>
                <a:latin typeface="DejaVu Sans Mono"/>
                <a:ea typeface="DejaVu Sans Mono"/>
                <a:cs typeface="DejaVu Sans Mono"/>
              </a:defRPr>
            </a:pPr>
            <a:r>
              <a:rPr sz="2175" b="0">
                <a:solidFill>
                  <a:srgbClr val="101C32"/>
                </a:solidFill>
                <a:latin typeface="DejaVu Sans Mono"/>
                <a:ea typeface="DejaVu Sans Mono"/>
                <a:cs typeface="DejaVu Sans Mono"/>
              </a:rPr>
              <a:t>model.fit(X_train, y_train)</a:t>
            </a:r>
          </a:p>
        </p:txBody>
      </p:sp>
      <p:sp>
        <p:nvSpPr>
          <p:cNvPr id="7" name="text-130">
            <a:extLst xmlns:a="http://schemas.openxmlformats.org/drawingml/2006/main">
              <a:ext uri="{FF2B5EF4-FFF2-40B4-BE49-F238E27FC236}">
                <a16:creationId xmlns:a16="http://schemas.microsoft.com/office/drawing/2014/main" id="{931B9B91-BA75-4CAC-8554-C072EA140776}"/>
              </a:ext>
            </a:extLst>
          </p:cNvPr>
          <p:cNvSpPr>
            <a:spLocks xmlns:a="http://schemas.openxmlformats.org/drawingml/2006/main" noGrp="1"/>
          </p:cNvSpPr>
          <p:nvPr/>
        </p:nvSpPr>
        <p:spPr>
          <a:xfrm xmlns:a="http://schemas.openxmlformats.org/drawingml/2006/main">
            <a:off x="571500" y="4038600"/>
            <a:ext cx="11049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01C32"/>
                </a:solidFill>
                <a:latin typeface="DejaVu Sans"/>
                <a:ea typeface="DejaVu Sans"/>
                <a:cs typeface="DejaVu Sans"/>
              </a:defRPr>
            </a:defPPr>
          </a:lstStyle>
          <a:p xmlns:a="http://schemas.openxmlformats.org/drawingml/2006/main">
            <a:pPr>
              <a:defRPr sz="2100" b="0">
                <a:solidFill>
                  <a:srgbClr val="101C32"/>
                </a:solidFill>
                <a:latin typeface="DejaVu Sans"/>
                <a:ea typeface="DejaVu Sans"/>
                <a:cs typeface="DejaVu Sans"/>
              </a:defRPr>
            </a:pPr>
            <a:r>
              <a:rPr sz="2100" b="0">
                <a:solidFill>
                  <a:srgbClr val="101C32"/>
                </a:solidFill>
                <a:latin typeface="DejaVu Sans"/>
                <a:ea typeface="DejaVu Sans"/>
                <a:cs typeface="DejaVu Sans"/>
              </a:rPr>
              <a:t>X_train — признаки всех 20 обучающих окон.</a:t>
            </a:r>
          </a:p>
          <a:p xmlns:a="http://schemas.openxmlformats.org/drawingml/2006/main">
            <a:pPr>
              <a:defRPr sz="2100" b="0">
                <a:solidFill>
                  <a:srgbClr val="101C32"/>
                </a:solidFill>
                <a:latin typeface="DejaVu Sans"/>
                <a:ea typeface="DejaVu Sans"/>
                <a:cs typeface="DejaVu Sans"/>
              </a:defRPr>
            </a:pPr>
            <a:r>
              <a:rPr sz="2100" b="0">
                <a:solidFill>
                  <a:srgbClr val="101C32"/>
                </a:solidFill>
                <a:latin typeface="DejaVu Sans"/>
                <a:ea typeface="DejaVu Sans"/>
                <a:cs typeface="DejaVu Sans"/>
              </a:rPr>
              <a:t>y_train — их известные метки: норма = −1, атака = +1.</a:t>
            </a:r>
          </a:p>
        </p:txBody>
      </p:sp>
      <p:sp>
        <p:nvSpPr>
          <p:cNvPr id="8" name="">
            <a:extLst xmlns:a="http://schemas.openxmlformats.org/drawingml/2006/main">
              <a:ext uri="{FF2B5EF4-FFF2-40B4-BE49-F238E27FC236}">
                <a16:creationId xmlns:a16="http://schemas.microsoft.com/office/drawing/2014/main" id="{6216F8A4-9C00-4226-B009-0791B2E3892C}"/>
              </a:ext>
            </a:extLst>
          </p:cNvPr>
          <p:cNvSpPr>
            <a:spLocks xmlns:a="http://schemas.openxmlformats.org/drawingml/2006/main" noGrp="1"/>
          </p:cNvSpPr>
          <p:nvPr/>
        </p:nvSpPr>
        <p:spPr>
          <a:xfrm xmlns:a="http://schemas.openxmlformats.org/drawingml/2006/main">
            <a:off x="571500" y="564832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9" name="text-131">
            <a:extLst xmlns:a="http://schemas.openxmlformats.org/drawingml/2006/main">
              <a:ext uri="{FF2B5EF4-FFF2-40B4-BE49-F238E27FC236}">
                <a16:creationId xmlns:a16="http://schemas.microsoft.com/office/drawing/2014/main" id="{F2B2600F-E018-4C62-B280-05989BA19C9D}"/>
              </a:ext>
            </a:extLst>
          </p:cNvPr>
          <p:cNvSpPr>
            <a:spLocks xmlns:a="http://schemas.openxmlformats.org/drawingml/2006/main" noGrp="1"/>
          </p:cNvSpPr>
          <p:nvPr/>
        </p:nvSpPr>
        <p:spPr>
          <a:xfrm xmlns:a="http://schemas.openxmlformats.org/drawingml/2006/main">
            <a:off x="571500" y="581025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Масштаб тот же. Теперь проверим неизменённое окно T07</a:t>
            </a:r>
          </a:p>
        </p:txBody>
      </p:sp>
    </p:spTree>
    <p:extLst>
      <p:ext uri="{BB962C8B-B14F-4D97-AF65-F5344CB8AC3E}">
        <p14:creationId xmlns:p14="http://schemas.microsoft.com/office/powerpoint/2010/main" val="1169898748"/>
      </p:ext>
    </p:extLst>
  </p:cSld>
</p:sld>
</file>

<file path=ppt/slides/slide18.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9" name="text-132">
            <a:extLst xmlns:a="http://schemas.openxmlformats.org/drawingml/2006/main">
              <a:ext uri="{FF2B5EF4-FFF2-40B4-BE49-F238E27FC236}">
                <a16:creationId xmlns:a16="http://schemas.microsoft.com/office/drawing/2014/main" id="{51067CDF-2B30-4FC5-B0CA-7A80CA18C83B}"/>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То же окно T07: результат SVM</a:t>
            </a:r>
          </a:p>
        </p:txBody>
      </p:sp>
      <p:sp>
        <p:nvSpPr>
          <p:cNvPr id="2" name="text-133">
            <a:extLst xmlns:a="http://schemas.openxmlformats.org/drawingml/2006/main">
              <a:ext uri="{FF2B5EF4-FFF2-40B4-BE49-F238E27FC236}">
                <a16:creationId xmlns:a16="http://schemas.microsoft.com/office/drawing/2014/main" id="{CFB235DB-63FF-41EF-8C56-1C47CBB75349}"/>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1200 SYN/с и 16% → прогноз «норма»; в этом примере ответ верный</a:t>
            </a:r>
          </a:p>
        </p:txBody>
      </p:sp>
      <p:sp>
        <p:nvSpPr>
          <p:cNvPr id="3" name="">
            <a:extLst xmlns:a="http://schemas.openxmlformats.org/drawingml/2006/main">
              <a:ext uri="{FF2B5EF4-FFF2-40B4-BE49-F238E27FC236}">
                <a16:creationId xmlns:a16="http://schemas.microsoft.com/office/drawing/2014/main" id="{97331B27-2E79-42CD-80D9-6FDF11C34FA6}"/>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34">
            <a:extLst xmlns:a="http://schemas.openxmlformats.org/drawingml/2006/main">
              <a:ext uri="{FF2B5EF4-FFF2-40B4-BE49-F238E27FC236}">
                <a16:creationId xmlns:a16="http://schemas.microsoft.com/office/drawing/2014/main" id="{F57371C9-DDE3-4795-B5E9-09DB9AACBA3F}"/>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5" name="text-135">
            <a:extLst xmlns:a="http://schemas.openxmlformats.org/drawingml/2006/main">
              <a:ext uri="{FF2B5EF4-FFF2-40B4-BE49-F238E27FC236}">
                <a16:creationId xmlns:a16="http://schemas.microsoft.com/office/drawing/2014/main" id="{C2E16937-49D3-4F8C-9109-5BBA533AF556}"/>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18</a:t>
            </a:r>
          </a:p>
        </p:txBody>
      </p:sp>
      <p:graphicFrame>
        <p:nvGraphicFramePr>
          <p:cNvPr id="6" name="">
            <a:extLst xmlns:a="http://schemas.openxmlformats.org/drawingml/2006/main">
              <a:ext uri="{FF2B5EF4-FFF2-40B4-BE49-F238E27FC236}">
                <a16:creationId xmlns:a16="http://schemas.microsoft.com/office/drawing/2014/main" id="{D4016346-1113-4685-89D4-DA58E0A2EE62}"/>
              </a:ext>
            </a:extLst>
          </p:cNvPr>
          <p:cNvGraphicFramePr/>
          <p:nvPr/>
        </p:nvGraphicFramePr>
        <p:xfrm>
          <a:off xmlns:a="http://schemas.openxmlformats.org/drawingml/2006/main" x="571500" y="2181225"/>
          <a:ext xmlns:a="http://schemas.openxmlformats.org/drawingml/2006/main" cx="11049000" cy="1285875"/>
        </p:xfrm>
        <a:graphic xmlns:a="http://schemas.openxmlformats.org/drawingml/2006/main">
          <a:graphicData uri="http://schemas.openxmlformats.org/drawingml/2006/table">
            <a:tbl>
              <a:tblPr/>
              <a:tblGrid>
                <a:gridCol w="3683000"/>
                <a:gridCol w="3683000"/>
                <a:gridCol w="3683000"/>
              </a:tblGrid>
              <a:tr h="642938">
                <a:tc>
                  <a:txBody>
                    <a:bodyPr lIns="114300" tIns="95250" rIns="95250" bIns="76200"/>
                    <a:lstStyle/>
                    <a:p>
                      <a:r>
                        <a:rPr sz="2175" b="1">
                          <a:solidFill>
                            <a:srgbClr val="FFFFFF"/>
                          </a:solidFill>
                          <a:latin typeface="DejaVu Sans"/>
                          <a:ea typeface="DejaVu Sans"/>
                          <a:cs typeface="DejaVu Sans"/>
                        </a:rPr>
                        <a:t>Число правила f</a:t>
                      </a:r>
                    </a:p>
                  </a:txBody>
                  <a:tcPr marL="91440" marR="91440" marT="45720" marB="45720" anchor="ctr">
                    <a:solidFill>
                      <a:srgbClr val="101C32"/>
                    </a:solidFill>
                  </a:tcPr>
                </a:tc>
                <a:tc>
                  <a:txBody>
                    <a:bodyPr lIns="114300" tIns="95250" rIns="95250" bIns="76200"/>
                    <a:lstStyle/>
                    <a:p>
                      <a:r>
                        <a:rPr sz="2175" b="1">
                          <a:solidFill>
                            <a:srgbClr val="FFFFFF"/>
                          </a:solidFill>
                          <a:latin typeface="DejaVu Sans"/>
                          <a:ea typeface="DejaVu Sans"/>
                          <a:cs typeface="DejaVu Sans"/>
                        </a:rPr>
                        <a:t>Отступ со знаком γ</a:t>
                      </a:r>
                    </a:p>
                  </a:txBody>
                  <a:tcPr marL="91440" marR="91440" marT="45720" marB="45720" anchor="ctr">
                    <a:solidFill>
                      <a:srgbClr val="101C32"/>
                    </a:solidFill>
                  </a:tcPr>
                </a:tc>
                <a:tc>
                  <a:txBody>
                    <a:bodyPr lIns="114300" tIns="95250" rIns="95250" bIns="76200"/>
                    <a:lstStyle/>
                    <a:p>
                      <a:r>
                        <a:rPr sz="2175" b="1">
                          <a:solidFill>
                            <a:srgbClr val="FFFFFF"/>
                          </a:solidFill>
                          <a:latin typeface="DejaVu Sans"/>
                          <a:ea typeface="DejaVu Sans"/>
                          <a:cs typeface="DejaVu Sans"/>
                        </a:rPr>
                        <a:t>Запас r</a:t>
                      </a:r>
                    </a:p>
                  </a:txBody>
                  <a:tcPr marL="91440" marR="91440" marT="45720" marB="45720" anchor="ctr">
                    <a:solidFill>
                      <a:srgbClr val="101C32"/>
                    </a:solidFill>
                  </a:tcPr>
                </a:tc>
              </a:tr>
              <a:tr h="642938">
                <a:tc>
                  <a:txBody>
                    <a:bodyPr lIns="114300" tIns="95250" rIns="95250" bIns="76200"/>
                    <a:lstStyle/>
                    <a:p>
                      <a:r>
                        <a:rPr sz="2175" b="0">
                          <a:solidFill>
                            <a:srgbClr val="101C32"/>
                          </a:solidFill>
                          <a:latin typeface="DejaVu Sans"/>
                          <a:ea typeface="DejaVu Sans"/>
                          <a:cs typeface="DejaVu Sans"/>
                        </a:rPr>
                        <a:t>−0,248833</a:t>
                      </a:r>
                    </a:p>
                  </a:txBody>
                  <a:tcPr marL="91440" marR="91440" marT="45720" marB="45720" anchor="ctr">
                    <a:solidFill>
                      <a:srgbClr val="FFFFFF"/>
                    </a:solidFill>
                  </a:tcPr>
                </a:tc>
                <a:tc>
                  <a:txBody>
                    <a:bodyPr lIns="114300" tIns="95250" rIns="95250" bIns="76200"/>
                    <a:lstStyle/>
                    <a:p>
                      <a:r>
                        <a:rPr sz="2175" b="0">
                          <a:solidFill>
                            <a:srgbClr val="101C32"/>
                          </a:solidFill>
                          <a:latin typeface="DejaVu Sans"/>
                          <a:ea typeface="DejaVu Sans"/>
                          <a:cs typeface="DejaVu Sans"/>
                        </a:rPr>
                        <a:t>+0,101921</a:t>
                      </a:r>
                    </a:p>
                  </a:txBody>
                  <a:tcPr marL="91440" marR="91440" marT="45720" marB="45720" anchor="ctr">
                    <a:solidFill>
                      <a:srgbClr val="FFFFFF"/>
                    </a:solidFill>
                  </a:tcPr>
                </a:tc>
                <a:tc>
                  <a:txBody>
                    <a:bodyPr lIns="114300" tIns="95250" rIns="95250" bIns="76200"/>
                    <a:lstStyle/>
                    <a:p>
                      <a:r>
                        <a:rPr sz="2175" b="0">
                          <a:solidFill>
                            <a:srgbClr val="101C32"/>
                          </a:solidFill>
                          <a:latin typeface="DejaVu Sans"/>
                          <a:ea typeface="DejaVu Sans"/>
                          <a:cs typeface="DejaVu Sans"/>
                        </a:rPr>
                        <a:t>0,101921</a:t>
                      </a:r>
                    </a:p>
                  </a:txBody>
                  <a:tcPr marL="91440" marR="91440" marT="45720" marB="45720" anchor="ctr">
                    <a:solidFill>
                      <a:srgbClr val="FFFFFF"/>
                    </a:solidFill>
                  </a:tcPr>
                </a:tc>
              </a:tr>
            </a:tbl>
          </a:graphicData>
        </a:graphic>
      </p:graphicFrame>
      <p:sp>
        <p:nvSpPr>
          <p:cNvPr id="7" name="text-136">
            <a:extLst xmlns:a="http://schemas.openxmlformats.org/drawingml/2006/main">
              <a:ext uri="{FF2B5EF4-FFF2-40B4-BE49-F238E27FC236}">
                <a16:creationId xmlns:a16="http://schemas.microsoft.com/office/drawing/2014/main" id="{F66E89C8-F281-4710-87B4-D2BF799E26EE}"/>
              </a:ext>
            </a:extLst>
          </p:cNvPr>
          <p:cNvSpPr>
            <a:spLocks xmlns:a="http://schemas.openxmlformats.org/drawingml/2006/main" noGrp="1"/>
          </p:cNvSpPr>
          <p:nvPr/>
        </p:nvSpPr>
        <p:spPr>
          <a:xfrm xmlns:a="http://schemas.openxmlformats.org/drawingml/2006/main">
            <a:off x="571500" y="3876675"/>
            <a:ext cx="110490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Mono"/>
                <a:ea typeface="DejaVu Sans Mono"/>
                <a:cs typeface="DejaVu Sans Mono"/>
              </a:defRPr>
            </a:defPPr>
          </a:lstStyle>
          <a:p xmlns:a="http://schemas.openxmlformats.org/drawingml/2006/main">
            <a:pPr>
              <a:defRPr sz="1875" b="0">
                <a:solidFill>
                  <a:srgbClr val="101C32"/>
                </a:solidFill>
                <a:latin typeface="DejaVu Sans Mono"/>
                <a:ea typeface="DejaVu Sans Mono"/>
                <a:cs typeface="DejaVu Sans Mono"/>
              </a:defRPr>
            </a:pPr>
            <a:r>
              <a:rPr sz="1875" b="0">
                <a:solidFill>
                  <a:srgbClr val="101C32"/>
                </a:solidFill>
                <a:latin typeface="DejaVu Sans Mono"/>
                <a:ea typeface="DejaVu Sans Mono"/>
                <a:cs typeface="DejaVu Sans Mono"/>
              </a:rPr>
              <a:t>f = model.decision_function(X_check)</a:t>
            </a:r>
          </a:p>
          <a:p xmlns:a="http://schemas.openxmlformats.org/drawingml/2006/main">
            <a:pPr>
              <a:defRPr sz="1875" b="0">
                <a:solidFill>
                  <a:srgbClr val="101C32"/>
                </a:solidFill>
                <a:latin typeface="DejaVu Sans Mono"/>
                <a:ea typeface="DejaVu Sans Mono"/>
                <a:cs typeface="DejaVu Sans Mono"/>
              </a:defRPr>
            </a:pPr>
            <a:r>
              <a:rPr sz="1875" b="0">
                <a:solidFill>
                  <a:srgbClr val="101C32"/>
                </a:solidFill>
                <a:latin typeface="DejaVu Sans Mono"/>
                <a:ea typeface="DejaVu Sans Mono"/>
                <a:cs typeface="DejaVu Sans Mono"/>
              </a:rPr>
              <a:t>r = np.abs(f) / np.linalg.norm(model.coef_)</a:t>
            </a:r>
          </a:p>
          <a:p xmlns:a="http://schemas.openxmlformats.org/drawingml/2006/main">
            <a:pPr>
              <a:defRPr sz="1875" b="0">
                <a:solidFill>
                  <a:srgbClr val="101C32"/>
                </a:solidFill>
                <a:latin typeface="DejaVu Sans Mono"/>
                <a:ea typeface="DejaVu Sans Mono"/>
                <a:cs typeface="DejaVu Sans Mono"/>
              </a:defRPr>
            </a:pPr>
            <a:r>
              <a:rPr sz="1875" b="0">
                <a:solidFill>
                  <a:srgbClr val="101C32"/>
                </a:solidFill>
                <a:latin typeface="DejaVu Sans Mono"/>
                <a:ea typeface="DejaVu Sans Mono"/>
                <a:cs typeface="DejaVu Sans Mono"/>
              </a:rPr>
              <a:t>gamma = y_check * f / np.linalg.norm(model.coef_)</a:t>
            </a:r>
          </a:p>
        </p:txBody>
      </p:sp>
      <p:sp>
        <p:nvSpPr>
          <p:cNvPr id="8" name="text-137">
            <a:extLst xmlns:a="http://schemas.openxmlformats.org/drawingml/2006/main">
              <a:ext uri="{FF2B5EF4-FFF2-40B4-BE49-F238E27FC236}">
                <a16:creationId xmlns:a16="http://schemas.microsoft.com/office/drawing/2014/main" id="{E5ABBE6B-2F67-4CB0-B996-A0496270F78D}"/>
              </a:ext>
            </a:extLst>
          </p:cNvPr>
          <p:cNvSpPr>
            <a:spLocks xmlns:a="http://schemas.openxmlformats.org/drawingml/2006/main" noGrp="1"/>
          </p:cNvSpPr>
          <p:nvPr/>
        </p:nvSpPr>
        <p:spPr>
          <a:xfrm xmlns:a="http://schemas.openxmlformats.org/drawingml/2006/main">
            <a:off x="571500" y="5667375"/>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rPr>
              <a:t>T07 — одно из X_check. Запас измерен в масштабе признаков.</a:t>
            </a:r>
          </a:p>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rPr>
              <a:t>Исправление одного случая не доказывает превосходство SVM.</a:t>
            </a:r>
          </a:p>
        </p:txBody>
      </p:sp>
    </p:spTree>
    <p:extLst>
      <p:ext uri="{BB962C8B-B14F-4D97-AF65-F5344CB8AC3E}">
        <p14:creationId xmlns:p14="http://schemas.microsoft.com/office/powerpoint/2010/main" val="173108407"/>
      </p:ext>
    </p:extLst>
  </p:cSld>
</p:sld>
</file>

<file path=ppt/slides/slide19.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8" name="text-138">
            <a:extLst xmlns:a="http://schemas.openxmlformats.org/drawingml/2006/main">
              <a:ext uri="{FF2B5EF4-FFF2-40B4-BE49-F238E27FC236}">
                <a16:creationId xmlns:a16="http://schemas.microsoft.com/office/drawing/2014/main" id="{712D9086-CF86-4692-83EF-8B8B9BC129F5}"/>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Считаем отступы для восьми окон</a:t>
            </a:r>
          </a:p>
        </p:txBody>
      </p:sp>
      <p:sp>
        <p:nvSpPr>
          <p:cNvPr id="2" name="text-139">
            <a:extLst xmlns:a="http://schemas.openxmlformats.org/drawingml/2006/main">
              <a:ext uri="{FF2B5EF4-FFF2-40B4-BE49-F238E27FC236}">
                <a16:creationId xmlns:a16="http://schemas.microsoft.com/office/drawing/2014/main" id="{94977D7D-ED2D-4393-AF5D-657B99AFCA48}"/>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Известная метка нужна для знака γ; r — неотрицательное расстояние</a:t>
            </a:r>
          </a:p>
        </p:txBody>
      </p:sp>
      <p:sp>
        <p:nvSpPr>
          <p:cNvPr id="3" name="">
            <a:extLst xmlns:a="http://schemas.openxmlformats.org/drawingml/2006/main">
              <a:ext uri="{FF2B5EF4-FFF2-40B4-BE49-F238E27FC236}">
                <a16:creationId xmlns:a16="http://schemas.microsoft.com/office/drawing/2014/main" id="{890D6EFB-94DE-46D3-A559-79FC17D1B356}"/>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40">
            <a:extLst xmlns:a="http://schemas.openxmlformats.org/drawingml/2006/main">
              <a:ext uri="{FF2B5EF4-FFF2-40B4-BE49-F238E27FC236}">
                <a16:creationId xmlns:a16="http://schemas.microsoft.com/office/drawing/2014/main" id="{E55D04DD-1B94-4468-A858-D5978831FDA5}"/>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5" name="text-141">
            <a:extLst xmlns:a="http://schemas.openxmlformats.org/drawingml/2006/main">
              <a:ext uri="{FF2B5EF4-FFF2-40B4-BE49-F238E27FC236}">
                <a16:creationId xmlns:a16="http://schemas.microsoft.com/office/drawing/2014/main" id="{3E066CA7-B4C8-4AF8-96A3-B9FE9BA726DF}"/>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19</a:t>
            </a:r>
          </a:p>
        </p:txBody>
      </p:sp>
      <p:graphicFrame>
        <p:nvGraphicFramePr>
          <p:cNvPr id="6" name="">
            <a:extLst xmlns:a="http://schemas.openxmlformats.org/drawingml/2006/main">
              <a:ext uri="{FF2B5EF4-FFF2-40B4-BE49-F238E27FC236}">
                <a16:creationId xmlns:a16="http://schemas.microsoft.com/office/drawing/2014/main" id="{9EE7F7E4-62EA-448F-B5EC-BA1EA09C3353}"/>
              </a:ext>
            </a:extLst>
          </p:cNvPr>
          <p:cNvGraphicFramePr/>
          <p:nvPr/>
        </p:nvGraphicFramePr>
        <p:xfrm>
          <a:off xmlns:a="http://schemas.openxmlformats.org/drawingml/2006/main" x="571500" y="1952625"/>
          <a:ext xmlns:a="http://schemas.openxmlformats.org/drawingml/2006/main" cx="11049000" cy="3609975"/>
        </p:xfrm>
        <a:graphic xmlns:a="http://schemas.openxmlformats.org/drawingml/2006/main">
          <a:graphicData uri="http://schemas.openxmlformats.org/drawingml/2006/table">
            <a:tbl>
              <a:tblPr/>
              <a:tblGrid>
                <a:gridCol w="1189892"/>
                <a:gridCol w="2889738"/>
                <a:gridCol w="2889738"/>
                <a:gridCol w="2039815"/>
                <a:gridCol w="2039815"/>
              </a:tblGrid>
              <a:tr h="401108">
                <a:tc>
                  <a:txBody>
                    <a:bodyPr lIns="114300" tIns="95250" rIns="95250" bIns="76200"/>
                    <a:lstStyle/>
                    <a:p>
                      <a:r>
                        <a:rPr sz="1800" b="1">
                          <a:solidFill>
                            <a:srgbClr val="FFFFFF"/>
                          </a:solidFill>
                          <a:latin typeface="DejaVu Sans"/>
                          <a:ea typeface="DejaVu Sans"/>
                          <a:cs typeface="DejaVu Sans"/>
                        </a:rPr>
                        <a:t>ID</a:t>
                      </a:r>
                    </a:p>
                  </a:txBody>
                  <a:tcPr marL="91440" marR="91440" marT="45720" marB="45720" anchor="ctr">
                    <a:solidFill>
                      <a:srgbClr val="101C32"/>
                    </a:solidFill>
                  </a:tcPr>
                </a:tc>
                <a:tc>
                  <a:txBody>
                    <a:bodyPr lIns="114300" tIns="95250" rIns="95250" bIns="76200"/>
                    <a:lstStyle/>
                    <a:p>
                      <a:r>
                        <a:rPr sz="1800" b="1">
                          <a:solidFill>
                            <a:srgbClr val="FFFFFF"/>
                          </a:solidFill>
                          <a:latin typeface="DejaVu Sans"/>
                          <a:ea typeface="DejaVu Sans"/>
                          <a:cs typeface="DejaVu Sans"/>
                        </a:rPr>
                        <a:t>Истинный класс</a:t>
                      </a:r>
                    </a:p>
                  </a:txBody>
                  <a:tcPr marL="91440" marR="91440" marT="45720" marB="45720" anchor="ctr">
                    <a:solidFill>
                      <a:srgbClr val="101C32"/>
                    </a:solidFill>
                  </a:tcPr>
                </a:tc>
                <a:tc>
                  <a:txBody>
                    <a:bodyPr lIns="114300" tIns="95250" rIns="95250" bIns="76200"/>
                    <a:lstStyle/>
                    <a:p>
                      <a:r>
                        <a:rPr sz="1800" b="1">
                          <a:solidFill>
                            <a:srgbClr val="FFFFFF"/>
                          </a:solidFill>
                          <a:latin typeface="DejaVu Sans"/>
                          <a:ea typeface="DejaVu Sans"/>
                          <a:cs typeface="DejaVu Sans"/>
                        </a:rPr>
                        <a:t>Прогноз SVM</a:t>
                      </a:r>
                    </a:p>
                  </a:txBody>
                  <a:tcPr marL="91440" marR="91440" marT="45720" marB="45720" anchor="ctr">
                    <a:solidFill>
                      <a:srgbClr val="101C32"/>
                    </a:solidFill>
                  </a:tcPr>
                </a:tc>
                <a:tc>
                  <a:txBody>
                    <a:bodyPr lIns="114300" tIns="95250" rIns="95250" bIns="76200"/>
                    <a:lstStyle/>
                    <a:p>
                      <a:r>
                        <a:rPr sz="1800" b="1">
                          <a:solidFill>
                            <a:srgbClr val="FFFFFF"/>
                          </a:solidFill>
                          <a:latin typeface="DejaVu Sans"/>
                          <a:ea typeface="DejaVu Sans"/>
                          <a:cs typeface="DejaVu Sans"/>
                        </a:rPr>
                        <a:t>Отступ γ</a:t>
                      </a:r>
                    </a:p>
                  </a:txBody>
                  <a:tcPr marL="91440" marR="91440" marT="45720" marB="45720" anchor="ctr">
                    <a:solidFill>
                      <a:srgbClr val="101C32"/>
                    </a:solidFill>
                  </a:tcPr>
                </a:tc>
                <a:tc>
                  <a:txBody>
                    <a:bodyPr lIns="114300" tIns="95250" rIns="95250" bIns="76200"/>
                    <a:lstStyle/>
                    <a:p>
                      <a:r>
                        <a:rPr sz="1800" b="1">
                          <a:solidFill>
                            <a:srgbClr val="FFFFFF"/>
                          </a:solidFill>
                          <a:latin typeface="DejaVu Sans"/>
                          <a:ea typeface="DejaVu Sans"/>
                          <a:cs typeface="DejaVu Sans"/>
                        </a:rPr>
                        <a:t>Запас r</a:t>
                      </a:r>
                    </a:p>
                  </a:txBody>
                  <a:tcPr marL="91440" marR="91440" marT="45720" marB="45720" anchor="ctr">
                    <a:solidFill>
                      <a:srgbClr val="101C32"/>
                    </a:solidFill>
                  </a:tcPr>
                </a:tc>
              </a:tr>
              <a:tr h="401108">
                <a:tc>
                  <a:txBody>
                    <a:bodyPr lIns="114300" tIns="95250" rIns="95250" bIns="76200"/>
                    <a:lstStyle/>
                    <a:p>
                      <a:r>
                        <a:rPr sz="1800" b="0">
                          <a:solidFill>
                            <a:srgbClr val="101C32"/>
                          </a:solidFill>
                          <a:latin typeface="DejaVu Sans"/>
                          <a:ea typeface="DejaVu Sans"/>
                          <a:cs typeface="DejaVu Sans"/>
                        </a:rPr>
                        <a:t>T01</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0,551</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0,551</a:t>
                      </a:r>
                    </a:p>
                  </a:txBody>
                  <a:tcPr marL="91440" marR="91440" marT="45720" marB="45720" anchor="ctr">
                    <a:solidFill>
                      <a:srgbClr val="FFFFFF"/>
                    </a:solidFill>
                  </a:tcPr>
                </a:tc>
              </a:tr>
              <a:tr h="401108">
                <a:tc>
                  <a:txBody>
                    <a:bodyPr lIns="114300" tIns="95250" rIns="95250" bIns="76200"/>
                    <a:lstStyle/>
                    <a:p>
                      <a:r>
                        <a:rPr sz="1800" b="0">
                          <a:solidFill>
                            <a:srgbClr val="101C32"/>
                          </a:solidFill>
                          <a:latin typeface="DejaVu Sans"/>
                          <a:ea typeface="DejaVu Sans"/>
                          <a:cs typeface="DejaVu Sans"/>
                        </a:rPr>
                        <a:t>T02</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0,697</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0,697</a:t>
                      </a:r>
                    </a:p>
                  </a:txBody>
                  <a:tcPr marL="91440" marR="91440" marT="45720" marB="45720" anchor="ctr">
                    <a:solidFill>
                      <a:srgbClr val="EAF0F4"/>
                    </a:solidFill>
                  </a:tcPr>
                </a:tc>
              </a:tr>
              <a:tr h="401108">
                <a:tc>
                  <a:txBody>
                    <a:bodyPr lIns="114300" tIns="95250" rIns="95250" bIns="76200"/>
                    <a:lstStyle/>
                    <a:p>
                      <a:r>
                        <a:rPr sz="1800" b="0">
                          <a:solidFill>
                            <a:srgbClr val="101C32"/>
                          </a:solidFill>
                          <a:latin typeface="DejaVu Sans"/>
                          <a:ea typeface="DejaVu Sans"/>
                          <a:cs typeface="DejaVu Sans"/>
                        </a:rPr>
                        <a:t>T03</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0,018</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0,018</a:t>
                      </a:r>
                    </a:p>
                  </a:txBody>
                  <a:tcPr marL="91440" marR="91440" marT="45720" marB="45720" anchor="ctr">
                    <a:solidFill>
                      <a:srgbClr val="FFFFFF"/>
                    </a:solidFill>
                  </a:tcPr>
                </a:tc>
              </a:tr>
              <a:tr h="401108">
                <a:tc>
                  <a:txBody>
                    <a:bodyPr lIns="114300" tIns="95250" rIns="95250" bIns="76200"/>
                    <a:lstStyle/>
                    <a:p>
                      <a:r>
                        <a:rPr sz="1800" b="0">
                          <a:solidFill>
                            <a:srgbClr val="101C32"/>
                          </a:solidFill>
                          <a:latin typeface="DejaVu Sans"/>
                          <a:ea typeface="DejaVu Sans"/>
                          <a:cs typeface="DejaVu Sans"/>
                        </a:rPr>
                        <a:t>T04</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−0,043</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0,043</a:t>
                      </a:r>
                    </a:p>
                  </a:txBody>
                  <a:tcPr marL="91440" marR="91440" marT="45720" marB="45720" anchor="ctr">
                    <a:solidFill>
                      <a:srgbClr val="FBE4E4"/>
                    </a:solidFill>
                  </a:tcPr>
                </a:tc>
              </a:tr>
              <a:tr h="401108">
                <a:tc>
                  <a:txBody>
                    <a:bodyPr lIns="114300" tIns="95250" rIns="95250" bIns="76200"/>
                    <a:lstStyle/>
                    <a:p>
                      <a:r>
                        <a:rPr sz="1800" b="0">
                          <a:solidFill>
                            <a:srgbClr val="101C32"/>
                          </a:solidFill>
                          <a:latin typeface="DejaVu Sans"/>
                          <a:ea typeface="DejaVu Sans"/>
                          <a:cs typeface="DejaVu Sans"/>
                        </a:rPr>
                        <a:t>T05</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−0,024</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0,024</a:t>
                      </a:r>
                    </a:p>
                  </a:txBody>
                  <a:tcPr marL="91440" marR="91440" marT="45720" marB="45720" anchor="ctr">
                    <a:solidFill>
                      <a:srgbClr val="FBE4E4"/>
                    </a:solidFill>
                  </a:tcPr>
                </a:tc>
              </a:tr>
              <a:tr h="401108">
                <a:tc>
                  <a:txBody>
                    <a:bodyPr lIns="114300" tIns="95250" rIns="95250" bIns="76200"/>
                    <a:lstStyle/>
                    <a:p>
                      <a:r>
                        <a:rPr sz="1800" b="0">
                          <a:solidFill>
                            <a:srgbClr val="101C32"/>
                          </a:solidFill>
                          <a:latin typeface="DejaVu Sans"/>
                          <a:ea typeface="DejaVu Sans"/>
                          <a:cs typeface="DejaVu Sans"/>
                        </a:rPr>
                        <a:t>T06</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0,034</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0,034</a:t>
                      </a:r>
                    </a:p>
                  </a:txBody>
                  <a:tcPr marL="91440" marR="91440" marT="45720" marB="45720" anchor="ctr">
                    <a:solidFill>
                      <a:srgbClr val="EAF0F4"/>
                    </a:solidFill>
                  </a:tcPr>
                </a:tc>
              </a:tr>
              <a:tr h="401108">
                <a:tc>
                  <a:txBody>
                    <a:bodyPr lIns="114300" tIns="95250" rIns="95250" bIns="76200"/>
                    <a:lstStyle/>
                    <a:p>
                      <a:r>
                        <a:rPr sz="1800" b="0">
                          <a:solidFill>
                            <a:srgbClr val="101C32"/>
                          </a:solidFill>
                          <a:latin typeface="DejaVu Sans"/>
                          <a:ea typeface="DejaVu Sans"/>
                          <a:cs typeface="DejaVu Sans"/>
                        </a:rPr>
                        <a:t>T07</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0,102</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0,102</a:t>
                      </a:r>
                    </a:p>
                  </a:txBody>
                  <a:tcPr marL="91440" marR="91440" marT="45720" marB="45720" anchor="ctr">
                    <a:solidFill>
                      <a:srgbClr val="FFFFFF"/>
                    </a:solidFill>
                  </a:tcPr>
                </a:tc>
              </a:tr>
              <a:tr h="401108">
                <a:tc>
                  <a:txBody>
                    <a:bodyPr lIns="114300" tIns="95250" rIns="95250" bIns="76200"/>
                    <a:lstStyle/>
                    <a:p>
                      <a:r>
                        <a:rPr sz="1800" b="0">
                          <a:solidFill>
                            <a:srgbClr val="101C32"/>
                          </a:solidFill>
                          <a:latin typeface="DejaVu Sans"/>
                          <a:ea typeface="DejaVu Sans"/>
                          <a:cs typeface="DejaVu Sans"/>
                        </a:rPr>
                        <a:t>T08</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0,285</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0,285</a:t>
                      </a:r>
                    </a:p>
                  </a:txBody>
                  <a:tcPr marL="91440" marR="91440" marT="45720" marB="45720" anchor="ctr">
                    <a:solidFill>
                      <a:srgbClr val="EAF0F4"/>
                    </a:solidFill>
                  </a:tcPr>
                </a:tc>
              </a:tr>
            </a:tbl>
          </a:graphicData>
        </a:graphic>
      </p:graphicFrame>
      <p:sp>
        <p:nvSpPr>
          <p:cNvPr id="7" name="text-142">
            <a:extLst xmlns:a="http://schemas.openxmlformats.org/drawingml/2006/main">
              <a:ext uri="{FF2B5EF4-FFF2-40B4-BE49-F238E27FC236}">
                <a16:creationId xmlns:a16="http://schemas.microsoft.com/office/drawing/2014/main" id="{BF042B15-CAF7-4057-8E45-9EB100BED8F3}"/>
              </a:ext>
            </a:extLst>
          </p:cNvPr>
          <p:cNvSpPr>
            <a:spLocks xmlns:a="http://schemas.openxmlformats.org/drawingml/2006/main" noGrp="1"/>
          </p:cNvSpPr>
          <p:nvPr/>
        </p:nvSpPr>
        <p:spPr>
          <a:xfrm xmlns:a="http://schemas.openxmlformats.org/drawingml/2006/main">
            <a:off x="571500" y="5886450"/>
            <a:ext cx="11049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rPr>
              <a:t>γ &lt; 0 — ошибка: T04 и T05. Остальные γ &gt; 0. Во всех строках r = |γ|.</a:t>
            </a:r>
          </a:p>
        </p:txBody>
      </p:sp>
    </p:spTree>
    <p:extLst>
      <p:ext uri="{BB962C8B-B14F-4D97-AF65-F5344CB8AC3E}">
        <p14:creationId xmlns:p14="http://schemas.microsoft.com/office/powerpoint/2010/main" val="1130351640"/>
      </p:ext>
    </p:extLst>
  </p:cSld>
</p:sld>
</file>

<file path=ppt/slides/slide20.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2" name="text-143">
            <a:extLst xmlns:a="http://schemas.openxmlformats.org/drawingml/2006/main">
              <a:ext uri="{FF2B5EF4-FFF2-40B4-BE49-F238E27FC236}">
                <a16:creationId xmlns:a16="http://schemas.microsoft.com/office/drawing/2014/main" id="{91A89C7A-C525-403A-852D-950290F4A5A8}"/>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Пограничные окна и две ошибки</a:t>
            </a:r>
          </a:p>
        </p:txBody>
      </p:sp>
      <p:sp>
        <p:nvSpPr>
          <p:cNvPr id="2" name="text-144">
            <a:extLst xmlns:a="http://schemas.openxmlformats.org/drawingml/2006/main">
              <a:ext uri="{FF2B5EF4-FFF2-40B4-BE49-F238E27FC236}">
                <a16:creationId xmlns:a16="http://schemas.microsoft.com/office/drawing/2014/main" id="{76FDD849-7B30-45E9-8652-1DEE114E5D9A}"/>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Для демонстрации выбираем перепроверку при r &lt; 0,10</a:t>
            </a:r>
          </a:p>
        </p:txBody>
      </p:sp>
      <p:sp>
        <p:nvSpPr>
          <p:cNvPr id="3" name="">
            <a:extLst xmlns:a="http://schemas.openxmlformats.org/drawingml/2006/main">
              <a:ext uri="{FF2B5EF4-FFF2-40B4-BE49-F238E27FC236}">
                <a16:creationId xmlns:a16="http://schemas.microsoft.com/office/drawing/2014/main" id="{45D4EF93-E166-469E-965A-C2F1A7C79F34}"/>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45">
            <a:extLst xmlns:a="http://schemas.openxmlformats.org/drawingml/2006/main">
              <a:ext uri="{FF2B5EF4-FFF2-40B4-BE49-F238E27FC236}">
                <a16:creationId xmlns:a16="http://schemas.microsoft.com/office/drawing/2014/main" id="{6EAA62E6-62A3-4B4B-B362-CCDC5BA13E4F}"/>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5" name="text-146">
            <a:extLst xmlns:a="http://schemas.openxmlformats.org/drawingml/2006/main">
              <a:ext uri="{FF2B5EF4-FFF2-40B4-BE49-F238E27FC236}">
                <a16:creationId xmlns:a16="http://schemas.microsoft.com/office/drawing/2014/main" id="{E4C6576F-81F0-47C7-B353-2D56027C6814}"/>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20</a:t>
            </a:r>
          </a:p>
        </p:txBody>
      </p:sp>
      <p:sp>
        <p:nvSpPr>
          <p:cNvPr id="6" name="text-147">
            <a:extLst xmlns:a="http://schemas.openxmlformats.org/drawingml/2006/main">
              <a:ext uri="{FF2B5EF4-FFF2-40B4-BE49-F238E27FC236}">
                <a16:creationId xmlns:a16="http://schemas.microsoft.com/office/drawing/2014/main" id="{CFA966FE-4C4A-4690-A423-666836ED9E57}"/>
              </a:ext>
            </a:extLst>
          </p:cNvPr>
          <p:cNvSpPr>
            <a:spLocks xmlns:a="http://schemas.openxmlformats.org/drawingml/2006/main" noGrp="1"/>
          </p:cNvSpPr>
          <p:nvPr/>
        </p:nvSpPr>
        <p:spPr>
          <a:xfrm xmlns:a="http://schemas.openxmlformats.org/drawingml/2006/main">
            <a:off x="571500" y="2057400"/>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550" b="1">
                <a:solidFill>
                  <a:srgbClr val="9C700C"/>
                </a:solidFill>
                <a:latin typeface="DejaVu Sans"/>
                <a:ea typeface="DejaVu Sans"/>
                <a:cs typeface="DejaVu Sans"/>
              </a:defRPr>
            </a:defPPr>
          </a:lstStyle>
          <a:p xmlns:a="http://schemas.openxmlformats.org/drawingml/2006/main">
            <a:pPr>
              <a:defRPr sz="2550" b="1">
                <a:solidFill>
                  <a:srgbClr val="9C700C"/>
                </a:solidFill>
                <a:latin typeface="DejaVu Sans"/>
                <a:ea typeface="DejaVu Sans"/>
                <a:cs typeface="DejaVu Sans"/>
              </a:defRPr>
            </a:pPr>
            <a:r>
              <a:rPr sz="2550" b="1">
                <a:solidFill>
                  <a:srgbClr val="9C700C"/>
                </a:solidFill>
                <a:latin typeface="DejaVu Sans"/>
                <a:ea typeface="DejaVu Sans"/>
                <a:cs typeface="DejaVu Sans"/>
              </a:rPr>
              <a:t>Малый запас: T03, T04, T05, T06</a:t>
            </a:r>
          </a:p>
        </p:txBody>
      </p:sp>
      <p:sp>
        <p:nvSpPr>
          <p:cNvPr id="7" name="text-148">
            <a:extLst xmlns:a="http://schemas.openxmlformats.org/drawingml/2006/main">
              <a:ext uri="{FF2B5EF4-FFF2-40B4-BE49-F238E27FC236}">
                <a16:creationId xmlns:a16="http://schemas.microsoft.com/office/drawing/2014/main" id="{D6294FA8-3191-4A3B-8480-2438A7A631B3}"/>
              </a:ext>
            </a:extLst>
          </p:cNvPr>
          <p:cNvSpPr>
            <a:spLocks xmlns:a="http://schemas.openxmlformats.org/drawingml/2006/main" noGrp="1"/>
          </p:cNvSpPr>
          <p:nvPr/>
        </p:nvSpPr>
        <p:spPr>
          <a:xfrm xmlns:a="http://schemas.openxmlformats.org/drawingml/2006/main">
            <a:off x="571500" y="312420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E85555"/>
                </a:solidFill>
                <a:latin typeface="DejaVu Sans"/>
                <a:ea typeface="DejaVu Sans"/>
                <a:cs typeface="DejaVu Sans"/>
              </a:defRPr>
            </a:defPPr>
          </a:lstStyle>
          <a:p xmlns:a="http://schemas.openxmlformats.org/drawingml/2006/main">
            <a:pPr>
              <a:defRPr sz="2175" b="1">
                <a:solidFill>
                  <a:srgbClr val="E85555"/>
                </a:solidFill>
                <a:latin typeface="DejaVu Sans"/>
                <a:ea typeface="DejaVu Sans"/>
                <a:cs typeface="DejaVu Sans"/>
              </a:defRPr>
            </a:pPr>
            <a:r>
              <a:rPr sz="2175" b="1">
                <a:solidFill>
                  <a:srgbClr val="E85555"/>
                </a:solidFill>
                <a:latin typeface="DejaVu Sans"/>
                <a:ea typeface="DejaVu Sans"/>
                <a:cs typeface="DejaVu Sans"/>
              </a:rPr>
              <a:t>T04 · пропуск атаки</a:t>
            </a:r>
          </a:p>
        </p:txBody>
      </p:sp>
      <p:sp>
        <p:nvSpPr>
          <p:cNvPr id="8" name="text-149">
            <a:extLst xmlns:a="http://schemas.openxmlformats.org/drawingml/2006/main">
              <a:ext uri="{FF2B5EF4-FFF2-40B4-BE49-F238E27FC236}">
                <a16:creationId xmlns:a16="http://schemas.microsoft.com/office/drawing/2014/main" id="{58174028-4BAF-4240-B40F-23CCE17E7FDC}"/>
              </a:ext>
            </a:extLst>
          </p:cNvPr>
          <p:cNvSpPr>
            <a:spLocks xmlns:a="http://schemas.openxmlformats.org/drawingml/2006/main" noGrp="1"/>
          </p:cNvSpPr>
          <p:nvPr/>
        </p:nvSpPr>
        <p:spPr>
          <a:xfrm xmlns:a="http://schemas.openxmlformats.org/drawingml/2006/main">
            <a:off x="571500" y="3657600"/>
            <a:ext cx="5238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Была атака → прогноз «норма».</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Можно пропустить угрозу</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доступности сервиса.</a:t>
            </a:r>
          </a:p>
        </p:txBody>
      </p:sp>
      <p:sp>
        <p:nvSpPr>
          <p:cNvPr id="9" name="text-150">
            <a:extLst xmlns:a="http://schemas.openxmlformats.org/drawingml/2006/main">
              <a:ext uri="{FF2B5EF4-FFF2-40B4-BE49-F238E27FC236}">
                <a16:creationId xmlns:a16="http://schemas.microsoft.com/office/drawing/2014/main" id="{1903B3C1-626C-4956-8562-A9A36AD0C79F}"/>
              </a:ext>
            </a:extLst>
          </p:cNvPr>
          <p:cNvSpPr>
            <a:spLocks xmlns:a="http://schemas.openxmlformats.org/drawingml/2006/main" noGrp="1"/>
          </p:cNvSpPr>
          <p:nvPr/>
        </p:nvSpPr>
        <p:spPr>
          <a:xfrm xmlns:a="http://schemas.openxmlformats.org/drawingml/2006/main">
            <a:off x="6381750" y="312420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9C700C"/>
                </a:solidFill>
                <a:latin typeface="DejaVu Sans"/>
                <a:ea typeface="DejaVu Sans"/>
                <a:cs typeface="DejaVu Sans"/>
              </a:defRPr>
            </a:defPPr>
          </a:lstStyle>
          <a:p xmlns:a="http://schemas.openxmlformats.org/drawingml/2006/main">
            <a:pPr>
              <a:defRPr sz="2175" b="1">
                <a:solidFill>
                  <a:srgbClr val="9C700C"/>
                </a:solidFill>
                <a:latin typeface="DejaVu Sans"/>
                <a:ea typeface="DejaVu Sans"/>
                <a:cs typeface="DejaVu Sans"/>
              </a:defRPr>
            </a:pPr>
            <a:r>
              <a:rPr sz="2175" b="1">
                <a:solidFill>
                  <a:srgbClr val="9C700C"/>
                </a:solidFill>
                <a:latin typeface="DejaVu Sans"/>
                <a:ea typeface="DejaVu Sans"/>
                <a:cs typeface="DejaVu Sans"/>
              </a:rPr>
              <a:t>T05 · ложная тревога</a:t>
            </a:r>
          </a:p>
        </p:txBody>
      </p:sp>
      <p:sp>
        <p:nvSpPr>
          <p:cNvPr id="10" name="text-151">
            <a:extLst xmlns:a="http://schemas.openxmlformats.org/drawingml/2006/main">
              <a:ext uri="{FF2B5EF4-FFF2-40B4-BE49-F238E27FC236}">
                <a16:creationId xmlns:a16="http://schemas.microsoft.com/office/drawing/2014/main" id="{17F9BBDB-E17B-407D-8E84-BAB30027BAAD}"/>
              </a:ext>
            </a:extLst>
          </p:cNvPr>
          <p:cNvSpPr>
            <a:spLocks xmlns:a="http://schemas.openxmlformats.org/drawingml/2006/main" noGrp="1"/>
          </p:cNvSpPr>
          <p:nvPr/>
        </p:nvSpPr>
        <p:spPr>
          <a:xfrm xmlns:a="http://schemas.openxmlformats.org/drawingml/2006/main">
            <a:off x="6381750" y="3657600"/>
            <a:ext cx="5238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Была норма → прогноз «атака».</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Реакция может помешать</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легитимным клиентам.</a:t>
            </a:r>
          </a:p>
        </p:txBody>
      </p:sp>
      <p:sp>
        <p:nvSpPr>
          <p:cNvPr id="11" name="text-152">
            <a:extLst xmlns:a="http://schemas.openxmlformats.org/drawingml/2006/main">
              <a:ext uri="{FF2B5EF4-FFF2-40B4-BE49-F238E27FC236}">
                <a16:creationId xmlns:a16="http://schemas.microsoft.com/office/drawing/2014/main" id="{2C486757-865E-4A8E-B613-0AE97658DB00}"/>
              </a:ext>
            </a:extLst>
          </p:cNvPr>
          <p:cNvSpPr>
            <a:spLocks xmlns:a="http://schemas.openxmlformats.org/drawingml/2006/main" noGrp="1"/>
          </p:cNvSpPr>
          <p:nvPr/>
        </p:nvSpPr>
        <p:spPr>
          <a:xfrm xmlns:a="http://schemas.openxmlformats.org/drawingml/2006/main">
            <a:off x="571500" y="5534025"/>
            <a:ext cx="11049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01C32"/>
                </a:solidFill>
                <a:latin typeface="DejaVu Sans"/>
                <a:ea typeface="DejaVu Sans"/>
                <a:cs typeface="DejaVu Sans"/>
              </a:defRPr>
            </a:defPPr>
          </a:lstStyle>
          <a:p xmlns:a="http://schemas.openxmlformats.org/drawingml/2006/main">
            <a:pPr>
              <a:defRPr sz="1800" b="1">
                <a:solidFill>
                  <a:srgbClr val="101C32"/>
                </a:solidFill>
                <a:latin typeface="DejaVu Sans"/>
                <a:ea typeface="DejaVu Sans"/>
                <a:cs typeface="DejaVu Sans"/>
              </a:defRPr>
            </a:pPr>
            <a:r>
              <a:rPr sz="1800" b="1">
                <a:solidFill>
                  <a:srgbClr val="101C32"/>
                </a:solidFill>
                <a:latin typeface="DejaVu Sans"/>
                <a:ea typeface="DejaVu Sans"/>
                <a:cs typeface="DejaVu Sans"/>
              </a:rPr>
              <a:t>Обе ошибки здесь пограничные. В реальной сети так бывает не всегда.</a:t>
            </a:r>
          </a:p>
          <a:p xmlns:a="http://schemas.openxmlformats.org/drawingml/2006/main">
            <a:pPr>
              <a:defRPr sz="1800" b="1">
                <a:solidFill>
                  <a:srgbClr val="101C32"/>
                </a:solidFill>
                <a:latin typeface="DejaVu Sans"/>
                <a:ea typeface="DejaVu Sans"/>
                <a:cs typeface="DejaVu Sans"/>
              </a:defRPr>
            </a:pPr>
            <a:r>
              <a:rPr sz="1800" b="1">
                <a:solidFill>
                  <a:srgbClr val="101C32"/>
                </a:solidFill>
                <a:latin typeface="DejaVu Sans"/>
                <a:ea typeface="DejaVu Sans"/>
                <a:cs typeface="DejaVu Sans"/>
              </a:rPr>
              <a:t>Порог 0,10 — правило перепроверки; это не зазор обучения SVM.</a:t>
            </a:r>
          </a:p>
        </p:txBody>
      </p:sp>
    </p:spTree>
    <p:extLst>
      <p:ext uri="{BB962C8B-B14F-4D97-AF65-F5344CB8AC3E}">
        <p14:creationId xmlns:p14="http://schemas.microsoft.com/office/powerpoint/2010/main" val="544254674"/>
      </p:ext>
    </p:extLst>
  </p:cSld>
</p:sld>
</file>

<file path=ppt/slides/slide21.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9" name="text-153">
            <a:extLst xmlns:a="http://schemas.openxmlformats.org/drawingml/2006/main">
              <a:ext uri="{FF2B5EF4-FFF2-40B4-BE49-F238E27FC236}">
                <a16:creationId xmlns:a16="http://schemas.microsoft.com/office/drawing/2014/main" id="{8FC97AAB-C7D0-4B0B-9358-458B2AACB4A0}"/>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Как использовать результат в ИБ</a:t>
            </a:r>
          </a:p>
        </p:txBody>
      </p:sp>
      <p:sp>
        <p:nvSpPr>
          <p:cNvPr id="2" name="text-154">
            <a:extLst xmlns:a="http://schemas.openxmlformats.org/drawingml/2006/main">
              <a:ext uri="{FF2B5EF4-FFF2-40B4-BE49-F238E27FC236}">
                <a16:creationId xmlns:a16="http://schemas.microsoft.com/office/drawing/2014/main" id="{E93B87D2-AE22-43F4-B101-A3DEB894A52C}"/>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triage — учебная функция первичной сортировки; SOC — команда мониторинга ИБ</a:t>
            </a:r>
          </a:p>
        </p:txBody>
      </p:sp>
      <p:sp>
        <p:nvSpPr>
          <p:cNvPr id="3" name="">
            <a:extLst xmlns:a="http://schemas.openxmlformats.org/drawingml/2006/main">
              <a:ext uri="{FF2B5EF4-FFF2-40B4-BE49-F238E27FC236}">
                <a16:creationId xmlns:a16="http://schemas.microsoft.com/office/drawing/2014/main" id="{990C7112-AB55-44AC-9C07-3629382E6324}"/>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55">
            <a:extLst xmlns:a="http://schemas.openxmlformats.org/drawingml/2006/main">
              <a:ext uri="{FF2B5EF4-FFF2-40B4-BE49-F238E27FC236}">
                <a16:creationId xmlns:a16="http://schemas.microsoft.com/office/drawing/2014/main" id="{6BB69A2D-6F43-4C44-8A5F-95A2E173693A}"/>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[8]; предлагаемый сценарий</a:t>
            </a:r>
          </a:p>
        </p:txBody>
      </p:sp>
      <p:sp>
        <p:nvSpPr>
          <p:cNvPr id="5" name="text-156">
            <a:extLst xmlns:a="http://schemas.openxmlformats.org/drawingml/2006/main">
              <a:ext uri="{FF2B5EF4-FFF2-40B4-BE49-F238E27FC236}">
                <a16:creationId xmlns:a16="http://schemas.microsoft.com/office/drawing/2014/main" id="{94C3E061-F18B-469F-ACEF-98E101FB819C}"/>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21</a:t>
            </a:r>
          </a:p>
        </p:txBody>
      </p:sp>
      <p:graphicFrame>
        <p:nvGraphicFramePr>
          <p:cNvPr id="6" name="">
            <a:extLst xmlns:a="http://schemas.openxmlformats.org/drawingml/2006/main">
              <a:ext uri="{FF2B5EF4-FFF2-40B4-BE49-F238E27FC236}">
                <a16:creationId xmlns:a16="http://schemas.microsoft.com/office/drawing/2014/main" id="{AC2FC22E-54DF-4BFD-AEE3-A30D1F1A8B63}"/>
              </a:ext>
            </a:extLst>
          </p:cNvPr>
          <p:cNvGraphicFramePr/>
          <p:nvPr/>
        </p:nvGraphicFramePr>
        <p:xfrm>
          <a:off xmlns:a="http://schemas.openxmlformats.org/drawingml/2006/main" x="571500" y="2190750"/>
          <a:ext xmlns:a="http://schemas.openxmlformats.org/drawingml/2006/main" cx="11049000" cy="1790700"/>
        </p:xfrm>
        <a:graphic xmlns:a="http://schemas.openxmlformats.org/drawingml/2006/main">
          <a:graphicData uri="http://schemas.openxmlformats.org/drawingml/2006/table">
            <a:tbl>
              <a:tblPr/>
              <a:tblGrid>
                <a:gridCol w="2959554"/>
                <a:gridCol w="2367643"/>
                <a:gridCol w="2762250"/>
                <a:gridCol w="2959554"/>
              </a:tblGrid>
              <a:tr h="596900">
                <a:tc>
                  <a:txBody>
                    <a:bodyPr lIns="114300" tIns="95250" rIns="95250" bIns="76200"/>
                    <a:lstStyle/>
                    <a:p>
                      <a:r>
                        <a:rPr sz="1950" b="1">
                          <a:solidFill>
                            <a:srgbClr val="FFFFFF"/>
                          </a:solidFill>
                          <a:latin typeface="DejaVu Sans"/>
                          <a:ea typeface="DejaVu Sans"/>
                          <a:cs typeface="DejaVu Sans"/>
                        </a:rPr>
                        <a:t>Ввод: SYN/с; %</a:t>
                      </a:r>
                    </a:p>
                  </a:txBody>
                  <a:tcPr marL="91440" marR="91440" marT="45720" marB="45720" anchor="ctr">
                    <a:solidFill>
                      <a:srgbClr val="101C32"/>
                    </a:solidFill>
                  </a:tcPr>
                </a:tc>
                <a:tc>
                  <a:txBody>
                    <a:bodyPr lIns="114300" tIns="95250" rIns="95250" bIns="76200"/>
                    <a:lstStyle/>
                    <a:p>
                      <a:r>
                        <a:rPr sz="1950" b="1">
                          <a:solidFill>
                            <a:srgbClr val="FFFFFF"/>
                          </a:solidFill>
                          <a:latin typeface="DejaVu Sans"/>
                          <a:ea typeface="DejaVu Sans"/>
                          <a:cs typeface="DejaVu Sans"/>
                        </a:rPr>
                        <a:t>Прогноз</a:t>
                      </a:r>
                    </a:p>
                  </a:txBody>
                  <a:tcPr marL="91440" marR="91440" marT="45720" marB="45720" anchor="ctr">
                    <a:solidFill>
                      <a:srgbClr val="101C32"/>
                    </a:solidFill>
                  </a:tcPr>
                </a:tc>
                <a:tc>
                  <a:txBody>
                    <a:bodyPr lIns="114300" tIns="95250" rIns="95250" bIns="76200"/>
                    <a:lstStyle/>
                    <a:p>
                      <a:r>
                        <a:rPr sz="1950" b="1">
                          <a:solidFill>
                            <a:srgbClr val="FFFFFF"/>
                          </a:solidFill>
                          <a:latin typeface="DejaVu Sans"/>
                          <a:ea typeface="DejaVu Sans"/>
                          <a:cs typeface="DejaVu Sans"/>
                        </a:rPr>
                        <a:t>Сигнал атаки</a:t>
                      </a:r>
                    </a:p>
                  </a:txBody>
                  <a:tcPr marL="91440" marR="91440" marT="45720" marB="45720" anchor="ctr">
                    <a:solidFill>
                      <a:srgbClr val="101C32"/>
                    </a:solidFill>
                  </a:tcPr>
                </a:tc>
                <a:tc>
                  <a:txBody>
                    <a:bodyPr lIns="114300" tIns="95250" rIns="95250" bIns="76200"/>
                    <a:lstStyle/>
                    <a:p>
                      <a:r>
                        <a:rPr sz="1950" b="1">
                          <a:solidFill>
                            <a:srgbClr val="FFFFFF"/>
                          </a:solidFill>
                          <a:latin typeface="DejaVu Sans"/>
                          <a:ea typeface="DejaVu Sans"/>
                          <a:cs typeface="DejaVu Sans"/>
                        </a:rPr>
                        <a:t>Перепроверка</a:t>
                      </a:r>
                    </a:p>
                  </a:txBody>
                  <a:tcPr marL="91440" marR="91440" marT="45720" marB="45720" anchor="ctr">
                    <a:solidFill>
                      <a:srgbClr val="101C32"/>
                    </a:solidFill>
                  </a:tcPr>
                </a:tc>
              </a:tr>
              <a:tr h="596900">
                <a:tc>
                  <a:txBody>
                    <a:bodyPr lIns="114300" tIns="95250" rIns="95250" bIns="76200"/>
                    <a:lstStyle/>
                    <a:p>
                      <a:r>
                        <a:rPr sz="1950" b="0">
                          <a:solidFill>
                            <a:srgbClr val="101C32"/>
                          </a:solidFill>
                          <a:latin typeface="DejaVu Sans"/>
                          <a:ea typeface="DejaVu Sans"/>
                          <a:cs typeface="DejaVu Sans"/>
                        </a:rPr>
                        <a:t>900; 40%</a:t>
                      </a:r>
                    </a:p>
                  </a:txBody>
                  <a:tcPr marL="91440" marR="91440" marT="45720" marB="45720" anchor="ctr">
                    <a:solidFill>
                      <a:srgbClr val="FFFFFF"/>
                    </a:solidFill>
                  </a:tcPr>
                </a:tc>
                <a:tc>
                  <a:txBody>
                    <a:bodyPr lIns="114300" tIns="95250" rIns="95250" bIns="76200"/>
                    <a:lstStyle/>
                    <a:p>
                      <a:r>
                        <a:rPr sz="195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950" b="0">
                          <a:solidFill>
                            <a:srgbClr val="101C32"/>
                          </a:solidFill>
                          <a:latin typeface="DejaVu Sans"/>
                          <a:ea typeface="DejaVu Sans"/>
                          <a:cs typeface="DejaVu Sans"/>
                        </a:rPr>
                        <a:t>Нет</a:t>
                      </a:r>
                    </a:p>
                  </a:txBody>
                  <a:tcPr marL="91440" marR="91440" marT="45720" marB="45720" anchor="ctr">
                    <a:solidFill>
                      <a:srgbClr val="FFFFFF"/>
                    </a:solidFill>
                  </a:tcPr>
                </a:tc>
                <a:tc>
                  <a:txBody>
                    <a:bodyPr lIns="114300" tIns="95250" rIns="95250" bIns="76200"/>
                    <a:lstStyle/>
                    <a:p>
                      <a:r>
                        <a:rPr sz="1950" b="0">
                          <a:solidFill>
                            <a:srgbClr val="101C32"/>
                          </a:solidFill>
                          <a:latin typeface="DejaVu Sans"/>
                          <a:ea typeface="DejaVu Sans"/>
                          <a:cs typeface="DejaVu Sans"/>
                        </a:rPr>
                        <a:t>Да</a:t>
                      </a:r>
                    </a:p>
                  </a:txBody>
                  <a:tcPr marL="91440" marR="91440" marT="45720" marB="45720" anchor="ctr">
                    <a:solidFill>
                      <a:srgbClr val="FFFFFF"/>
                    </a:solidFill>
                  </a:tcPr>
                </a:tc>
              </a:tr>
              <a:tr h="596900">
                <a:tc>
                  <a:txBody>
                    <a:bodyPr lIns="114300" tIns="95250" rIns="95250" bIns="76200"/>
                    <a:lstStyle/>
                    <a:p>
                      <a:r>
                        <a:rPr sz="1950" b="0">
                          <a:solidFill>
                            <a:srgbClr val="101C32"/>
                          </a:solidFill>
                          <a:latin typeface="DejaVu Sans"/>
                          <a:ea typeface="DejaVu Sans"/>
                          <a:cs typeface="DejaVu Sans"/>
                        </a:rPr>
                        <a:t>1550; 88%</a:t>
                      </a:r>
                    </a:p>
                  </a:txBody>
                  <a:tcPr marL="91440" marR="91440" marT="45720" marB="45720" anchor="ctr">
                    <a:solidFill>
                      <a:srgbClr val="EAF0F4"/>
                    </a:solidFill>
                  </a:tcPr>
                </a:tc>
                <a:tc>
                  <a:txBody>
                    <a:bodyPr lIns="114300" tIns="95250" rIns="95250" bIns="76200"/>
                    <a:lstStyle/>
                    <a:p>
                      <a:r>
                        <a:rPr sz="195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950" b="0">
                          <a:solidFill>
                            <a:srgbClr val="101C32"/>
                          </a:solidFill>
                          <a:latin typeface="DejaVu Sans"/>
                          <a:ea typeface="DejaVu Sans"/>
                          <a:cs typeface="DejaVu Sans"/>
                        </a:rPr>
                        <a:t>Да</a:t>
                      </a:r>
                    </a:p>
                  </a:txBody>
                  <a:tcPr marL="91440" marR="91440" marT="45720" marB="45720" anchor="ctr">
                    <a:solidFill>
                      <a:srgbClr val="EAF0F4"/>
                    </a:solidFill>
                  </a:tcPr>
                </a:tc>
                <a:tc>
                  <a:txBody>
                    <a:bodyPr lIns="114300" tIns="95250" rIns="95250" bIns="76200"/>
                    <a:lstStyle/>
                    <a:p>
                      <a:r>
                        <a:rPr sz="1950" b="0">
                          <a:solidFill>
                            <a:srgbClr val="101C32"/>
                          </a:solidFill>
                          <a:latin typeface="DejaVu Sans"/>
                          <a:ea typeface="DejaVu Sans"/>
                          <a:cs typeface="DejaVu Sans"/>
                        </a:rPr>
                        <a:t>Нет</a:t>
                      </a:r>
                    </a:p>
                  </a:txBody>
                  <a:tcPr marL="91440" marR="91440" marT="45720" marB="45720" anchor="ctr">
                    <a:solidFill>
                      <a:srgbClr val="EAF0F4"/>
                    </a:solidFill>
                  </a:tcPr>
                </a:tc>
              </a:tr>
            </a:tbl>
          </a:graphicData>
        </a:graphic>
      </p:graphicFrame>
      <p:sp>
        <p:nvSpPr>
          <p:cNvPr id="7" name="text-157">
            <a:extLst xmlns:a="http://schemas.openxmlformats.org/drawingml/2006/main">
              <a:ext uri="{FF2B5EF4-FFF2-40B4-BE49-F238E27FC236}">
                <a16:creationId xmlns:a16="http://schemas.microsoft.com/office/drawing/2014/main" id="{D43012E3-7BEC-4955-A67C-4A00C9FEACAC}"/>
              </a:ext>
            </a:extLst>
          </p:cNvPr>
          <p:cNvSpPr>
            <a:spLocks xmlns:a="http://schemas.openxmlformats.org/drawingml/2006/main" noGrp="1"/>
          </p:cNvSpPr>
          <p:nvPr/>
        </p:nvSpPr>
        <p:spPr>
          <a:xfrm xmlns:a="http://schemas.openxmlformats.org/drawingml/2006/main">
            <a:off x="571500" y="4286250"/>
            <a:ext cx="11049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008C95"/>
                </a:solidFill>
                <a:latin typeface="DejaVu Sans"/>
                <a:ea typeface="DejaVu Sans"/>
                <a:cs typeface="DejaVu Sans"/>
              </a:defRPr>
            </a:defPPr>
          </a:lstStyle>
          <a:p xmlns:a="http://schemas.openxmlformats.org/drawingml/2006/main">
            <a:pPr>
              <a:defRPr sz="2100" b="1">
                <a:solidFill>
                  <a:srgbClr val="008C95"/>
                </a:solidFill>
                <a:latin typeface="DejaVu Sans"/>
                <a:ea typeface="DejaVu Sans"/>
                <a:cs typeface="DejaVu Sans"/>
              </a:defRPr>
            </a:pPr>
            <a:r>
              <a:rPr sz="2100" b="1">
                <a:solidFill>
                  <a:srgbClr val="008C95"/>
                </a:solidFill>
                <a:latin typeface="DejaVu Sans"/>
                <a:ea typeface="DejaVu Sans"/>
                <a:cs typeface="DejaVu Sans"/>
              </a:rPr>
              <a:t>Сигнал атаки: прогноз «атака» при любом запасе.</a:t>
            </a:r>
          </a:p>
          <a:p xmlns:a="http://schemas.openxmlformats.org/drawingml/2006/main">
            <a:pPr>
              <a:defRPr sz="2100" b="1">
                <a:solidFill>
                  <a:srgbClr val="008C95"/>
                </a:solidFill>
                <a:latin typeface="DejaVu Sans"/>
                <a:ea typeface="DejaVu Sans"/>
                <a:cs typeface="DejaVu Sans"/>
              </a:defRPr>
            </a:pPr>
            <a:r>
              <a:rPr sz="2100" b="1">
                <a:solidFill>
                  <a:srgbClr val="008C95"/>
                </a:solidFill>
                <a:latin typeface="DejaVu Sans"/>
                <a:ea typeface="DejaVu Sans"/>
                <a:cs typeface="DejaVu Sans"/>
              </a:rPr>
              <a:t>Перепроверка: малый запас при любом прогнозе.</a:t>
            </a:r>
          </a:p>
        </p:txBody>
      </p:sp>
      <p:sp>
        <p:nvSpPr>
          <p:cNvPr id="8" name="text-158">
            <a:extLst xmlns:a="http://schemas.openxmlformats.org/drawingml/2006/main">
              <a:ext uri="{FF2B5EF4-FFF2-40B4-BE49-F238E27FC236}">
                <a16:creationId xmlns:a16="http://schemas.microsoft.com/office/drawing/2014/main" id="{EF6A6868-9279-4B7D-B764-4BB2011A86E9}"/>
              </a:ext>
            </a:extLst>
          </p:cNvPr>
          <p:cNvSpPr>
            <a:spLocks xmlns:a="http://schemas.openxmlformats.org/drawingml/2006/main" noGrp="1"/>
          </p:cNvSpPr>
          <p:nvPr/>
        </p:nvSpPr>
        <p:spPr>
          <a:xfrm xmlns:a="http://schemas.openxmlformats.org/drawingml/2006/main">
            <a:off x="571500" y="5391150"/>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101C32"/>
                </a:solidFill>
                <a:latin typeface="DejaVu Sans"/>
                <a:ea typeface="DejaVu Sans"/>
                <a:cs typeface="DejaVu Sans"/>
              </a:defRPr>
            </a:defPPr>
          </a:lstStyle>
          <a:p xmlns:a="http://schemas.openxmlformats.org/drawingml/2006/main">
            <a:pPr>
              <a:defRPr sz="1650" b="0">
                <a:solidFill>
                  <a:srgbClr val="101C32"/>
                </a:solidFill>
                <a:latin typeface="DejaVu Sans"/>
                <a:ea typeface="DejaVu Sans"/>
                <a:cs typeface="DejaVu Sans"/>
              </a:defRPr>
            </a:pPr>
            <a:r>
              <a:rPr sz="1650" b="0">
                <a:solidFill>
                  <a:srgbClr val="101C32"/>
                </a:solidFill>
                <a:latin typeface="DejaVu Sans"/>
                <a:ea typeface="DejaVu Sans"/>
                <a:cs typeface="DejaVu Sans"/>
              </a:rPr>
              <a:t>Аналитик проверяет логи, доступность, очередь соединений и потери.</a:t>
            </a:r>
          </a:p>
          <a:p xmlns:a="http://schemas.openxmlformats.org/drawingml/2006/main">
            <a:pPr>
              <a:defRPr sz="1650" b="0">
                <a:solidFill>
                  <a:srgbClr val="101C32"/>
                </a:solidFill>
                <a:latin typeface="DejaVu Sans"/>
                <a:ea typeface="DejaVu Sans"/>
                <a:cs typeface="DejaVu Sans"/>
              </a:defRPr>
            </a:pPr>
            <a:r>
              <a:rPr sz="1650" b="0">
                <a:solidFill>
                  <a:srgbClr val="101C32"/>
                </a:solidFill>
                <a:latin typeface="DejaVu Sans"/>
                <a:ea typeface="DejaVu Sans"/>
                <a:cs typeface="DejaVu Sans"/>
              </a:rPr>
              <a:t>Перед внедрением: реальные данные, отдельная проверка во времени,</a:t>
            </a:r>
          </a:p>
          <a:p xmlns:a="http://schemas.openxmlformats.org/drawingml/2006/main">
            <a:pPr>
              <a:defRPr sz="1650" b="0">
                <a:solidFill>
                  <a:srgbClr val="101C32"/>
                </a:solidFill>
                <a:latin typeface="DejaVu Sans"/>
                <a:ea typeface="DejaVu Sans"/>
                <a:cs typeface="DejaVu Sans"/>
              </a:defRPr>
            </a:pPr>
            <a:r>
              <a:rPr sz="1650" b="0">
                <a:solidFill>
                  <a:srgbClr val="101C32"/>
                </a:solidFill>
                <a:latin typeface="DejaVu Sans"/>
                <a:ea typeface="DejaVu Sans"/>
                <a:cs typeface="DejaVu Sans"/>
              </a:rPr>
              <a:t>оценка пропусков и ложных тревог. Учебный код не блокирует трафик.</a:t>
            </a:r>
          </a:p>
        </p:txBody>
      </p:sp>
    </p:spTree>
    <p:extLst>
      <p:ext uri="{BB962C8B-B14F-4D97-AF65-F5344CB8AC3E}">
        <p14:creationId xmlns:p14="http://schemas.microsoft.com/office/powerpoint/2010/main" val="1193984583"/>
      </p:ext>
    </p:extLst>
  </p:cSld>
</p:sld>
</file>

<file path=ppt/slides/slide22.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8" name="text-159">
            <a:extLst xmlns:a="http://schemas.openxmlformats.org/drawingml/2006/main">
              <a:ext uri="{FF2B5EF4-FFF2-40B4-BE49-F238E27FC236}">
                <a16:creationId xmlns:a16="http://schemas.microsoft.com/office/drawing/2014/main" id="{092507EA-4A9B-44D8-BD48-145FF2FB9FFE}"/>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Что показал сквозной пример</a:t>
            </a:r>
          </a:p>
        </p:txBody>
      </p:sp>
      <p:sp>
        <p:nvSpPr>
          <p:cNvPr id="2" name="">
            <a:extLst xmlns:a="http://schemas.openxmlformats.org/drawingml/2006/main">
              <a:ext uri="{FF2B5EF4-FFF2-40B4-BE49-F238E27FC236}">
                <a16:creationId xmlns:a16="http://schemas.microsoft.com/office/drawing/2014/main" id="{8CFB5443-A7DD-4F3C-9374-3C7441C38346}"/>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3" name="text-160">
            <a:extLst xmlns:a="http://schemas.openxmlformats.org/drawingml/2006/main">
              <a:ext uri="{FF2B5EF4-FFF2-40B4-BE49-F238E27FC236}">
                <a16:creationId xmlns:a16="http://schemas.microsoft.com/office/drawing/2014/main" id="{C251A30D-6302-41CA-BD41-19628EAED197}"/>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4" name="text-161">
            <a:extLst xmlns:a="http://schemas.openxmlformats.org/drawingml/2006/main">
              <a:ext uri="{FF2B5EF4-FFF2-40B4-BE49-F238E27FC236}">
                <a16:creationId xmlns:a16="http://schemas.microsoft.com/office/drawing/2014/main" id="{2F2DF1FF-6CDC-45D7-8727-46F426A21103}"/>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22</a:t>
            </a:r>
          </a:p>
        </p:txBody>
      </p:sp>
      <p:graphicFrame>
        <p:nvGraphicFramePr>
          <p:cNvPr id="5" name="">
            <a:extLst xmlns:a="http://schemas.openxmlformats.org/drawingml/2006/main">
              <a:ext uri="{FF2B5EF4-FFF2-40B4-BE49-F238E27FC236}">
                <a16:creationId xmlns:a16="http://schemas.microsoft.com/office/drawing/2014/main" id="{99965726-EFD9-4C44-9EE7-8935224C60C3}"/>
              </a:ext>
            </a:extLst>
          </p:cNvPr>
          <p:cNvGraphicFramePr/>
          <p:nvPr/>
        </p:nvGraphicFramePr>
        <p:xfrm>
          <a:off xmlns:a="http://schemas.openxmlformats.org/drawingml/2006/main" x="571500" y="1981200"/>
          <a:ext xmlns:a="http://schemas.openxmlformats.org/drawingml/2006/main" cx="11049000" cy="3114675"/>
        </p:xfrm>
        <a:graphic xmlns:a="http://schemas.openxmlformats.org/drawingml/2006/main">
          <a:graphicData uri="http://schemas.openxmlformats.org/drawingml/2006/table">
            <a:tbl>
              <a:tblPr/>
              <a:tblGrid>
                <a:gridCol w="3013364"/>
                <a:gridCol w="8035636"/>
              </a:tblGrid>
              <a:tr h="622935">
                <a:tc>
                  <a:txBody>
                    <a:bodyPr lIns="114300" tIns="95250" rIns="95250" bIns="76200"/>
                    <a:lstStyle/>
                    <a:p>
                      <a:r>
                        <a:rPr sz="2025" b="1">
                          <a:solidFill>
                            <a:srgbClr val="FFFFFF"/>
                          </a:solidFill>
                          <a:latin typeface="DejaVu Sans"/>
                          <a:ea typeface="DejaVu Sans"/>
                          <a:cs typeface="DejaVu Sans"/>
                        </a:rPr>
                        <a:t>Понятие</a:t>
                      </a:r>
                    </a:p>
                  </a:txBody>
                  <a:tcPr marL="91440" marR="91440" marT="45720" marB="45720" anchor="ctr">
                    <a:solidFill>
                      <a:srgbClr val="101C32"/>
                    </a:solidFill>
                  </a:tcPr>
                </a:tc>
                <a:tc>
                  <a:txBody>
                    <a:bodyPr lIns="114300" tIns="95250" rIns="95250" bIns="76200"/>
                    <a:lstStyle/>
                    <a:p>
                      <a:r>
                        <a:rPr sz="2025" b="1">
                          <a:solidFill>
                            <a:srgbClr val="FFFFFF"/>
                          </a:solidFill>
                          <a:latin typeface="DejaVu Sans"/>
                          <a:ea typeface="DejaVu Sans"/>
                          <a:cs typeface="DejaVu Sans"/>
                        </a:rPr>
                        <a:t>Что получили в одном примере</a:t>
                      </a:r>
                    </a:p>
                  </a:txBody>
                  <a:tcPr marL="91440" marR="91440" marT="45720" marB="45720" anchor="ctr">
                    <a:solidFill>
                      <a:srgbClr val="101C32"/>
                    </a:solidFill>
                  </a:tcPr>
                </a:tc>
              </a:tr>
              <a:tr h="622935">
                <a:tc>
                  <a:txBody>
                    <a:bodyPr lIns="114300" tIns="95250" rIns="95250" bIns="76200"/>
                    <a:lstStyle/>
                    <a:p>
                      <a:r>
                        <a:rPr sz="2025" b="0">
                          <a:solidFill>
                            <a:srgbClr val="101C32"/>
                          </a:solidFill>
                          <a:latin typeface="DejaVu Sans"/>
                          <a:ea typeface="DejaVu Sans"/>
                          <a:cs typeface="DejaVu Sans"/>
                        </a:rPr>
                        <a:t>Эталон</a:t>
                      </a:r>
                    </a:p>
                  </a:txBody>
                  <a:tcPr marL="91440" marR="91440" marT="45720" marB="45720" anchor="ctr">
                    <a:solidFill>
                      <a:srgbClr val="FFFFFF"/>
                    </a:solidFill>
                  </a:tcPr>
                </a:tc>
                <a:tc>
                  <a:txBody>
                    <a:bodyPr lIns="114300" tIns="95250" rIns="95250" bIns="76200"/>
                    <a:lstStyle/>
                    <a:p>
                      <a:r>
                        <a:rPr sz="2025" b="0">
                          <a:solidFill>
                            <a:srgbClr val="101C32"/>
                          </a:solidFill>
                          <a:latin typeface="DejaVu Sans"/>
                          <a:ea typeface="DejaVu Sans"/>
                          <a:cs typeface="DejaVu Sans"/>
                        </a:rPr>
                        <a:t>N05 и A06 выбраны как медоиды своих классов</a:t>
                      </a:r>
                    </a:p>
                  </a:txBody>
                  <a:tcPr marL="91440" marR="91440" marT="45720" marB="45720" anchor="ctr">
                    <a:solidFill>
                      <a:srgbClr val="FFFFFF"/>
                    </a:solidFill>
                  </a:tcPr>
                </a:tc>
              </a:tr>
              <a:tr h="622935">
                <a:tc>
                  <a:txBody>
                    <a:bodyPr lIns="114300" tIns="95250" rIns="95250" bIns="76200"/>
                    <a:lstStyle/>
                    <a:p>
                      <a:r>
                        <a:rPr sz="2025" b="0">
                          <a:solidFill>
                            <a:srgbClr val="101C32"/>
                          </a:solidFill>
                          <a:latin typeface="DejaVu Sans"/>
                          <a:ea typeface="DejaVu Sans"/>
                          <a:cs typeface="DejaVu Sans"/>
                        </a:rPr>
                        <a:t>Классификация</a:t>
                      </a:r>
                    </a:p>
                  </a:txBody>
                  <a:tcPr marL="91440" marR="91440" marT="45720" marB="45720" anchor="ctr">
                    <a:solidFill>
                      <a:srgbClr val="EAF0F4"/>
                    </a:solidFill>
                  </a:tcPr>
                </a:tc>
                <a:tc>
                  <a:txBody>
                    <a:bodyPr lIns="114300" tIns="95250" rIns="95250" bIns="76200"/>
                    <a:lstStyle/>
                    <a:p>
                      <a:r>
                        <a:rPr sz="2025" b="0">
                          <a:solidFill>
                            <a:srgbClr val="101C32"/>
                          </a:solidFill>
                          <a:latin typeface="DejaVu Sans"/>
                          <a:ea typeface="DejaVu Sans"/>
                          <a:cs typeface="DejaVu Sans"/>
                        </a:rPr>
                        <a:t>T07 прошёл сравнение с эталонами, затем SVM</a:t>
                      </a:r>
                    </a:p>
                  </a:txBody>
                  <a:tcPr marL="91440" marR="91440" marT="45720" marB="45720" anchor="ctr">
                    <a:solidFill>
                      <a:srgbClr val="EAF0F4"/>
                    </a:solidFill>
                  </a:tcPr>
                </a:tc>
              </a:tr>
              <a:tr h="622935">
                <a:tc>
                  <a:txBody>
                    <a:bodyPr lIns="114300" tIns="95250" rIns="95250" bIns="76200"/>
                    <a:lstStyle/>
                    <a:p>
                      <a:r>
                        <a:rPr sz="2025" b="0">
                          <a:solidFill>
                            <a:srgbClr val="101C32"/>
                          </a:solidFill>
                          <a:latin typeface="DejaVu Sans"/>
                          <a:ea typeface="DejaVu Sans"/>
                          <a:cs typeface="DejaVu Sans"/>
                        </a:rPr>
                        <a:t>Отступы</a:t>
                      </a:r>
                    </a:p>
                  </a:txBody>
                  <a:tcPr marL="91440" marR="91440" marT="45720" marB="45720" anchor="ctr">
                    <a:solidFill>
                      <a:srgbClr val="FFFFFF"/>
                    </a:solidFill>
                  </a:tcPr>
                </a:tc>
                <a:tc>
                  <a:txBody>
                    <a:bodyPr lIns="114300" tIns="95250" rIns="95250" bIns="76200"/>
                    <a:lstStyle/>
                    <a:p>
                      <a:r>
                        <a:rPr sz="2025" b="0">
                          <a:solidFill>
                            <a:srgbClr val="101C32"/>
                          </a:solidFill>
                          <a:latin typeface="DejaVu Sans"/>
                          <a:ea typeface="DejaVu Sans"/>
                          <a:cs typeface="DejaVu Sans"/>
                        </a:rPr>
                        <a:t>Рассчитаны все 8 окон; малый запас у T03–T06</a:t>
                      </a:r>
                    </a:p>
                  </a:txBody>
                  <a:tcPr marL="91440" marR="91440" marT="45720" marB="45720" anchor="ctr">
                    <a:solidFill>
                      <a:srgbClr val="FFFFFF"/>
                    </a:solidFill>
                  </a:tcPr>
                </a:tc>
              </a:tr>
              <a:tr h="622935">
                <a:tc>
                  <a:txBody>
                    <a:bodyPr lIns="114300" tIns="95250" rIns="95250" bIns="76200"/>
                    <a:lstStyle/>
                    <a:p>
                      <a:r>
                        <a:rPr sz="2025" b="0">
                          <a:solidFill>
                            <a:srgbClr val="101C32"/>
                          </a:solidFill>
                          <a:latin typeface="DejaVu Sans"/>
                          <a:ea typeface="DejaVu Sans"/>
                          <a:cs typeface="DejaVu Sans"/>
                        </a:rPr>
                        <a:t>Польза для ИБ</a:t>
                      </a:r>
                    </a:p>
                  </a:txBody>
                  <a:tcPr marL="91440" marR="91440" marT="45720" marB="45720" anchor="ctr">
                    <a:solidFill>
                      <a:srgbClr val="EAF0F4"/>
                    </a:solidFill>
                  </a:tcPr>
                </a:tc>
                <a:tc>
                  <a:txBody>
                    <a:bodyPr lIns="114300" tIns="95250" rIns="95250" bIns="76200"/>
                    <a:lstStyle/>
                    <a:p>
                      <a:r>
                        <a:rPr sz="2025" b="0">
                          <a:solidFill>
                            <a:srgbClr val="101C32"/>
                          </a:solidFill>
                          <a:latin typeface="DejaVu Sans"/>
                          <a:ea typeface="DejaVu Sans"/>
                          <a:cs typeface="DejaVu Sans"/>
                        </a:rPr>
                        <a:t>Прогноз и запас помогают назначить проверку</a:t>
                      </a:r>
                    </a:p>
                  </a:txBody>
                  <a:tcPr marL="91440" marR="91440" marT="45720" marB="45720" anchor="ctr">
                    <a:solidFill>
                      <a:srgbClr val="EAF0F4"/>
                    </a:solidFill>
                  </a:tcPr>
                </a:tc>
              </a:tr>
            </a:tbl>
          </a:graphicData>
        </a:graphic>
      </p:graphicFrame>
      <p:sp>
        <p:nvSpPr>
          <p:cNvPr id="6" name="">
            <a:extLst xmlns:a="http://schemas.openxmlformats.org/drawingml/2006/main">
              <a:ext uri="{FF2B5EF4-FFF2-40B4-BE49-F238E27FC236}">
                <a16:creationId xmlns:a16="http://schemas.microsoft.com/office/drawing/2014/main" id="{1FEC5658-91E7-4952-BBFC-6B94EAE2E888}"/>
              </a:ext>
            </a:extLst>
          </p:cNvPr>
          <p:cNvSpPr>
            <a:spLocks xmlns:a="http://schemas.openxmlformats.org/drawingml/2006/main" noGrp="1"/>
          </p:cNvSpPr>
          <p:nvPr/>
        </p:nvSpPr>
        <p:spPr>
          <a:xfrm xmlns:a="http://schemas.openxmlformats.org/drawingml/2006/main">
            <a:off x="571500" y="557212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7" name="text-162">
            <a:extLst xmlns:a="http://schemas.openxmlformats.org/drawingml/2006/main">
              <a:ext uri="{FF2B5EF4-FFF2-40B4-BE49-F238E27FC236}">
                <a16:creationId xmlns:a16="http://schemas.microsoft.com/office/drawing/2014/main" id="{9F36B8C1-2918-49E5-8A3F-1A829F12C368}"/>
              </a:ext>
            </a:extLst>
          </p:cNvPr>
          <p:cNvSpPr>
            <a:spLocks xmlns:a="http://schemas.openxmlformats.org/drawingml/2006/main" noGrp="1"/>
          </p:cNvSpPr>
          <p:nvPr/>
        </p:nvSpPr>
        <p:spPr>
          <a:xfrm xmlns:a="http://schemas.openxmlformats.org/drawingml/2006/main">
            <a:off x="571500" y="573405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Запас объясняет устойчивость ответа, но не гарантирует его правильность</a:t>
            </a:r>
          </a:p>
        </p:txBody>
      </p:sp>
    </p:spTree>
    <p:extLst>
      <p:ext uri="{BB962C8B-B14F-4D97-AF65-F5344CB8AC3E}">
        <p14:creationId xmlns:p14="http://schemas.microsoft.com/office/powerpoint/2010/main" val="1769255195"/>
      </p:ext>
    </p:extLst>
  </p:cSld>
</p:sld>
</file>

<file path=ppt/slides/slide23.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22" name="text-163">
            <a:extLst xmlns:a="http://schemas.openxmlformats.org/drawingml/2006/main">
              <a:ext uri="{FF2B5EF4-FFF2-40B4-BE49-F238E27FC236}">
                <a16:creationId xmlns:a16="http://schemas.microsoft.com/office/drawing/2014/main" id="{D8F8E75E-DDCA-4FEB-A2D8-D7FECE850272}"/>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Источники</a:t>
            </a:r>
          </a:p>
        </p:txBody>
      </p:sp>
      <p:sp>
        <p:nvSpPr>
          <p:cNvPr id="2" name="text-164">
            <a:extLst xmlns:a="http://schemas.openxmlformats.org/drawingml/2006/main">
              <a:ext uri="{FF2B5EF4-FFF2-40B4-BE49-F238E27FC236}">
                <a16:creationId xmlns:a16="http://schemas.microsoft.com/office/drawing/2014/main" id="{4B590E13-9B57-4B89-805A-931F434C4B4E}"/>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Первоисточники и официальные документы; ссылки активны</a:t>
            </a:r>
          </a:p>
        </p:txBody>
      </p:sp>
      <p:sp>
        <p:nvSpPr>
          <p:cNvPr id="3" name="">
            <a:extLst xmlns:a="http://schemas.openxmlformats.org/drawingml/2006/main">
              <a:ext uri="{FF2B5EF4-FFF2-40B4-BE49-F238E27FC236}">
                <a16:creationId xmlns:a16="http://schemas.microsoft.com/office/drawing/2014/main" id="{A6C9F0F4-54A3-44C4-B8D2-20F8D29DEE97}"/>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65">
            <a:extLst xmlns:a="http://schemas.openxmlformats.org/drawingml/2006/main">
              <a:ext uri="{FF2B5EF4-FFF2-40B4-BE49-F238E27FC236}">
                <a16:creationId xmlns:a16="http://schemas.microsoft.com/office/drawing/2014/main" id="{C758DF92-BDBB-41E5-88DC-2EC1767941AE}"/>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5" name="text-166">
            <a:extLst xmlns:a="http://schemas.openxmlformats.org/drawingml/2006/main">
              <a:ext uri="{FF2B5EF4-FFF2-40B4-BE49-F238E27FC236}">
                <a16:creationId xmlns:a16="http://schemas.microsoft.com/office/drawing/2014/main" id="{BF0CBFEE-4A44-40D5-940B-71E208B045FC}"/>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23</a:t>
            </a:r>
          </a:p>
        </p:txBody>
      </p:sp>
      <p:sp>
        <p:nvSpPr>
          <p:cNvPr id="6" name="text-167">
            <a:extLst xmlns:a="http://schemas.openxmlformats.org/drawingml/2006/main">
              <a:ext uri="{FF2B5EF4-FFF2-40B4-BE49-F238E27FC236}">
                <a16:creationId xmlns:a16="http://schemas.microsoft.com/office/drawing/2014/main" id="{A9200F57-A0D7-4574-AE30-8DDE3F21DB87}"/>
              </a:ext>
            </a:extLst>
          </p:cNvPr>
          <p:cNvSpPr>
            <a:spLocks xmlns:a="http://schemas.openxmlformats.org/drawingml/2006/main" noGrp="1"/>
          </p:cNvSpPr>
          <p:nvPr/>
        </p:nvSpPr>
        <p:spPr>
          <a:xfrm xmlns:a="http://schemas.openxmlformats.org/drawingml/2006/main">
            <a:off x="571500" y="20669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c9d86b128166451e"/>
              </a:rPr>
              <a:t>[1] Cortes &amp; Vapnik (1995)</a:t>
            </a:r>
          </a:p>
        </p:txBody>
      </p:sp>
      <p:sp>
        <p:nvSpPr>
          <p:cNvPr id="7" name="text-168">
            <a:extLst xmlns:a="http://schemas.openxmlformats.org/drawingml/2006/main">
              <a:ext uri="{FF2B5EF4-FFF2-40B4-BE49-F238E27FC236}">
                <a16:creationId xmlns:a16="http://schemas.microsoft.com/office/drawing/2014/main" id="{2CB7657F-967D-4B5F-A09F-9C2A28AC85EE}"/>
              </a:ext>
            </a:extLst>
          </p:cNvPr>
          <p:cNvSpPr>
            <a:spLocks xmlns:a="http://schemas.openxmlformats.org/drawingml/2006/main" noGrp="1"/>
          </p:cNvSpPr>
          <p:nvPr/>
        </p:nvSpPr>
        <p:spPr>
          <a:xfrm xmlns:a="http://schemas.openxmlformats.org/drawingml/2006/main">
            <a:off x="571500" y="26003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Support-vector networks</a:t>
            </a:r>
          </a:p>
        </p:txBody>
      </p:sp>
      <p:sp>
        <p:nvSpPr>
          <p:cNvPr id="8" name="text-169">
            <a:extLst xmlns:a="http://schemas.openxmlformats.org/drawingml/2006/main">
              <a:ext uri="{FF2B5EF4-FFF2-40B4-BE49-F238E27FC236}">
                <a16:creationId xmlns:a16="http://schemas.microsoft.com/office/drawing/2014/main" id="{24CCABBB-BDB4-4DBC-B69B-9CAA93772342}"/>
              </a:ext>
            </a:extLst>
          </p:cNvPr>
          <p:cNvSpPr>
            <a:spLocks xmlns:a="http://schemas.openxmlformats.org/drawingml/2006/main" noGrp="1"/>
          </p:cNvSpPr>
          <p:nvPr/>
        </p:nvSpPr>
        <p:spPr>
          <a:xfrm xmlns:a="http://schemas.openxmlformats.org/drawingml/2006/main">
            <a:off x="571500" y="30575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76f149ca911240f2"/>
              </a:rPr>
              <a:t>[2] Stanford CS229, A. Ng</a:t>
            </a:r>
          </a:p>
        </p:txBody>
      </p:sp>
      <p:sp>
        <p:nvSpPr>
          <p:cNvPr id="9" name="text-170">
            <a:extLst xmlns:a="http://schemas.openxmlformats.org/drawingml/2006/main">
              <a:ext uri="{FF2B5EF4-FFF2-40B4-BE49-F238E27FC236}">
                <a16:creationId xmlns:a16="http://schemas.microsoft.com/office/drawing/2014/main" id="{50237726-16D6-41FF-81BB-2F5F602ECDAA}"/>
              </a:ext>
            </a:extLst>
          </p:cNvPr>
          <p:cNvSpPr>
            <a:spLocks xmlns:a="http://schemas.openxmlformats.org/drawingml/2006/main" noGrp="1"/>
          </p:cNvSpPr>
          <p:nvPr/>
        </p:nvSpPr>
        <p:spPr>
          <a:xfrm xmlns:a="http://schemas.openxmlformats.org/drawingml/2006/main">
            <a:off x="571500" y="35909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Functional / geometric margin; soft margin</a:t>
            </a:r>
          </a:p>
        </p:txBody>
      </p:sp>
      <p:sp>
        <p:nvSpPr>
          <p:cNvPr id="10" name="text-171">
            <a:extLst xmlns:a="http://schemas.openxmlformats.org/drawingml/2006/main">
              <a:ext uri="{FF2B5EF4-FFF2-40B4-BE49-F238E27FC236}">
                <a16:creationId xmlns:a16="http://schemas.microsoft.com/office/drawing/2014/main" id="{34365B7E-A3FC-490C-B187-ACCE0CA37262}"/>
              </a:ext>
            </a:extLst>
          </p:cNvPr>
          <p:cNvSpPr>
            <a:spLocks xmlns:a="http://schemas.openxmlformats.org/drawingml/2006/main" noGrp="1"/>
          </p:cNvSpPr>
          <p:nvPr/>
        </p:nvSpPr>
        <p:spPr>
          <a:xfrm xmlns:a="http://schemas.openxmlformats.org/drawingml/2006/main">
            <a:off x="571500" y="40481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c669ec1e75af49b6"/>
              </a:rPr>
              <a:t>[3] Schubert &amp; Rousseeuw (2019)</a:t>
            </a:r>
          </a:p>
        </p:txBody>
      </p:sp>
      <p:sp>
        <p:nvSpPr>
          <p:cNvPr id="11" name="text-172">
            <a:extLst xmlns:a="http://schemas.openxmlformats.org/drawingml/2006/main">
              <a:ext uri="{FF2B5EF4-FFF2-40B4-BE49-F238E27FC236}">
                <a16:creationId xmlns:a16="http://schemas.microsoft.com/office/drawing/2014/main" id="{42A89744-747F-46C5-B788-D6C8E053F972}"/>
              </a:ext>
            </a:extLst>
          </p:cNvPr>
          <p:cNvSpPr>
            <a:spLocks xmlns:a="http://schemas.openxmlformats.org/drawingml/2006/main" noGrp="1"/>
          </p:cNvSpPr>
          <p:nvPr/>
        </p:nvSpPr>
        <p:spPr>
          <a:xfrm xmlns:a="http://schemas.openxmlformats.org/drawingml/2006/main">
            <a:off x="571500" y="45815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Faster k-Medoids Clustering</a:t>
            </a:r>
          </a:p>
        </p:txBody>
      </p:sp>
      <p:sp>
        <p:nvSpPr>
          <p:cNvPr id="12" name="text-173">
            <a:extLst xmlns:a="http://schemas.openxmlformats.org/drawingml/2006/main">
              <a:ext uri="{FF2B5EF4-FFF2-40B4-BE49-F238E27FC236}">
                <a16:creationId xmlns:a16="http://schemas.microsoft.com/office/drawing/2014/main" id="{6C8025BB-D87D-4AD1-B0FA-E589D5BB8D67}"/>
              </a:ext>
            </a:extLst>
          </p:cNvPr>
          <p:cNvSpPr>
            <a:spLocks xmlns:a="http://schemas.openxmlformats.org/drawingml/2006/main" noGrp="1"/>
          </p:cNvSpPr>
          <p:nvPr/>
        </p:nvSpPr>
        <p:spPr>
          <a:xfrm xmlns:a="http://schemas.openxmlformats.org/drawingml/2006/main">
            <a:off x="571500" y="50387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6285b7c262f14576"/>
              </a:rPr>
              <a:t>[4] Eddy (2007), RFC 4987</a:t>
            </a:r>
          </a:p>
        </p:txBody>
      </p:sp>
      <p:sp>
        <p:nvSpPr>
          <p:cNvPr id="13" name="text-174">
            <a:extLst xmlns:a="http://schemas.openxmlformats.org/drawingml/2006/main">
              <a:ext uri="{FF2B5EF4-FFF2-40B4-BE49-F238E27FC236}">
                <a16:creationId xmlns:a16="http://schemas.microsoft.com/office/drawing/2014/main" id="{5DADC12C-E519-4B24-9DE9-B749A40B8E22}"/>
              </a:ext>
            </a:extLst>
          </p:cNvPr>
          <p:cNvSpPr>
            <a:spLocks xmlns:a="http://schemas.openxmlformats.org/drawingml/2006/main" noGrp="1"/>
          </p:cNvSpPr>
          <p:nvPr/>
        </p:nvSpPr>
        <p:spPr>
          <a:xfrm xmlns:a="http://schemas.openxmlformats.org/drawingml/2006/main">
            <a:off x="571500" y="55721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TCP SYN Flooding Attacks and Common Mitigations</a:t>
            </a:r>
          </a:p>
        </p:txBody>
      </p:sp>
      <p:sp>
        <p:nvSpPr>
          <p:cNvPr id="14" name="text-175">
            <a:extLst xmlns:a="http://schemas.openxmlformats.org/drawingml/2006/main">
              <a:ext uri="{FF2B5EF4-FFF2-40B4-BE49-F238E27FC236}">
                <a16:creationId xmlns:a16="http://schemas.microsoft.com/office/drawing/2014/main" id="{FD74EE4B-D3D3-4B23-A884-3A008477F891}"/>
              </a:ext>
            </a:extLst>
          </p:cNvPr>
          <p:cNvSpPr>
            <a:spLocks xmlns:a="http://schemas.openxmlformats.org/drawingml/2006/main" noGrp="1"/>
          </p:cNvSpPr>
          <p:nvPr/>
        </p:nvSpPr>
        <p:spPr>
          <a:xfrm xmlns:a="http://schemas.openxmlformats.org/drawingml/2006/main">
            <a:off x="6334125" y="20669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33f2713d916e4c2a"/>
              </a:rPr>
              <a:t>[5] scikit-learn: документация</a:t>
            </a:r>
          </a:p>
        </p:txBody>
      </p:sp>
      <p:sp>
        <p:nvSpPr>
          <p:cNvPr id="15" name="text-176">
            <a:extLst xmlns:a="http://schemas.openxmlformats.org/drawingml/2006/main">
              <a:ext uri="{FF2B5EF4-FFF2-40B4-BE49-F238E27FC236}">
                <a16:creationId xmlns:a16="http://schemas.microsoft.com/office/drawing/2014/main" id="{B3BAD253-B6D7-49AB-B5A1-98B408D90AA8}"/>
              </a:ext>
            </a:extLst>
          </p:cNvPr>
          <p:cNvSpPr>
            <a:spLocks xmlns:a="http://schemas.openxmlformats.org/drawingml/2006/main" noGrp="1"/>
          </p:cNvSpPr>
          <p:nvPr/>
        </p:nvSpPr>
        <p:spPr>
          <a:xfrm xmlns:a="http://schemas.openxmlformats.org/drawingml/2006/main">
            <a:off x="6334125" y="26003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SVC, decision_function, масштабирование</a:t>
            </a:r>
          </a:p>
        </p:txBody>
      </p:sp>
      <p:sp>
        <p:nvSpPr>
          <p:cNvPr id="16" name="text-177">
            <a:extLst xmlns:a="http://schemas.openxmlformats.org/drawingml/2006/main">
              <a:ext uri="{FF2B5EF4-FFF2-40B4-BE49-F238E27FC236}">
                <a16:creationId xmlns:a16="http://schemas.microsoft.com/office/drawing/2014/main" id="{8E1625CA-60FF-4AE5-ADEE-7FAB88CFC90F}"/>
              </a:ext>
            </a:extLst>
          </p:cNvPr>
          <p:cNvSpPr>
            <a:spLocks xmlns:a="http://schemas.openxmlformats.org/drawingml/2006/main" noGrp="1"/>
          </p:cNvSpPr>
          <p:nvPr/>
        </p:nvSpPr>
        <p:spPr>
          <a:xfrm xmlns:a="http://schemas.openxmlformats.org/drawingml/2006/main">
            <a:off x="6334125" y="30575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03105559cef04e7f"/>
              </a:rPr>
              <a:t>[6] Moosavi-Dezfooli et al. (CVPR 2016)</a:t>
            </a:r>
          </a:p>
        </p:txBody>
      </p:sp>
      <p:sp>
        <p:nvSpPr>
          <p:cNvPr id="17" name="text-178">
            <a:extLst xmlns:a="http://schemas.openxmlformats.org/drawingml/2006/main">
              <a:ext uri="{FF2B5EF4-FFF2-40B4-BE49-F238E27FC236}">
                <a16:creationId xmlns:a16="http://schemas.microsoft.com/office/drawing/2014/main" id="{7F8B29A0-7FCF-4CA8-BB27-1D84492DB4FD}"/>
              </a:ext>
            </a:extLst>
          </p:cNvPr>
          <p:cNvSpPr>
            <a:spLocks xmlns:a="http://schemas.openxmlformats.org/drawingml/2006/main" noGrp="1"/>
          </p:cNvSpPr>
          <p:nvPr/>
        </p:nvSpPr>
        <p:spPr>
          <a:xfrm xmlns:a="http://schemas.openxmlformats.org/drawingml/2006/main">
            <a:off x="6334125" y="35909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DeepFool: расстояние до границы</a:t>
            </a:r>
          </a:p>
        </p:txBody>
      </p:sp>
      <p:sp>
        <p:nvSpPr>
          <p:cNvPr id="18" name="text-179">
            <a:extLst xmlns:a="http://schemas.openxmlformats.org/drawingml/2006/main">
              <a:ext uri="{FF2B5EF4-FFF2-40B4-BE49-F238E27FC236}">
                <a16:creationId xmlns:a16="http://schemas.microsoft.com/office/drawing/2014/main" id="{1203511E-2DA8-4A4A-9CB3-54BA914F5C92}"/>
              </a:ext>
            </a:extLst>
          </p:cNvPr>
          <p:cNvSpPr>
            <a:spLocks xmlns:a="http://schemas.openxmlformats.org/drawingml/2006/main" noGrp="1"/>
          </p:cNvSpPr>
          <p:nvPr/>
        </p:nvSpPr>
        <p:spPr>
          <a:xfrm xmlns:a="http://schemas.openxmlformats.org/drawingml/2006/main">
            <a:off x="6334125" y="40481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802b6feb644941e4"/>
              </a:rPr>
              <a:t>[7] UNB / CICDDoS2019</a:t>
            </a:r>
          </a:p>
        </p:txBody>
      </p:sp>
      <p:sp>
        <p:nvSpPr>
          <p:cNvPr id="19" name="text-180">
            <a:extLst xmlns:a="http://schemas.openxmlformats.org/drawingml/2006/main">
              <a:ext uri="{FF2B5EF4-FFF2-40B4-BE49-F238E27FC236}">
                <a16:creationId xmlns:a16="http://schemas.microsoft.com/office/drawing/2014/main" id="{907B05C6-ED04-4201-9D74-23FA9F984DD8}"/>
              </a:ext>
            </a:extLst>
          </p:cNvPr>
          <p:cNvSpPr>
            <a:spLocks xmlns:a="http://schemas.openxmlformats.org/drawingml/2006/main" noGrp="1"/>
          </p:cNvSpPr>
          <p:nvPr/>
        </p:nvSpPr>
        <p:spPr>
          <a:xfrm xmlns:a="http://schemas.openxmlformats.org/drawingml/2006/main">
            <a:off x="6334125" y="45815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Данные для следующего этапа проверки</a:t>
            </a:r>
          </a:p>
        </p:txBody>
      </p:sp>
      <p:sp>
        <p:nvSpPr>
          <p:cNvPr id="20" name="text-181">
            <a:extLst xmlns:a="http://schemas.openxmlformats.org/drawingml/2006/main">
              <a:ext uri="{FF2B5EF4-FFF2-40B4-BE49-F238E27FC236}">
                <a16:creationId xmlns:a16="http://schemas.microsoft.com/office/drawing/2014/main" id="{963AE40E-90A2-4CB0-8D52-FE5E32AB96C0}"/>
              </a:ext>
            </a:extLst>
          </p:cNvPr>
          <p:cNvSpPr>
            <a:spLocks xmlns:a="http://schemas.openxmlformats.org/drawingml/2006/main" noGrp="1"/>
          </p:cNvSpPr>
          <p:nvPr/>
        </p:nvSpPr>
        <p:spPr>
          <a:xfrm xmlns:a="http://schemas.openxmlformats.org/drawingml/2006/main">
            <a:off x="6334125" y="50387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1c7af5f610cd4761"/>
              </a:rPr>
              <a:t>[8] NIST SP 800-94</a:t>
            </a:r>
          </a:p>
        </p:txBody>
      </p:sp>
      <p:sp>
        <p:nvSpPr>
          <p:cNvPr id="21" name="text-182">
            <a:extLst xmlns:a="http://schemas.openxmlformats.org/drawingml/2006/main">
              <a:ext uri="{FF2B5EF4-FFF2-40B4-BE49-F238E27FC236}">
                <a16:creationId xmlns:a16="http://schemas.microsoft.com/office/drawing/2014/main" id="{E7EA1007-20AC-4668-BAE7-BEA42F4D5313}"/>
              </a:ext>
            </a:extLst>
          </p:cNvPr>
          <p:cNvSpPr>
            <a:spLocks xmlns:a="http://schemas.openxmlformats.org/drawingml/2006/main" noGrp="1"/>
          </p:cNvSpPr>
          <p:nvPr/>
        </p:nvSpPr>
        <p:spPr>
          <a:xfrm xmlns:a="http://schemas.openxmlformats.org/drawingml/2006/main">
            <a:off x="6334125" y="55721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Проверка сигналов IDS и работа с ошибками</a:t>
            </a:r>
          </a:p>
        </p:txBody>
      </p:sp>
    </p:spTree>
    <p:extLst>
      <p:ext uri="{BB962C8B-B14F-4D97-AF65-F5344CB8AC3E}">
        <p14:creationId xmlns:p14="http://schemas.microsoft.com/office/powerpoint/2010/main" val="99038545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2026-10-16T22:48:23.2860000Z</dcterms:created>
  <dcterms:modified xsi:type="dcterms:W3CDTF">2026-10-16T22:48:23.2860000Z</dcterms:modified>
</coreProperties>
</file>